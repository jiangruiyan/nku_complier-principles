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130"/>
  </p:handoutMasterIdLst>
  <p:sldIdLst>
    <p:sldId id="256" r:id="rId3"/>
    <p:sldId id="344" r:id="rId4"/>
    <p:sldId id="257" r:id="rId5"/>
    <p:sldId id="258" r:id="rId7"/>
    <p:sldId id="259" r:id="rId8"/>
    <p:sldId id="260" r:id="rId9"/>
    <p:sldId id="261" r:id="rId10"/>
    <p:sldId id="262" r:id="rId11"/>
    <p:sldId id="263" r:id="rId12"/>
    <p:sldId id="264" r:id="rId13"/>
    <p:sldId id="347" r:id="rId14"/>
    <p:sldId id="381" r:id="rId15"/>
    <p:sldId id="412" r:id="rId16"/>
    <p:sldId id="413" r:id="rId17"/>
    <p:sldId id="265" r:id="rId18"/>
    <p:sldId id="266" r:id="rId19"/>
    <p:sldId id="269" r:id="rId20"/>
    <p:sldId id="270" r:id="rId21"/>
    <p:sldId id="271" r:id="rId22"/>
    <p:sldId id="356" r:id="rId23"/>
    <p:sldId id="272" r:id="rId24"/>
    <p:sldId id="357" r:id="rId25"/>
    <p:sldId id="273" r:id="rId26"/>
    <p:sldId id="274" r:id="rId27"/>
    <p:sldId id="348" r:id="rId28"/>
    <p:sldId id="349" r:id="rId29"/>
    <p:sldId id="390" r:id="rId30"/>
    <p:sldId id="275" r:id="rId31"/>
    <p:sldId id="342" r:id="rId32"/>
    <p:sldId id="276" r:id="rId33"/>
    <p:sldId id="277" r:id="rId34"/>
    <p:sldId id="358" r:id="rId35"/>
    <p:sldId id="278" r:id="rId36"/>
    <p:sldId id="359" r:id="rId37"/>
    <p:sldId id="351" r:id="rId38"/>
    <p:sldId id="279" r:id="rId39"/>
    <p:sldId id="280" r:id="rId40"/>
    <p:sldId id="284" r:id="rId41"/>
    <p:sldId id="285" r:id="rId42"/>
    <p:sldId id="286" r:id="rId43"/>
    <p:sldId id="288" r:id="rId44"/>
    <p:sldId id="414" r:id="rId45"/>
    <p:sldId id="287" r:id="rId46"/>
    <p:sldId id="350" r:id="rId47"/>
    <p:sldId id="382" r:id="rId48"/>
    <p:sldId id="383" r:id="rId49"/>
    <p:sldId id="384" r:id="rId50"/>
    <p:sldId id="385" r:id="rId51"/>
    <p:sldId id="386" r:id="rId52"/>
    <p:sldId id="387" r:id="rId53"/>
    <p:sldId id="388" r:id="rId54"/>
    <p:sldId id="392" r:id="rId55"/>
    <p:sldId id="391" r:id="rId56"/>
    <p:sldId id="393" r:id="rId57"/>
    <p:sldId id="394" r:id="rId58"/>
    <p:sldId id="395" r:id="rId59"/>
    <p:sldId id="396" r:id="rId60"/>
    <p:sldId id="289" r:id="rId61"/>
    <p:sldId id="290" r:id="rId62"/>
    <p:sldId id="291" r:id="rId63"/>
    <p:sldId id="292" r:id="rId64"/>
    <p:sldId id="361" r:id="rId65"/>
    <p:sldId id="293" r:id="rId66"/>
    <p:sldId id="362" r:id="rId67"/>
    <p:sldId id="294" r:id="rId68"/>
    <p:sldId id="299" r:id="rId69"/>
    <p:sldId id="363" r:id="rId70"/>
    <p:sldId id="352" r:id="rId71"/>
    <p:sldId id="353" r:id="rId72"/>
    <p:sldId id="354" r:id="rId73"/>
    <p:sldId id="295" r:id="rId74"/>
    <p:sldId id="296" r:id="rId75"/>
    <p:sldId id="297" r:id="rId76"/>
    <p:sldId id="298" r:id="rId77"/>
    <p:sldId id="300" r:id="rId78"/>
    <p:sldId id="301" r:id="rId79"/>
    <p:sldId id="364" r:id="rId80"/>
    <p:sldId id="302" r:id="rId81"/>
    <p:sldId id="303" r:id="rId82"/>
    <p:sldId id="406" r:id="rId83"/>
    <p:sldId id="411" r:id="rId84"/>
    <p:sldId id="333" r:id="rId85"/>
    <p:sldId id="304" r:id="rId86"/>
    <p:sldId id="334" r:id="rId87"/>
    <p:sldId id="305" r:id="rId88"/>
    <p:sldId id="306" r:id="rId89"/>
    <p:sldId id="307" r:id="rId90"/>
    <p:sldId id="308" r:id="rId91"/>
    <p:sldId id="309" r:id="rId92"/>
    <p:sldId id="310" r:id="rId93"/>
    <p:sldId id="311" r:id="rId94"/>
    <p:sldId id="312" r:id="rId95"/>
    <p:sldId id="313" r:id="rId96"/>
    <p:sldId id="314" r:id="rId97"/>
    <p:sldId id="315" r:id="rId98"/>
    <p:sldId id="316" r:id="rId99"/>
    <p:sldId id="317" r:id="rId100"/>
    <p:sldId id="337" r:id="rId101"/>
    <p:sldId id="338" r:id="rId102"/>
    <p:sldId id="375" r:id="rId103"/>
    <p:sldId id="376" r:id="rId104"/>
    <p:sldId id="377" r:id="rId105"/>
    <p:sldId id="378" r:id="rId106"/>
    <p:sldId id="389" r:id="rId107"/>
    <p:sldId id="379" r:id="rId108"/>
    <p:sldId id="355" r:id="rId109"/>
    <p:sldId id="366" r:id="rId110"/>
    <p:sldId id="323" r:id="rId111"/>
    <p:sldId id="339" r:id="rId112"/>
    <p:sldId id="324" r:id="rId113"/>
    <p:sldId id="325" r:id="rId114"/>
    <p:sldId id="327" r:id="rId115"/>
    <p:sldId id="328" r:id="rId116"/>
    <p:sldId id="332" r:id="rId117"/>
    <p:sldId id="398" r:id="rId118"/>
    <p:sldId id="399" r:id="rId119"/>
    <p:sldId id="400" r:id="rId120"/>
    <p:sldId id="401" r:id="rId121"/>
    <p:sldId id="402" r:id="rId122"/>
    <p:sldId id="403" r:id="rId123"/>
    <p:sldId id="404" r:id="rId124"/>
    <p:sldId id="405" r:id="rId125"/>
    <p:sldId id="407" r:id="rId126"/>
    <p:sldId id="408" r:id="rId127"/>
    <p:sldId id="409" r:id="rId128"/>
    <p:sldId id="410" r:id="rId129"/>
  </p:sldIdLst>
  <p:sldSz cx="9144000" cy="6858000" type="screen4x3"/>
  <p:notesSz cx="6756400" cy="98679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00"/>
    <a:srgbClr val="3333CC"/>
    <a:srgbClr val="800000"/>
    <a:srgbClr val="99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68" autoAdjust="0"/>
    <p:restoredTop sz="94624" autoAdjust="0"/>
  </p:normalViewPr>
  <p:slideViewPr>
    <p:cSldViewPr showGuides="1">
      <p:cViewPr varScale="1">
        <p:scale>
          <a:sx n="120" d="100"/>
          <a:sy n="120" d="100"/>
        </p:scale>
        <p:origin x="91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3" Type="http://schemas.openxmlformats.org/officeDocument/2006/relationships/tableStyles" Target="tableStyles.xml"/><Relationship Id="rId132" Type="http://schemas.openxmlformats.org/officeDocument/2006/relationships/viewProps" Target="viewProps.xml"/><Relationship Id="rId131" Type="http://schemas.openxmlformats.org/officeDocument/2006/relationships/presProps" Target="presProps.xml"/><Relationship Id="rId130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9" Type="http://schemas.openxmlformats.org/officeDocument/2006/relationships/slide" Target="slides/slide126.xml"/><Relationship Id="rId128" Type="http://schemas.openxmlformats.org/officeDocument/2006/relationships/slide" Target="slides/slide125.xml"/><Relationship Id="rId127" Type="http://schemas.openxmlformats.org/officeDocument/2006/relationships/slide" Target="slides/slide124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9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7350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9050" y="0"/>
            <a:ext cx="2927350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61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4188"/>
            <a:ext cx="2927350" cy="493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61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9050" y="9374188"/>
            <a:ext cx="2927350" cy="493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0784929-8CFE-46E3-8A86-BF1EDEE8B3D7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7350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9050" y="0"/>
            <a:ext cx="2927350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1225" y="739775"/>
            <a:ext cx="4933950" cy="3700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1700" y="4687888"/>
            <a:ext cx="4953000" cy="44402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4188"/>
            <a:ext cx="2927350" cy="493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9050" y="9374188"/>
            <a:ext cx="2927350" cy="493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09E8E6B-223E-497B-9595-2D9087CD28D3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D09F0F6-6746-4931-B41C-438E71DA7B43}" type="slidenum">
              <a:rPr lang="en-US" altLang="zh-CN" smtClean="0">
                <a:latin typeface="Tahoma" panose="020B0604030504040204" pitchFamily="34" charset="0"/>
              </a:rPr>
            </a:fld>
            <a:endParaRPr lang="en-US" altLang="zh-CN">
              <a:latin typeface="Tahoma" panose="020B0604030504040204" pitchFamily="34" charset="0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09E8E6B-223E-497B-9595-2D9087CD28D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79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380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A13A9CC7-8C04-462B-A7DB-3E6850722E8F}" type="slidenum">
              <a:rPr lang="en-US" altLang="zh-CN" sz="1200" smtClean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79391A34-4E85-48DB-999E-06B309FB0FC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D1ED59-B513-4D76-B4CF-0E7CA93B97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7B88D2-A157-443E-97A1-9CF206013C6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B8A477-87C2-44F8-9B76-5DE6B6CD787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A9D9F4-5BBC-434C-BD13-8624F7A3535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8C9B4E-69A7-4AFA-AB16-EAC799441AA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71A061-1409-4785-9095-788E1D192B9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018AC8-85C0-4970-A934-EA241EF5715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EEAB13-60CB-4B36-9345-B329B21F37F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4BA15D-950F-4623-A08F-78E7B13157B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76200"/>
            <a:ext cx="1951038" cy="6019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76200"/>
            <a:ext cx="5700712" cy="6019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47B74-D88F-49D8-B8F8-562CD763A31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557213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zh-CN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557213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zh-CN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9794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zh-CN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9794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zh-CN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9064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zh-CN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4492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zh-CN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2398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zh-CN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kumimoji="0" sz="14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spcBef>
                <a:spcPct val="0"/>
              </a:spcBef>
              <a:buClrTx/>
              <a:buSzTx/>
              <a:buFontTx/>
              <a:buNone/>
              <a:defRPr kumimoji="0" sz="14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kumimoji="0" sz="14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A1ADC6E-B6FC-422A-BBF2-F00737E9CD1F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75000"/>
        <a:buFont typeface="Wingdings" panose="05000000000000000000" pitchFamily="2" charset="2"/>
        <a:buChar char="m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9000"/>
        <a:buFont typeface="Wingdings" panose="05000000000000000000" pitchFamily="2" charset="2"/>
        <a:buChar char="q"/>
        <a:defRPr kumimoji="1" sz="2800">
          <a:solidFill>
            <a:srgbClr val="3333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Ø"/>
        <a:defRPr kumimoji="1" sz="2400">
          <a:solidFill>
            <a:srgbClr val="FF3300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7.xml"/><Relationship Id="rId17" Type="http://schemas.openxmlformats.org/officeDocument/2006/relationships/image" Target="../media/image20.png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16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34.xml"/><Relationship Id="rId17" Type="http://schemas.openxmlformats.org/officeDocument/2006/relationships/image" Target="../media/image20.png"/><Relationship Id="rId16" Type="http://schemas.openxmlformats.org/officeDocument/2006/relationships/tags" Target="../tags/tag33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18.xml"/></Relationships>
</file>

<file path=ppt/slides/_rels/slide117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51.xml"/><Relationship Id="rId17" Type="http://schemas.openxmlformats.org/officeDocument/2006/relationships/image" Target="../media/image20.png"/><Relationship Id="rId16" Type="http://schemas.openxmlformats.org/officeDocument/2006/relationships/tags" Target="../tags/tag50.xml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tags" Target="../tags/tag35.xml"/></Relationships>
</file>

<file path=ppt/slides/_rels/slide118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68.xml"/><Relationship Id="rId17" Type="http://schemas.openxmlformats.org/officeDocument/2006/relationships/image" Target="../media/image20.png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tags" Target="../tags/tag52.xml"/></Relationships>
</file>

<file path=ppt/slides/_rels/slide119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85.xml"/><Relationship Id="rId17" Type="http://schemas.openxmlformats.org/officeDocument/2006/relationships/image" Target="../media/image20.png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tags" Target="../tags/tag69.xml"/></Relationships>
</file>

<file path=ppt/slides/_rels/slide120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98.xml"/><Relationship Id="rId13" Type="http://schemas.openxmlformats.org/officeDocument/2006/relationships/image" Target="../media/image20.png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tags" Target="../tags/tag86.xml"/></Relationships>
</file>

<file path=ppt/slides/_rels/slide121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15.xml"/><Relationship Id="rId17" Type="http://schemas.openxmlformats.org/officeDocument/2006/relationships/image" Target="../media/image20.png"/><Relationship Id="rId16" Type="http://schemas.openxmlformats.org/officeDocument/2006/relationships/tags" Target="../tags/tag114.xml"/><Relationship Id="rId15" Type="http://schemas.openxmlformats.org/officeDocument/2006/relationships/tags" Target="../tags/tag113.xml"/><Relationship Id="rId14" Type="http://schemas.openxmlformats.org/officeDocument/2006/relationships/tags" Target="../tags/tag112.xml"/><Relationship Id="rId13" Type="http://schemas.openxmlformats.org/officeDocument/2006/relationships/tags" Target="../tags/tag111.xml"/><Relationship Id="rId12" Type="http://schemas.openxmlformats.org/officeDocument/2006/relationships/tags" Target="../tags/tag110.xml"/><Relationship Id="rId11" Type="http://schemas.openxmlformats.org/officeDocument/2006/relationships/tags" Target="../tags/tag109.xml"/><Relationship Id="rId10" Type="http://schemas.openxmlformats.org/officeDocument/2006/relationships/tags" Target="../tags/tag108.xml"/><Relationship Id="rId1" Type="http://schemas.openxmlformats.org/officeDocument/2006/relationships/tags" Target="../tags/tag99.xml"/></Relationships>
</file>

<file path=ppt/slides/_rels/slide122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32.xml"/><Relationship Id="rId17" Type="http://schemas.openxmlformats.org/officeDocument/2006/relationships/image" Target="../media/image20.png"/><Relationship Id="rId16" Type="http://schemas.openxmlformats.org/officeDocument/2006/relationships/tags" Target="../tags/tag131.xml"/><Relationship Id="rId15" Type="http://schemas.openxmlformats.org/officeDocument/2006/relationships/tags" Target="../tags/tag130.xml"/><Relationship Id="rId14" Type="http://schemas.openxmlformats.org/officeDocument/2006/relationships/tags" Target="../tags/tag129.xml"/><Relationship Id="rId13" Type="http://schemas.openxmlformats.org/officeDocument/2006/relationships/tags" Target="../tags/tag128.xml"/><Relationship Id="rId12" Type="http://schemas.openxmlformats.org/officeDocument/2006/relationships/tags" Target="../tags/tag127.xml"/><Relationship Id="rId11" Type="http://schemas.openxmlformats.org/officeDocument/2006/relationships/tags" Target="../tags/tag126.xml"/><Relationship Id="rId10" Type="http://schemas.openxmlformats.org/officeDocument/2006/relationships/tags" Target="../tags/tag125.xml"/><Relationship Id="rId1" Type="http://schemas.openxmlformats.org/officeDocument/2006/relationships/tags" Target="../tags/tag116.xml"/></Relationships>
</file>

<file path=ppt/slides/_rels/slide123.xml.rels><?xml version="1.0" encoding="UTF-8" standalone="yes"?>
<Relationships xmlns="http://schemas.openxmlformats.org/package/2006/relationships"><Relationship Id="rId9" Type="http://schemas.openxmlformats.org/officeDocument/2006/relationships/tags" Target="../tags/tag141.xml"/><Relationship Id="rId8" Type="http://schemas.openxmlformats.org/officeDocument/2006/relationships/tags" Target="../tags/tag140.xml"/><Relationship Id="rId7" Type="http://schemas.openxmlformats.org/officeDocument/2006/relationships/tags" Target="../tags/tag139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49.xml"/><Relationship Id="rId17" Type="http://schemas.openxmlformats.org/officeDocument/2006/relationships/image" Target="../media/image20.png"/><Relationship Id="rId16" Type="http://schemas.openxmlformats.org/officeDocument/2006/relationships/tags" Target="../tags/tag148.xml"/><Relationship Id="rId15" Type="http://schemas.openxmlformats.org/officeDocument/2006/relationships/tags" Target="../tags/tag147.xml"/><Relationship Id="rId14" Type="http://schemas.openxmlformats.org/officeDocument/2006/relationships/tags" Target="../tags/tag146.xml"/><Relationship Id="rId13" Type="http://schemas.openxmlformats.org/officeDocument/2006/relationships/tags" Target="../tags/tag145.xml"/><Relationship Id="rId12" Type="http://schemas.openxmlformats.org/officeDocument/2006/relationships/tags" Target="../tags/tag144.xml"/><Relationship Id="rId11" Type="http://schemas.openxmlformats.org/officeDocument/2006/relationships/tags" Target="../tags/tag143.xml"/><Relationship Id="rId10" Type="http://schemas.openxmlformats.org/officeDocument/2006/relationships/tags" Target="../tags/tag142.xml"/><Relationship Id="rId1" Type="http://schemas.openxmlformats.org/officeDocument/2006/relationships/tags" Target="../tags/tag133.xml"/></Relationships>
</file>

<file path=ppt/slides/_rels/slide124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66.xml"/><Relationship Id="rId17" Type="http://schemas.openxmlformats.org/officeDocument/2006/relationships/image" Target="../media/image20.png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tags" Target="../tags/tag159.xml"/><Relationship Id="rId1" Type="http://schemas.openxmlformats.org/officeDocument/2006/relationships/tags" Target="../tags/tag150.xml"/></Relationships>
</file>

<file path=ppt/slides/_rels/slide125.xml.rels><?xml version="1.0" encoding="UTF-8" standalone="yes"?>
<Relationships xmlns="http://schemas.openxmlformats.org/package/2006/relationships"><Relationship Id="rId9" Type="http://schemas.openxmlformats.org/officeDocument/2006/relationships/tags" Target="../tags/tag175.xml"/><Relationship Id="rId8" Type="http://schemas.openxmlformats.org/officeDocument/2006/relationships/tags" Target="../tags/tag174.xml"/><Relationship Id="rId7" Type="http://schemas.openxmlformats.org/officeDocument/2006/relationships/tags" Target="../tags/tag173.xml"/><Relationship Id="rId6" Type="http://schemas.openxmlformats.org/officeDocument/2006/relationships/tags" Target="../tags/tag172.xml"/><Relationship Id="rId5" Type="http://schemas.openxmlformats.org/officeDocument/2006/relationships/tags" Target="../tags/tag171.xml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83.xml"/><Relationship Id="rId17" Type="http://schemas.openxmlformats.org/officeDocument/2006/relationships/image" Target="../media/image20.png"/><Relationship Id="rId16" Type="http://schemas.openxmlformats.org/officeDocument/2006/relationships/tags" Target="../tags/tag182.xml"/><Relationship Id="rId15" Type="http://schemas.openxmlformats.org/officeDocument/2006/relationships/tags" Target="../tags/tag181.xml"/><Relationship Id="rId14" Type="http://schemas.openxmlformats.org/officeDocument/2006/relationships/tags" Target="../tags/tag180.xml"/><Relationship Id="rId13" Type="http://schemas.openxmlformats.org/officeDocument/2006/relationships/tags" Target="../tags/tag179.xml"/><Relationship Id="rId12" Type="http://schemas.openxmlformats.org/officeDocument/2006/relationships/tags" Target="../tags/tag178.xml"/><Relationship Id="rId11" Type="http://schemas.openxmlformats.org/officeDocument/2006/relationships/tags" Target="../tags/tag177.xml"/><Relationship Id="rId10" Type="http://schemas.openxmlformats.org/officeDocument/2006/relationships/tags" Target="../tags/tag176.xml"/><Relationship Id="rId1" Type="http://schemas.openxmlformats.org/officeDocument/2006/relationships/tags" Target="../tags/tag167.xml"/></Relationships>
</file>

<file path=ppt/slides/_rels/slide126.xml.rels><?xml version="1.0" encoding="UTF-8" standalone="yes"?>
<Relationships xmlns="http://schemas.openxmlformats.org/package/2006/relationships"><Relationship Id="rId9" Type="http://schemas.openxmlformats.org/officeDocument/2006/relationships/tags" Target="../tags/tag192.xml"/><Relationship Id="rId8" Type="http://schemas.openxmlformats.org/officeDocument/2006/relationships/tags" Target="../tags/tag191.xml"/><Relationship Id="rId7" Type="http://schemas.openxmlformats.org/officeDocument/2006/relationships/tags" Target="../tags/tag190.xml"/><Relationship Id="rId6" Type="http://schemas.openxmlformats.org/officeDocument/2006/relationships/tags" Target="../tags/tag189.xml"/><Relationship Id="rId5" Type="http://schemas.openxmlformats.org/officeDocument/2006/relationships/tags" Target="../tags/tag188.xml"/><Relationship Id="rId4" Type="http://schemas.openxmlformats.org/officeDocument/2006/relationships/tags" Target="../tags/tag187.xml"/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200.xml"/><Relationship Id="rId17" Type="http://schemas.openxmlformats.org/officeDocument/2006/relationships/image" Target="../media/image20.png"/><Relationship Id="rId16" Type="http://schemas.openxmlformats.org/officeDocument/2006/relationships/tags" Target="../tags/tag199.xml"/><Relationship Id="rId15" Type="http://schemas.openxmlformats.org/officeDocument/2006/relationships/tags" Target="../tags/tag198.xml"/><Relationship Id="rId14" Type="http://schemas.openxmlformats.org/officeDocument/2006/relationships/tags" Target="../tags/tag197.xml"/><Relationship Id="rId13" Type="http://schemas.openxmlformats.org/officeDocument/2006/relationships/tags" Target="../tags/tag196.xml"/><Relationship Id="rId12" Type="http://schemas.openxmlformats.org/officeDocument/2006/relationships/tags" Target="../tags/tag195.xml"/><Relationship Id="rId11" Type="http://schemas.openxmlformats.org/officeDocument/2006/relationships/tags" Target="../tags/tag194.xml"/><Relationship Id="rId10" Type="http://schemas.openxmlformats.org/officeDocument/2006/relationships/tags" Target="../tags/tag193.xml"/><Relationship Id="rId1" Type="http://schemas.openxmlformats.org/officeDocument/2006/relationships/tags" Target="../tags/tag1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743200"/>
            <a:ext cx="7793037" cy="1143000"/>
          </a:xfrm>
        </p:spPr>
        <p:txBody>
          <a:bodyPr/>
          <a:lstStyle/>
          <a:p>
            <a:pPr algn="ctr" eaLnBrk="1" hangingPunct="1"/>
            <a:r>
              <a:rPr lang="zh-CN" altLang="en-US" dirty="0"/>
              <a:t>第二章  一个简单的编译器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学习内容</a:t>
            </a: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eaLnBrk="1" hangingPunct="1"/>
            <a:r>
              <a:rPr lang="zh-CN" altLang="en-US" dirty="0"/>
              <a:t>能力获取：手工构造以</a:t>
            </a:r>
            <a:r>
              <a:rPr lang="zh-CN" altLang="en-US" dirty="0">
                <a:solidFill>
                  <a:schemeClr val="hlink"/>
                </a:solidFill>
                <a:ea typeface="黑体" panose="02010609060101010101" pitchFamily="49" charset="-122"/>
              </a:rPr>
              <a:t>语法分析器</a:t>
            </a:r>
            <a:r>
              <a:rPr lang="zh-CN" altLang="en-US" dirty="0"/>
              <a:t>为核心的编译器的能力</a:t>
            </a:r>
            <a:r>
              <a:rPr lang="en-US" altLang="zh-CN" dirty="0"/>
              <a:t>——</a:t>
            </a:r>
            <a:r>
              <a:rPr lang="zh-CN" altLang="en-US" dirty="0"/>
              <a:t>以中缀表达式转后缀表示形式为例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利用</a:t>
            </a:r>
            <a:r>
              <a:rPr lang="zh-CN" altLang="en-US" dirty="0">
                <a:solidFill>
                  <a:schemeClr val="hlink"/>
                </a:solidFill>
                <a:ea typeface="黑体" panose="02010609060101010101" pitchFamily="49" charset="-122"/>
              </a:rPr>
              <a:t>上下文无关文法</a:t>
            </a:r>
            <a:r>
              <a:rPr lang="zh-CN" altLang="en-US" dirty="0">
                <a:solidFill>
                  <a:srgbClr val="3333CC"/>
                </a:solidFill>
                <a:ea typeface="黑体" panose="02010609060101010101" pitchFamily="49" charset="-122"/>
              </a:rPr>
              <a:t>描述</a:t>
            </a:r>
            <a:r>
              <a:rPr lang="zh-CN" altLang="en-US" dirty="0"/>
              <a:t>源语言的语法结构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利用</a:t>
            </a:r>
            <a:r>
              <a:rPr lang="zh-CN" altLang="en-US" dirty="0">
                <a:solidFill>
                  <a:schemeClr val="hlink"/>
                </a:solidFill>
                <a:ea typeface="黑体" panose="02010609060101010101" pitchFamily="49" charset="-122"/>
              </a:rPr>
              <a:t>语法制导翻译</a:t>
            </a:r>
            <a:r>
              <a:rPr lang="zh-CN" altLang="en-US" dirty="0"/>
              <a:t>方法进行表达式转换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构造</a:t>
            </a:r>
            <a:r>
              <a:rPr lang="zh-CN" altLang="en-US" dirty="0">
                <a:solidFill>
                  <a:schemeClr val="hlink"/>
                </a:solidFill>
                <a:ea typeface="黑体" panose="02010609060101010101" pitchFamily="49" charset="-122"/>
              </a:rPr>
              <a:t>预测分析器</a:t>
            </a:r>
            <a:r>
              <a:rPr lang="zh-CN" altLang="en-US" dirty="0"/>
              <a:t>，进行</a:t>
            </a:r>
            <a:r>
              <a:rPr lang="zh-CN" altLang="en-US" dirty="0">
                <a:solidFill>
                  <a:srgbClr val="3333CC"/>
                </a:solidFill>
                <a:ea typeface="黑体" panose="02010609060101010101" pitchFamily="49" charset="-122"/>
              </a:rPr>
              <a:t>语法分析</a:t>
            </a:r>
            <a:r>
              <a:rPr lang="zh-CN" altLang="en-US" dirty="0"/>
              <a:t>，并同时进行语法制导翻译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构造更复杂的</a:t>
            </a:r>
            <a:r>
              <a:rPr lang="zh-CN" altLang="en-US" dirty="0">
                <a:solidFill>
                  <a:srgbClr val="FF3300"/>
                </a:solidFill>
                <a:ea typeface="黑体" panose="02010609060101010101" pitchFamily="49" charset="-122"/>
              </a:rPr>
              <a:t>词法分析器</a:t>
            </a:r>
            <a:r>
              <a:rPr lang="en-US" altLang="zh-CN" dirty="0"/>
              <a:t>——</a:t>
            </a:r>
            <a:r>
              <a:rPr lang="zh-CN" altLang="en-US" dirty="0"/>
              <a:t>消除单字符单词的限制，支持变量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符号表的简单实现方法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2.1  </a:t>
            </a:r>
            <a:r>
              <a:rPr lang="zh-CN" altLang="en-US"/>
              <a:t>概述</a:t>
            </a:r>
            <a:endParaRPr lang="zh-CN" alt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371600"/>
            <a:ext cx="7735888" cy="4724400"/>
          </a:xfrm>
        </p:spPr>
        <p:txBody>
          <a:bodyPr/>
          <a:lstStyle/>
          <a:p>
            <a:pPr eaLnBrk="1" hangingPunct="1"/>
            <a:r>
              <a:rPr lang="zh-CN" altLang="en-US"/>
              <a:t>语法描述</a:t>
            </a:r>
            <a:br>
              <a:rPr lang="zh-CN" altLang="en-US"/>
            </a:br>
            <a:r>
              <a:rPr lang="zh-CN" altLang="en-US" b="1">
                <a:solidFill>
                  <a:srgbClr val="3333CC"/>
                </a:solidFill>
              </a:rPr>
              <a:t>上下文无关文法</a:t>
            </a:r>
            <a:r>
              <a:rPr lang="zh-CN" altLang="en-US" b="1"/>
              <a:t>，</a:t>
            </a:r>
            <a:r>
              <a:rPr lang="en-US" altLang="zh-CN">
                <a:solidFill>
                  <a:srgbClr val="FF3300"/>
                </a:solidFill>
              </a:rPr>
              <a:t>context-free grammar</a:t>
            </a:r>
            <a:br>
              <a:rPr lang="en-US" altLang="zh-CN" b="1"/>
            </a:br>
            <a:r>
              <a:rPr lang="zh-CN" altLang="en-US" b="1">
                <a:solidFill>
                  <a:srgbClr val="3333CC"/>
                </a:solidFill>
              </a:rPr>
              <a:t>巴科斯</a:t>
            </a:r>
            <a:r>
              <a:rPr lang="en-US" altLang="zh-CN" b="1">
                <a:solidFill>
                  <a:srgbClr val="3333CC"/>
                </a:solidFill>
              </a:rPr>
              <a:t>-</a:t>
            </a:r>
            <a:r>
              <a:rPr lang="zh-CN" altLang="en-US" b="1">
                <a:solidFill>
                  <a:srgbClr val="3333CC"/>
                </a:solidFill>
              </a:rPr>
              <a:t>瑙尔范式</a:t>
            </a:r>
            <a:r>
              <a:rPr lang="zh-CN" altLang="en-US" b="1"/>
              <a:t>，</a:t>
            </a:r>
            <a:r>
              <a:rPr lang="en-US" altLang="zh-CN">
                <a:solidFill>
                  <a:srgbClr val="FF3300"/>
                </a:solidFill>
              </a:rPr>
              <a:t>Backus-Naur Form</a:t>
            </a:r>
            <a:r>
              <a:rPr lang="zh-CN" altLang="en-US" b="1"/>
              <a:t>，</a:t>
            </a:r>
            <a:r>
              <a:rPr lang="en-US" altLang="zh-CN" b="1">
                <a:solidFill>
                  <a:srgbClr val="FF3300"/>
                </a:solidFill>
              </a:rPr>
              <a:t>BNF</a:t>
            </a:r>
            <a:endParaRPr lang="en-US" altLang="zh-CN" b="1">
              <a:solidFill>
                <a:srgbClr val="FF3300"/>
              </a:solidFill>
            </a:endParaRPr>
          </a:p>
          <a:p>
            <a:pPr eaLnBrk="1" hangingPunct="1"/>
            <a:r>
              <a:rPr lang="zh-CN" altLang="en-US"/>
              <a:t>语义描述：非形式化描述</a:t>
            </a:r>
            <a:endParaRPr lang="zh-CN" altLang="en-US"/>
          </a:p>
          <a:p>
            <a:pPr eaLnBrk="1" hangingPunct="1"/>
            <a:r>
              <a:rPr lang="zh-CN" altLang="en-US"/>
              <a:t>辅助代码生成：</a:t>
            </a:r>
            <a:br>
              <a:rPr lang="zh-CN" altLang="en-US"/>
            </a:br>
            <a:r>
              <a:rPr lang="zh-CN" altLang="en-US" b="1">
                <a:solidFill>
                  <a:srgbClr val="3333CC"/>
                </a:solidFill>
              </a:rPr>
              <a:t>语法制导翻译</a:t>
            </a:r>
            <a:r>
              <a:rPr lang="zh-CN" altLang="en-US"/>
              <a:t>，</a:t>
            </a:r>
            <a:r>
              <a:rPr lang="en-US" altLang="zh-CN">
                <a:solidFill>
                  <a:srgbClr val="FF3300"/>
                </a:solidFill>
              </a:rPr>
              <a:t>syntax-directed translation</a:t>
            </a:r>
            <a:endParaRPr lang="en-US" altLang="zh-CN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构造一个简单的编译器</a:t>
            </a:r>
            <a:endParaRPr lang="zh-CN" alt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目标：表达式中缀表示</a:t>
            </a:r>
            <a:r>
              <a:rPr lang="zh-CN" altLang="en-US" dirty="0">
                <a:sym typeface="Wingdings" panose="05000000000000000000" pitchFamily="2" charset="2"/>
              </a:rPr>
              <a:t>后缀表示</a:t>
            </a:r>
            <a:br>
              <a:rPr lang="zh-CN" altLang="en-US" dirty="0">
                <a:sym typeface="Wingdings" panose="05000000000000000000" pitchFamily="2" charset="2"/>
              </a:rPr>
            </a:br>
            <a:r>
              <a:rPr lang="en-US" altLang="zh-CN" dirty="0">
                <a:sym typeface="Wingdings" panose="05000000000000000000" pitchFamily="2" charset="2"/>
              </a:rPr>
              <a:t>9-5+2</a:t>
            </a:r>
            <a:endParaRPr lang="en-US" altLang="zh-CN" dirty="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dirty="0">
                <a:sym typeface="Wingdings" panose="05000000000000000000" pitchFamily="2" charset="2"/>
              </a:rPr>
              <a:t>过程：</a:t>
            </a:r>
            <a:endParaRPr lang="zh-CN" altLang="en-US" dirty="0">
              <a:sym typeface="Wingdings" panose="05000000000000000000" pitchFamily="2" charset="2"/>
            </a:endParaRPr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语法制导翻译器：语法分析＋中间代码生成</a:t>
            </a:r>
            <a:endParaRPr lang="zh-CN" altLang="en-US" dirty="0"/>
          </a:p>
        </p:txBody>
      </p:sp>
      <p:pic>
        <p:nvPicPr>
          <p:cNvPr id="10244" name="Picture 14" descr="fronten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155950"/>
            <a:ext cx="7305675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2915816" y="1897668"/>
            <a:ext cx="1080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ym typeface="Wingdings" panose="05000000000000000000" pitchFamily="2" charset="2"/>
              </a:rPr>
              <a:t>95-2+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2.2  </a:t>
            </a:r>
            <a:r>
              <a:rPr lang="zh-CN" altLang="en-US"/>
              <a:t>语法定义</a:t>
            </a:r>
            <a:endParaRPr lang="zh-CN" altLang="en-US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上下文无关文法：描述语言的语法结构</a:t>
            </a:r>
            <a:endParaRPr lang="zh-CN" altLang="en-US" sz="2800" dirty="0"/>
          </a:p>
          <a:p>
            <a:pPr eaLnBrk="1" hangingPunct="1"/>
            <a:r>
              <a:rPr lang="en-US" altLang="zh-CN" sz="2800" b="1" dirty="0"/>
              <a:t>if</a:t>
            </a:r>
            <a:r>
              <a:rPr lang="en-US" altLang="zh-CN" sz="2800" dirty="0"/>
              <a:t> (expression) statement </a:t>
            </a:r>
            <a:r>
              <a:rPr lang="en-US" altLang="zh-CN" sz="2800" b="1" dirty="0"/>
              <a:t>else</a:t>
            </a:r>
            <a:r>
              <a:rPr lang="en-US" altLang="zh-CN" sz="2800" dirty="0"/>
              <a:t> statement</a:t>
            </a:r>
            <a:endParaRPr lang="en-US" altLang="zh-CN" sz="2800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对应的文法规则</a:t>
            </a:r>
            <a:br>
              <a:rPr lang="zh-CN" altLang="en-US" sz="2800" dirty="0"/>
            </a:br>
            <a:r>
              <a:rPr lang="en-US" altLang="zh-CN" sz="2800" i="1" dirty="0" err="1"/>
              <a:t>stmt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</a:t>
            </a:r>
            <a:r>
              <a:rPr kumimoji="0" lang="en-US" altLang="zh-CN" sz="2800" b="1" dirty="0" err="1">
                <a:sym typeface="Symbol" panose="05050102010706020507" pitchFamily="18" charset="2"/>
              </a:rPr>
              <a:t>if</a:t>
            </a:r>
            <a:r>
              <a:rPr kumimoji="0" lang="en-US" altLang="zh-CN" sz="2800" b="1" dirty="0">
                <a:sym typeface="Symbol" panose="05050102010706020507" pitchFamily="18" charset="2"/>
              </a:rPr>
              <a:t> </a:t>
            </a:r>
            <a:r>
              <a:rPr kumimoji="0" lang="en-US" altLang="zh-CN" sz="2800" dirty="0">
                <a:sym typeface="Symbol" panose="05050102010706020507" pitchFamily="18" charset="2"/>
              </a:rPr>
              <a:t>( </a:t>
            </a:r>
            <a:r>
              <a:rPr kumimoji="0" lang="en-US" altLang="zh-CN" sz="2800" i="1" dirty="0">
                <a:sym typeface="Symbol" panose="05050102010706020507" pitchFamily="18" charset="2"/>
              </a:rPr>
              <a:t>expr </a:t>
            </a:r>
            <a:r>
              <a:rPr kumimoji="0" lang="en-US" altLang="zh-CN" sz="2800" dirty="0">
                <a:sym typeface="Symbol" panose="05050102010706020507" pitchFamily="18" charset="2"/>
              </a:rPr>
              <a:t>)</a:t>
            </a:r>
            <a:r>
              <a:rPr kumimoji="0" lang="en-US" altLang="zh-CN" sz="2800" b="1" dirty="0">
                <a:sym typeface="Symbol" panose="05050102010706020507" pitchFamily="18" charset="2"/>
              </a:rPr>
              <a:t> </a:t>
            </a:r>
            <a:r>
              <a:rPr kumimoji="0" lang="en-US" altLang="zh-CN" sz="2800" i="1" dirty="0" err="1">
                <a:sym typeface="Symbol" panose="05050102010706020507" pitchFamily="18" charset="2"/>
              </a:rPr>
              <a:t>stmt</a:t>
            </a:r>
            <a:r>
              <a:rPr kumimoji="0" lang="en-US" altLang="zh-CN" sz="2800" b="1" dirty="0">
                <a:sym typeface="Symbol" panose="05050102010706020507" pitchFamily="18" charset="2"/>
              </a:rPr>
              <a:t> else </a:t>
            </a:r>
            <a:r>
              <a:rPr kumimoji="0" lang="en-US" altLang="zh-CN" sz="2800" i="1" dirty="0" err="1">
                <a:sym typeface="Symbol" panose="05050102010706020507" pitchFamily="18" charset="2"/>
              </a:rPr>
              <a:t>stmt</a:t>
            </a:r>
            <a:endParaRPr kumimoji="0" lang="en-US" altLang="zh-CN" sz="2800" i="1" dirty="0">
              <a:sym typeface="Symbol" panose="05050102010706020507" pitchFamily="18" charset="2"/>
            </a:endParaRPr>
          </a:p>
          <a:p>
            <a:pPr eaLnBrk="1" hangingPunct="1"/>
            <a:r>
              <a:rPr kumimoji="0" lang="zh-CN" altLang="en-US" sz="2800" b="1" dirty="0">
                <a:solidFill>
                  <a:srgbClr val="3333CC"/>
                </a:solidFill>
                <a:sym typeface="Symbol" panose="05050102010706020507" pitchFamily="18" charset="2"/>
              </a:rPr>
              <a:t>产生式</a:t>
            </a:r>
            <a:r>
              <a:rPr kumimoji="0" lang="zh-CN" altLang="en-US" sz="2800" dirty="0">
                <a:sym typeface="Symbol" panose="05050102010706020507" pitchFamily="18" charset="2"/>
              </a:rPr>
              <a:t>，</a:t>
            </a:r>
            <a:r>
              <a:rPr kumimoji="0" lang="en-US" altLang="zh-CN" sz="2800" dirty="0">
                <a:solidFill>
                  <a:srgbClr val="FF3300"/>
                </a:solidFill>
                <a:sym typeface="Symbol" panose="05050102010706020507" pitchFamily="18" charset="2"/>
              </a:rPr>
              <a:t>production</a:t>
            </a:r>
            <a:endParaRPr kumimoji="0" lang="en-US" altLang="zh-CN" sz="2800" dirty="0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kumimoji="0" lang="en-US" altLang="zh-CN" sz="2800" b="1" dirty="0">
                <a:sym typeface="Symbol" panose="05050102010706020507" pitchFamily="18" charset="2"/>
              </a:rPr>
              <a:t>if</a:t>
            </a:r>
            <a:r>
              <a:rPr kumimoji="0" lang="en-US" altLang="zh-CN" sz="2800" dirty="0">
                <a:sym typeface="Symbol" panose="05050102010706020507" pitchFamily="18" charset="2"/>
              </a:rPr>
              <a:t>, </a:t>
            </a:r>
            <a:r>
              <a:rPr kumimoji="0" lang="en-US" altLang="zh-CN" sz="2800" b="1" dirty="0">
                <a:sym typeface="Symbol" panose="05050102010706020507" pitchFamily="18" charset="2"/>
              </a:rPr>
              <a:t>else</a:t>
            </a:r>
            <a:r>
              <a:rPr kumimoji="0" lang="en-US" altLang="zh-CN" sz="2800" dirty="0">
                <a:latin typeface="Tahoma" panose="020B0604030504040204" pitchFamily="34" charset="0"/>
                <a:sym typeface="Symbol" panose="05050102010706020507" pitchFamily="18" charset="2"/>
              </a:rPr>
              <a:t>——</a:t>
            </a:r>
            <a:r>
              <a:rPr kumimoji="0" lang="zh-CN" altLang="en-US" sz="2800" dirty="0">
                <a:sym typeface="Symbol" panose="05050102010706020507" pitchFamily="18" charset="2"/>
              </a:rPr>
              <a:t>单词，终结符号，</a:t>
            </a:r>
            <a:r>
              <a:rPr kumimoji="0" lang="en-US" altLang="zh-CN" sz="2800" dirty="0">
                <a:solidFill>
                  <a:schemeClr val="hlink"/>
                </a:solidFill>
                <a:sym typeface="Symbol" panose="05050102010706020507" pitchFamily="18" charset="2"/>
              </a:rPr>
              <a:t>terminal</a:t>
            </a:r>
            <a:endParaRPr kumimoji="0" lang="en-US" altLang="zh-CN" sz="2800" dirty="0">
              <a:solidFill>
                <a:schemeClr val="hlink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kumimoji="0" lang="en-US" altLang="zh-CN" sz="2800" i="1" dirty="0">
                <a:sym typeface="Symbol" panose="05050102010706020507" pitchFamily="18" charset="2"/>
              </a:rPr>
              <a:t>expr</a:t>
            </a:r>
            <a:r>
              <a:rPr kumimoji="0" lang="en-US" altLang="zh-CN" sz="2800" dirty="0">
                <a:sym typeface="Symbol" panose="05050102010706020507" pitchFamily="18" charset="2"/>
              </a:rPr>
              <a:t>, </a:t>
            </a:r>
            <a:r>
              <a:rPr kumimoji="0" lang="en-US" altLang="zh-CN" sz="2800" i="1" dirty="0" err="1">
                <a:sym typeface="Symbol" panose="05050102010706020507" pitchFamily="18" charset="2"/>
              </a:rPr>
              <a:t>stmt</a:t>
            </a:r>
            <a:r>
              <a:rPr kumimoji="0" lang="en-US" altLang="zh-CN" sz="2800" dirty="0">
                <a:latin typeface="Tahoma" panose="020B0604030504040204" pitchFamily="34" charset="0"/>
                <a:sym typeface="Symbol" panose="05050102010706020507" pitchFamily="18" charset="2"/>
              </a:rPr>
              <a:t>——</a:t>
            </a:r>
            <a:r>
              <a:rPr kumimoji="0" lang="zh-CN" altLang="en-US" sz="2800" dirty="0">
                <a:sym typeface="Symbol" panose="05050102010706020507" pitchFamily="18" charset="2"/>
              </a:rPr>
              <a:t>单词序列，非终结符号，</a:t>
            </a:r>
            <a:r>
              <a:rPr kumimoji="0" lang="en-US" altLang="zh-CN" sz="2800" dirty="0">
                <a:solidFill>
                  <a:schemeClr val="hlink"/>
                </a:solidFill>
                <a:sym typeface="Symbol" panose="05050102010706020507" pitchFamily="18" charset="2"/>
              </a:rPr>
              <a:t>nonterminal</a:t>
            </a:r>
            <a:endParaRPr kumimoji="0" lang="en-US" altLang="zh-CN" sz="2800" dirty="0">
              <a:solidFill>
                <a:schemeClr val="hlink"/>
              </a:solidFill>
              <a:sym typeface="Symbol" panose="05050102010706020507" pitchFamily="18" charset="2"/>
            </a:endParaRPr>
          </a:p>
        </p:txBody>
      </p:sp>
      <p:sp>
        <p:nvSpPr>
          <p:cNvPr id="55301" name="Freeform 5"/>
          <p:cNvSpPr/>
          <p:nvPr/>
        </p:nvSpPr>
        <p:spPr bwMode="auto">
          <a:xfrm>
            <a:off x="2356763" y="2329328"/>
            <a:ext cx="3505200" cy="620713"/>
          </a:xfrm>
          <a:custGeom>
            <a:avLst/>
            <a:gdLst>
              <a:gd name="T0" fmla="*/ 2147483646 w 2208"/>
              <a:gd name="T1" fmla="*/ 2147483646 h 391"/>
              <a:gd name="T2" fmla="*/ 2147483646 w 2208"/>
              <a:gd name="T3" fmla="*/ 2147483646 h 391"/>
              <a:gd name="T4" fmla="*/ 2147483646 w 2208"/>
              <a:gd name="T5" fmla="*/ 2147483646 h 391"/>
              <a:gd name="T6" fmla="*/ 0 w 2208"/>
              <a:gd name="T7" fmla="*/ 2147483646 h 391"/>
              <a:gd name="T8" fmla="*/ 0 60000 65536"/>
              <a:gd name="T9" fmla="*/ 0 60000 65536"/>
              <a:gd name="T10" fmla="*/ 0 60000 65536"/>
              <a:gd name="T11" fmla="*/ 0 60000 65536"/>
              <a:gd name="T12" fmla="*/ 0 w 2208"/>
              <a:gd name="T13" fmla="*/ 0 h 391"/>
              <a:gd name="T14" fmla="*/ 2208 w 2208"/>
              <a:gd name="T15" fmla="*/ 391 h 39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08" h="391">
                <a:moveTo>
                  <a:pt x="2208" y="55"/>
                </a:moveTo>
                <a:cubicBezTo>
                  <a:pt x="2055" y="51"/>
                  <a:pt x="1612" y="0"/>
                  <a:pt x="1290" y="28"/>
                </a:cubicBezTo>
                <a:cubicBezTo>
                  <a:pt x="968" y="56"/>
                  <a:pt x="488" y="166"/>
                  <a:pt x="273" y="226"/>
                </a:cubicBezTo>
                <a:cubicBezTo>
                  <a:pt x="58" y="286"/>
                  <a:pt x="57" y="357"/>
                  <a:pt x="0" y="391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miter lim="800000"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 dirty="0"/>
          </a:p>
        </p:txBody>
      </p:sp>
      <p:sp>
        <p:nvSpPr>
          <p:cNvPr id="55302" name="Rectangle 6"/>
          <p:cNvSpPr>
            <a:spLocks noChangeArrowheads="1"/>
          </p:cNvSpPr>
          <p:nvPr/>
        </p:nvSpPr>
        <p:spPr bwMode="auto">
          <a:xfrm>
            <a:off x="5796136" y="2268959"/>
            <a:ext cx="23770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800" b="1" dirty="0">
                <a:solidFill>
                  <a:schemeClr val="hlink"/>
                </a:solidFill>
                <a:ea typeface="隶书" panose="02010509060101010101" pitchFamily="49" charset="-122"/>
              </a:rPr>
              <a:t>可</a:t>
            </a:r>
            <a:r>
              <a:rPr lang="zh-CN" altLang="en-US" sz="2000" b="1" dirty="0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具有形式为</a:t>
            </a:r>
            <a:r>
              <a:rPr lang="en-US" altLang="zh-CN" sz="2000" b="1" dirty="0">
                <a:solidFill>
                  <a:srgbClr val="3333CC"/>
                </a:solidFill>
                <a:ea typeface="黑体" panose="02010609060101010101" pitchFamily="49" charset="-122"/>
              </a:rPr>
              <a:t>…</a:t>
            </a:r>
            <a:endParaRPr lang="en-US" altLang="zh-CN" sz="2000" b="1" dirty="0">
              <a:solidFill>
                <a:srgbClr val="3333CC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上下文无关文法</a:t>
            </a:r>
            <a:endParaRPr lang="zh-CN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37125"/>
          </a:xfrm>
        </p:spPr>
        <p:txBody>
          <a:bodyPr/>
          <a:lstStyle/>
          <a:p>
            <a:pPr marL="609600" indent="-609600" eaLnBrk="1" hangingPunct="1"/>
            <a:r>
              <a:rPr lang="zh-CN" altLang="en-US" sz="2800" dirty="0"/>
              <a:t>四个部分组成</a:t>
            </a:r>
            <a:endParaRPr lang="zh-CN" altLang="en-US" dirty="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一组</a:t>
            </a:r>
            <a:r>
              <a:rPr lang="zh-CN" altLang="en-US" sz="2800" b="1" dirty="0">
                <a:solidFill>
                  <a:srgbClr val="3333CC"/>
                </a:solidFill>
                <a:ea typeface="黑体" panose="02010609060101010101" pitchFamily="49" charset="-122"/>
              </a:rPr>
              <a:t>终结符号</a:t>
            </a:r>
            <a:r>
              <a:rPr lang="zh-CN" altLang="en-US" sz="2800" dirty="0"/>
              <a:t>，单词，基本符号</a:t>
            </a:r>
            <a:endParaRPr lang="zh-CN" altLang="en-US" sz="2800" dirty="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一组</a:t>
            </a:r>
            <a:r>
              <a:rPr lang="zh-CN" altLang="en-US" sz="2800" b="1" dirty="0">
                <a:solidFill>
                  <a:srgbClr val="3333CC"/>
                </a:solidFill>
                <a:ea typeface="黑体" panose="02010609060101010101" pitchFamily="49" charset="-122"/>
              </a:rPr>
              <a:t>非终结符号</a:t>
            </a:r>
            <a:r>
              <a:rPr lang="zh-CN" altLang="en-US" sz="2800" dirty="0"/>
              <a:t>（语法变量），语法范畴，语法概念</a:t>
            </a:r>
            <a:endParaRPr lang="zh-CN" altLang="en-US" sz="2800" dirty="0"/>
          </a:p>
          <a:p>
            <a:pPr marL="609600" indent="-609600" eaLnBrk="1" hangingPunct="1">
              <a:spcBef>
                <a:spcPct val="0"/>
              </a:spcBef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一组</a:t>
            </a:r>
            <a:r>
              <a:rPr lang="zh-CN" altLang="en-US" sz="2800" b="1" dirty="0">
                <a:solidFill>
                  <a:srgbClr val="3333CC"/>
                </a:solidFill>
                <a:ea typeface="黑体" panose="02010609060101010101" pitchFamily="49" charset="-122"/>
              </a:rPr>
              <a:t>产生式</a:t>
            </a:r>
            <a:r>
              <a:rPr lang="zh-CN" altLang="en-US" sz="2800" dirty="0"/>
              <a:t>，定义语法范畴</a:t>
            </a:r>
            <a:br>
              <a:rPr lang="zh-CN" altLang="en-US" sz="2800" dirty="0"/>
            </a:br>
            <a:r>
              <a:rPr lang="zh-CN" altLang="en-US" sz="2800" dirty="0"/>
              <a:t>产生式：</a:t>
            </a:r>
            <a:r>
              <a:rPr lang="en-US" altLang="zh-CN" sz="2800" dirty="0" err="1"/>
              <a:t>A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</a:t>
            </a:r>
            <a:r>
              <a:rPr kumimoji="0" lang="en-US" altLang="zh-CN" sz="2800" dirty="0" err="1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br>
              <a:rPr kumimoji="0" lang="en-US" altLang="zh-CN" sz="2800" dirty="0">
                <a:latin typeface="宋体" panose="02010600030101010101" pitchFamily="2" charset="-122"/>
                <a:sym typeface="Symbol" panose="05050102010706020507" pitchFamily="18" charset="2"/>
              </a:rPr>
            </a:br>
            <a:r>
              <a:rPr kumimoji="0" lang="en-US" altLang="zh-CN" sz="2800" dirty="0">
                <a:sym typeface="Symbol" panose="05050102010706020507" pitchFamily="18" charset="2"/>
              </a:rPr>
              <a:t>A——</a:t>
            </a:r>
            <a:r>
              <a:rPr kumimoji="0" lang="zh-CN" altLang="en-US" sz="2800" dirty="0">
                <a:sym typeface="Symbol" panose="05050102010706020507" pitchFamily="18" charset="2"/>
              </a:rPr>
              <a:t>一个非终结符，</a:t>
            </a:r>
            <a:r>
              <a:rPr lang="zh-CN" altLang="en-US" sz="2800" b="1" dirty="0">
                <a:solidFill>
                  <a:srgbClr val="3333CC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左部</a:t>
            </a:r>
            <a:br>
              <a:rPr kumimoji="0" lang="zh-CN" altLang="en-US" sz="2800" dirty="0">
                <a:sym typeface="Symbol" panose="05050102010706020507" pitchFamily="18" charset="2"/>
              </a:rPr>
            </a:br>
            <a:r>
              <a:rPr kumimoji="0" lang="en-US" altLang="zh-CN" sz="2800" dirty="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kumimoji="0" lang="en-US" altLang="zh-CN" sz="2800" dirty="0">
                <a:sym typeface="Symbol" panose="05050102010706020507" pitchFamily="18" charset="2"/>
              </a:rPr>
              <a:t>——</a:t>
            </a:r>
            <a:r>
              <a:rPr kumimoji="0" lang="zh-CN" altLang="en-US" sz="2800" dirty="0">
                <a:sym typeface="Symbol" panose="05050102010706020507" pitchFamily="18" charset="2"/>
              </a:rPr>
              <a:t>终结符或</a:t>
            </a:r>
            <a:r>
              <a:rPr kumimoji="0" lang="en-US" altLang="zh-CN" sz="2800" dirty="0">
                <a:sym typeface="Symbol" panose="05050102010706020507" pitchFamily="18" charset="2"/>
              </a:rPr>
              <a:t>/</a:t>
            </a:r>
            <a:r>
              <a:rPr kumimoji="0" lang="zh-CN" altLang="en-US" sz="2800" dirty="0">
                <a:sym typeface="Symbol" panose="05050102010706020507" pitchFamily="18" charset="2"/>
              </a:rPr>
              <a:t>与非终结符串，</a:t>
            </a:r>
            <a:r>
              <a:rPr lang="zh-CN" altLang="en-US" sz="2800" b="1" dirty="0">
                <a:solidFill>
                  <a:srgbClr val="3333CC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右部</a:t>
            </a:r>
            <a:endParaRPr lang="zh-CN" altLang="en-US" sz="2800" b="1" dirty="0">
              <a:solidFill>
                <a:srgbClr val="3333CC"/>
              </a:solidFill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800" dirty="0">
                <a:sym typeface="Symbol" panose="05050102010706020507" pitchFamily="18" charset="2"/>
              </a:rPr>
              <a:t>一个特定的非终结符</a:t>
            </a:r>
            <a:r>
              <a:rPr kumimoji="0" lang="en-US" altLang="zh-CN" sz="2800" dirty="0">
                <a:sym typeface="Symbol" panose="05050102010706020507" pitchFamily="18" charset="2"/>
              </a:rPr>
              <a:t>——</a:t>
            </a:r>
            <a:r>
              <a:rPr kumimoji="0" lang="zh-CN" altLang="en-US" sz="2800" b="1" dirty="0">
                <a:solidFill>
                  <a:srgbClr val="3333CC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开始符号</a:t>
            </a:r>
            <a:r>
              <a:rPr kumimoji="0" lang="zh-CN" altLang="en-US" sz="2800" dirty="0">
                <a:sym typeface="Symbol" panose="05050102010706020507" pitchFamily="18" charset="2"/>
              </a:rPr>
              <a:t>，</a:t>
            </a:r>
            <a:r>
              <a:rPr kumimoji="0" lang="en-US" altLang="zh-CN" sz="2800" dirty="0">
                <a:solidFill>
                  <a:srgbClr val="FF3300"/>
                </a:solidFill>
                <a:sym typeface="Symbol" panose="05050102010706020507" pitchFamily="18" charset="2"/>
              </a:rPr>
              <a:t>start symbol</a:t>
            </a:r>
            <a:endParaRPr kumimoji="0" lang="en-US" altLang="zh-CN" sz="2800" dirty="0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语法分析：分析单词之间的关系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——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将单词串抽象为非终结符、形成层次结构</a:t>
            </a:r>
            <a:endParaRPr kumimoji="1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形式化定义</a:t>
            </a:r>
            <a:endParaRPr lang="zh-CN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几个概念</a:t>
            </a:r>
            <a:endParaRPr lang="zh-CN" altLang="en-US" sz="2800" dirty="0"/>
          </a:p>
          <a:p>
            <a:pPr eaLnBrk="1" hangingPunct="1"/>
            <a:r>
              <a:rPr lang="en-US" altLang="zh-CN" sz="2800" dirty="0"/>
              <a:t>Σ</a:t>
            </a:r>
            <a:r>
              <a:rPr lang="zh-CN" altLang="en-US" sz="2800" dirty="0"/>
              <a:t>：有穷</a:t>
            </a:r>
            <a:r>
              <a:rPr lang="zh-CN" altLang="en-US" sz="2800" b="1" dirty="0">
                <a:solidFill>
                  <a:srgbClr val="3333CC"/>
                </a:solidFill>
                <a:ea typeface="黑体" panose="02010609060101010101" pitchFamily="49" charset="-122"/>
              </a:rPr>
              <a:t>字母表</a:t>
            </a:r>
            <a:r>
              <a:rPr lang="zh-CN" altLang="en-US" sz="2800" dirty="0"/>
              <a:t>，元素</a:t>
            </a:r>
            <a:r>
              <a:rPr kumimoji="0" lang="en-US" altLang="zh-CN" sz="2800" dirty="0">
                <a:sym typeface="Symbol" panose="05050102010706020507" pitchFamily="18" charset="2"/>
              </a:rPr>
              <a:t>——</a:t>
            </a:r>
            <a:r>
              <a:rPr lang="zh-CN" altLang="en-US" sz="2800" dirty="0"/>
              <a:t>符号</a:t>
            </a:r>
            <a:endParaRPr lang="zh-CN" altLang="en-US" sz="2800" dirty="0"/>
          </a:p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符号串</a:t>
            </a:r>
            <a:r>
              <a:rPr lang="zh-CN" altLang="en-US" sz="2800" dirty="0"/>
              <a:t>：</a:t>
            </a:r>
            <a:r>
              <a:rPr lang="en-US" altLang="zh-CN" sz="2800" dirty="0"/>
              <a:t>Σ</a:t>
            </a:r>
            <a:r>
              <a:rPr lang="zh-CN" altLang="en-US" sz="2800" dirty="0">
                <a:latin typeface="宋体" panose="02010600030101010101" pitchFamily="2" charset="-122"/>
              </a:rPr>
              <a:t>中符号构成的有穷序列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空字</a:t>
            </a:r>
            <a:r>
              <a:rPr lang="zh-CN" altLang="en-US" sz="2800" dirty="0">
                <a:latin typeface="宋体" panose="02010600030101010101" pitchFamily="2" charset="-122"/>
              </a:rPr>
              <a:t>：不含任何符号的序列，</a:t>
            </a:r>
            <a:r>
              <a:rPr lang="en-US" altLang="zh-CN" sz="2800" dirty="0">
                <a:cs typeface="Times New Roman" panose="02020603050405020304" pitchFamily="18" charset="0"/>
              </a:rPr>
              <a:t>ε</a:t>
            </a:r>
            <a:endParaRPr lang="en-US" altLang="zh-CN" sz="2800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800" dirty="0"/>
              <a:t>Σ</a:t>
            </a:r>
            <a:r>
              <a:rPr lang="en-US" altLang="zh-CN" sz="2800" baseline="30000" dirty="0"/>
              <a:t>*</a:t>
            </a:r>
            <a:r>
              <a:rPr lang="zh-CN" altLang="en-US" sz="2800" dirty="0"/>
              <a:t>：符号串全体，包括空字</a:t>
            </a:r>
            <a:endParaRPr lang="zh-CN" altLang="en-US" sz="2800" dirty="0"/>
          </a:p>
          <a:p>
            <a:pPr eaLnBrk="1" hangingPunct="1"/>
            <a:r>
              <a:rPr lang="en-US" altLang="zh-CN" sz="2800" dirty="0">
                <a:latin typeface="Symbol" panose="05050102010706020507" pitchFamily="18" charset="2"/>
              </a:rPr>
              <a:t>f</a:t>
            </a:r>
            <a:r>
              <a:rPr lang="zh-CN" altLang="en-US" sz="2800" dirty="0"/>
              <a:t>：空集</a:t>
            </a:r>
            <a:r>
              <a:rPr lang="en-US" altLang="zh-CN" sz="2800" dirty="0"/>
              <a:t>{}</a:t>
            </a:r>
            <a:r>
              <a:rPr lang="zh-CN" altLang="en-US" sz="2800" dirty="0"/>
              <a:t>，区分</a:t>
            </a:r>
            <a:r>
              <a:rPr lang="en-US" altLang="zh-CN" sz="2800" dirty="0">
                <a:cs typeface="Times New Roman" panose="02020603050405020304" pitchFamily="18" charset="0"/>
              </a:rPr>
              <a:t>ε</a:t>
            </a:r>
            <a:r>
              <a:rPr lang="zh-CN" altLang="en-US" sz="2800" dirty="0"/>
              <a:t>，</a:t>
            </a:r>
            <a:r>
              <a:rPr lang="en-US" altLang="zh-CN" sz="2800" dirty="0"/>
              <a:t>{}</a:t>
            </a:r>
            <a:r>
              <a:rPr lang="zh-CN" altLang="en-US" sz="2800" dirty="0"/>
              <a:t>，</a:t>
            </a:r>
            <a:r>
              <a:rPr lang="en-US" altLang="zh-CN" sz="2800" dirty="0"/>
              <a:t>{</a:t>
            </a:r>
            <a:r>
              <a:rPr lang="en-US" altLang="zh-CN" sz="2800" dirty="0">
                <a:cs typeface="Times New Roman" panose="02020603050405020304" pitchFamily="18" charset="0"/>
              </a:rPr>
              <a:t>ε</a:t>
            </a:r>
            <a:r>
              <a:rPr lang="en-US" altLang="zh-CN" sz="2800" dirty="0"/>
              <a:t>}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Σ</a:t>
            </a:r>
            <a:r>
              <a:rPr lang="en-US" altLang="zh-CN" sz="2800" baseline="30000" dirty="0"/>
              <a:t>*</a:t>
            </a:r>
            <a:r>
              <a:rPr lang="zh-CN" altLang="en-US" sz="2800" dirty="0"/>
              <a:t>的子集</a:t>
            </a:r>
            <a:r>
              <a:rPr lang="en-US" altLang="zh-CN" sz="2800" dirty="0"/>
              <a:t>U</a:t>
            </a:r>
            <a:r>
              <a:rPr lang="zh-CN" altLang="en-US" sz="2800" dirty="0"/>
              <a:t>、</a:t>
            </a:r>
            <a:r>
              <a:rPr lang="en-US" altLang="zh-CN" sz="2800" dirty="0"/>
              <a:t>V</a:t>
            </a:r>
            <a:r>
              <a:rPr lang="zh-CN" altLang="en-US" sz="2800" dirty="0"/>
              <a:t>的</a:t>
            </a:r>
            <a:r>
              <a:rPr lang="zh-CN" altLang="en-US" sz="2800" b="1" dirty="0">
                <a:solidFill>
                  <a:srgbClr val="3333CC"/>
                </a:solidFill>
                <a:ea typeface="黑体" panose="02010609060101010101" pitchFamily="49" charset="-122"/>
              </a:rPr>
              <a:t>积</a:t>
            </a:r>
            <a:r>
              <a:rPr lang="zh-CN" altLang="en-US" sz="2800" dirty="0"/>
              <a:t>（</a:t>
            </a:r>
            <a:r>
              <a:rPr lang="zh-CN" altLang="en-US" sz="2800" b="1" dirty="0">
                <a:solidFill>
                  <a:srgbClr val="3333CC"/>
                </a:solidFill>
                <a:ea typeface="黑体" panose="02010609060101010101" pitchFamily="49" charset="-122"/>
              </a:rPr>
              <a:t>连接</a:t>
            </a:r>
            <a:r>
              <a:rPr lang="zh-CN" altLang="en-US" sz="2800" dirty="0"/>
              <a:t>）</a:t>
            </a:r>
            <a:br>
              <a:rPr lang="zh-CN" altLang="en-US" sz="2800" b="1" dirty="0">
                <a:ea typeface="黑体" panose="02010609060101010101" pitchFamily="49" charset="-122"/>
              </a:rPr>
            </a:br>
            <a:endParaRPr lang="zh-CN" altLang="en-US" sz="2800" b="1" dirty="0">
              <a:ea typeface="黑体" panose="02010609060101010101" pitchFamily="49" charset="-122"/>
            </a:endParaRPr>
          </a:p>
        </p:txBody>
      </p:sp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1981200" y="4876800"/>
          <a:ext cx="42672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4" name="Equation" r:id="rId1" imgW="1651000" imgH="215900" progId="Equation.3">
                  <p:embed/>
                </p:oleObj>
              </mc:Choice>
              <mc:Fallback>
                <p:oleObj name="Equation" r:id="rId1" imgW="1651000" imgH="215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876800"/>
                        <a:ext cx="4267200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几个概念（续）</a:t>
            </a:r>
            <a:endParaRPr lang="zh-CN" alt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UV</a:t>
            </a:r>
            <a:r>
              <a:rPr lang="en-US" altLang="zh-CN">
                <a:latin typeface="宋体" panose="02010600030101010101" pitchFamily="2" charset="-122"/>
              </a:rPr>
              <a:t>≠</a:t>
            </a:r>
            <a:r>
              <a:rPr lang="en-US" altLang="zh-CN"/>
              <a:t>VU</a:t>
            </a:r>
            <a:r>
              <a:rPr lang="zh-CN" altLang="en-US"/>
              <a:t>，</a:t>
            </a:r>
            <a:r>
              <a:rPr lang="en-US" altLang="zh-CN"/>
              <a:t>(UV)W=U(VW)</a:t>
            </a:r>
            <a:endParaRPr lang="en-US" altLang="zh-CN"/>
          </a:p>
          <a:p>
            <a:pPr eaLnBrk="1" hangingPunct="1"/>
            <a:r>
              <a:rPr lang="en-US" altLang="zh-CN"/>
              <a:t>V</a:t>
            </a:r>
            <a:r>
              <a:rPr lang="zh-CN" altLang="en-US"/>
              <a:t>自身的</a:t>
            </a:r>
            <a:r>
              <a:rPr lang="en-US" altLang="zh-CN"/>
              <a:t>n</a:t>
            </a:r>
            <a:r>
              <a:rPr lang="zh-CN" altLang="en-US"/>
              <a:t>次积（连接）记为</a:t>
            </a:r>
            <a:r>
              <a:rPr lang="en-US" altLang="zh-CN"/>
              <a:t>V</a:t>
            </a:r>
            <a:r>
              <a:rPr lang="en-US" altLang="zh-CN" baseline="30000"/>
              <a:t>n</a:t>
            </a:r>
            <a:endParaRPr lang="en-US" altLang="zh-CN"/>
          </a:p>
          <a:p>
            <a:pPr eaLnBrk="1" hangingPunct="1"/>
            <a:r>
              <a:rPr lang="en-US" altLang="zh-CN"/>
              <a:t>V</a:t>
            </a:r>
            <a:r>
              <a:rPr lang="en-US" altLang="zh-CN" baseline="30000"/>
              <a:t>0</a:t>
            </a:r>
            <a:r>
              <a:rPr lang="en-US" altLang="zh-CN"/>
              <a:t>={</a:t>
            </a:r>
            <a:r>
              <a:rPr lang="en-US" altLang="zh-CN">
                <a:cs typeface="Times New Roman" panose="02020603050405020304" pitchFamily="18" charset="0"/>
              </a:rPr>
              <a:t>ε</a:t>
            </a:r>
            <a:r>
              <a:rPr lang="en-US" altLang="zh-CN"/>
              <a:t>}</a:t>
            </a:r>
            <a:endParaRPr lang="en-US" altLang="zh-CN"/>
          </a:p>
          <a:p>
            <a:pPr eaLnBrk="1" hangingPunct="1"/>
            <a:r>
              <a:rPr lang="en-US" altLang="zh-CN"/>
              <a:t>V</a:t>
            </a:r>
            <a:r>
              <a:rPr lang="zh-CN" altLang="en-US"/>
              <a:t>的</a:t>
            </a:r>
            <a:r>
              <a:rPr lang="zh-CN" altLang="en-US" b="1">
                <a:solidFill>
                  <a:srgbClr val="3333CC"/>
                </a:solidFill>
                <a:ea typeface="黑体" panose="02010609060101010101" pitchFamily="49" charset="-122"/>
              </a:rPr>
              <a:t>闭包</a:t>
            </a:r>
            <a:r>
              <a:rPr lang="zh-CN" altLang="en-US"/>
              <a:t>（</a:t>
            </a:r>
            <a:r>
              <a:rPr lang="en-US" altLang="zh-CN">
                <a:solidFill>
                  <a:schemeClr val="hlink"/>
                </a:solidFill>
              </a:rPr>
              <a:t>closure</a:t>
            </a:r>
            <a:r>
              <a:rPr lang="zh-CN" altLang="en-US"/>
              <a:t>）</a:t>
            </a:r>
            <a:br>
              <a:rPr lang="zh-CN" altLang="en-US"/>
            </a:br>
            <a:br>
              <a:rPr lang="zh-CN" altLang="en-US"/>
            </a:br>
            <a:r>
              <a:rPr lang="zh-CN" altLang="en-US"/>
              <a:t>每个符号串，都是</a:t>
            </a:r>
            <a:r>
              <a:rPr lang="en-US" altLang="zh-CN"/>
              <a:t>V</a:t>
            </a:r>
            <a:r>
              <a:rPr lang="zh-CN" altLang="en-US"/>
              <a:t>中符号串有限次连接</a:t>
            </a:r>
            <a:endParaRPr lang="zh-CN" altLang="en-US"/>
          </a:p>
          <a:p>
            <a:pPr eaLnBrk="1" hangingPunct="1"/>
            <a:r>
              <a:rPr lang="zh-CN" altLang="en-US" b="1">
                <a:solidFill>
                  <a:srgbClr val="3333CC"/>
                </a:solidFill>
                <a:ea typeface="黑体" panose="02010609060101010101" pitchFamily="49" charset="-122"/>
              </a:rPr>
              <a:t>正则闭包</a:t>
            </a:r>
            <a:r>
              <a:rPr lang="zh-CN" altLang="en-US"/>
              <a:t>，</a:t>
            </a:r>
            <a:r>
              <a:rPr lang="en-US" altLang="zh-CN"/>
              <a:t>V</a:t>
            </a:r>
            <a:r>
              <a:rPr lang="en-US" altLang="zh-CN" baseline="30000"/>
              <a:t>+</a:t>
            </a:r>
            <a:r>
              <a:rPr lang="en-US" altLang="zh-CN"/>
              <a:t>=VV</a:t>
            </a:r>
            <a:r>
              <a:rPr lang="en-US" altLang="zh-CN" baseline="30000"/>
              <a:t>*</a:t>
            </a:r>
            <a:endParaRPr lang="en-US" altLang="zh-CN" baseline="30000"/>
          </a:p>
        </p:txBody>
      </p:sp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1600200" y="3581400"/>
          <a:ext cx="51816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8" name="Equation" r:id="rId1" imgW="1777365" imgH="203200" progId="Equation.3">
                  <p:embed/>
                </p:oleObj>
              </mc:Choice>
              <mc:Fallback>
                <p:oleObj name="Equation" r:id="rId1" imgW="1777365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581400"/>
                        <a:ext cx="51816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四元式定义上下文无法文法</a:t>
            </a:r>
            <a:endParaRPr lang="zh-CN" alt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/>
            <a:r>
              <a:rPr lang="en-US" altLang="zh-CN" sz="2800" dirty="0"/>
              <a:t>(V</a:t>
            </a:r>
            <a:r>
              <a:rPr lang="en-US" altLang="zh-CN" sz="2800" baseline="-25000" dirty="0"/>
              <a:t>T</a:t>
            </a:r>
            <a:r>
              <a:rPr lang="en-US" altLang="zh-CN" sz="2800" dirty="0"/>
              <a:t>, V</a:t>
            </a:r>
            <a:r>
              <a:rPr lang="en-US" altLang="zh-CN" sz="2800" baseline="-25000" dirty="0"/>
              <a:t>N</a:t>
            </a:r>
            <a:r>
              <a:rPr lang="en-US" altLang="zh-CN" sz="2800" dirty="0"/>
              <a:t>, S, </a:t>
            </a:r>
            <a:r>
              <a:rPr lang="en-US" altLang="zh-CN" sz="2800" dirty="0">
                <a:latin typeface="Monotype Corsiva" panose="03010101010201010101" pitchFamily="66" charset="0"/>
                <a:ea typeface="Batang" panose="02030600000101010101" pitchFamily="18" charset="-127"/>
              </a:rPr>
              <a:t>P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pPr eaLnBrk="1" hangingPunct="1"/>
            <a:r>
              <a:rPr lang="en-US" altLang="zh-CN" sz="2800" dirty="0">
                <a:solidFill>
                  <a:srgbClr val="FF3300"/>
                </a:solidFill>
              </a:rPr>
              <a:t>V</a:t>
            </a:r>
            <a:r>
              <a:rPr lang="en-US" altLang="zh-CN" sz="2800" baseline="-25000" dirty="0">
                <a:solidFill>
                  <a:srgbClr val="FF3300"/>
                </a:solidFill>
              </a:rPr>
              <a:t>T</a:t>
            </a:r>
            <a:r>
              <a:rPr lang="zh-CN" altLang="en-US" sz="2800" dirty="0"/>
              <a:t>：非空有限集，终结符号集合</a:t>
            </a:r>
            <a:endParaRPr lang="zh-CN" altLang="en-US" sz="2800" dirty="0"/>
          </a:p>
          <a:p>
            <a:pPr eaLnBrk="1" hangingPunct="1"/>
            <a:r>
              <a:rPr lang="en-US" altLang="zh-CN" sz="2800" dirty="0">
                <a:solidFill>
                  <a:srgbClr val="FF3300"/>
                </a:solidFill>
              </a:rPr>
              <a:t>V</a:t>
            </a:r>
            <a:r>
              <a:rPr lang="en-US" altLang="zh-CN" sz="2800" baseline="-25000" dirty="0">
                <a:solidFill>
                  <a:srgbClr val="FF3300"/>
                </a:solidFill>
              </a:rPr>
              <a:t>N</a:t>
            </a:r>
            <a:r>
              <a:rPr lang="zh-CN" altLang="en-US" sz="2800" dirty="0"/>
              <a:t>：非空有限集，非终结符号集合</a:t>
            </a:r>
            <a:endParaRPr lang="zh-CN" altLang="en-US" sz="2800" dirty="0"/>
          </a:p>
          <a:p>
            <a:pPr eaLnBrk="1" hangingPunct="1"/>
            <a:r>
              <a:rPr lang="en-US" altLang="zh-CN" sz="2800" dirty="0">
                <a:solidFill>
                  <a:srgbClr val="FF3300"/>
                </a:solidFill>
              </a:rPr>
              <a:t>S</a:t>
            </a:r>
            <a:r>
              <a:rPr lang="zh-CN" altLang="en-US" sz="2800" dirty="0"/>
              <a:t>：开始符号</a:t>
            </a:r>
            <a:endParaRPr lang="zh-CN" altLang="en-US" sz="2800" dirty="0"/>
          </a:p>
          <a:p>
            <a:pPr eaLnBrk="1" hangingPunct="1">
              <a:spcBef>
                <a:spcPct val="0"/>
              </a:spcBef>
            </a:pPr>
            <a:r>
              <a:rPr lang="en-US" altLang="zh-CN" sz="2800" dirty="0">
                <a:solidFill>
                  <a:srgbClr val="FF3300"/>
                </a:solidFill>
                <a:latin typeface="Monotype Corsiva" panose="03010101010201010101" pitchFamily="66" charset="0"/>
                <a:ea typeface="Batang" panose="02030600000101010101" pitchFamily="18" charset="-127"/>
              </a:rPr>
              <a:t>P</a:t>
            </a:r>
            <a:r>
              <a:rPr lang="en-US" altLang="zh-CN" sz="2800" dirty="0"/>
              <a:t> </a:t>
            </a:r>
            <a:r>
              <a:rPr lang="zh-CN" altLang="en-US" sz="2800" dirty="0"/>
              <a:t>：产生式集合（有限集）</a:t>
            </a:r>
            <a:br>
              <a:rPr lang="zh-CN" altLang="en-US" sz="2800" dirty="0"/>
            </a:br>
            <a:r>
              <a:rPr lang="zh-CN" altLang="en-US" sz="2800" dirty="0"/>
              <a:t>每个产生式形式</a:t>
            </a:r>
            <a:r>
              <a:rPr lang="en-US" altLang="zh-CN" sz="2800" dirty="0" err="1"/>
              <a:t>A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</a:t>
            </a:r>
            <a:r>
              <a:rPr kumimoji="0" lang="en-US" altLang="zh-CN" sz="2800" dirty="0" err="1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kumimoji="0"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，其中</a:t>
            </a:r>
            <a:br>
              <a:rPr kumimoji="0"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</a:br>
            <a:br>
              <a:rPr kumimoji="0"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</a:br>
            <a:r>
              <a:rPr kumimoji="0"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关于</a:t>
            </a:r>
            <a:r>
              <a:rPr kumimoji="0" lang="en-US" altLang="zh-CN" sz="2800" dirty="0">
                <a:sym typeface="Symbol" panose="05050102010706020507" pitchFamily="18" charset="2"/>
              </a:rPr>
              <a:t>A</a:t>
            </a:r>
            <a:r>
              <a:rPr kumimoji="0"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的产生式</a:t>
            </a:r>
            <a:br>
              <a:rPr kumimoji="0"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</a:br>
            <a:r>
              <a:rPr kumimoji="0" lang="en-US" altLang="zh-CN" sz="2800" dirty="0">
                <a:sym typeface="Symbol" panose="05050102010706020507" pitchFamily="18" charset="2"/>
              </a:rPr>
              <a:t>S</a:t>
            </a:r>
            <a:r>
              <a:rPr kumimoji="0" lang="zh-CN" altLang="en-US" sz="2800" dirty="0">
                <a:sym typeface="Symbol" panose="05050102010706020507" pitchFamily="18" charset="2"/>
              </a:rPr>
              <a:t>至少在某个产生式左部出现一次</a:t>
            </a:r>
            <a:endParaRPr kumimoji="0" lang="zh-CN" altLang="en-US" sz="2800" dirty="0">
              <a:sym typeface="Symbol" panose="05050102010706020507" pitchFamily="18" charset="2"/>
            </a:endParaRPr>
          </a:p>
        </p:txBody>
      </p:sp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2133600" y="4205288"/>
          <a:ext cx="342900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2" name="Equation" r:id="rId1" imgW="1384300" imgH="241300" progId="Equation.3">
                  <p:embed/>
                </p:oleObj>
              </mc:Choice>
              <mc:Fallback>
                <p:oleObj name="Equation" r:id="rId1" imgW="13843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205288"/>
                        <a:ext cx="3429000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2.1  </a:t>
            </a:r>
            <a:r>
              <a:rPr lang="zh-CN" altLang="en-US"/>
              <a:t>符号约定</a:t>
            </a:r>
            <a:endParaRPr lang="zh-CN" alt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295400"/>
            <a:ext cx="7772400" cy="5105400"/>
          </a:xfrm>
        </p:spPr>
        <p:txBody>
          <a:bodyPr/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i="1" dirty="0"/>
              <a:t>    expr</a:t>
            </a:r>
            <a:r>
              <a:rPr kumimoji="0" lang="en-US" altLang="zh-CN" sz="2800" dirty="0"/>
              <a:t> </a:t>
            </a:r>
            <a:r>
              <a:rPr kumimoji="0" lang="en-US" altLang="zh-CN" sz="2800" dirty="0">
                <a:sym typeface="Symbol" panose="05050102010706020507" pitchFamily="18" charset="2"/>
              </a:rPr>
              <a:t></a:t>
            </a:r>
            <a:r>
              <a:rPr kumimoji="0" lang="en-US" altLang="zh-CN" sz="2800" dirty="0"/>
              <a:t> </a:t>
            </a:r>
            <a:r>
              <a:rPr kumimoji="0" lang="en-US" altLang="zh-CN" sz="2800" i="1" dirty="0">
                <a:sym typeface="Math1" pitchFamily="2" charset="2"/>
              </a:rPr>
              <a:t>expr + digit</a:t>
            </a:r>
            <a:br>
              <a:rPr kumimoji="0" lang="en-US" altLang="zh-CN" sz="2800" i="1" dirty="0">
                <a:sym typeface="Math1" pitchFamily="2" charset="2"/>
              </a:rPr>
            </a:br>
            <a:r>
              <a:rPr kumimoji="0" lang="en-US" altLang="zh-CN" sz="2800" i="1" dirty="0">
                <a:sym typeface="Math1" pitchFamily="2" charset="2"/>
              </a:rPr>
              <a:t>expr</a:t>
            </a:r>
            <a:r>
              <a:rPr kumimoji="0" lang="en-US" altLang="zh-CN" sz="2800" dirty="0">
                <a:sym typeface="Math1" pitchFamily="2" charset="2"/>
              </a:rPr>
              <a:t> </a:t>
            </a:r>
            <a:r>
              <a:rPr kumimoji="0" lang="en-US" altLang="zh-CN" sz="2800" dirty="0">
                <a:sym typeface="Symbol" panose="05050102010706020507" pitchFamily="18" charset="2"/>
              </a:rPr>
              <a:t></a:t>
            </a:r>
            <a:r>
              <a:rPr kumimoji="0" lang="en-US" altLang="zh-CN" sz="2800" dirty="0">
                <a:sym typeface="Math1" pitchFamily="2" charset="2"/>
              </a:rPr>
              <a:t> </a:t>
            </a:r>
            <a:r>
              <a:rPr kumimoji="0" lang="en-US" altLang="zh-CN" sz="2800" i="1" dirty="0">
                <a:sym typeface="Math1" pitchFamily="2" charset="2"/>
              </a:rPr>
              <a:t>expr – digit</a:t>
            </a:r>
            <a:br>
              <a:rPr kumimoji="0" lang="en-US" altLang="zh-CN" sz="2800" i="1" dirty="0">
                <a:sym typeface="Math1" pitchFamily="2" charset="2"/>
              </a:rPr>
            </a:br>
            <a:r>
              <a:rPr kumimoji="0" lang="en-US" altLang="zh-CN" sz="2800" i="1" dirty="0">
                <a:sym typeface="Math1" pitchFamily="2" charset="2"/>
              </a:rPr>
              <a:t>expr</a:t>
            </a:r>
            <a:r>
              <a:rPr kumimoji="0" lang="en-US" altLang="zh-CN" sz="2800" dirty="0">
                <a:sym typeface="Math1" pitchFamily="2" charset="2"/>
              </a:rPr>
              <a:t> </a:t>
            </a:r>
            <a:r>
              <a:rPr kumimoji="0" lang="en-US" altLang="zh-CN" sz="2800" dirty="0">
                <a:sym typeface="Symbol" panose="05050102010706020507" pitchFamily="18" charset="2"/>
              </a:rPr>
              <a:t></a:t>
            </a:r>
            <a:r>
              <a:rPr kumimoji="0" lang="en-US" altLang="zh-CN" sz="2800" dirty="0">
                <a:sym typeface="Math1" pitchFamily="2" charset="2"/>
              </a:rPr>
              <a:t> </a:t>
            </a:r>
            <a:r>
              <a:rPr kumimoji="0" lang="en-US" altLang="zh-CN" sz="2800" i="1" dirty="0">
                <a:sym typeface="Math1" pitchFamily="2" charset="2"/>
              </a:rPr>
              <a:t>digit</a:t>
            </a:r>
            <a:br>
              <a:rPr kumimoji="0" lang="en-US" altLang="zh-CN" sz="2800" i="1" dirty="0">
                <a:sym typeface="Math1" pitchFamily="2" charset="2"/>
              </a:rPr>
            </a:br>
            <a:r>
              <a:rPr kumimoji="0" lang="en-US" altLang="zh-CN" sz="2800" i="1" dirty="0" err="1">
                <a:sym typeface="Math1" pitchFamily="2" charset="2"/>
              </a:rPr>
              <a:t>digit</a:t>
            </a:r>
            <a:r>
              <a:rPr kumimoji="0" lang="en-US" altLang="zh-CN" sz="2800" dirty="0">
                <a:sym typeface="Math1" pitchFamily="2" charset="2"/>
              </a:rPr>
              <a:t> </a:t>
            </a:r>
            <a:r>
              <a:rPr kumimoji="0" lang="en-US" altLang="zh-CN" sz="2800" dirty="0">
                <a:sym typeface="Symbol" panose="05050102010706020507" pitchFamily="18" charset="2"/>
              </a:rPr>
              <a:t></a:t>
            </a:r>
            <a:r>
              <a:rPr kumimoji="0" lang="en-US" altLang="zh-CN" sz="2800" b="1" dirty="0">
                <a:sym typeface="Math1" pitchFamily="2" charset="2"/>
              </a:rPr>
              <a:t> </a:t>
            </a:r>
            <a:r>
              <a:rPr kumimoji="0" lang="en-US" altLang="zh-CN" sz="2800" dirty="0">
                <a:sym typeface="Math1" pitchFamily="2" charset="2"/>
              </a:rPr>
              <a:t>0 | 1 | 2 | 3 | 4 | 5 | 6 | 7 | 8 | 9</a:t>
            </a:r>
            <a:endParaRPr lang="en-US" altLang="zh-CN" sz="2800" dirty="0"/>
          </a:p>
          <a:p>
            <a:pPr eaLnBrk="1" hangingPunct="1"/>
            <a:r>
              <a:rPr lang="zh-CN" altLang="en-US" sz="2800" dirty="0"/>
              <a:t>数字、运算符、</a:t>
            </a:r>
            <a:r>
              <a:rPr lang="zh-CN" altLang="en-US" sz="2800" b="1" dirty="0">
                <a:ea typeface="黑体" panose="02010609060101010101" pitchFamily="49" charset="-122"/>
              </a:rPr>
              <a:t>黑体字符串</a:t>
            </a:r>
            <a:r>
              <a:rPr lang="en-US" altLang="zh-CN" sz="2800" dirty="0">
                <a:latin typeface="Tahoma" panose="020B0604030504040204" pitchFamily="34" charset="0"/>
              </a:rPr>
              <a:t>——</a:t>
            </a:r>
            <a:r>
              <a:rPr lang="zh-CN" altLang="en-US" sz="2800" dirty="0"/>
              <a:t>终结符</a:t>
            </a:r>
            <a:endParaRPr lang="zh-CN" altLang="en-US" sz="2800" dirty="0"/>
          </a:p>
          <a:p>
            <a:pPr eaLnBrk="1" hangingPunct="1"/>
            <a:r>
              <a:rPr lang="zh-CN" altLang="en-US" sz="2800" i="1" dirty="0"/>
              <a:t>斜体字符串</a:t>
            </a:r>
            <a:r>
              <a:rPr lang="en-US" altLang="zh-CN" sz="2800" dirty="0">
                <a:latin typeface="Tahoma" panose="020B0604030504040204" pitchFamily="34" charset="0"/>
              </a:rPr>
              <a:t>——</a:t>
            </a:r>
            <a:r>
              <a:rPr lang="zh-CN" altLang="en-US" sz="2800" dirty="0"/>
              <a:t>非终结符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左部相同可合并，</a:t>
            </a:r>
            <a:r>
              <a:rPr lang="en-US" altLang="zh-CN" sz="2800" dirty="0"/>
              <a:t>‘|’</a:t>
            </a:r>
            <a:r>
              <a:rPr lang="en-US" altLang="zh-CN" sz="2800" dirty="0">
                <a:latin typeface="Tahoma" panose="020B0604030504040204" pitchFamily="34" charset="0"/>
              </a:rPr>
              <a:t>——</a:t>
            </a:r>
            <a:r>
              <a:rPr lang="zh-CN" altLang="en-US" sz="2800" dirty="0"/>
              <a:t>“或</a:t>
            </a:r>
            <a:r>
              <a:rPr kumimoji="0" lang="zh-CN" altLang="en-US" sz="2800" dirty="0"/>
              <a:t>”</a:t>
            </a:r>
            <a:r>
              <a:rPr lang="zh-CN" altLang="en-US" sz="2800" dirty="0"/>
              <a:t>的意思</a:t>
            </a:r>
            <a:br>
              <a:rPr lang="zh-CN" altLang="en-US" sz="2800" dirty="0"/>
            </a:br>
            <a:r>
              <a:rPr kumimoji="0" lang="en-US" altLang="zh-CN" sz="2800" i="1" dirty="0">
                <a:sym typeface="Math1" pitchFamily="2" charset="2"/>
              </a:rPr>
              <a:t>expr </a:t>
            </a:r>
            <a:r>
              <a:rPr kumimoji="0" lang="en-US" altLang="zh-CN" sz="2800" dirty="0">
                <a:sym typeface="Symbol" panose="05050102010706020507" pitchFamily="18" charset="2"/>
              </a:rPr>
              <a:t></a:t>
            </a:r>
            <a:r>
              <a:rPr kumimoji="0" lang="en-US" altLang="zh-CN" sz="2800" i="1" dirty="0">
                <a:sym typeface="Math1" pitchFamily="2" charset="2"/>
              </a:rPr>
              <a:t> expr + digit |  expr - digit | digit</a:t>
            </a:r>
            <a:r>
              <a:rPr kumimoji="0" lang="en-US" altLang="zh-CN" sz="2800" dirty="0">
                <a:sym typeface="Math1" pitchFamily="2" charset="2"/>
              </a:rPr>
              <a:t> </a:t>
            </a:r>
            <a:br>
              <a:rPr kumimoji="0" lang="en-US" altLang="zh-CN" sz="2800" dirty="0">
                <a:sym typeface="Math1" pitchFamily="2" charset="2"/>
              </a:rPr>
            </a:br>
            <a:r>
              <a:rPr kumimoji="0" lang="zh-CN" altLang="en-US" sz="2800" b="1" dirty="0">
                <a:solidFill>
                  <a:srgbClr val="3333CC"/>
                </a:solidFill>
                <a:ea typeface="黑体" panose="02010609060101010101" pitchFamily="49" charset="-122"/>
                <a:sym typeface="Math1" pitchFamily="2" charset="2"/>
              </a:rPr>
              <a:t>候选式</a:t>
            </a:r>
            <a:endParaRPr kumimoji="0" lang="zh-CN" altLang="en-US" sz="2800" b="1" dirty="0">
              <a:solidFill>
                <a:srgbClr val="3333CC"/>
              </a:solidFill>
              <a:ea typeface="黑体" panose="02010609060101010101" pitchFamily="49" charset="-122"/>
              <a:sym typeface="Math1" pitchFamily="2" charset="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>
                <a:solidFill>
                  <a:schemeClr val="tx2"/>
                </a:solidFill>
              </a:rPr>
              <a:t>CFG</a:t>
            </a:r>
            <a:r>
              <a:rPr lang="zh-CN" altLang="en-US" sz="4400">
                <a:solidFill>
                  <a:schemeClr val="tx2"/>
                </a:solidFill>
              </a:rPr>
              <a:t>的设计</a:t>
            </a:r>
            <a:endParaRPr lang="zh-CN" altLang="en-US" sz="4400">
              <a:solidFill>
                <a:schemeClr val="tx2"/>
              </a:solidFill>
            </a:endParaRP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1182688" y="1295400"/>
            <a:ext cx="7772400" cy="5013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/>
            </a:pP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首先是“</a:t>
            </a:r>
            <a:r>
              <a:rPr lang="zh-CN" altLang="en-US" dirty="0">
                <a:solidFill>
                  <a:schemeClr val="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人会做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”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/>
            </a:pPr>
            <a:r>
              <a:rPr lang="zh-CN" altLang="en-US" sz="2400" dirty="0">
                <a:solidFill>
                  <a:schemeClr val="folHlink"/>
                </a:solidFill>
                <a:latin typeface="+mn-lt"/>
                <a:ea typeface="+mn-ea"/>
                <a:sym typeface="Symbol" panose="05050102010706020507" pitchFamily="18" charset="2"/>
              </a:rPr>
              <a:t>我们自己先把语法概念“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什么模样</a:t>
            </a:r>
            <a:r>
              <a:rPr lang="zh-CN" altLang="en-US" sz="2400" dirty="0">
                <a:solidFill>
                  <a:schemeClr val="folHlink"/>
                </a:solidFill>
                <a:latin typeface="+mn-lt"/>
                <a:ea typeface="+mn-ea"/>
                <a:sym typeface="Symbol" panose="05050102010706020507" pitchFamily="18" charset="2"/>
              </a:rPr>
              <a:t>”搞清楚</a:t>
            </a:r>
            <a:endParaRPr lang="zh-CN" altLang="en-US" sz="2400" dirty="0">
              <a:solidFill>
                <a:schemeClr val="folHlink"/>
              </a:solidFill>
              <a:latin typeface="+mn-lt"/>
              <a:ea typeface="+mn-ea"/>
              <a:sym typeface="Symbol" panose="05050102010706020507" pitchFamily="18" charset="2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/>
            </a:pP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然后是“</a:t>
            </a:r>
            <a:r>
              <a:rPr lang="zh-CN" altLang="en-US" dirty="0">
                <a:solidFill>
                  <a:schemeClr val="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让计算机会做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”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——</a:t>
            </a:r>
            <a:r>
              <a:rPr lang="zh-CN" altLang="en-US" dirty="0">
                <a:solidFill>
                  <a:schemeClr val="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符号化</a:t>
            </a:r>
            <a:endParaRPr lang="en-US" altLang="zh-CN" dirty="0">
              <a:solidFill>
                <a:schemeClr val="hlink"/>
              </a:solidFill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/>
            </a:pPr>
            <a:r>
              <a:rPr lang="zh-CN" altLang="en-US" sz="2400" dirty="0">
                <a:solidFill>
                  <a:schemeClr val="folHlink"/>
                </a:solidFill>
                <a:latin typeface="+mn-lt"/>
                <a:ea typeface="+mn-ea"/>
                <a:sym typeface="Symbol" panose="05050102010706020507" pitchFamily="18" charset="2"/>
              </a:rPr>
              <a:t>为这个语法概念</a:t>
            </a:r>
            <a:r>
              <a:rPr lang="zh-CN" altLang="en-US" sz="2400" dirty="0">
                <a:solidFill>
                  <a:schemeClr val="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起个名字</a:t>
            </a:r>
            <a:r>
              <a:rPr lang="zh-CN" altLang="en-US" sz="2400" dirty="0">
                <a:solidFill>
                  <a:schemeClr val="folHlink"/>
                </a:solidFill>
                <a:latin typeface="+mn-lt"/>
                <a:ea typeface="+mn-ea"/>
                <a:sym typeface="Symbol" panose="05050102010706020507" pitchFamily="18" charset="2"/>
              </a:rPr>
              <a:t>，“模样”中的其他语法概念、单词也都有相应的</a:t>
            </a:r>
            <a:r>
              <a:rPr lang="zh-CN" altLang="en-US" sz="2400" dirty="0">
                <a:solidFill>
                  <a:schemeClr val="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名字</a:t>
            </a:r>
            <a:endParaRPr lang="zh-CN" altLang="en-US" dirty="0">
              <a:solidFill>
                <a:schemeClr val="hlink"/>
              </a:solidFill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/>
            </a:pPr>
            <a:r>
              <a:rPr lang="zh-CN" altLang="en-US" sz="2400" dirty="0">
                <a:solidFill>
                  <a:schemeClr val="folHlink"/>
                </a:solidFill>
                <a:latin typeface="+mn-lt"/>
                <a:ea typeface="+mn-ea"/>
                <a:sym typeface="Symbol" panose="05050102010706020507" pitchFamily="18" charset="2"/>
              </a:rPr>
              <a:t>将语法概念放在产生式</a:t>
            </a:r>
            <a:r>
              <a:rPr lang="zh-CN" altLang="en-US" sz="2400" dirty="0">
                <a:solidFill>
                  <a:schemeClr val="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左部</a:t>
            </a:r>
            <a:br>
              <a:rPr lang="zh-CN" altLang="en-US" sz="2400" dirty="0">
                <a:solidFill>
                  <a:schemeClr val="folHlink"/>
                </a:solidFill>
                <a:latin typeface="+mn-lt"/>
                <a:ea typeface="+mn-ea"/>
                <a:sym typeface="Symbol" panose="05050102010706020507" pitchFamily="18" charset="2"/>
              </a:rPr>
            </a:br>
            <a:r>
              <a:rPr lang="zh-CN" altLang="en-US" sz="2400" dirty="0">
                <a:solidFill>
                  <a:schemeClr val="folHlink"/>
                </a:solidFill>
                <a:latin typeface="+mn-lt"/>
                <a:ea typeface="+mn-ea"/>
                <a:sym typeface="Symbol" panose="05050102010706020507" pitchFamily="18" charset="2"/>
              </a:rPr>
              <a:t>“模样”放在产生式</a:t>
            </a:r>
            <a:r>
              <a:rPr lang="zh-CN" altLang="en-US" sz="2400" dirty="0">
                <a:solidFill>
                  <a:schemeClr val="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右部</a:t>
            </a:r>
            <a:br>
              <a:rPr lang="zh-CN" altLang="en-US" sz="2400" dirty="0">
                <a:solidFill>
                  <a:schemeClr val="folHlink"/>
                </a:solidFill>
                <a:latin typeface="+mn-lt"/>
                <a:ea typeface="+mn-ea"/>
                <a:sym typeface="Symbol" panose="05050102010706020507" pitchFamily="18" charset="2"/>
              </a:rPr>
            </a:br>
            <a:r>
              <a:rPr lang="en-US" altLang="zh-CN" sz="2400" dirty="0">
                <a:solidFill>
                  <a:schemeClr val="folHlink"/>
                </a:solidFill>
                <a:latin typeface="+mn-lt"/>
                <a:ea typeface="+mn-ea"/>
                <a:sym typeface="Symbol" panose="05050102010706020507" pitchFamily="18" charset="2"/>
              </a:rPr>
              <a:t>——</a:t>
            </a:r>
            <a:r>
              <a:rPr lang="zh-CN" altLang="en-US" sz="2400" dirty="0">
                <a:solidFill>
                  <a:schemeClr val="folHlink"/>
                </a:solidFill>
                <a:latin typeface="+mn-lt"/>
                <a:ea typeface="+mn-ea"/>
                <a:sym typeface="Symbol" panose="05050102010706020507" pitchFamily="18" charset="2"/>
              </a:rPr>
              <a:t>都是用名字替换掉语法概念和单词</a:t>
            </a:r>
            <a:endParaRPr lang="zh-CN" altLang="en-US" sz="2400" dirty="0">
              <a:solidFill>
                <a:schemeClr val="folHlink"/>
              </a:solidFill>
              <a:latin typeface="+mn-lt"/>
              <a:ea typeface="+mn-ea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>
                <a:solidFill>
                  <a:schemeClr val="tx2"/>
                </a:solidFill>
              </a:rPr>
              <a:t>CFG</a:t>
            </a:r>
            <a:r>
              <a:rPr lang="zh-CN" altLang="en-US" sz="4400">
                <a:solidFill>
                  <a:schemeClr val="tx2"/>
                </a:solidFill>
              </a:rPr>
              <a:t>设计练习</a:t>
            </a:r>
            <a:endParaRPr lang="zh-CN" altLang="en-US" sz="4400">
              <a:solidFill>
                <a:schemeClr val="tx2"/>
              </a:solidFill>
            </a:endParaRP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1182688" y="1295400"/>
            <a:ext cx="77724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/>
              <a:t>C</a:t>
            </a:r>
            <a:r>
              <a:rPr lang="zh-CN" altLang="en-US" sz="2400" dirty="0"/>
              <a:t>语言</a:t>
            </a:r>
            <a:r>
              <a:rPr lang="en-US" altLang="zh-CN" sz="2400" dirty="0"/>
              <a:t>while</a:t>
            </a:r>
            <a:r>
              <a:rPr lang="zh-CN" altLang="en-US" sz="2400" dirty="0"/>
              <a:t>语句</a:t>
            </a:r>
            <a:br>
              <a:rPr lang="en-US" altLang="zh-CN" sz="2400" dirty="0"/>
            </a:br>
            <a:br>
              <a:rPr lang="en-US" altLang="zh-CN" sz="2400" dirty="0"/>
            </a:br>
            <a:endParaRPr kumimoji="0" lang="en-US" altLang="zh-CN" sz="2400" i="1" dirty="0">
              <a:sym typeface="Symbol" panose="05050102010706020507" pitchFamily="18" charset="2"/>
            </a:endParaRPr>
          </a:p>
          <a:p>
            <a:pPr eaLnBrk="1" hangingPunct="1">
              <a:spcAft>
                <a:spcPct val="40000"/>
              </a:spcAft>
            </a:pPr>
            <a:endParaRPr kumimoji="0" lang="en-US" altLang="zh-CN" sz="2400" b="1" dirty="0">
              <a:sym typeface="Symbol" panose="05050102010706020507" pitchFamily="18" charset="2"/>
            </a:endParaRPr>
          </a:p>
        </p:txBody>
      </p:sp>
      <p:sp>
        <p:nvSpPr>
          <p:cNvPr id="191492" name="Text Box 4"/>
          <p:cNvSpPr txBox="1">
            <a:spLocks noChangeArrowheads="1"/>
          </p:cNvSpPr>
          <p:nvPr/>
        </p:nvSpPr>
        <p:spPr bwMode="auto">
          <a:xfrm>
            <a:off x="1524000" y="5733256"/>
            <a:ext cx="5105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3333CC"/>
                </a:solidFill>
              </a:rPr>
              <a:t>	</a:t>
            </a:r>
            <a:r>
              <a:rPr lang="zh-CN" altLang="en-US" sz="2400" dirty="0">
                <a:solidFill>
                  <a:srgbClr val="3333CC"/>
                </a:solidFill>
              </a:rPr>
              <a:t>完整的产生式</a:t>
            </a:r>
            <a:br>
              <a:rPr lang="zh-CN" altLang="en-US" sz="2400" dirty="0">
                <a:solidFill>
                  <a:srgbClr val="3333CC"/>
                </a:solidFill>
              </a:rPr>
            </a:br>
            <a:endParaRPr kumimoji="0" lang="en-US" altLang="zh-CN" sz="2400" i="1" dirty="0">
              <a:solidFill>
                <a:srgbClr val="3333CC"/>
              </a:solidFill>
              <a:sym typeface="Symbol" panose="05050102010706020507" pitchFamily="18" charset="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24000" y="1743199"/>
            <a:ext cx="52758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+mn-lt"/>
                <a:ea typeface="宋体" panose="02010600030101010101" pitchFamily="2" charset="-122"/>
              </a:rPr>
              <a:t>长什么样？</a:t>
            </a:r>
            <a:r>
              <a:rPr lang="en-US" altLang="zh-CN" sz="2400" b="1" dirty="0">
                <a:latin typeface="+mn-lt"/>
              </a:rPr>
              <a:t>while</a:t>
            </a:r>
            <a:r>
              <a:rPr lang="en-US" altLang="zh-CN" sz="2400" dirty="0">
                <a:latin typeface="+mn-lt"/>
              </a:rPr>
              <a:t> (expression) statement</a:t>
            </a:r>
            <a:endParaRPr lang="zh-CN" altLang="en-US" sz="2400" dirty="0">
              <a:latin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24000" y="2268270"/>
            <a:ext cx="63603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整体是一个什么语法概念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？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while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语句，是语句的一种，可起名字</a:t>
            </a:r>
            <a:r>
              <a:rPr lang="en-US" altLang="zh-CN" sz="2400" i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stmt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——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非终结符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24000" y="3102059"/>
            <a:ext cx="63603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它的各个组成成分：</a:t>
            </a:r>
            <a:endParaRPr lang="en-US" altLang="zh-CN" sz="2400" b="1" dirty="0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524000" y="3501008"/>
            <a:ext cx="62163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+mn-lt"/>
                <a:ea typeface="宋体" panose="02010600030101010101" pitchFamily="2" charset="-122"/>
              </a:rPr>
              <a:t>关键字</a:t>
            </a:r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while——</a:t>
            </a:r>
            <a:r>
              <a:rPr lang="zh-CN" altLang="en-US" sz="2400" dirty="0">
                <a:latin typeface="+mn-lt"/>
                <a:ea typeface="宋体" panose="02010600030101010101" pitchFamily="2" charset="-122"/>
              </a:rPr>
              <a:t>单词，用单词名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while</a:t>
            </a:r>
            <a:r>
              <a:rPr lang="zh-CN" altLang="en-US" sz="2400" dirty="0">
                <a:latin typeface="+mn-lt"/>
                <a:ea typeface="宋体" panose="02010600030101010101" pitchFamily="2" charset="-122"/>
              </a:rPr>
              <a:t>表示</a:t>
            </a:r>
            <a:endParaRPr lang="en-US" altLang="zh-CN" sz="2400" dirty="0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524000" y="3933056"/>
            <a:ext cx="69364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+mn-lt"/>
                <a:ea typeface="宋体" panose="02010600030101010101" pitchFamily="2" charset="-122"/>
              </a:rPr>
              <a:t>括号</a:t>
            </a:r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——</a:t>
            </a:r>
            <a:r>
              <a:rPr lang="zh-CN" altLang="en-US" sz="2400" dirty="0">
                <a:latin typeface="+mn-lt"/>
                <a:ea typeface="宋体" panose="02010600030101010101" pitchFamily="2" charset="-122"/>
              </a:rPr>
              <a:t>单词，用单词名（</a:t>
            </a:r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ASCII</a:t>
            </a:r>
            <a:r>
              <a:rPr lang="zh-CN" altLang="en-US" sz="2400" dirty="0">
                <a:latin typeface="+mn-lt"/>
                <a:ea typeface="宋体" panose="02010600030101010101" pitchFamily="2" charset="-122"/>
              </a:rPr>
              <a:t>字符）表示</a:t>
            </a:r>
            <a:endParaRPr lang="en-US" altLang="zh-CN" sz="2400" dirty="0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24000" y="4365104"/>
            <a:ext cx="69364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+mn-lt"/>
                <a:ea typeface="宋体" panose="02010600030101010101" pitchFamily="2" charset="-122"/>
              </a:rPr>
              <a:t>循环判定条件</a:t>
            </a:r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——</a:t>
            </a:r>
            <a:r>
              <a:rPr lang="zh-CN" altLang="en-US" sz="2400" dirty="0">
                <a:latin typeface="+mn-lt"/>
                <a:ea typeface="宋体" panose="02010600030101010101" pitchFamily="2" charset="-122"/>
              </a:rPr>
              <a:t>语法概念“布尔表达式”，表达式的一种，可起名字</a:t>
            </a:r>
            <a:r>
              <a:rPr lang="en-US" altLang="zh-CN" sz="2400" i="1" dirty="0">
                <a:latin typeface="+mn-lt"/>
                <a:ea typeface="宋体" panose="02010600030101010101" pitchFamily="2" charset="-122"/>
              </a:rPr>
              <a:t>expr</a:t>
            </a:r>
            <a:endParaRPr lang="en-US" altLang="zh-CN" sz="2400" i="1" dirty="0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524000" y="5197264"/>
            <a:ext cx="69364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+mn-lt"/>
                <a:ea typeface="宋体" panose="02010600030101010101" pitchFamily="2" charset="-122"/>
              </a:rPr>
              <a:t>循环体</a:t>
            </a:r>
            <a:r>
              <a:rPr lang="en-US" altLang="zh-CN" sz="2400" dirty="0">
                <a:latin typeface="+mn-lt"/>
                <a:ea typeface="宋体" panose="02010600030101010101" pitchFamily="2" charset="-122"/>
              </a:rPr>
              <a:t>——</a:t>
            </a:r>
            <a:r>
              <a:rPr lang="zh-CN" altLang="en-US" sz="2400" dirty="0">
                <a:latin typeface="+mn-lt"/>
                <a:ea typeface="宋体" panose="02010600030101010101" pitchFamily="2" charset="-122"/>
              </a:rPr>
              <a:t>一条语句，用名字</a:t>
            </a:r>
            <a:r>
              <a:rPr lang="en-US" altLang="zh-CN" sz="2400" i="1" dirty="0" err="1">
                <a:latin typeface="+mn-lt"/>
                <a:ea typeface="宋体" panose="02010600030101010101" pitchFamily="2" charset="-122"/>
              </a:rPr>
              <a:t>stmt</a:t>
            </a:r>
            <a:endParaRPr lang="en-US" altLang="zh-CN" sz="2400" dirty="0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62000" y="6102588"/>
            <a:ext cx="7826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i="1" dirty="0" err="1">
                <a:solidFill>
                  <a:srgbClr val="3333CC"/>
                </a:solidFill>
              </a:rPr>
              <a:t>stmt</a:t>
            </a:r>
            <a:endParaRPr lang="zh-CN" altLang="en-US" sz="2400" dirty="0"/>
          </a:p>
        </p:txBody>
      </p:sp>
      <p:sp>
        <p:nvSpPr>
          <p:cNvPr id="15" name="文本框 14"/>
          <p:cNvSpPr txBox="1"/>
          <p:nvPr/>
        </p:nvSpPr>
        <p:spPr>
          <a:xfrm>
            <a:off x="1907704" y="6102588"/>
            <a:ext cx="9178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1" dirty="0">
                <a:solidFill>
                  <a:srgbClr val="3333CC"/>
                </a:solidFill>
                <a:sym typeface="Symbol" panose="05050102010706020507" pitchFamily="18" charset="2"/>
              </a:rPr>
              <a:t>while</a:t>
            </a:r>
            <a:endParaRPr lang="zh-CN" altLang="en-US" sz="2400" dirty="0"/>
          </a:p>
        </p:txBody>
      </p:sp>
      <p:sp>
        <p:nvSpPr>
          <p:cNvPr id="17" name="文本框 16"/>
          <p:cNvSpPr txBox="1"/>
          <p:nvPr/>
        </p:nvSpPr>
        <p:spPr>
          <a:xfrm>
            <a:off x="2702632" y="6089884"/>
            <a:ext cx="1349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dirty="0">
                <a:solidFill>
                  <a:srgbClr val="3333CC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i="1" dirty="0">
                <a:solidFill>
                  <a:srgbClr val="3333CC"/>
                </a:solidFill>
                <a:sym typeface="Symbol" panose="05050102010706020507" pitchFamily="18" charset="2"/>
              </a:rPr>
              <a:t>expr </a:t>
            </a:r>
            <a:r>
              <a:rPr kumimoji="0" lang="en-US" altLang="zh-CN" sz="2400" dirty="0">
                <a:solidFill>
                  <a:srgbClr val="3333CC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 dirty="0">
                <a:solidFill>
                  <a:srgbClr val="3333CC"/>
                </a:solidFill>
                <a:sym typeface="Symbol" panose="05050102010706020507" pitchFamily="18" charset="2"/>
              </a:rPr>
              <a:t> </a:t>
            </a:r>
            <a:endParaRPr lang="zh-CN" altLang="en-US" sz="2400" dirty="0"/>
          </a:p>
        </p:txBody>
      </p:sp>
      <p:sp>
        <p:nvSpPr>
          <p:cNvPr id="19" name="文本框 18"/>
          <p:cNvSpPr txBox="1"/>
          <p:nvPr/>
        </p:nvSpPr>
        <p:spPr>
          <a:xfrm>
            <a:off x="3726158" y="6089884"/>
            <a:ext cx="7018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i="1" dirty="0" err="1">
                <a:solidFill>
                  <a:srgbClr val="3333CC"/>
                </a:solidFill>
                <a:sym typeface="Symbol" panose="05050102010706020507" pitchFamily="18" charset="2"/>
              </a:rPr>
              <a:t>stmt</a:t>
            </a:r>
            <a:endParaRPr lang="zh-CN" altLang="en-US" sz="2400" dirty="0"/>
          </a:p>
        </p:txBody>
      </p:sp>
      <p:sp>
        <p:nvSpPr>
          <p:cNvPr id="21" name="文本框 20"/>
          <p:cNvSpPr txBox="1"/>
          <p:nvPr/>
        </p:nvSpPr>
        <p:spPr>
          <a:xfrm>
            <a:off x="1536372" y="6111322"/>
            <a:ext cx="4166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dirty="0">
                <a:solidFill>
                  <a:srgbClr val="3333CC"/>
                </a:solidFill>
                <a:sym typeface="Symbol" panose="05050102010706020507" pitchFamily="18" charset="2"/>
              </a:rPr>
              <a:t>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2" grpId="0"/>
      <p:bldP spid="2" grpId="0"/>
      <p:bldP spid="8" grpId="0"/>
      <p:bldP spid="9" grpId="0"/>
      <p:bldP spid="3" grpId="0"/>
      <p:bldP spid="4" grpId="0"/>
      <p:bldP spid="5" grpId="0"/>
      <p:bldP spid="13" grpId="0"/>
      <p:bldP spid="14" grpId="0"/>
      <p:bldP spid="15" grpId="0"/>
      <p:bldP spid="17" grpId="0"/>
      <p:bldP spid="19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>
                <a:solidFill>
                  <a:schemeClr val="tx2"/>
                </a:solidFill>
              </a:rPr>
              <a:t>CFG</a:t>
            </a:r>
            <a:r>
              <a:rPr lang="zh-CN" altLang="en-US" sz="4400">
                <a:solidFill>
                  <a:schemeClr val="tx2"/>
                </a:solidFill>
              </a:rPr>
              <a:t>设计练习</a:t>
            </a:r>
            <a:endParaRPr lang="zh-CN" altLang="en-US" sz="4400">
              <a:solidFill>
                <a:schemeClr val="tx2"/>
              </a:solidFill>
            </a:endParaRP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1182688" y="1295400"/>
            <a:ext cx="77724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40000"/>
              </a:spcAft>
            </a:pPr>
            <a:r>
              <a:rPr kumimoji="0" lang="en-US" altLang="zh-CN" sz="2400" dirty="0">
                <a:sym typeface="Symbol" panose="05050102010706020507" pitchFamily="18" charset="2"/>
              </a:rPr>
              <a:t>C</a:t>
            </a:r>
            <a:r>
              <a:rPr kumimoji="0" lang="zh-CN" altLang="en-US" sz="2400" dirty="0">
                <a:sym typeface="Symbol" panose="05050102010706020507" pitchFamily="18" charset="2"/>
              </a:rPr>
              <a:t>语言</a:t>
            </a:r>
            <a:r>
              <a:rPr kumimoji="0" lang="en-US" altLang="zh-CN" sz="2400" dirty="0">
                <a:sym typeface="Symbol" panose="05050102010706020507" pitchFamily="18" charset="2"/>
              </a:rPr>
              <a:t>for</a:t>
            </a:r>
            <a:r>
              <a:rPr kumimoji="0" lang="zh-CN" altLang="en-US" sz="2400" dirty="0">
                <a:sym typeface="Symbol" panose="05050102010706020507" pitchFamily="18" charset="2"/>
              </a:rPr>
              <a:t>语句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 marL="0" indent="0" eaLnBrk="1" hangingPunct="1">
              <a:buNone/>
            </a:pPr>
            <a:endParaRPr kumimoji="0" lang="en-US" altLang="zh-CN" sz="2400" i="1" dirty="0">
              <a:sym typeface="Symbol" panose="05050102010706020507" pitchFamily="18" charset="2"/>
            </a:endParaRPr>
          </a:p>
          <a:p>
            <a:pPr eaLnBrk="1" hangingPunct="1"/>
            <a:endParaRPr kumimoji="0" lang="en-US" altLang="zh-CN" sz="2400" b="1" dirty="0">
              <a:sym typeface="Symbol" panose="05050102010706020507" pitchFamily="18" charset="2"/>
            </a:endParaRPr>
          </a:p>
        </p:txBody>
      </p:sp>
      <p:sp>
        <p:nvSpPr>
          <p:cNvPr id="191493" name="Text Box 5"/>
          <p:cNvSpPr txBox="1">
            <a:spLocks noChangeArrowheads="1"/>
          </p:cNvSpPr>
          <p:nvPr/>
        </p:nvSpPr>
        <p:spPr bwMode="auto">
          <a:xfrm>
            <a:off x="1600200" y="3318083"/>
            <a:ext cx="7239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400" dirty="0">
                <a:solidFill>
                  <a:srgbClr val="3333CC"/>
                </a:solidFill>
                <a:sym typeface="Symbol" panose="05050102010706020507" pitchFamily="18" charset="2"/>
              </a:rPr>
              <a:t>	</a:t>
            </a:r>
            <a:r>
              <a:rPr kumimoji="0" lang="zh-CN" altLang="en-US" sz="2400" dirty="0">
                <a:solidFill>
                  <a:srgbClr val="3333CC"/>
                </a:solidFill>
                <a:sym typeface="Symbol" panose="05050102010706020507" pitchFamily="18" charset="2"/>
              </a:rPr>
              <a:t>对应的产生式</a:t>
            </a:r>
            <a:br>
              <a:rPr kumimoji="0" lang="zh-CN" altLang="en-US" sz="2400" dirty="0">
                <a:solidFill>
                  <a:srgbClr val="3333CC"/>
                </a:solidFill>
                <a:sym typeface="Symbol" panose="05050102010706020507" pitchFamily="18" charset="2"/>
              </a:rPr>
            </a:br>
            <a:r>
              <a:rPr lang="en-US" altLang="zh-CN" sz="2400" i="1" dirty="0" err="1">
                <a:solidFill>
                  <a:srgbClr val="3333CC"/>
                </a:solidFill>
              </a:rPr>
              <a:t>stmt</a:t>
            </a:r>
            <a:r>
              <a:rPr kumimoji="0" lang="en-US" altLang="zh-CN" sz="2400" dirty="0">
                <a:solidFill>
                  <a:srgbClr val="3333CC"/>
                </a:solidFill>
                <a:sym typeface="Symbol" panose="05050102010706020507" pitchFamily="18" charset="2"/>
              </a:rPr>
              <a:t></a:t>
            </a:r>
            <a:r>
              <a:rPr kumimoji="0" lang="en-US" altLang="zh-CN" sz="2400" b="1" dirty="0">
                <a:solidFill>
                  <a:srgbClr val="3333CC"/>
                </a:solidFill>
                <a:sym typeface="Symbol" panose="05050102010706020507" pitchFamily="18" charset="2"/>
              </a:rPr>
              <a:t> for </a:t>
            </a:r>
            <a:r>
              <a:rPr kumimoji="0" lang="en-US" altLang="zh-CN" sz="2400" dirty="0">
                <a:solidFill>
                  <a:srgbClr val="3333CC"/>
                </a:solidFill>
                <a:sym typeface="Symbol" panose="05050102010706020507" pitchFamily="18" charset="2"/>
              </a:rPr>
              <a:t>( </a:t>
            </a:r>
            <a:r>
              <a:rPr kumimoji="0" lang="en-US" altLang="zh-CN" sz="2400" i="1" dirty="0">
                <a:solidFill>
                  <a:srgbClr val="3333CC"/>
                </a:solidFill>
                <a:sym typeface="Symbol" panose="05050102010706020507" pitchFamily="18" charset="2"/>
              </a:rPr>
              <a:t>expr ; expr; expr </a:t>
            </a:r>
            <a:r>
              <a:rPr kumimoji="0" lang="en-US" altLang="zh-CN" sz="2400" dirty="0">
                <a:solidFill>
                  <a:srgbClr val="3333CC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 dirty="0">
                <a:solidFill>
                  <a:srgbClr val="3333CC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i="1" dirty="0" err="1">
                <a:solidFill>
                  <a:srgbClr val="3333CC"/>
                </a:solidFill>
                <a:sym typeface="Symbol" panose="05050102010706020507" pitchFamily="18" charset="2"/>
              </a:rPr>
              <a:t>stmt</a:t>
            </a:r>
            <a:endParaRPr kumimoji="0" lang="en-US" altLang="zh-CN" sz="2400" i="1" dirty="0">
              <a:solidFill>
                <a:srgbClr val="3333CC"/>
              </a:solidFill>
              <a:sym typeface="Symbol" panose="05050102010706020507" pitchFamily="18" charset="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00200" y="1856784"/>
            <a:ext cx="7148264" cy="1348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spcAft>
                <a:spcPct val="40000"/>
              </a:spcAft>
              <a:buNone/>
            </a:pPr>
            <a:r>
              <a:rPr kumimoji="0" lang="zh-CN" altLang="en-US" sz="2400" dirty="0">
                <a:ea typeface="宋体" panose="02010600030101010101" pitchFamily="2" charset="-122"/>
                <a:sym typeface="Symbol" panose="05050102010706020507" pitchFamily="18" charset="2"/>
              </a:rPr>
              <a:t>长什么样？</a:t>
            </a:r>
            <a:endParaRPr kumimoji="0" lang="en-US" altLang="zh-CN" sz="24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 eaLnBrk="1" hangingPunct="1">
              <a:spcAft>
                <a:spcPct val="40000"/>
              </a:spcAft>
              <a:buNone/>
            </a:pPr>
            <a:r>
              <a:rPr kumimoji="0" lang="en-US" altLang="zh-CN" sz="2400" b="1" dirty="0">
                <a:sym typeface="Symbol" panose="05050102010706020507" pitchFamily="18" charset="2"/>
              </a:rPr>
              <a:t>for</a:t>
            </a:r>
            <a:r>
              <a:rPr kumimoji="0" lang="en-US" altLang="zh-CN" sz="2400" dirty="0">
                <a:sym typeface="Symbol" panose="05050102010706020507" pitchFamily="18" charset="2"/>
              </a:rPr>
              <a:t> (expression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dirty="0">
                <a:sym typeface="Symbol" panose="05050102010706020507" pitchFamily="18" charset="2"/>
              </a:rPr>
              <a:t>; expression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sz="2400" dirty="0">
                <a:sym typeface="Symbol" panose="05050102010706020507" pitchFamily="18" charset="2"/>
              </a:rPr>
              <a:t>; expression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3</a:t>
            </a:r>
            <a:r>
              <a:rPr kumimoji="0" lang="en-US" altLang="zh-CN" sz="2400" dirty="0">
                <a:sym typeface="Symbol" panose="05050102010706020507" pitchFamily="18" charset="2"/>
              </a:rPr>
              <a:t>)</a:t>
            </a:r>
            <a:br>
              <a:rPr kumimoji="0" lang="en-US" altLang="zh-CN" sz="2400" dirty="0">
                <a:sym typeface="Symbol" panose="05050102010706020507" pitchFamily="18" charset="2"/>
              </a:rPr>
            </a:br>
            <a:r>
              <a:rPr kumimoji="0" lang="en-US" altLang="zh-CN" sz="2400" dirty="0">
                <a:sym typeface="Symbol" panose="05050102010706020507" pitchFamily="18" charset="2"/>
              </a:rPr>
              <a:t>	statement</a:t>
            </a:r>
            <a:endParaRPr kumimoji="0" lang="en-US" altLang="zh-CN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3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400">
                <a:solidFill>
                  <a:schemeClr val="tx2"/>
                </a:solidFill>
              </a:rPr>
              <a:t>CFG</a:t>
            </a:r>
            <a:r>
              <a:rPr lang="zh-CN" altLang="en-US" sz="4400">
                <a:solidFill>
                  <a:schemeClr val="tx2"/>
                </a:solidFill>
              </a:rPr>
              <a:t>设计练习</a:t>
            </a:r>
            <a:endParaRPr lang="zh-CN" altLang="en-US" sz="4400">
              <a:solidFill>
                <a:schemeClr val="tx2"/>
              </a:solidFill>
            </a:endParaRP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1182688" y="1295400"/>
            <a:ext cx="77724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400" dirty="0">
                <a:sym typeface="Symbol" panose="05050102010706020507" pitchFamily="18" charset="2"/>
              </a:rPr>
              <a:t>C</a:t>
            </a:r>
            <a:r>
              <a:rPr kumimoji="0" lang="zh-CN" altLang="en-US" sz="2400" dirty="0">
                <a:sym typeface="Symbol" panose="05050102010706020507" pitchFamily="18" charset="2"/>
              </a:rPr>
              <a:t>语言变量声明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 eaLnBrk="1" hangingPunct="1"/>
            <a:r>
              <a:rPr kumimoji="0" lang="en-US" altLang="zh-CN" sz="2400" b="1" dirty="0">
                <a:sym typeface="Symbol" panose="05050102010706020507" pitchFamily="18" charset="2"/>
              </a:rPr>
              <a:t>int</a:t>
            </a:r>
            <a:r>
              <a:rPr kumimoji="0" lang="en-US" altLang="zh-CN" sz="2400" dirty="0">
                <a:sym typeface="Symbol" panose="05050102010706020507" pitchFamily="18" charset="2"/>
              </a:rPr>
              <a:t>(</a:t>
            </a:r>
            <a:r>
              <a:rPr kumimoji="0" lang="en-US" altLang="zh-CN" sz="2400" b="1" dirty="0">
                <a:sym typeface="Symbol" panose="05050102010706020507" pitchFamily="18" charset="2"/>
              </a:rPr>
              <a:t>float</a:t>
            </a:r>
            <a:r>
              <a:rPr kumimoji="0" lang="en-US" altLang="zh-CN" sz="2400" dirty="0">
                <a:sym typeface="Symbol" panose="05050102010706020507" pitchFamily="18" charset="2"/>
              </a:rPr>
              <a:t>, </a:t>
            </a:r>
            <a:r>
              <a:rPr kumimoji="0" lang="en-US" altLang="zh-CN" sz="2400" b="1" dirty="0">
                <a:sym typeface="Symbol" panose="05050102010706020507" pitchFamily="18" charset="2"/>
              </a:rPr>
              <a:t>double</a:t>
            </a:r>
            <a:r>
              <a:rPr kumimoji="0" lang="en-US" altLang="zh-CN" sz="2400" dirty="0">
                <a:sym typeface="Symbol" panose="05050102010706020507" pitchFamily="18" charset="2"/>
              </a:rPr>
              <a:t>, </a:t>
            </a:r>
            <a:r>
              <a:rPr kumimoji="0" lang="en-US" altLang="zh-CN" sz="2400" b="1" dirty="0">
                <a:sym typeface="Symbol" panose="05050102010706020507" pitchFamily="18" charset="2"/>
              </a:rPr>
              <a:t>char</a:t>
            </a:r>
            <a:r>
              <a:rPr kumimoji="0" lang="en-US" altLang="zh-CN" sz="2400" dirty="0">
                <a:sym typeface="Symbol" panose="05050102010706020507" pitchFamily="18" charset="2"/>
              </a:rPr>
              <a:t>) id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dirty="0">
                <a:sym typeface="Symbol" panose="05050102010706020507" pitchFamily="18" charset="2"/>
              </a:rPr>
              <a:t>, id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sz="2400" dirty="0">
                <a:sym typeface="Symbol" panose="05050102010706020507" pitchFamily="18" charset="2"/>
              </a:rPr>
              <a:t>, …;</a:t>
            </a:r>
            <a:br>
              <a:rPr kumimoji="0" lang="en-US" altLang="zh-CN" sz="2400" dirty="0">
                <a:sym typeface="Symbol" panose="05050102010706020507" pitchFamily="18" charset="2"/>
              </a:rPr>
            </a:br>
            <a:endParaRPr kumimoji="0" lang="en-US" altLang="zh-CN" sz="2400" b="1" dirty="0">
              <a:sym typeface="Symbol" panose="05050102010706020507" pitchFamily="18" charset="2"/>
            </a:endParaRPr>
          </a:p>
        </p:txBody>
      </p:sp>
      <p:sp>
        <p:nvSpPr>
          <p:cNvPr id="191494" name="Text Box 6"/>
          <p:cNvSpPr txBox="1">
            <a:spLocks noChangeArrowheads="1"/>
          </p:cNvSpPr>
          <p:nvPr/>
        </p:nvSpPr>
        <p:spPr bwMode="auto">
          <a:xfrm>
            <a:off x="1542256" y="5229200"/>
            <a:ext cx="701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i="1" dirty="0" err="1">
                <a:solidFill>
                  <a:srgbClr val="3333CC"/>
                </a:solidFill>
              </a:rPr>
              <a:t>idlist</a:t>
            </a:r>
            <a:r>
              <a:rPr kumimoji="0" lang="en-US" altLang="zh-CN" sz="2400" dirty="0">
                <a:solidFill>
                  <a:srgbClr val="3333CC"/>
                </a:solidFill>
                <a:sym typeface="Symbol" panose="05050102010706020507" pitchFamily="18" charset="2"/>
              </a:rPr>
              <a:t></a:t>
            </a:r>
            <a:r>
              <a:rPr kumimoji="0" lang="en-US" altLang="zh-CN" sz="2400" b="1" dirty="0">
                <a:solidFill>
                  <a:srgbClr val="3333CC"/>
                </a:solidFill>
                <a:sym typeface="Symbol" panose="05050102010706020507" pitchFamily="18" charset="2"/>
              </a:rPr>
              <a:t> id</a:t>
            </a:r>
            <a:endParaRPr kumimoji="0" lang="en-US" altLang="zh-CN" sz="2400" dirty="0">
              <a:solidFill>
                <a:srgbClr val="3333CC"/>
              </a:solidFill>
              <a:sym typeface="Symbol" panose="05050102010706020507" pitchFamily="18" charset="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94756" y="3274202"/>
            <a:ext cx="7148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spcAft>
                <a:spcPct val="40000"/>
              </a:spcAft>
              <a:buNone/>
            </a:pPr>
            <a:r>
              <a:rPr kumimoji="0" lang="zh-CN" altLang="en-US" sz="2400" dirty="0">
                <a:ea typeface="宋体" panose="02010600030101010101" pitchFamily="2" charset="-122"/>
                <a:sym typeface="Symbol" panose="05050102010706020507" pitchFamily="18" charset="2"/>
              </a:rPr>
              <a:t>类型容易搞定</a:t>
            </a:r>
            <a:r>
              <a:rPr kumimoji="0"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——</a:t>
            </a:r>
            <a:r>
              <a:rPr kumimoji="0" lang="zh-CN" altLang="en-US" sz="2400" dirty="0">
                <a:ea typeface="宋体" panose="02010600030101010101" pitchFamily="2" charset="-122"/>
                <a:sym typeface="Symbol" panose="05050102010706020507" pitchFamily="18" charset="2"/>
              </a:rPr>
              <a:t>四种类型可选</a:t>
            </a:r>
            <a:endParaRPr kumimoji="0" lang="en-US" altLang="zh-CN" sz="2400" dirty="0">
              <a:sym typeface="Symbol" panose="05050102010706020507" pitchFamily="18" charset="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94756" y="2291845"/>
            <a:ext cx="7148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spcAft>
                <a:spcPct val="40000"/>
              </a:spcAft>
              <a:buNone/>
            </a:pPr>
            <a:r>
              <a:rPr kumimoji="0" lang="zh-CN" altLang="en-US" sz="2400" dirty="0">
                <a:ea typeface="宋体" panose="02010600030101010101" pitchFamily="2" charset="-122"/>
                <a:sym typeface="Symbol" panose="05050102010706020507" pitchFamily="18" charset="2"/>
              </a:rPr>
              <a:t>分解为两部分：类型、标识符列表</a:t>
            </a:r>
            <a:endParaRPr kumimoji="0" lang="en-US" altLang="zh-CN" sz="2400" dirty="0">
              <a:sym typeface="Symbol" panose="05050102010706020507" pitchFamily="18" charset="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542256" y="275131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decl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Symbol" panose="05050102010706020507" pitchFamily="18" charset="2"/>
              </a:rPr>
              <a:t>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Symbol" panose="05050102010706020507" pitchFamily="18" charset="2"/>
              </a:rPr>
              <a:t>type </a:t>
            </a:r>
            <a:r>
              <a:rPr kumimoji="0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Symbol" panose="05050102010706020507" pitchFamily="18" charset="2"/>
              </a:rPr>
              <a:t>idlist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Symbol" panose="05050102010706020507" pitchFamily="18" charset="2"/>
              </a:rPr>
              <a:t>;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542256" y="378904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type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Symbol" panose="05050102010706020507" pitchFamily="18" charset="2"/>
              </a:rPr>
              <a:t>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Symbol" panose="05050102010706020507" pitchFamily="18" charset="2"/>
              </a:rPr>
              <a:t> 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Symbol" panose="05050102010706020507" pitchFamily="18" charset="2"/>
              </a:rPr>
              <a:t> |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Symbol" panose="05050102010706020507" pitchFamily="18" charset="2"/>
              </a:rPr>
              <a:t> float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Symbol" panose="05050102010706020507" pitchFamily="18" charset="2"/>
              </a:rPr>
              <a:t>|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Symbol" panose="05050102010706020507" pitchFamily="18" charset="2"/>
              </a:rPr>
              <a:t>double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Symbol" panose="05050102010706020507" pitchFamily="18" charset="2"/>
              </a:rPr>
              <a:t>|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Symbol" panose="05050102010706020507" pitchFamily="18" charset="2"/>
              </a:rPr>
              <a:t>char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494755" y="4293096"/>
            <a:ext cx="7449219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Aft>
                <a:spcPct val="40000"/>
              </a:spcAft>
            </a:pPr>
            <a:r>
              <a:rPr kumimoji="0" lang="zh-CN" altLang="en-US" sz="2400" dirty="0">
                <a:ea typeface="宋体" panose="02010600030101010101" pitchFamily="2" charset="-122"/>
                <a:sym typeface="Symbol" panose="05050102010706020507" pitchFamily="18" charset="2"/>
              </a:rPr>
              <a:t>描述标识符列表的难点？任意长</a:t>
            </a:r>
            <a:r>
              <a:rPr kumimoji="0"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——</a:t>
            </a:r>
            <a:r>
              <a:rPr kumimoji="0" lang="zh-CN" altLang="en-US" sz="2400" dirty="0">
                <a:ea typeface="宋体" panose="02010600030101010101" pitchFamily="2" charset="-122"/>
                <a:sym typeface="Symbol" panose="05050102010706020507" pitchFamily="18" charset="2"/>
              </a:rPr>
              <a:t>递归！</a:t>
            </a:r>
            <a:endParaRPr kumimoji="0" lang="zh-CN" altLang="en-US" sz="24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spcAft>
                <a:spcPct val="40000"/>
              </a:spcAft>
            </a:pPr>
            <a:endParaRPr kumimoji="0" lang="en-US" altLang="zh-CN" sz="2400" dirty="0">
              <a:sym typeface="Symbol" panose="05050102010706020507" pitchFamily="18" charset="2"/>
            </a:endParaRPr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1483641" y="4797152"/>
            <a:ext cx="701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dirty="0"/>
              <a:t>基本情况：原子问题</a:t>
            </a:r>
            <a:r>
              <a:rPr kumimoji="0" lang="en-US" altLang="zh-CN" sz="2400" dirty="0"/>
              <a:t>——</a:t>
            </a:r>
            <a:r>
              <a:rPr kumimoji="0" lang="zh-CN" altLang="en-US" sz="2400" dirty="0"/>
              <a:t>最短的标识符列表</a:t>
            </a:r>
            <a:endParaRPr kumimoji="0" lang="en-US" altLang="zh-CN" sz="2400" dirty="0"/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494756" y="6381328"/>
            <a:ext cx="701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i="1" dirty="0" err="1">
                <a:solidFill>
                  <a:srgbClr val="3333CC"/>
                </a:solidFill>
              </a:rPr>
              <a:t>idlist</a:t>
            </a:r>
            <a:r>
              <a:rPr kumimoji="0" lang="en-US" altLang="zh-CN" sz="2400" dirty="0">
                <a:solidFill>
                  <a:srgbClr val="3333CC"/>
                </a:solidFill>
                <a:sym typeface="Symbol" panose="05050102010706020507" pitchFamily="18" charset="2"/>
              </a:rPr>
              <a:t></a:t>
            </a:r>
            <a:r>
              <a:rPr kumimoji="0" lang="en-US" altLang="zh-CN" sz="2400" b="1" dirty="0">
                <a:solidFill>
                  <a:srgbClr val="3333CC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i="1" dirty="0" err="1">
                <a:solidFill>
                  <a:srgbClr val="3333CC"/>
                </a:solidFill>
                <a:sym typeface="Symbol" panose="05050102010706020507" pitchFamily="18" charset="2"/>
              </a:rPr>
              <a:t>idlist</a:t>
            </a:r>
            <a:r>
              <a:rPr kumimoji="0" lang="en-US" altLang="zh-CN" sz="2400" i="1" dirty="0">
                <a:solidFill>
                  <a:srgbClr val="3333CC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dirty="0">
                <a:solidFill>
                  <a:srgbClr val="3333CC"/>
                </a:solidFill>
                <a:sym typeface="Symbol" panose="05050102010706020507" pitchFamily="18" charset="2"/>
              </a:rPr>
              <a:t>, </a:t>
            </a:r>
            <a:r>
              <a:rPr kumimoji="0" lang="en-US" altLang="zh-CN" sz="2400" b="1" dirty="0">
                <a:solidFill>
                  <a:srgbClr val="3333CC"/>
                </a:solidFill>
                <a:sym typeface="Symbol" panose="05050102010706020507" pitchFamily="18" charset="2"/>
              </a:rPr>
              <a:t>id</a:t>
            </a:r>
            <a:endParaRPr kumimoji="0" lang="en-US" altLang="zh-CN" sz="2400" dirty="0">
              <a:solidFill>
                <a:srgbClr val="3333CC"/>
              </a:solidFill>
              <a:sym typeface="Symbol" panose="05050102010706020507" pitchFamily="18" charset="2"/>
            </a:endParaRPr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1494756" y="5683229"/>
            <a:ext cx="754174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dirty="0"/>
              <a:t>递归情况：把问题规模变小</a:t>
            </a:r>
            <a:r>
              <a:rPr kumimoji="0" lang="en-US" altLang="zh-CN" sz="2400" dirty="0"/>
              <a:t>——</a:t>
            </a:r>
            <a:r>
              <a:rPr kumimoji="0" lang="zh-CN" altLang="en-US" sz="2400" dirty="0"/>
              <a:t>把标识符列表变短</a:t>
            </a:r>
            <a:br>
              <a:rPr kumimoji="0" lang="en-US" altLang="zh-CN" sz="2400" dirty="0"/>
            </a:br>
            <a:r>
              <a:rPr kumimoji="0" lang="en-US" altLang="zh-CN" sz="2400" dirty="0"/>
              <a:t>	——</a:t>
            </a:r>
            <a:r>
              <a:rPr kumimoji="0" lang="zh-CN" altLang="en-US" sz="2400" dirty="0"/>
              <a:t>拆分成更小的标识符列表（及非递归实体）</a:t>
            </a:r>
            <a:endParaRPr kumimoji="0"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4" grpId="0" autoUpdateAnimBg="0"/>
      <p:bldP spid="6" grpId="1"/>
      <p:bldP spid="7" grpId="0"/>
      <p:bldP spid="9" grpId="0"/>
      <p:bldP spid="11" grpId="0"/>
      <p:bldP spid="12" grpId="0"/>
      <p:bldP spid="13" grpId="0" autoUpdateAnimBg="0"/>
      <p:bldP spid="14" grpId="0" autoUpdateAnimBg="0"/>
      <p:bldP spid="15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推导</a:t>
            </a:r>
            <a:endParaRPr lang="zh-CN" alt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单词串</a:t>
            </a:r>
            <a:r>
              <a:rPr lang="zh-CN" altLang="en-US" sz="2800" b="1" dirty="0">
                <a:solidFill>
                  <a:srgbClr val="3333CC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800" dirty="0">
                <a:solidFill>
                  <a:schemeClr val="hlink"/>
                </a:solidFill>
              </a:rPr>
              <a:t>string</a:t>
            </a:r>
            <a:r>
              <a:rPr lang="zh-CN" altLang="en-US" sz="2800" b="1" dirty="0">
                <a:solidFill>
                  <a:srgbClr val="3333CC"/>
                </a:solidFill>
                <a:latin typeface="宋体" panose="02010600030101010101" pitchFamily="2" charset="-122"/>
              </a:rPr>
              <a:t>）</a:t>
            </a:r>
            <a:r>
              <a:rPr lang="zh-CN" altLang="en-US" sz="2800" dirty="0"/>
              <a:t>：</a:t>
            </a:r>
            <a:r>
              <a:rPr lang="en-US" altLang="zh-CN" sz="2800" dirty="0"/>
              <a:t>0</a:t>
            </a:r>
            <a:r>
              <a:rPr lang="zh-CN" altLang="en-US" sz="2800" dirty="0"/>
              <a:t>个或多个单词构成的序列</a:t>
            </a:r>
            <a:endParaRPr lang="zh-CN" altLang="en-US" sz="2800" dirty="0"/>
          </a:p>
          <a:p>
            <a:pPr eaLnBrk="1" hangingPunct="1"/>
            <a:r>
              <a:rPr lang="zh-CN" altLang="en-US" sz="2800" b="1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推导</a:t>
            </a:r>
            <a:r>
              <a:rPr lang="zh-CN" altLang="en-US" sz="2800" b="1" dirty="0">
                <a:solidFill>
                  <a:srgbClr val="3333CC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800" dirty="0">
                <a:solidFill>
                  <a:schemeClr val="hlink"/>
                </a:solidFill>
                <a:ea typeface="黑体" panose="02010609060101010101" pitchFamily="49" charset="-122"/>
              </a:rPr>
              <a:t>derive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lvl="1" eaLnBrk="1" hangingPunct="1"/>
            <a:r>
              <a:rPr lang="zh-CN" altLang="en-US" sz="2400" dirty="0">
                <a:solidFill>
                  <a:schemeClr val="folHlink"/>
                </a:solidFill>
              </a:rPr>
              <a:t>由开始符号作为推导起点</a:t>
            </a:r>
            <a:endParaRPr lang="zh-CN" altLang="en-US" sz="2400" dirty="0">
              <a:solidFill>
                <a:schemeClr val="folHlink"/>
              </a:solidFill>
            </a:endParaRPr>
          </a:p>
          <a:p>
            <a:pPr lvl="1" eaLnBrk="1" hangingPunct="1"/>
            <a:r>
              <a:rPr lang="zh-CN" altLang="en-US" sz="2400" dirty="0">
                <a:solidFill>
                  <a:schemeClr val="folHlink"/>
                </a:solidFill>
              </a:rPr>
              <a:t>用产生式右部替换左部非终结符</a:t>
            </a:r>
            <a:endParaRPr lang="zh-CN" altLang="en-US" sz="2400" dirty="0">
              <a:solidFill>
                <a:schemeClr val="folHlink"/>
              </a:solidFill>
            </a:endParaRPr>
          </a:p>
          <a:p>
            <a:pPr lvl="1" eaLnBrk="1" hangingPunct="1"/>
            <a:r>
              <a:rPr lang="zh-CN" altLang="en-US" sz="2400" dirty="0">
                <a:solidFill>
                  <a:schemeClr val="folHlink"/>
                </a:solidFill>
              </a:rPr>
              <a:t>反复替换，最终得到单词串</a:t>
            </a:r>
            <a:endParaRPr lang="zh-CN" altLang="en-US" sz="2400" dirty="0">
              <a:solidFill>
                <a:schemeClr val="folHlink"/>
              </a:solidFill>
            </a:endParaRPr>
          </a:p>
          <a:p>
            <a:pPr eaLnBrk="1" hangingPunct="1"/>
            <a:r>
              <a:rPr lang="zh-CN" altLang="en-US" sz="2800" b="1" dirty="0">
                <a:solidFill>
                  <a:srgbClr val="3333CC"/>
                </a:solidFill>
                <a:ea typeface="黑体" panose="02010609060101010101" pitchFamily="49" charset="-122"/>
              </a:rPr>
              <a:t>语言</a:t>
            </a:r>
            <a:r>
              <a:rPr lang="zh-CN" altLang="en-US" sz="2800" b="1" dirty="0">
                <a:solidFill>
                  <a:srgbClr val="3333CC"/>
                </a:solidFill>
              </a:rPr>
              <a:t>（</a:t>
            </a:r>
            <a:r>
              <a:rPr lang="en-US" altLang="zh-CN" sz="2800" dirty="0">
                <a:solidFill>
                  <a:schemeClr val="hlink"/>
                </a:solidFill>
              </a:rPr>
              <a:t>language</a:t>
            </a:r>
            <a:r>
              <a:rPr lang="zh-CN" altLang="en-US" sz="2800" dirty="0"/>
              <a:t>）</a:t>
            </a:r>
            <a:br>
              <a:rPr lang="en-US" altLang="zh-CN" sz="2800" b="1" dirty="0">
                <a:solidFill>
                  <a:srgbClr val="3333CC"/>
                </a:solidFill>
              </a:rPr>
            </a:br>
            <a:r>
              <a:rPr lang="zh-CN" altLang="en-US" sz="2800" dirty="0"/>
              <a:t>文法所定义的语言</a:t>
            </a:r>
            <a:r>
              <a:rPr lang="en-US" altLang="zh-CN" sz="2800" dirty="0"/>
              <a:t>——</a:t>
            </a:r>
            <a:r>
              <a:rPr lang="zh-CN" altLang="en-US" sz="2800" dirty="0"/>
              <a:t>可由开始符号推导出的所有单词串的集合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2.2</a:t>
            </a:r>
            <a:endParaRPr lang="en-US" altLang="zh-CN"/>
          </a:p>
        </p:txBody>
      </p:sp>
      <p:sp>
        <p:nvSpPr>
          <p:cNvPr id="20483" name="Text Box 4"/>
          <p:cNvSpPr txBox="1">
            <a:spLocks noChangeArrowheads="1"/>
          </p:cNvSpPr>
          <p:nvPr/>
        </p:nvSpPr>
        <p:spPr bwMode="auto">
          <a:xfrm>
            <a:off x="1219200" y="1371600"/>
            <a:ext cx="7180263" cy="4167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dirty="0"/>
              <a:t>前面定义的表达式的</a:t>
            </a:r>
            <a:r>
              <a:rPr kumimoji="0" lang="en-US" altLang="zh-CN" sz="2800" dirty="0"/>
              <a:t>CFG</a:t>
            </a:r>
            <a:r>
              <a:rPr kumimoji="0" lang="zh-CN" altLang="en-US" sz="2800" dirty="0"/>
              <a:t>，可按如下步骤推导出表达式：</a:t>
            </a:r>
            <a:r>
              <a:rPr kumimoji="0" lang="en-US" altLang="zh-CN" sz="2800" dirty="0"/>
              <a:t>9 - 5 + 2</a:t>
            </a:r>
            <a:endParaRPr kumimoji="0" lang="en-US" altLang="zh-CN" sz="2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i="1" dirty="0"/>
              <a:t>expr</a:t>
            </a:r>
            <a:r>
              <a:rPr kumimoji="0" lang="en-US" altLang="zh-CN" sz="2400" dirty="0"/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dirty="0"/>
              <a:t> </a:t>
            </a:r>
            <a:r>
              <a:rPr kumimoji="0" lang="en-US" altLang="zh-CN" sz="2400" dirty="0">
                <a:sym typeface="Math1" pitchFamily="2" charset="2"/>
              </a:rPr>
              <a:t> </a:t>
            </a:r>
            <a:r>
              <a:rPr kumimoji="0" lang="en-US" altLang="zh-CN" sz="2400" i="1" dirty="0">
                <a:solidFill>
                  <a:srgbClr val="0066FF"/>
                </a:solidFill>
                <a:sym typeface="Math1" pitchFamily="2" charset="2"/>
              </a:rPr>
              <a:t>expr </a:t>
            </a:r>
            <a:r>
              <a:rPr kumimoji="0" lang="en-US" altLang="zh-CN" sz="2400" i="1" dirty="0">
                <a:sym typeface="Math1" pitchFamily="2" charset="2"/>
              </a:rPr>
              <a:t>+</a:t>
            </a:r>
            <a:r>
              <a:rPr kumimoji="0" lang="en-US" altLang="zh-CN" sz="2400" i="1" dirty="0">
                <a:solidFill>
                  <a:srgbClr val="0066FF"/>
                </a:solidFill>
                <a:sym typeface="Math1" pitchFamily="2" charset="2"/>
              </a:rPr>
              <a:t> </a:t>
            </a:r>
            <a:r>
              <a:rPr kumimoji="0" lang="en-US" altLang="zh-CN" sz="2400" i="1" dirty="0">
                <a:solidFill>
                  <a:srgbClr val="00CC00"/>
                </a:solidFill>
                <a:sym typeface="Math1" pitchFamily="2" charset="2"/>
              </a:rPr>
              <a:t>digit</a:t>
            </a:r>
            <a:r>
              <a:rPr kumimoji="0" lang="en-US" altLang="zh-CN" sz="2400" dirty="0">
                <a:sym typeface="Math1" pitchFamily="2" charset="2"/>
              </a:rPr>
              <a:t> </a:t>
            </a:r>
            <a:endParaRPr kumimoji="0" lang="en-US" altLang="zh-CN" sz="2400" dirty="0">
              <a:sym typeface="Math1" pitchFamily="2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ym typeface="Math1" pitchFamily="2" charset="2"/>
              </a:rPr>
              <a:t>     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dirty="0">
                <a:sym typeface="Math1" pitchFamily="2" charset="2"/>
              </a:rPr>
              <a:t>  </a:t>
            </a:r>
            <a:r>
              <a:rPr kumimoji="0" lang="en-US" altLang="zh-CN" sz="2400" i="1" dirty="0">
                <a:solidFill>
                  <a:srgbClr val="FF5050"/>
                </a:solidFill>
                <a:sym typeface="Math1" pitchFamily="2" charset="2"/>
              </a:rPr>
              <a:t>expr</a:t>
            </a:r>
            <a:r>
              <a:rPr kumimoji="0" lang="en-US" altLang="zh-CN" sz="2400" i="1" dirty="0">
                <a:solidFill>
                  <a:srgbClr val="0066FF"/>
                </a:solidFill>
                <a:sym typeface="Math1" pitchFamily="2" charset="2"/>
              </a:rPr>
              <a:t> - </a:t>
            </a:r>
            <a:r>
              <a:rPr kumimoji="0" lang="en-US" altLang="zh-CN" sz="2400" i="1" dirty="0">
                <a:solidFill>
                  <a:srgbClr val="FF5050"/>
                </a:solidFill>
                <a:sym typeface="Math1" pitchFamily="2" charset="2"/>
              </a:rPr>
              <a:t>digit</a:t>
            </a:r>
            <a:r>
              <a:rPr kumimoji="0" lang="en-US" altLang="zh-CN" sz="2400" i="1" dirty="0">
                <a:sym typeface="Math1" pitchFamily="2" charset="2"/>
              </a:rPr>
              <a:t> + </a:t>
            </a:r>
            <a:r>
              <a:rPr kumimoji="0" lang="en-US" altLang="zh-CN" sz="2400" i="1" dirty="0">
                <a:solidFill>
                  <a:srgbClr val="00CC00"/>
                </a:solidFill>
                <a:sym typeface="Math1" pitchFamily="2" charset="2"/>
              </a:rPr>
              <a:t>digit</a:t>
            </a:r>
            <a:r>
              <a:rPr kumimoji="0" lang="en-US" altLang="zh-CN" sz="2400" dirty="0">
                <a:sym typeface="Math1" pitchFamily="2" charset="2"/>
              </a:rPr>
              <a:t> </a:t>
            </a:r>
            <a:endParaRPr kumimoji="0" lang="en-US" altLang="zh-CN" sz="2400" dirty="0">
              <a:sym typeface="Math1" pitchFamily="2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ym typeface="Math1" pitchFamily="2" charset="2"/>
              </a:rPr>
              <a:t>     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dirty="0">
                <a:sym typeface="Math1" pitchFamily="2" charset="2"/>
              </a:rPr>
              <a:t>  </a:t>
            </a:r>
            <a:r>
              <a:rPr kumimoji="0" lang="en-US" altLang="zh-CN" sz="2400" i="1" dirty="0">
                <a:solidFill>
                  <a:srgbClr val="FF66FF"/>
                </a:solidFill>
                <a:sym typeface="Math1" pitchFamily="2" charset="2"/>
              </a:rPr>
              <a:t>digit</a:t>
            </a:r>
            <a:r>
              <a:rPr kumimoji="0" lang="en-US" altLang="zh-CN" sz="2400" i="1" dirty="0">
                <a:sym typeface="Math1" pitchFamily="2" charset="2"/>
              </a:rPr>
              <a:t> - </a:t>
            </a:r>
            <a:r>
              <a:rPr kumimoji="0" lang="en-US" altLang="zh-CN" sz="2400" i="1" dirty="0">
                <a:solidFill>
                  <a:srgbClr val="FF5050"/>
                </a:solidFill>
                <a:sym typeface="Math1" pitchFamily="2" charset="2"/>
              </a:rPr>
              <a:t>digit</a:t>
            </a:r>
            <a:r>
              <a:rPr kumimoji="0" lang="en-US" altLang="zh-CN" sz="2400" i="1" dirty="0">
                <a:sym typeface="Math1" pitchFamily="2" charset="2"/>
              </a:rPr>
              <a:t> + </a:t>
            </a:r>
            <a:r>
              <a:rPr kumimoji="0" lang="en-US" altLang="zh-CN" sz="2400" i="1" dirty="0">
                <a:solidFill>
                  <a:srgbClr val="00CC00"/>
                </a:solidFill>
                <a:sym typeface="Math1" pitchFamily="2" charset="2"/>
              </a:rPr>
              <a:t>digit</a:t>
            </a:r>
            <a:r>
              <a:rPr kumimoji="0" lang="en-US" altLang="zh-CN" sz="2400" dirty="0">
                <a:sym typeface="Math1" pitchFamily="2" charset="2"/>
              </a:rPr>
              <a:t> </a:t>
            </a:r>
            <a:endParaRPr kumimoji="0" lang="en-US" altLang="zh-CN" sz="2400" dirty="0">
              <a:sym typeface="Math1" pitchFamily="2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ym typeface="Math1" pitchFamily="2" charset="2"/>
              </a:rPr>
              <a:t>     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dirty="0">
                <a:sym typeface="Math1" pitchFamily="2" charset="2"/>
              </a:rPr>
              <a:t> </a:t>
            </a:r>
            <a:r>
              <a:rPr kumimoji="0" lang="en-US" altLang="zh-CN" sz="2400" dirty="0">
                <a:solidFill>
                  <a:srgbClr val="FF66FF"/>
                </a:solidFill>
                <a:sym typeface="Math1" pitchFamily="2" charset="2"/>
              </a:rPr>
              <a:t> 9</a:t>
            </a:r>
            <a:r>
              <a:rPr kumimoji="0" lang="en-US" altLang="zh-CN" sz="2400" dirty="0">
                <a:sym typeface="Math1" pitchFamily="2" charset="2"/>
              </a:rPr>
              <a:t> - </a:t>
            </a:r>
            <a:r>
              <a:rPr kumimoji="0" lang="en-US" altLang="zh-CN" sz="2400" i="1" dirty="0">
                <a:solidFill>
                  <a:srgbClr val="FF5050"/>
                </a:solidFill>
                <a:sym typeface="Math1" pitchFamily="2" charset="2"/>
              </a:rPr>
              <a:t>digit </a:t>
            </a:r>
            <a:r>
              <a:rPr kumimoji="0" lang="en-US" altLang="zh-CN" sz="2400" i="1" dirty="0">
                <a:sym typeface="Math1" pitchFamily="2" charset="2"/>
              </a:rPr>
              <a:t>+ </a:t>
            </a:r>
            <a:r>
              <a:rPr kumimoji="0" lang="en-US" altLang="zh-CN" sz="2400" i="1" dirty="0">
                <a:solidFill>
                  <a:srgbClr val="00CC00"/>
                </a:solidFill>
                <a:sym typeface="Math1" pitchFamily="2" charset="2"/>
              </a:rPr>
              <a:t>digit</a:t>
            </a:r>
            <a:r>
              <a:rPr kumimoji="0" lang="en-US" altLang="zh-CN" sz="2400" dirty="0">
                <a:sym typeface="Math1" pitchFamily="2" charset="2"/>
              </a:rPr>
              <a:t> </a:t>
            </a:r>
            <a:endParaRPr kumimoji="0" lang="en-US" altLang="zh-CN" sz="2400" dirty="0">
              <a:sym typeface="Math1" pitchFamily="2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ym typeface="Math1" pitchFamily="2" charset="2"/>
              </a:rPr>
              <a:t>     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dirty="0">
                <a:sym typeface="Math1" pitchFamily="2" charset="2"/>
              </a:rPr>
              <a:t>  </a:t>
            </a:r>
            <a:r>
              <a:rPr kumimoji="0" lang="en-US" altLang="zh-CN" sz="2400" dirty="0">
                <a:solidFill>
                  <a:srgbClr val="FF66FF"/>
                </a:solidFill>
                <a:sym typeface="Math1" pitchFamily="2" charset="2"/>
              </a:rPr>
              <a:t>9</a:t>
            </a:r>
            <a:r>
              <a:rPr kumimoji="0" lang="en-US" altLang="zh-CN" sz="2400" dirty="0">
                <a:sym typeface="Math1" pitchFamily="2" charset="2"/>
              </a:rPr>
              <a:t> - </a:t>
            </a:r>
            <a:r>
              <a:rPr kumimoji="0" lang="en-US" altLang="zh-CN" sz="2400" dirty="0">
                <a:solidFill>
                  <a:srgbClr val="FF5050"/>
                </a:solidFill>
                <a:sym typeface="Math1" pitchFamily="2" charset="2"/>
              </a:rPr>
              <a:t>5</a:t>
            </a:r>
            <a:r>
              <a:rPr kumimoji="0" lang="en-US" altLang="zh-CN" sz="2400" dirty="0">
                <a:sym typeface="Math1" pitchFamily="2" charset="2"/>
              </a:rPr>
              <a:t> + </a:t>
            </a:r>
            <a:r>
              <a:rPr kumimoji="0" lang="en-US" altLang="zh-CN" sz="2400" i="1" dirty="0">
                <a:solidFill>
                  <a:srgbClr val="00CC00"/>
                </a:solidFill>
                <a:sym typeface="Math1" pitchFamily="2" charset="2"/>
              </a:rPr>
              <a:t>digit</a:t>
            </a:r>
            <a:r>
              <a:rPr kumimoji="0" lang="en-US" altLang="zh-CN" sz="2400" dirty="0">
                <a:sym typeface="Math1" pitchFamily="2" charset="2"/>
              </a:rPr>
              <a:t> </a:t>
            </a:r>
            <a:endParaRPr kumimoji="0" lang="en-US" altLang="zh-CN" sz="2400" dirty="0">
              <a:sym typeface="Math1" pitchFamily="2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ym typeface="Math1" pitchFamily="2" charset="2"/>
              </a:rPr>
              <a:t>     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dirty="0">
                <a:sym typeface="Math1" pitchFamily="2" charset="2"/>
              </a:rPr>
              <a:t> </a:t>
            </a:r>
            <a:r>
              <a:rPr kumimoji="0" lang="en-US" altLang="zh-CN" sz="2400" dirty="0">
                <a:solidFill>
                  <a:srgbClr val="FF66FF"/>
                </a:solidFill>
                <a:sym typeface="Math1" pitchFamily="2" charset="2"/>
              </a:rPr>
              <a:t> 9</a:t>
            </a:r>
            <a:r>
              <a:rPr kumimoji="0" lang="en-US" altLang="zh-CN" sz="2400" dirty="0">
                <a:sym typeface="Math1" pitchFamily="2" charset="2"/>
              </a:rPr>
              <a:t> - </a:t>
            </a:r>
            <a:r>
              <a:rPr kumimoji="0" lang="en-US" altLang="zh-CN" sz="2400" dirty="0">
                <a:solidFill>
                  <a:srgbClr val="FF5050"/>
                </a:solidFill>
                <a:sym typeface="Math1" pitchFamily="2" charset="2"/>
              </a:rPr>
              <a:t>5</a:t>
            </a:r>
            <a:r>
              <a:rPr kumimoji="0" lang="en-US" altLang="zh-CN" sz="2400" dirty="0">
                <a:sym typeface="Math1" pitchFamily="2" charset="2"/>
              </a:rPr>
              <a:t> + </a:t>
            </a:r>
            <a:r>
              <a:rPr kumimoji="0" lang="en-US" altLang="zh-CN" sz="2400" dirty="0">
                <a:solidFill>
                  <a:srgbClr val="00CC00"/>
                </a:solidFill>
                <a:sym typeface="Math1" pitchFamily="2" charset="2"/>
              </a:rPr>
              <a:t>2</a:t>
            </a:r>
            <a:r>
              <a:rPr kumimoji="0" lang="en-US" altLang="zh-CN" sz="2400" dirty="0">
                <a:sym typeface="Math1" pitchFamily="2" charset="2"/>
              </a:rPr>
              <a:t> </a:t>
            </a:r>
            <a:endParaRPr kumimoji="0" lang="en-US" altLang="zh-CN" sz="2400" dirty="0">
              <a:sym typeface="Math1" pitchFamily="2" charset="2"/>
            </a:endParaRPr>
          </a:p>
        </p:txBody>
      </p:sp>
      <p:sp>
        <p:nvSpPr>
          <p:cNvPr id="20484" name="Rectangle 5"/>
          <p:cNvSpPr>
            <a:spLocks noChangeArrowheads="1"/>
          </p:cNvSpPr>
          <p:nvPr/>
        </p:nvSpPr>
        <p:spPr bwMode="auto">
          <a:xfrm>
            <a:off x="1143000" y="2286000"/>
            <a:ext cx="7162800" cy="33035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>
              <a:ea typeface="隶书" panose="02010509060101010101" pitchFamily="49" charset="-122"/>
            </a:endParaRPr>
          </a:p>
        </p:txBody>
      </p:sp>
      <p:sp>
        <p:nvSpPr>
          <p:cNvPr id="20485" name="Text Box 6"/>
          <p:cNvSpPr txBox="1">
            <a:spLocks noChangeArrowheads="1"/>
          </p:cNvSpPr>
          <p:nvPr/>
        </p:nvSpPr>
        <p:spPr bwMode="auto">
          <a:xfrm>
            <a:off x="5029200" y="2276872"/>
            <a:ext cx="3733800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P1 :  </a:t>
            </a:r>
            <a:r>
              <a:rPr kumimoji="0" lang="en-US" altLang="zh-CN" sz="2400" i="1" dirty="0"/>
              <a:t>expr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i="1" dirty="0"/>
              <a:t>  </a:t>
            </a:r>
            <a:r>
              <a:rPr kumimoji="0" lang="en-US" altLang="zh-CN" sz="2400" i="1" dirty="0">
                <a:sym typeface="Math1" pitchFamily="2" charset="2"/>
              </a:rPr>
              <a:t>expr + digit</a:t>
            </a:r>
            <a:endParaRPr kumimoji="0" lang="en-US" altLang="zh-CN" sz="2400" i="1" dirty="0">
              <a:sym typeface="Math1" pitchFamily="2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ym typeface="Math1" pitchFamily="2" charset="2"/>
              </a:rPr>
              <a:t>P2 : </a:t>
            </a:r>
            <a:r>
              <a:rPr kumimoji="0" lang="en-US" altLang="zh-CN" sz="2400" i="1" dirty="0">
                <a:sym typeface="Math1" pitchFamily="2" charset="2"/>
              </a:rPr>
              <a:t> expr</a:t>
            </a:r>
            <a:r>
              <a:rPr kumimoji="0" lang="en-US" altLang="zh-CN" sz="2400" dirty="0">
                <a:sym typeface="Math1" pitchFamily="2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dirty="0">
                <a:sym typeface="Math1" pitchFamily="2" charset="2"/>
              </a:rPr>
              <a:t>  </a:t>
            </a:r>
            <a:r>
              <a:rPr kumimoji="0" lang="en-US" altLang="zh-CN" sz="2400" i="1" dirty="0">
                <a:sym typeface="Math1" pitchFamily="2" charset="2"/>
              </a:rPr>
              <a:t>expr - digit</a:t>
            </a:r>
            <a:endParaRPr kumimoji="0" lang="en-US" altLang="zh-CN" sz="2400" i="1" dirty="0">
              <a:sym typeface="Math1" pitchFamily="2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ym typeface="Math1" pitchFamily="2" charset="2"/>
              </a:rPr>
              <a:t>P3 :  </a:t>
            </a:r>
            <a:r>
              <a:rPr kumimoji="0" lang="en-US" altLang="zh-CN" sz="2400" i="1" dirty="0">
                <a:sym typeface="Math1" pitchFamily="2" charset="2"/>
              </a:rPr>
              <a:t>expr</a:t>
            </a:r>
            <a:r>
              <a:rPr kumimoji="0" lang="en-US" altLang="zh-CN" sz="2400" dirty="0">
                <a:sym typeface="Math1" pitchFamily="2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dirty="0">
                <a:sym typeface="Math1" pitchFamily="2" charset="2"/>
              </a:rPr>
              <a:t>  </a:t>
            </a:r>
            <a:r>
              <a:rPr kumimoji="0" lang="en-US" altLang="zh-CN" sz="2400" i="1" dirty="0">
                <a:sym typeface="Math1" pitchFamily="2" charset="2"/>
              </a:rPr>
              <a:t>digit</a:t>
            </a:r>
            <a:endParaRPr kumimoji="0" lang="en-US" altLang="zh-CN" sz="2400" i="1" dirty="0">
              <a:sym typeface="Math1" pitchFamily="2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ym typeface="Math1" pitchFamily="2" charset="2"/>
              </a:rPr>
              <a:t>P4 : </a:t>
            </a:r>
            <a:r>
              <a:rPr kumimoji="0" lang="en-US" altLang="zh-CN" sz="2400" i="1" dirty="0">
                <a:sym typeface="Math1" pitchFamily="2" charset="2"/>
              </a:rPr>
              <a:t>digit</a:t>
            </a:r>
            <a:r>
              <a:rPr kumimoji="0" lang="en-US" altLang="zh-CN" sz="2400" dirty="0">
                <a:sym typeface="Math1" pitchFamily="2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dirty="0">
                <a:sym typeface="Math1" pitchFamily="2" charset="2"/>
              </a:rPr>
              <a:t>  9</a:t>
            </a:r>
            <a:endParaRPr kumimoji="0" lang="en-US" altLang="zh-CN" sz="2400" dirty="0">
              <a:sym typeface="Math1" pitchFamily="2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ym typeface="Math1" pitchFamily="2" charset="2"/>
              </a:rPr>
              <a:t>P4 : </a:t>
            </a:r>
            <a:r>
              <a:rPr kumimoji="0" lang="en-US" altLang="zh-CN" sz="2400" i="1" dirty="0">
                <a:sym typeface="Math1" pitchFamily="2" charset="2"/>
              </a:rPr>
              <a:t>digit</a:t>
            </a:r>
            <a:r>
              <a:rPr kumimoji="0" lang="en-US" altLang="zh-CN" sz="2400" dirty="0">
                <a:sym typeface="Math1" pitchFamily="2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dirty="0">
                <a:sym typeface="Math1" pitchFamily="2" charset="2"/>
              </a:rPr>
              <a:t>  5</a:t>
            </a:r>
            <a:endParaRPr kumimoji="0" lang="en-US" altLang="zh-CN" sz="2400" dirty="0">
              <a:sym typeface="Math1" pitchFamily="2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ym typeface="Math1" pitchFamily="2" charset="2"/>
              </a:rPr>
              <a:t>P4 : </a:t>
            </a:r>
            <a:r>
              <a:rPr kumimoji="0" lang="en-US" altLang="zh-CN" sz="2400" i="1" dirty="0">
                <a:sym typeface="Math1" pitchFamily="2" charset="2"/>
              </a:rPr>
              <a:t>digit</a:t>
            </a:r>
            <a:r>
              <a:rPr kumimoji="0" lang="en-US" altLang="zh-CN" sz="2400" dirty="0">
                <a:sym typeface="Math1" pitchFamily="2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dirty="0">
                <a:sym typeface="Math1" pitchFamily="2" charset="2"/>
              </a:rPr>
              <a:t>  2</a:t>
            </a:r>
            <a:endParaRPr kumimoji="0" lang="en-US" altLang="zh-CN" sz="2400" dirty="0">
              <a:sym typeface="Math1" pitchFamily="2" charset="2"/>
            </a:endParaRPr>
          </a:p>
        </p:txBody>
      </p:sp>
      <p:sp>
        <p:nvSpPr>
          <p:cNvPr id="62471" name="Rectangle 7"/>
          <p:cNvSpPr>
            <a:spLocks noChangeArrowheads="1"/>
          </p:cNvSpPr>
          <p:nvPr/>
        </p:nvSpPr>
        <p:spPr bwMode="auto">
          <a:xfrm>
            <a:off x="1258888" y="2348880"/>
            <a:ext cx="649287" cy="287337"/>
          </a:xfrm>
          <a:prstGeom prst="rect">
            <a:avLst/>
          </a:prstGeom>
          <a:noFill/>
          <a:ln w="28575">
            <a:solidFill>
              <a:schemeClr val="hlink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>
              <a:ea typeface="隶书" panose="02010509060101010101" pitchFamily="49" charset="-122"/>
            </a:endParaRPr>
          </a:p>
        </p:txBody>
      </p:sp>
      <p:sp>
        <p:nvSpPr>
          <p:cNvPr id="62472" name="Line 8"/>
          <p:cNvSpPr>
            <a:spLocks noChangeShapeType="1"/>
          </p:cNvSpPr>
          <p:nvPr/>
        </p:nvSpPr>
        <p:spPr bwMode="auto">
          <a:xfrm>
            <a:off x="2411413" y="2709242"/>
            <a:ext cx="1439862" cy="0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73" name="Rectangle 9"/>
          <p:cNvSpPr>
            <a:spLocks noChangeArrowheads="1"/>
          </p:cNvSpPr>
          <p:nvPr/>
        </p:nvSpPr>
        <p:spPr bwMode="auto">
          <a:xfrm>
            <a:off x="2328863" y="2382217"/>
            <a:ext cx="649287" cy="287338"/>
          </a:xfrm>
          <a:prstGeom prst="rect">
            <a:avLst/>
          </a:prstGeom>
          <a:noFill/>
          <a:ln w="28575">
            <a:solidFill>
              <a:schemeClr val="hlink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>
              <a:ea typeface="隶书" panose="02010509060101010101" pitchFamily="49" charset="-122"/>
            </a:endParaRPr>
          </a:p>
        </p:txBody>
      </p:sp>
      <p:sp>
        <p:nvSpPr>
          <p:cNvPr id="62474" name="Line 10"/>
          <p:cNvSpPr>
            <a:spLocks noChangeShapeType="1"/>
          </p:cNvSpPr>
          <p:nvPr/>
        </p:nvSpPr>
        <p:spPr bwMode="auto">
          <a:xfrm>
            <a:off x="2195513" y="3285505"/>
            <a:ext cx="1439862" cy="0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75" name="Rectangle 11"/>
          <p:cNvSpPr>
            <a:spLocks noChangeArrowheads="1"/>
          </p:cNvSpPr>
          <p:nvPr/>
        </p:nvSpPr>
        <p:spPr bwMode="auto">
          <a:xfrm>
            <a:off x="2184400" y="2907680"/>
            <a:ext cx="649288" cy="287337"/>
          </a:xfrm>
          <a:prstGeom prst="rect">
            <a:avLst/>
          </a:prstGeom>
          <a:noFill/>
          <a:ln w="28575">
            <a:solidFill>
              <a:schemeClr val="hlink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>
              <a:ea typeface="隶书" panose="02010509060101010101" pitchFamily="49" charset="-122"/>
            </a:endParaRPr>
          </a:p>
        </p:txBody>
      </p:sp>
      <p:sp>
        <p:nvSpPr>
          <p:cNvPr id="62476" name="Line 12"/>
          <p:cNvSpPr>
            <a:spLocks noChangeShapeType="1"/>
          </p:cNvSpPr>
          <p:nvPr/>
        </p:nvSpPr>
        <p:spPr bwMode="auto">
          <a:xfrm flipV="1">
            <a:off x="2268538" y="3839541"/>
            <a:ext cx="503238" cy="10517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77" name="Rectangle 13"/>
          <p:cNvSpPr>
            <a:spLocks noChangeArrowheads="1"/>
          </p:cNvSpPr>
          <p:nvPr/>
        </p:nvSpPr>
        <p:spPr bwMode="auto">
          <a:xfrm>
            <a:off x="2190750" y="3439492"/>
            <a:ext cx="649288" cy="287338"/>
          </a:xfrm>
          <a:prstGeom prst="rect">
            <a:avLst/>
          </a:prstGeom>
          <a:noFill/>
          <a:ln w="28575">
            <a:solidFill>
              <a:schemeClr val="hlink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>
              <a:ea typeface="隶书" panose="02010509060101010101" pitchFamily="49" charset="-122"/>
            </a:endParaRPr>
          </a:p>
        </p:txBody>
      </p:sp>
      <p:sp>
        <p:nvSpPr>
          <p:cNvPr id="62478" name="Line 14"/>
          <p:cNvSpPr>
            <a:spLocks noChangeShapeType="1"/>
          </p:cNvSpPr>
          <p:nvPr/>
        </p:nvSpPr>
        <p:spPr bwMode="auto">
          <a:xfrm>
            <a:off x="2195736" y="4333461"/>
            <a:ext cx="253573" cy="1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79" name="Rectangle 15"/>
          <p:cNvSpPr>
            <a:spLocks noChangeArrowheads="1"/>
          </p:cNvSpPr>
          <p:nvPr/>
        </p:nvSpPr>
        <p:spPr bwMode="auto">
          <a:xfrm>
            <a:off x="2605088" y="3988767"/>
            <a:ext cx="649287" cy="287338"/>
          </a:xfrm>
          <a:prstGeom prst="rect">
            <a:avLst/>
          </a:prstGeom>
          <a:noFill/>
          <a:ln w="28575">
            <a:solidFill>
              <a:schemeClr val="hlink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>
              <a:ea typeface="隶书" panose="02010509060101010101" pitchFamily="49" charset="-122"/>
            </a:endParaRPr>
          </a:p>
        </p:txBody>
      </p:sp>
      <p:sp>
        <p:nvSpPr>
          <p:cNvPr id="62480" name="Line 16"/>
          <p:cNvSpPr>
            <a:spLocks noChangeShapeType="1"/>
          </p:cNvSpPr>
          <p:nvPr/>
        </p:nvSpPr>
        <p:spPr bwMode="auto">
          <a:xfrm>
            <a:off x="2554287" y="4865274"/>
            <a:ext cx="360363" cy="4555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81" name="Rectangle 17"/>
          <p:cNvSpPr>
            <a:spLocks noChangeArrowheads="1"/>
          </p:cNvSpPr>
          <p:nvPr/>
        </p:nvSpPr>
        <p:spPr bwMode="auto">
          <a:xfrm>
            <a:off x="3081338" y="4520580"/>
            <a:ext cx="649287" cy="287337"/>
          </a:xfrm>
          <a:prstGeom prst="rect">
            <a:avLst/>
          </a:prstGeom>
          <a:noFill/>
          <a:ln w="28575">
            <a:solidFill>
              <a:schemeClr val="hlink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>
              <a:ea typeface="隶书" panose="02010509060101010101" pitchFamily="49" charset="-122"/>
            </a:endParaRPr>
          </a:p>
        </p:txBody>
      </p:sp>
      <p:sp>
        <p:nvSpPr>
          <p:cNvPr id="62482" name="Line 18"/>
          <p:cNvSpPr>
            <a:spLocks noChangeShapeType="1"/>
          </p:cNvSpPr>
          <p:nvPr/>
        </p:nvSpPr>
        <p:spPr bwMode="auto">
          <a:xfrm flipV="1">
            <a:off x="3009727" y="5373066"/>
            <a:ext cx="338137" cy="149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8" name="Rectangle 19"/>
          <p:cNvSpPr>
            <a:spLocks noChangeArrowheads="1"/>
          </p:cNvSpPr>
          <p:nvPr/>
        </p:nvSpPr>
        <p:spPr bwMode="auto">
          <a:xfrm>
            <a:off x="539750" y="5546725"/>
            <a:ext cx="389572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 dirty="0">
                <a:ea typeface="隶书" panose="02010509060101010101" pitchFamily="49" charset="-122"/>
              </a:rPr>
              <a:t>expr</a:t>
            </a:r>
            <a:r>
              <a:rPr kumimoji="0" lang="en-US" altLang="zh-CN" sz="2000" dirty="0">
                <a:ea typeface="隶书" panose="02010509060101010101" pitchFamily="49" charset="-122"/>
              </a:rPr>
              <a:t> </a:t>
            </a:r>
            <a:r>
              <a:rPr kumimoji="0" lang="en-US" altLang="zh-CN" sz="2000" dirty="0">
                <a:ea typeface="隶书" panose="02010509060101010101" pitchFamily="49" charset="-122"/>
                <a:sym typeface="Symbol" panose="05050102010706020507" pitchFamily="18" charset="2"/>
              </a:rPr>
              <a:t></a:t>
            </a:r>
            <a:r>
              <a:rPr kumimoji="0" lang="en-US" altLang="zh-CN" sz="2000" dirty="0">
                <a:ea typeface="隶书" panose="02010509060101010101" pitchFamily="49" charset="-122"/>
              </a:rPr>
              <a:t> </a:t>
            </a:r>
            <a:r>
              <a:rPr kumimoji="0" lang="en-US" altLang="zh-CN" sz="2000" i="1" dirty="0">
                <a:ea typeface="隶书" panose="02010509060101010101" pitchFamily="49" charset="-122"/>
                <a:sym typeface="Math1" pitchFamily="2" charset="2"/>
              </a:rPr>
              <a:t>expr + digit</a:t>
            </a:r>
            <a:br>
              <a:rPr kumimoji="0" lang="en-US" altLang="zh-CN" sz="2000" i="1" dirty="0">
                <a:ea typeface="隶书" panose="02010509060101010101" pitchFamily="49" charset="-122"/>
                <a:sym typeface="Math1" pitchFamily="2" charset="2"/>
              </a:rPr>
            </a:br>
            <a:r>
              <a:rPr kumimoji="0" lang="en-US" altLang="zh-CN" sz="2000" i="1" dirty="0">
                <a:ea typeface="隶书" panose="02010509060101010101" pitchFamily="49" charset="-122"/>
                <a:sym typeface="Math1" pitchFamily="2" charset="2"/>
              </a:rPr>
              <a:t>expr</a:t>
            </a:r>
            <a:r>
              <a:rPr kumimoji="0" lang="en-US" altLang="zh-CN" sz="2000" dirty="0">
                <a:ea typeface="隶书" panose="02010509060101010101" pitchFamily="49" charset="-122"/>
                <a:sym typeface="Math1" pitchFamily="2" charset="2"/>
              </a:rPr>
              <a:t> </a:t>
            </a:r>
            <a:r>
              <a:rPr kumimoji="0" lang="en-US" altLang="zh-CN" sz="2000" dirty="0">
                <a:ea typeface="隶书" panose="02010509060101010101" pitchFamily="49" charset="-122"/>
                <a:sym typeface="Symbol" panose="05050102010706020507" pitchFamily="18" charset="2"/>
              </a:rPr>
              <a:t></a:t>
            </a:r>
            <a:r>
              <a:rPr kumimoji="0" lang="en-US" altLang="zh-CN" sz="2000" dirty="0">
                <a:ea typeface="隶书" panose="02010509060101010101" pitchFamily="49" charset="-122"/>
                <a:sym typeface="Math1" pitchFamily="2" charset="2"/>
              </a:rPr>
              <a:t> </a:t>
            </a:r>
            <a:r>
              <a:rPr kumimoji="0" lang="en-US" altLang="zh-CN" sz="2000" i="1" dirty="0">
                <a:ea typeface="隶书" panose="02010509060101010101" pitchFamily="49" charset="-122"/>
                <a:sym typeface="Math1" pitchFamily="2" charset="2"/>
              </a:rPr>
              <a:t>expr – digit</a:t>
            </a:r>
            <a:br>
              <a:rPr kumimoji="0" lang="en-US" altLang="zh-CN" sz="2000" i="1" dirty="0">
                <a:ea typeface="隶书" panose="02010509060101010101" pitchFamily="49" charset="-122"/>
                <a:sym typeface="Math1" pitchFamily="2" charset="2"/>
              </a:rPr>
            </a:br>
            <a:r>
              <a:rPr kumimoji="0" lang="en-US" altLang="zh-CN" sz="2000" i="1" dirty="0">
                <a:ea typeface="隶书" panose="02010509060101010101" pitchFamily="49" charset="-122"/>
                <a:sym typeface="Math1" pitchFamily="2" charset="2"/>
              </a:rPr>
              <a:t>expr</a:t>
            </a:r>
            <a:r>
              <a:rPr kumimoji="0" lang="en-US" altLang="zh-CN" sz="2000" dirty="0">
                <a:ea typeface="隶书" panose="02010509060101010101" pitchFamily="49" charset="-122"/>
                <a:sym typeface="Math1" pitchFamily="2" charset="2"/>
              </a:rPr>
              <a:t> </a:t>
            </a:r>
            <a:r>
              <a:rPr kumimoji="0" lang="en-US" altLang="zh-CN" sz="2000" dirty="0">
                <a:ea typeface="隶书" panose="02010509060101010101" pitchFamily="49" charset="-122"/>
                <a:sym typeface="Symbol" panose="05050102010706020507" pitchFamily="18" charset="2"/>
              </a:rPr>
              <a:t></a:t>
            </a:r>
            <a:r>
              <a:rPr kumimoji="0" lang="en-US" altLang="zh-CN" sz="2000" dirty="0">
                <a:ea typeface="隶书" panose="02010509060101010101" pitchFamily="49" charset="-122"/>
                <a:sym typeface="Math1" pitchFamily="2" charset="2"/>
              </a:rPr>
              <a:t> </a:t>
            </a:r>
            <a:r>
              <a:rPr kumimoji="0" lang="en-US" altLang="zh-CN" sz="2000" i="1" dirty="0">
                <a:ea typeface="隶书" panose="02010509060101010101" pitchFamily="49" charset="-122"/>
                <a:sym typeface="Math1" pitchFamily="2" charset="2"/>
              </a:rPr>
              <a:t>digit</a:t>
            </a:r>
            <a:br>
              <a:rPr kumimoji="0" lang="en-US" altLang="zh-CN" sz="2000" i="1" dirty="0">
                <a:ea typeface="隶书" panose="02010509060101010101" pitchFamily="49" charset="-122"/>
                <a:sym typeface="Math1" pitchFamily="2" charset="2"/>
              </a:rPr>
            </a:br>
            <a:r>
              <a:rPr kumimoji="0" lang="en-US" altLang="zh-CN" sz="2000" i="1" dirty="0" err="1">
                <a:ea typeface="隶书" panose="02010509060101010101" pitchFamily="49" charset="-122"/>
                <a:sym typeface="Math1" pitchFamily="2" charset="2"/>
              </a:rPr>
              <a:t>digit</a:t>
            </a:r>
            <a:r>
              <a:rPr kumimoji="0" lang="en-US" altLang="zh-CN" sz="2000" dirty="0">
                <a:ea typeface="隶书" panose="02010509060101010101" pitchFamily="49" charset="-122"/>
                <a:sym typeface="Math1" pitchFamily="2" charset="2"/>
              </a:rPr>
              <a:t> </a:t>
            </a:r>
            <a:r>
              <a:rPr kumimoji="0" lang="en-US" altLang="zh-CN" sz="2000" dirty="0">
                <a:ea typeface="隶书" panose="02010509060101010101" pitchFamily="49" charset="-122"/>
                <a:sym typeface="Symbol" panose="05050102010706020507" pitchFamily="18" charset="2"/>
              </a:rPr>
              <a:t></a:t>
            </a:r>
            <a:r>
              <a:rPr kumimoji="0" lang="en-US" altLang="zh-CN" sz="2000" b="1" dirty="0">
                <a:ea typeface="隶书" panose="02010509060101010101" pitchFamily="49" charset="-122"/>
                <a:sym typeface="Math1" pitchFamily="2" charset="2"/>
              </a:rPr>
              <a:t> </a:t>
            </a:r>
            <a:r>
              <a:rPr kumimoji="0" lang="en-US" altLang="zh-CN" sz="2000" dirty="0">
                <a:ea typeface="隶书" panose="02010509060101010101" pitchFamily="49" charset="-122"/>
                <a:sym typeface="Math1" pitchFamily="2" charset="2"/>
              </a:rPr>
              <a:t>0 | 1 | 2 | 3 | 4 | 5 | 6 | 7 | 8 | 9</a:t>
            </a:r>
            <a:endParaRPr kumimoji="0" lang="en-US" altLang="zh-CN" sz="2000" dirty="0">
              <a:ea typeface="隶书" panose="02010509060101010101" pitchFamily="49" charset="-122"/>
              <a:sym typeface="Math1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62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2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" presetClass="entr" presetSubtype="16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62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2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" presetClass="entr" presetSubtype="16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62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2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4" presetClass="entr" presetSubtype="16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62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2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4" presetClass="entr" presetSubtype="16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62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1" grpId="0" animBg="1"/>
      <p:bldP spid="62473" grpId="0" animBg="1"/>
      <p:bldP spid="62475" grpId="0" animBg="1"/>
      <p:bldP spid="62477" grpId="0" animBg="1"/>
      <p:bldP spid="62479" grpId="0" animBg="1"/>
      <p:bldP spid="6248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2.2.1  </a:t>
            </a:r>
            <a:r>
              <a:rPr lang="zh-CN" altLang="en-US" dirty="0"/>
              <a:t>语法分析树（</a:t>
            </a:r>
            <a:r>
              <a:rPr lang="en-US" altLang="zh-CN" dirty="0">
                <a:solidFill>
                  <a:schemeClr val="hlink"/>
                </a:solidFill>
              </a:rPr>
              <a:t>parse tree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可看作推导过程的图示，推导</a:t>
            </a:r>
            <a:r>
              <a:rPr lang="zh-CN" altLang="en-US" dirty="0">
                <a:sym typeface="Wingdings" panose="05000000000000000000" pitchFamily="2" charset="2"/>
              </a:rPr>
              <a:t>语法树</a:t>
            </a:r>
            <a:r>
              <a:rPr lang="zh-CN" altLang="en-US" dirty="0"/>
              <a:t>：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根节点标记为开始符号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每个叶节点用一个</a:t>
            </a:r>
            <a:r>
              <a:rPr lang="en-US" altLang="zh-CN" dirty="0"/>
              <a:t>T</a:t>
            </a:r>
            <a:r>
              <a:rPr lang="zh-CN" altLang="en-US" dirty="0"/>
              <a:t>或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zh-CN" altLang="en-US" dirty="0"/>
              <a:t>标记</a:t>
            </a:r>
            <a:endParaRPr kumimoji="0" lang="zh-CN" altLang="en-US" dirty="0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zh-CN" altLang="en-US" dirty="0">
                <a:sym typeface="Symbol" panose="05050102010706020507" pitchFamily="18" charset="2"/>
              </a:rPr>
              <a:t>每个内部节点用一个</a:t>
            </a:r>
            <a:r>
              <a:rPr kumimoji="0" lang="en-US" altLang="zh-CN" dirty="0">
                <a:sym typeface="Symbol" panose="05050102010706020507" pitchFamily="18" charset="2"/>
              </a:rPr>
              <a:t>NT</a:t>
            </a:r>
            <a:r>
              <a:rPr lang="zh-CN" altLang="en-US" dirty="0"/>
              <a:t>标记</a:t>
            </a:r>
            <a:endParaRPr kumimoji="0" lang="zh-CN" altLang="en-US" dirty="0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zh-CN" altLang="en-US" dirty="0">
                <a:sym typeface="Symbol" panose="05050102010706020507" pitchFamily="18" charset="2"/>
              </a:rPr>
              <a:t>节点</a:t>
            </a:r>
            <a:r>
              <a:rPr kumimoji="0" lang="en-US" altLang="zh-CN" dirty="0">
                <a:sym typeface="Symbol" panose="05050102010706020507" pitchFamily="18" charset="2"/>
              </a:rPr>
              <a:t>A</a:t>
            </a:r>
            <a:r>
              <a:rPr kumimoji="0" lang="zh-CN" altLang="en-US" dirty="0">
                <a:sym typeface="Symbol" panose="05050102010706020507" pitchFamily="18" charset="2"/>
              </a:rPr>
              <a:t>，孩子节点</a:t>
            </a:r>
            <a:r>
              <a:rPr kumimoji="0" lang="en-US" altLang="zh-CN" dirty="0">
                <a:sym typeface="Symbol" panose="05050102010706020507" pitchFamily="18" charset="2"/>
              </a:rPr>
              <a:t>X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1</a:t>
            </a:r>
            <a:r>
              <a:rPr kumimoji="0" lang="zh-CN" altLang="en-US" dirty="0">
                <a:sym typeface="Symbol" panose="05050102010706020507" pitchFamily="18" charset="2"/>
              </a:rPr>
              <a:t>，</a:t>
            </a:r>
            <a:r>
              <a:rPr kumimoji="0" lang="en-US" altLang="zh-CN" dirty="0">
                <a:sym typeface="Symbol" panose="05050102010706020507" pitchFamily="18" charset="2"/>
              </a:rPr>
              <a:t>X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2</a:t>
            </a:r>
            <a:r>
              <a:rPr kumimoji="0" lang="zh-CN" altLang="en-US" dirty="0">
                <a:sym typeface="Symbol" panose="05050102010706020507" pitchFamily="18" charset="2"/>
              </a:rPr>
              <a:t>，</a:t>
            </a:r>
            <a:r>
              <a:rPr kumimoji="0" lang="en-US" altLang="zh-CN" dirty="0">
                <a:latin typeface="Tahoma" panose="020B0604030504040204" pitchFamily="34" charset="0"/>
                <a:sym typeface="Symbol" panose="05050102010706020507" pitchFamily="18" charset="2"/>
              </a:rPr>
              <a:t>…</a:t>
            </a:r>
            <a:r>
              <a:rPr kumimoji="0" lang="zh-CN" altLang="en-US" dirty="0">
                <a:sym typeface="Symbol" panose="05050102010706020507" pitchFamily="18" charset="2"/>
              </a:rPr>
              <a:t>，</a:t>
            </a:r>
            <a:r>
              <a:rPr kumimoji="0" lang="en-US" altLang="zh-CN" dirty="0" err="1">
                <a:sym typeface="Symbol" panose="05050102010706020507" pitchFamily="18" charset="2"/>
              </a:rPr>
              <a:t>X</a:t>
            </a:r>
            <a:r>
              <a:rPr kumimoji="0" lang="en-US" altLang="zh-CN" baseline="-25000" dirty="0" err="1">
                <a:sym typeface="Symbol" panose="05050102010706020507" pitchFamily="18" charset="2"/>
              </a:rPr>
              <a:t>n</a:t>
            </a:r>
            <a:r>
              <a:rPr kumimoji="0" lang="en-US" altLang="zh-CN" dirty="0">
                <a:sym typeface="Wingdings" panose="05000000000000000000" pitchFamily="2" charset="2"/>
              </a:rPr>
              <a:t></a:t>
            </a:r>
            <a:br>
              <a:rPr kumimoji="0" lang="en-US" altLang="zh-CN" dirty="0">
                <a:sym typeface="Wingdings" panose="05000000000000000000" pitchFamily="2" charset="2"/>
              </a:rPr>
            </a:br>
            <a:r>
              <a:rPr kumimoji="0" lang="zh-CN" altLang="en-US" dirty="0">
                <a:sym typeface="Wingdings" panose="05000000000000000000" pitchFamily="2" charset="2"/>
              </a:rPr>
              <a:t>节点应用了产生式</a:t>
            </a:r>
            <a:r>
              <a:rPr kumimoji="0" lang="en-US" altLang="zh-CN" dirty="0">
                <a:sym typeface="Symbol" panose="05050102010706020507" pitchFamily="18" charset="2"/>
              </a:rPr>
              <a:t>A</a:t>
            </a:r>
            <a:r>
              <a:rPr kumimoji="0" lang="en-US" altLang="zh-CN" b="1" dirty="0">
                <a:sym typeface="Symbol" panose="05050102010706020507" pitchFamily="18" charset="2"/>
              </a:rPr>
              <a:t> </a:t>
            </a:r>
            <a:r>
              <a:rPr kumimoji="0" lang="en-US" altLang="zh-CN" dirty="0">
                <a:sym typeface="Symbol" panose="05050102010706020507" pitchFamily="18" charset="2"/>
              </a:rPr>
              <a:t>X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dirty="0">
                <a:sym typeface="Symbol" panose="05050102010706020507" pitchFamily="18" charset="2"/>
              </a:rPr>
              <a:t>X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dirty="0">
                <a:latin typeface="Tahoma" panose="020B0604030504040204" pitchFamily="34" charset="0"/>
                <a:sym typeface="Symbol" panose="05050102010706020507" pitchFamily="18" charset="2"/>
              </a:rPr>
              <a:t>…</a:t>
            </a:r>
            <a:r>
              <a:rPr kumimoji="0" lang="en-US" altLang="zh-CN" dirty="0" err="1">
                <a:sym typeface="Symbol" panose="05050102010706020507" pitchFamily="18" charset="2"/>
              </a:rPr>
              <a:t>X</a:t>
            </a:r>
            <a:r>
              <a:rPr kumimoji="0" lang="en-US" altLang="zh-CN" baseline="-25000" dirty="0" err="1">
                <a:sym typeface="Symbol" panose="05050102010706020507" pitchFamily="18" charset="2"/>
              </a:rPr>
              <a:t>n</a:t>
            </a:r>
            <a:endParaRPr kumimoji="0" lang="en-US" altLang="zh-CN" baseline="-25000" dirty="0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zh-CN" altLang="en-US" dirty="0">
                <a:sym typeface="Symbol" panose="05050102010706020507" pitchFamily="18" charset="2"/>
              </a:rPr>
              <a:t>对</a:t>
            </a:r>
            <a:r>
              <a:rPr kumimoji="0" lang="en-US" altLang="zh-CN" dirty="0" err="1">
                <a:sym typeface="Symbol" panose="05050102010706020507" pitchFamily="18" charset="2"/>
              </a:rPr>
              <a:t>A</a:t>
            </a:r>
            <a:r>
              <a:rPr kumimoji="0" lang="en-US" altLang="zh-CN" b="1" dirty="0" err="1">
                <a:sym typeface="Symbol" panose="05050102010706020507" pitchFamily="18" charset="2"/>
              </a:rPr>
              <a:t></a:t>
            </a:r>
            <a:r>
              <a:rPr kumimoji="0" lang="en-US" altLang="zh-CN" dirty="0" err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dirty="0">
                <a:sym typeface="Symbol" panose="05050102010706020507" pitchFamily="18" charset="2"/>
              </a:rPr>
              <a:t> </a:t>
            </a:r>
            <a:r>
              <a:rPr kumimoji="0" lang="zh-CN" altLang="en-US" dirty="0">
                <a:sym typeface="Symbol" panose="05050102010706020507" pitchFamily="18" charset="2"/>
              </a:rPr>
              <a:t>，节点</a:t>
            </a:r>
            <a:r>
              <a:rPr kumimoji="0" lang="en-US" altLang="zh-CN" dirty="0">
                <a:sym typeface="Symbol" panose="05050102010706020507" pitchFamily="18" charset="2"/>
              </a:rPr>
              <a:t>A</a:t>
            </a:r>
            <a:r>
              <a:rPr kumimoji="0" lang="zh-CN" altLang="en-US" dirty="0">
                <a:sym typeface="Symbol" panose="05050102010706020507" pitchFamily="18" charset="2"/>
              </a:rPr>
              <a:t>只有一个孩子节点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dirty="0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2.4</a:t>
            </a:r>
            <a:endParaRPr lang="en-US" altLang="zh-CN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4038600"/>
            <a:ext cx="7812088" cy="1752600"/>
          </a:xfrm>
        </p:spPr>
        <p:txBody>
          <a:bodyPr/>
          <a:lstStyle/>
          <a:p>
            <a:pPr eaLnBrk="1" hangingPunct="1"/>
            <a:r>
              <a:rPr lang="zh-CN" altLang="en-US" sz="2800"/>
              <a:t>叶节点从左至右构成树的</a:t>
            </a:r>
            <a:r>
              <a:rPr lang="zh-CN" altLang="en-US" sz="2800" b="1">
                <a:solidFill>
                  <a:srgbClr val="3333CC"/>
                </a:solidFill>
                <a:ea typeface="黑体" panose="02010609060101010101" pitchFamily="49" charset="-122"/>
              </a:rPr>
              <a:t>输出</a:t>
            </a:r>
            <a:r>
              <a:rPr lang="zh-CN" altLang="en-US" sz="2800" b="1">
                <a:solidFill>
                  <a:srgbClr val="3333CC"/>
                </a:solidFill>
              </a:rPr>
              <a:t>（</a:t>
            </a:r>
            <a:r>
              <a:rPr lang="en-US" altLang="zh-CN" sz="2800" b="1">
                <a:solidFill>
                  <a:srgbClr val="FF3300"/>
                </a:solidFill>
              </a:rPr>
              <a:t>yield</a:t>
            </a:r>
            <a:r>
              <a:rPr lang="zh-CN" altLang="en-US" sz="2800" b="1">
                <a:solidFill>
                  <a:srgbClr val="3333CC"/>
                </a:solidFill>
              </a:rPr>
              <a:t>）</a:t>
            </a:r>
            <a:br>
              <a:rPr lang="zh-CN" altLang="en-US" sz="2800"/>
            </a:br>
            <a:r>
              <a:rPr lang="zh-CN" altLang="en-US" sz="2800">
                <a:sym typeface="Wingdings" panose="05000000000000000000" pitchFamily="2" charset="2"/>
              </a:rPr>
              <a:t>开始符号</a:t>
            </a:r>
            <a:r>
              <a:rPr lang="zh-CN" altLang="en-US" sz="2800" b="1">
                <a:solidFill>
                  <a:srgbClr val="3333CC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推导出</a:t>
            </a:r>
            <a:r>
              <a:rPr lang="zh-CN" altLang="en-US" sz="2800" b="1">
                <a:solidFill>
                  <a:srgbClr val="3333CC"/>
                </a:solidFill>
                <a:sym typeface="Wingdings" panose="05000000000000000000" pitchFamily="2" charset="2"/>
              </a:rPr>
              <a:t>（</a:t>
            </a:r>
            <a:r>
              <a:rPr lang="zh-CN" altLang="en-US" sz="2800" b="1">
                <a:solidFill>
                  <a:srgbClr val="3333CC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生成</a:t>
            </a:r>
            <a:r>
              <a:rPr lang="zh-CN" altLang="en-US" sz="2800" b="1">
                <a:solidFill>
                  <a:srgbClr val="3333CC"/>
                </a:solidFill>
                <a:sym typeface="Wingdings" panose="05000000000000000000" pitchFamily="2" charset="2"/>
              </a:rPr>
              <a:t>）</a:t>
            </a:r>
            <a:r>
              <a:rPr lang="zh-CN" altLang="en-US" sz="2800">
                <a:sym typeface="Wingdings" panose="05000000000000000000" pitchFamily="2" charset="2"/>
              </a:rPr>
              <a:t>的单词串</a:t>
            </a:r>
            <a:endParaRPr lang="zh-CN" altLang="en-US" sz="280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z="2800" b="1">
                <a:solidFill>
                  <a:srgbClr val="3333CC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语言</a:t>
            </a:r>
            <a:r>
              <a:rPr lang="zh-CN" altLang="en-US" sz="2800">
                <a:sym typeface="Wingdings" panose="05000000000000000000" pitchFamily="2" charset="2"/>
              </a:rPr>
              <a:t>：语法分析树生成的单词串集合</a:t>
            </a:r>
            <a:endParaRPr lang="zh-CN" altLang="en-US" sz="2800"/>
          </a:p>
        </p:txBody>
      </p:sp>
      <p:sp>
        <p:nvSpPr>
          <p:cNvPr id="23556" name="Text Box 5"/>
          <p:cNvSpPr txBox="1">
            <a:spLocks noChangeArrowheads="1"/>
          </p:cNvSpPr>
          <p:nvPr/>
        </p:nvSpPr>
        <p:spPr bwMode="auto">
          <a:xfrm>
            <a:off x="4545013" y="1219200"/>
            <a:ext cx="14335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 i="1"/>
              <a:t>expr</a:t>
            </a:r>
            <a:endParaRPr kumimoji="0" lang="en-US" altLang="zh-CN" sz="2800" b="1" i="1"/>
          </a:p>
        </p:txBody>
      </p:sp>
      <p:sp>
        <p:nvSpPr>
          <p:cNvPr id="66566" name="Text Box 6"/>
          <p:cNvSpPr txBox="1">
            <a:spLocks noChangeArrowheads="1"/>
          </p:cNvSpPr>
          <p:nvPr/>
        </p:nvSpPr>
        <p:spPr bwMode="auto">
          <a:xfrm>
            <a:off x="6110288" y="1747838"/>
            <a:ext cx="14335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 i="1">
                <a:solidFill>
                  <a:srgbClr val="00CC00"/>
                </a:solidFill>
              </a:rPr>
              <a:t>digit</a:t>
            </a:r>
            <a:endParaRPr kumimoji="0" lang="en-US" altLang="zh-CN" sz="2800" b="1" i="1"/>
          </a:p>
        </p:txBody>
      </p:sp>
      <p:sp>
        <p:nvSpPr>
          <p:cNvPr id="66567" name="Text Box 7"/>
          <p:cNvSpPr txBox="1">
            <a:spLocks noChangeArrowheads="1"/>
          </p:cNvSpPr>
          <p:nvPr/>
        </p:nvSpPr>
        <p:spPr bwMode="auto">
          <a:xfrm>
            <a:off x="4284663" y="2425700"/>
            <a:ext cx="14335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 i="1">
                <a:solidFill>
                  <a:srgbClr val="FF5050"/>
                </a:solidFill>
              </a:rPr>
              <a:t>digit</a:t>
            </a:r>
            <a:endParaRPr kumimoji="0" lang="en-US" altLang="zh-CN" sz="2800" b="1" i="1"/>
          </a:p>
        </p:txBody>
      </p:sp>
      <p:sp>
        <p:nvSpPr>
          <p:cNvPr id="66568" name="Text Box 8"/>
          <p:cNvSpPr txBox="1">
            <a:spLocks noChangeArrowheads="1"/>
          </p:cNvSpPr>
          <p:nvPr/>
        </p:nvSpPr>
        <p:spPr bwMode="auto">
          <a:xfrm>
            <a:off x="3109913" y="1747838"/>
            <a:ext cx="1435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 i="1">
                <a:solidFill>
                  <a:srgbClr val="0066FF"/>
                </a:solidFill>
              </a:rPr>
              <a:t>expr</a:t>
            </a:r>
            <a:endParaRPr kumimoji="0" lang="en-US" altLang="zh-CN" sz="2800" b="1" i="1"/>
          </a:p>
        </p:txBody>
      </p:sp>
      <p:sp>
        <p:nvSpPr>
          <p:cNvPr id="66569" name="Text Box 9"/>
          <p:cNvSpPr txBox="1">
            <a:spLocks noChangeArrowheads="1"/>
          </p:cNvSpPr>
          <p:nvPr/>
        </p:nvSpPr>
        <p:spPr bwMode="auto">
          <a:xfrm>
            <a:off x="1676400" y="3182938"/>
            <a:ext cx="14335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 i="1">
                <a:solidFill>
                  <a:srgbClr val="FF66FF"/>
                </a:solidFill>
              </a:rPr>
              <a:t>digit</a:t>
            </a:r>
            <a:endParaRPr kumimoji="0" lang="en-US" altLang="zh-CN" sz="2800" b="1" i="1"/>
          </a:p>
        </p:txBody>
      </p:sp>
      <p:sp>
        <p:nvSpPr>
          <p:cNvPr id="66570" name="Text Box 10"/>
          <p:cNvSpPr txBox="1">
            <a:spLocks noChangeArrowheads="1"/>
          </p:cNvSpPr>
          <p:nvPr/>
        </p:nvSpPr>
        <p:spPr bwMode="auto">
          <a:xfrm>
            <a:off x="1676400" y="2425700"/>
            <a:ext cx="1433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 i="1">
                <a:solidFill>
                  <a:srgbClr val="FF5050"/>
                </a:solidFill>
              </a:rPr>
              <a:t>expr</a:t>
            </a:r>
            <a:endParaRPr kumimoji="0" lang="en-US" altLang="zh-CN" sz="2800" b="1" i="1"/>
          </a:p>
        </p:txBody>
      </p:sp>
      <p:sp>
        <p:nvSpPr>
          <p:cNvPr id="66571" name="Text Box 11"/>
          <p:cNvSpPr txBox="1">
            <a:spLocks noChangeArrowheads="1"/>
          </p:cNvSpPr>
          <p:nvPr/>
        </p:nvSpPr>
        <p:spPr bwMode="auto">
          <a:xfrm>
            <a:off x="2066925" y="3709988"/>
            <a:ext cx="782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66FF"/>
                </a:solidFill>
              </a:rPr>
              <a:t>9</a:t>
            </a:r>
            <a:endParaRPr kumimoji="0" lang="en-US" altLang="zh-CN" sz="2400" b="1">
              <a:solidFill>
                <a:srgbClr val="FF66FF"/>
              </a:solidFill>
            </a:endParaRPr>
          </a:p>
        </p:txBody>
      </p:sp>
      <p:sp>
        <p:nvSpPr>
          <p:cNvPr id="66572" name="Text Box 12"/>
          <p:cNvSpPr txBox="1">
            <a:spLocks noChangeArrowheads="1"/>
          </p:cNvSpPr>
          <p:nvPr/>
        </p:nvSpPr>
        <p:spPr bwMode="auto">
          <a:xfrm>
            <a:off x="4675188" y="2955925"/>
            <a:ext cx="7826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FF5050"/>
                </a:solidFill>
              </a:rPr>
              <a:t>5</a:t>
            </a:r>
            <a:endParaRPr kumimoji="0" lang="en-US" altLang="zh-CN" sz="2400" b="1"/>
          </a:p>
        </p:txBody>
      </p:sp>
      <p:sp>
        <p:nvSpPr>
          <p:cNvPr id="66573" name="Text Box 13"/>
          <p:cNvSpPr txBox="1">
            <a:spLocks noChangeArrowheads="1"/>
          </p:cNvSpPr>
          <p:nvPr/>
        </p:nvSpPr>
        <p:spPr bwMode="auto">
          <a:xfrm>
            <a:off x="6500813" y="2276475"/>
            <a:ext cx="7826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rgbClr val="00CC00"/>
                </a:solidFill>
              </a:rPr>
              <a:t>2</a:t>
            </a:r>
            <a:endParaRPr kumimoji="0" lang="en-US" altLang="zh-CN" sz="2400" b="1">
              <a:solidFill>
                <a:srgbClr val="00CC00"/>
              </a:solidFill>
            </a:endParaRPr>
          </a:p>
        </p:txBody>
      </p:sp>
      <p:sp>
        <p:nvSpPr>
          <p:cNvPr id="66574" name="Text Box 14"/>
          <p:cNvSpPr txBox="1">
            <a:spLocks noChangeArrowheads="1"/>
          </p:cNvSpPr>
          <p:nvPr/>
        </p:nvSpPr>
        <p:spPr bwMode="auto">
          <a:xfrm>
            <a:off x="3371850" y="2351088"/>
            <a:ext cx="782638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-</a:t>
            </a:r>
            <a:endParaRPr kumimoji="0" lang="en-US" altLang="zh-CN" sz="2400" b="1"/>
          </a:p>
        </p:txBody>
      </p:sp>
      <p:sp>
        <p:nvSpPr>
          <p:cNvPr id="66575" name="Text Box 15"/>
          <p:cNvSpPr txBox="1">
            <a:spLocks noChangeArrowheads="1"/>
          </p:cNvSpPr>
          <p:nvPr/>
        </p:nvSpPr>
        <p:spPr bwMode="auto">
          <a:xfrm>
            <a:off x="4935538" y="1824038"/>
            <a:ext cx="782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+</a:t>
            </a:r>
            <a:endParaRPr kumimoji="0" lang="en-US" altLang="zh-CN" sz="2400" b="1"/>
          </a:p>
        </p:txBody>
      </p:sp>
      <p:sp>
        <p:nvSpPr>
          <p:cNvPr id="66576" name="Line 16"/>
          <p:cNvSpPr>
            <a:spLocks noChangeShapeType="1"/>
          </p:cNvSpPr>
          <p:nvPr/>
        </p:nvSpPr>
        <p:spPr bwMode="auto">
          <a:xfrm flipH="1">
            <a:off x="4154488" y="1520825"/>
            <a:ext cx="781050" cy="303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7" name="Line 17"/>
          <p:cNvSpPr>
            <a:spLocks noChangeShapeType="1"/>
          </p:cNvSpPr>
          <p:nvPr/>
        </p:nvSpPr>
        <p:spPr bwMode="auto">
          <a:xfrm flipH="1" flipV="1">
            <a:off x="5588000" y="1520825"/>
            <a:ext cx="782638" cy="303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8" name="Line 18"/>
          <p:cNvSpPr>
            <a:spLocks noChangeShapeType="1"/>
          </p:cNvSpPr>
          <p:nvPr/>
        </p:nvSpPr>
        <p:spPr bwMode="auto">
          <a:xfrm flipH="1">
            <a:off x="2589213" y="2125663"/>
            <a:ext cx="782637" cy="301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9" name="Line 19"/>
          <p:cNvSpPr>
            <a:spLocks noChangeShapeType="1"/>
          </p:cNvSpPr>
          <p:nvPr/>
        </p:nvSpPr>
        <p:spPr bwMode="auto">
          <a:xfrm flipH="1" flipV="1">
            <a:off x="4022725" y="2125663"/>
            <a:ext cx="782638" cy="301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80" name="Line 20"/>
          <p:cNvSpPr>
            <a:spLocks noChangeShapeType="1"/>
          </p:cNvSpPr>
          <p:nvPr/>
        </p:nvSpPr>
        <p:spPr bwMode="auto">
          <a:xfrm>
            <a:off x="5327650" y="1597025"/>
            <a:ext cx="0" cy="2270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81" name="Line 21"/>
          <p:cNvSpPr>
            <a:spLocks noChangeShapeType="1"/>
          </p:cNvSpPr>
          <p:nvPr/>
        </p:nvSpPr>
        <p:spPr bwMode="auto">
          <a:xfrm>
            <a:off x="2459038" y="3560763"/>
            <a:ext cx="0" cy="225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82" name="Line 22"/>
          <p:cNvSpPr>
            <a:spLocks noChangeShapeType="1"/>
          </p:cNvSpPr>
          <p:nvPr/>
        </p:nvSpPr>
        <p:spPr bwMode="auto">
          <a:xfrm>
            <a:off x="5065713" y="2805113"/>
            <a:ext cx="0" cy="227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83" name="Line 23"/>
          <p:cNvSpPr>
            <a:spLocks noChangeShapeType="1"/>
          </p:cNvSpPr>
          <p:nvPr/>
        </p:nvSpPr>
        <p:spPr bwMode="auto">
          <a:xfrm>
            <a:off x="6891338" y="2125663"/>
            <a:ext cx="0" cy="225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84" name="Line 24"/>
          <p:cNvSpPr>
            <a:spLocks noChangeShapeType="1"/>
          </p:cNvSpPr>
          <p:nvPr/>
        </p:nvSpPr>
        <p:spPr bwMode="auto">
          <a:xfrm>
            <a:off x="3762375" y="2125663"/>
            <a:ext cx="0" cy="225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85" name="Line 25"/>
          <p:cNvSpPr>
            <a:spLocks noChangeShapeType="1"/>
          </p:cNvSpPr>
          <p:nvPr/>
        </p:nvSpPr>
        <p:spPr bwMode="auto">
          <a:xfrm>
            <a:off x="2459038" y="2805113"/>
            <a:ext cx="0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86" name="Text Box 26"/>
          <p:cNvSpPr txBox="1">
            <a:spLocks noChangeArrowheads="1"/>
          </p:cNvSpPr>
          <p:nvPr/>
        </p:nvSpPr>
        <p:spPr bwMode="auto">
          <a:xfrm>
            <a:off x="6248400" y="1295400"/>
            <a:ext cx="236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i="1">
                <a:solidFill>
                  <a:srgbClr val="3333CC"/>
                </a:solidFill>
              </a:rPr>
              <a:t>expr</a:t>
            </a:r>
            <a:r>
              <a:rPr kumimoji="0" lang="en-US" altLang="zh-CN" sz="2000" b="1">
                <a:solidFill>
                  <a:srgbClr val="3333CC"/>
                </a:solidFill>
              </a:rPr>
              <a:t> </a:t>
            </a:r>
            <a:r>
              <a:rPr kumimoji="0" lang="en-US" altLang="zh-CN" sz="2000" b="1">
                <a:solidFill>
                  <a:srgbClr val="3333CC"/>
                </a:solidFill>
                <a:sym typeface="Symbol" panose="05050102010706020507" pitchFamily="18" charset="2"/>
              </a:rPr>
              <a:t></a:t>
            </a:r>
            <a:r>
              <a:rPr kumimoji="0" lang="en-US" altLang="zh-CN" sz="2000" b="1">
                <a:solidFill>
                  <a:srgbClr val="3333CC"/>
                </a:solidFill>
              </a:rPr>
              <a:t> </a:t>
            </a:r>
            <a:r>
              <a:rPr kumimoji="0" lang="en-US" altLang="zh-CN" sz="2000" b="1" i="1">
                <a:solidFill>
                  <a:srgbClr val="3333CC"/>
                </a:solidFill>
                <a:sym typeface="Math1" pitchFamily="2" charset="2"/>
              </a:rPr>
              <a:t>expr + digit</a:t>
            </a:r>
            <a:endParaRPr kumimoji="0" lang="en-US" altLang="zh-CN" sz="2000" b="1" i="1">
              <a:solidFill>
                <a:srgbClr val="3333CC"/>
              </a:solidFill>
              <a:sym typeface="Math1" pitchFamily="2" charset="2"/>
            </a:endParaRPr>
          </a:p>
        </p:txBody>
      </p:sp>
      <p:sp>
        <p:nvSpPr>
          <p:cNvPr id="66587" name="Text Box 27"/>
          <p:cNvSpPr txBox="1">
            <a:spLocks noChangeArrowheads="1"/>
          </p:cNvSpPr>
          <p:nvPr/>
        </p:nvSpPr>
        <p:spPr bwMode="auto">
          <a:xfrm>
            <a:off x="990600" y="1447800"/>
            <a:ext cx="2438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i="1">
                <a:solidFill>
                  <a:srgbClr val="3333CC"/>
                </a:solidFill>
                <a:sym typeface="Math1" pitchFamily="2" charset="2"/>
              </a:rPr>
              <a:t>expr</a:t>
            </a:r>
            <a:r>
              <a:rPr kumimoji="0" lang="en-US" altLang="zh-CN" sz="2000" b="1">
                <a:solidFill>
                  <a:srgbClr val="3333CC"/>
                </a:solidFill>
                <a:sym typeface="Math1" pitchFamily="2" charset="2"/>
              </a:rPr>
              <a:t> </a:t>
            </a:r>
            <a:r>
              <a:rPr kumimoji="0" lang="en-US" altLang="zh-CN" sz="2000" b="1">
                <a:solidFill>
                  <a:srgbClr val="3333CC"/>
                </a:solidFill>
                <a:sym typeface="Symbol" panose="05050102010706020507" pitchFamily="18" charset="2"/>
              </a:rPr>
              <a:t></a:t>
            </a:r>
            <a:r>
              <a:rPr kumimoji="0" lang="en-US" altLang="zh-CN" sz="2000" b="1">
                <a:solidFill>
                  <a:srgbClr val="3333CC"/>
                </a:solidFill>
                <a:sym typeface="Math1" pitchFamily="2" charset="2"/>
              </a:rPr>
              <a:t> </a:t>
            </a:r>
            <a:r>
              <a:rPr kumimoji="0" lang="en-US" altLang="zh-CN" sz="2000" b="1" i="1">
                <a:solidFill>
                  <a:srgbClr val="3333CC"/>
                </a:solidFill>
                <a:sym typeface="Math1" pitchFamily="2" charset="2"/>
              </a:rPr>
              <a:t>expr – digit</a:t>
            </a:r>
            <a:endParaRPr kumimoji="0" lang="en-US" altLang="zh-CN" sz="2000" b="1" i="1">
              <a:solidFill>
                <a:srgbClr val="3333CC"/>
              </a:solidFill>
              <a:sym typeface="Math1" pitchFamily="2" charset="2"/>
            </a:endParaRPr>
          </a:p>
        </p:txBody>
      </p:sp>
      <p:sp>
        <p:nvSpPr>
          <p:cNvPr id="66588" name="Line 28"/>
          <p:cNvSpPr>
            <a:spLocks noChangeShapeType="1"/>
          </p:cNvSpPr>
          <p:nvPr/>
        </p:nvSpPr>
        <p:spPr bwMode="auto">
          <a:xfrm flipV="1">
            <a:off x="5486400" y="1447800"/>
            <a:ext cx="838200" cy="762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6589" name="Line 29"/>
          <p:cNvSpPr>
            <a:spLocks noChangeShapeType="1"/>
          </p:cNvSpPr>
          <p:nvPr/>
        </p:nvSpPr>
        <p:spPr bwMode="auto">
          <a:xfrm flipH="1" flipV="1">
            <a:off x="3048000" y="1752600"/>
            <a:ext cx="533400" cy="3048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6" grpId="0"/>
      <p:bldP spid="66567" grpId="0"/>
      <p:bldP spid="66568" grpId="0"/>
      <p:bldP spid="66569" grpId="0"/>
      <p:bldP spid="66570" grpId="0"/>
      <p:bldP spid="66571" grpId="0"/>
      <p:bldP spid="66572" grpId="0"/>
      <p:bldP spid="66573" grpId="0"/>
      <p:bldP spid="66574" grpId="0"/>
      <p:bldP spid="66575" grpId="0"/>
      <p:bldP spid="66586" grpId="0"/>
      <p:bldP spid="6658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2.2.2  </a:t>
            </a:r>
            <a:r>
              <a:rPr lang="zh-CN" altLang="en-US"/>
              <a:t>二义性（</a:t>
            </a:r>
            <a:r>
              <a:rPr lang="en-US" altLang="zh-CN">
                <a:solidFill>
                  <a:srgbClr val="FF3300"/>
                </a:solidFill>
              </a:rPr>
              <a:t>ambiguity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多个语法分析树生成相同的单词串</a:t>
            </a:r>
            <a:br>
              <a:rPr lang="en-US" altLang="zh-CN" dirty="0"/>
            </a:br>
            <a:r>
              <a:rPr lang="en-US" altLang="zh-CN" dirty="0"/>
              <a:t>——</a:t>
            </a:r>
            <a:r>
              <a:rPr lang="zh-CN" altLang="en-US" dirty="0"/>
              <a:t>歧义</a:t>
            </a:r>
            <a:endParaRPr lang="zh-CN" altLang="en-US" dirty="0"/>
          </a:p>
          <a:p>
            <a:pPr eaLnBrk="1" hangingPunct="1"/>
            <a:r>
              <a:rPr lang="zh-CN" altLang="en-US" dirty="0"/>
              <a:t>消除二义性：定义无歧义文法或用附加规则消除歧义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2.5</a:t>
            </a:r>
            <a:endParaRPr lang="en-US" altLang="zh-CN"/>
          </a:p>
        </p:txBody>
      </p:sp>
      <p:grpSp>
        <p:nvGrpSpPr>
          <p:cNvPr id="25603" name="Group 4"/>
          <p:cNvGrpSpPr/>
          <p:nvPr/>
        </p:nvGrpSpPr>
        <p:grpSpPr bwMode="auto">
          <a:xfrm>
            <a:off x="990600" y="2290763"/>
            <a:ext cx="3198813" cy="2228945"/>
            <a:chOff x="144" y="1104"/>
            <a:chExt cx="1824" cy="1023"/>
          </a:xfrm>
        </p:grpSpPr>
        <p:sp>
          <p:nvSpPr>
            <p:cNvPr id="25625" name="Text Box 5"/>
            <p:cNvSpPr txBox="1">
              <a:spLocks noChangeArrowheads="1"/>
            </p:cNvSpPr>
            <p:nvPr/>
          </p:nvSpPr>
          <p:spPr bwMode="auto">
            <a:xfrm>
              <a:off x="144" y="1680"/>
              <a:ext cx="52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i="1">
                  <a:solidFill>
                    <a:srgbClr val="0066FF"/>
                  </a:solidFill>
                </a:rPr>
                <a:t>expr</a:t>
              </a:r>
              <a:endParaRPr kumimoji="0" lang="en-US" altLang="zh-CN" sz="2000" b="1" i="1">
                <a:solidFill>
                  <a:srgbClr val="0066FF"/>
                </a:solidFill>
              </a:endParaRPr>
            </a:p>
          </p:txBody>
        </p:sp>
        <p:sp>
          <p:nvSpPr>
            <p:cNvPr id="25626" name="Text Box 6"/>
            <p:cNvSpPr txBox="1">
              <a:spLocks noChangeArrowheads="1"/>
            </p:cNvSpPr>
            <p:nvPr/>
          </p:nvSpPr>
          <p:spPr bwMode="auto">
            <a:xfrm>
              <a:off x="912" y="1680"/>
              <a:ext cx="52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i="1">
                  <a:solidFill>
                    <a:srgbClr val="0066FF"/>
                  </a:solidFill>
                </a:rPr>
                <a:t>expr</a:t>
              </a:r>
              <a:endParaRPr kumimoji="0" lang="en-US" altLang="zh-CN" sz="2000" b="1" i="1">
                <a:solidFill>
                  <a:srgbClr val="0066FF"/>
                </a:solidFill>
              </a:endParaRPr>
            </a:p>
          </p:txBody>
        </p:sp>
        <p:sp>
          <p:nvSpPr>
            <p:cNvPr id="25627" name="Text Box 7"/>
            <p:cNvSpPr txBox="1">
              <a:spLocks noChangeArrowheads="1"/>
            </p:cNvSpPr>
            <p:nvPr/>
          </p:nvSpPr>
          <p:spPr bwMode="auto">
            <a:xfrm>
              <a:off x="480" y="1440"/>
              <a:ext cx="52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i="1">
                  <a:solidFill>
                    <a:srgbClr val="0066FF"/>
                  </a:solidFill>
                </a:rPr>
                <a:t>expr</a:t>
              </a:r>
              <a:endParaRPr kumimoji="0" lang="en-US" altLang="zh-CN" sz="2000" b="1" i="1">
                <a:solidFill>
                  <a:srgbClr val="0066FF"/>
                </a:solidFill>
              </a:endParaRPr>
            </a:p>
          </p:txBody>
        </p:sp>
        <p:sp>
          <p:nvSpPr>
            <p:cNvPr id="25628" name="Text Box 8"/>
            <p:cNvSpPr txBox="1">
              <a:spLocks noChangeArrowheads="1"/>
            </p:cNvSpPr>
            <p:nvPr/>
          </p:nvSpPr>
          <p:spPr bwMode="auto">
            <a:xfrm>
              <a:off x="1440" y="1440"/>
              <a:ext cx="52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i="1">
                  <a:solidFill>
                    <a:srgbClr val="0066FF"/>
                  </a:solidFill>
                </a:rPr>
                <a:t>expr</a:t>
              </a:r>
              <a:endParaRPr kumimoji="0" lang="en-US" altLang="zh-CN" sz="2000" b="1" i="1">
                <a:solidFill>
                  <a:srgbClr val="0066FF"/>
                </a:solidFill>
              </a:endParaRPr>
            </a:p>
          </p:txBody>
        </p:sp>
        <p:sp>
          <p:nvSpPr>
            <p:cNvPr id="25629" name="Text Box 9"/>
            <p:cNvSpPr txBox="1">
              <a:spLocks noChangeArrowheads="1"/>
            </p:cNvSpPr>
            <p:nvPr/>
          </p:nvSpPr>
          <p:spPr bwMode="auto">
            <a:xfrm>
              <a:off x="1008" y="1104"/>
              <a:ext cx="52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i="1">
                  <a:solidFill>
                    <a:srgbClr val="0066FF"/>
                  </a:solidFill>
                </a:rPr>
                <a:t>expr</a:t>
              </a:r>
              <a:endParaRPr kumimoji="0" lang="en-US" altLang="zh-CN" sz="2000" b="1" i="1">
                <a:solidFill>
                  <a:srgbClr val="0066FF"/>
                </a:solidFill>
              </a:endParaRPr>
            </a:p>
          </p:txBody>
        </p:sp>
        <p:sp>
          <p:nvSpPr>
            <p:cNvPr id="25630" name="Text Box 10"/>
            <p:cNvSpPr txBox="1">
              <a:spLocks noChangeArrowheads="1"/>
            </p:cNvSpPr>
            <p:nvPr/>
          </p:nvSpPr>
          <p:spPr bwMode="auto">
            <a:xfrm>
              <a:off x="1078" y="1344"/>
              <a:ext cx="24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+</a:t>
              </a:r>
              <a:endParaRPr kumimoji="0" lang="en-US" altLang="zh-CN" sz="2000" b="1" dirty="0"/>
            </a:p>
          </p:txBody>
        </p:sp>
        <p:sp>
          <p:nvSpPr>
            <p:cNvPr id="25631" name="Text Box 11"/>
            <p:cNvSpPr txBox="1">
              <a:spLocks noChangeArrowheads="1"/>
            </p:cNvSpPr>
            <p:nvPr/>
          </p:nvSpPr>
          <p:spPr bwMode="auto">
            <a:xfrm>
              <a:off x="1519" y="1693"/>
              <a:ext cx="24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2</a:t>
              </a:r>
              <a:endParaRPr kumimoji="0" lang="en-US" altLang="zh-CN" sz="2000" b="1"/>
            </a:p>
          </p:txBody>
        </p:sp>
        <p:sp>
          <p:nvSpPr>
            <p:cNvPr id="25632" name="Text Box 12"/>
            <p:cNvSpPr txBox="1">
              <a:spLocks noChangeArrowheads="1"/>
            </p:cNvSpPr>
            <p:nvPr/>
          </p:nvSpPr>
          <p:spPr bwMode="auto">
            <a:xfrm>
              <a:off x="550" y="1643"/>
              <a:ext cx="24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-</a:t>
              </a:r>
              <a:endParaRPr kumimoji="0" lang="en-US" altLang="zh-CN" sz="2000" b="1"/>
            </a:p>
          </p:txBody>
        </p:sp>
        <p:sp>
          <p:nvSpPr>
            <p:cNvPr id="25633" name="Text Box 13"/>
            <p:cNvSpPr txBox="1">
              <a:spLocks noChangeArrowheads="1"/>
            </p:cNvSpPr>
            <p:nvPr/>
          </p:nvSpPr>
          <p:spPr bwMode="auto">
            <a:xfrm>
              <a:off x="982" y="1944"/>
              <a:ext cx="24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5</a:t>
              </a:r>
              <a:endParaRPr kumimoji="0" lang="en-US" altLang="zh-CN" sz="2000" b="1" dirty="0"/>
            </a:p>
          </p:txBody>
        </p:sp>
        <p:sp>
          <p:nvSpPr>
            <p:cNvPr id="25634" name="Text Box 14"/>
            <p:cNvSpPr txBox="1">
              <a:spLocks noChangeArrowheads="1"/>
            </p:cNvSpPr>
            <p:nvPr/>
          </p:nvSpPr>
          <p:spPr bwMode="auto">
            <a:xfrm>
              <a:off x="215" y="1939"/>
              <a:ext cx="24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9</a:t>
              </a:r>
              <a:endParaRPr kumimoji="0" lang="en-US" altLang="zh-CN" sz="2000" b="1" dirty="0"/>
            </a:p>
          </p:txBody>
        </p:sp>
        <p:sp>
          <p:nvSpPr>
            <p:cNvPr id="25635" name="Line 15"/>
            <p:cNvSpPr>
              <a:spLocks noChangeShapeType="1"/>
            </p:cNvSpPr>
            <p:nvPr/>
          </p:nvSpPr>
          <p:spPr bwMode="auto">
            <a:xfrm>
              <a:off x="336" y="185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6" name="Line 16"/>
            <p:cNvSpPr>
              <a:spLocks noChangeShapeType="1"/>
            </p:cNvSpPr>
            <p:nvPr/>
          </p:nvSpPr>
          <p:spPr bwMode="auto">
            <a:xfrm>
              <a:off x="1200" y="12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7" name="Line 17"/>
            <p:cNvSpPr>
              <a:spLocks noChangeShapeType="1"/>
            </p:cNvSpPr>
            <p:nvPr/>
          </p:nvSpPr>
          <p:spPr bwMode="auto">
            <a:xfrm>
              <a:off x="672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8" name="Line 18"/>
            <p:cNvSpPr>
              <a:spLocks noChangeShapeType="1"/>
            </p:cNvSpPr>
            <p:nvPr/>
          </p:nvSpPr>
          <p:spPr bwMode="auto">
            <a:xfrm>
              <a:off x="1104" y="187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9" name="Line 19"/>
            <p:cNvSpPr>
              <a:spLocks noChangeShapeType="1"/>
            </p:cNvSpPr>
            <p:nvPr/>
          </p:nvSpPr>
          <p:spPr bwMode="auto">
            <a:xfrm>
              <a:off x="1632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0" name="Line 20"/>
            <p:cNvSpPr>
              <a:spLocks noChangeShapeType="1"/>
            </p:cNvSpPr>
            <p:nvPr/>
          </p:nvSpPr>
          <p:spPr bwMode="auto">
            <a:xfrm>
              <a:off x="1362" y="1293"/>
              <a:ext cx="270" cy="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1" name="Line 21"/>
            <p:cNvSpPr>
              <a:spLocks noChangeShapeType="1"/>
            </p:cNvSpPr>
            <p:nvPr/>
          </p:nvSpPr>
          <p:spPr bwMode="auto">
            <a:xfrm flipV="1">
              <a:off x="742" y="1296"/>
              <a:ext cx="314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2" name="Line 22"/>
            <p:cNvSpPr>
              <a:spLocks noChangeShapeType="1"/>
            </p:cNvSpPr>
            <p:nvPr/>
          </p:nvSpPr>
          <p:spPr bwMode="auto">
            <a:xfrm>
              <a:off x="827" y="1606"/>
              <a:ext cx="229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3" name="Line 23"/>
            <p:cNvSpPr>
              <a:spLocks noChangeShapeType="1"/>
            </p:cNvSpPr>
            <p:nvPr/>
          </p:nvSpPr>
          <p:spPr bwMode="auto">
            <a:xfrm flipH="1">
              <a:off x="382" y="1606"/>
              <a:ext cx="136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604" name="Group 26"/>
          <p:cNvGrpSpPr/>
          <p:nvPr/>
        </p:nvGrpSpPr>
        <p:grpSpPr bwMode="auto">
          <a:xfrm>
            <a:off x="5105400" y="2214562"/>
            <a:ext cx="3263566" cy="2273846"/>
            <a:chOff x="3312" y="1440"/>
            <a:chExt cx="1860" cy="1032"/>
          </a:xfrm>
        </p:grpSpPr>
        <p:sp>
          <p:nvSpPr>
            <p:cNvPr id="25606" name="Text Box 27"/>
            <p:cNvSpPr txBox="1">
              <a:spLocks noChangeArrowheads="1"/>
            </p:cNvSpPr>
            <p:nvPr/>
          </p:nvSpPr>
          <p:spPr bwMode="auto">
            <a:xfrm flipH="1">
              <a:off x="4754" y="2020"/>
              <a:ext cx="418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i="1" dirty="0">
                  <a:solidFill>
                    <a:srgbClr val="00CC00"/>
                  </a:solidFill>
                </a:rPr>
                <a:t>expr</a:t>
              </a:r>
              <a:endParaRPr kumimoji="0" lang="en-US" altLang="zh-CN" sz="2000" b="1" i="1" dirty="0">
                <a:solidFill>
                  <a:srgbClr val="0066FF"/>
                </a:solidFill>
              </a:endParaRPr>
            </a:p>
          </p:txBody>
        </p:sp>
        <p:sp>
          <p:nvSpPr>
            <p:cNvPr id="25607" name="Text Box 28"/>
            <p:cNvSpPr txBox="1">
              <a:spLocks noChangeArrowheads="1"/>
            </p:cNvSpPr>
            <p:nvPr/>
          </p:nvSpPr>
          <p:spPr bwMode="auto">
            <a:xfrm flipH="1">
              <a:off x="4013" y="2016"/>
              <a:ext cx="424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i="1" dirty="0">
                  <a:solidFill>
                    <a:srgbClr val="00CC00"/>
                  </a:solidFill>
                </a:rPr>
                <a:t>expr</a:t>
              </a:r>
              <a:endParaRPr kumimoji="0" lang="en-US" altLang="zh-CN" sz="2000" b="1" i="1" dirty="0">
                <a:solidFill>
                  <a:srgbClr val="0066FF"/>
                </a:solidFill>
              </a:endParaRPr>
            </a:p>
          </p:txBody>
        </p:sp>
        <p:sp>
          <p:nvSpPr>
            <p:cNvPr id="25608" name="Text Box 29"/>
            <p:cNvSpPr txBox="1">
              <a:spLocks noChangeArrowheads="1"/>
            </p:cNvSpPr>
            <p:nvPr/>
          </p:nvSpPr>
          <p:spPr bwMode="auto">
            <a:xfrm flipH="1">
              <a:off x="4409" y="1776"/>
              <a:ext cx="528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i="1" dirty="0">
                  <a:solidFill>
                    <a:srgbClr val="00CC00"/>
                  </a:solidFill>
                </a:rPr>
                <a:t>expr</a:t>
              </a:r>
              <a:endParaRPr kumimoji="0" lang="en-US" altLang="zh-CN" sz="2000" b="1" i="1" dirty="0">
                <a:solidFill>
                  <a:srgbClr val="0066FF"/>
                </a:solidFill>
              </a:endParaRPr>
            </a:p>
          </p:txBody>
        </p:sp>
        <p:sp>
          <p:nvSpPr>
            <p:cNvPr id="25609" name="Text Box 30"/>
            <p:cNvSpPr txBox="1">
              <a:spLocks noChangeArrowheads="1"/>
            </p:cNvSpPr>
            <p:nvPr/>
          </p:nvSpPr>
          <p:spPr bwMode="auto">
            <a:xfrm flipH="1">
              <a:off x="3312" y="1776"/>
              <a:ext cx="528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i="1">
                  <a:solidFill>
                    <a:srgbClr val="00CC00"/>
                  </a:solidFill>
                </a:rPr>
                <a:t>expr</a:t>
              </a:r>
              <a:endParaRPr kumimoji="0" lang="en-US" altLang="zh-CN" sz="2000" b="1" i="1">
                <a:solidFill>
                  <a:srgbClr val="0066FF"/>
                </a:solidFill>
              </a:endParaRPr>
            </a:p>
          </p:txBody>
        </p:sp>
        <p:sp>
          <p:nvSpPr>
            <p:cNvPr id="25610" name="Text Box 31"/>
            <p:cNvSpPr txBox="1">
              <a:spLocks noChangeArrowheads="1"/>
            </p:cNvSpPr>
            <p:nvPr/>
          </p:nvSpPr>
          <p:spPr bwMode="auto">
            <a:xfrm flipH="1">
              <a:off x="3744" y="1440"/>
              <a:ext cx="528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i="1">
                  <a:solidFill>
                    <a:srgbClr val="00CC00"/>
                  </a:solidFill>
                </a:rPr>
                <a:t>expr</a:t>
              </a:r>
              <a:endParaRPr kumimoji="0" lang="en-US" altLang="zh-CN" sz="2000" b="1" i="1">
                <a:solidFill>
                  <a:srgbClr val="0066FF"/>
                </a:solidFill>
              </a:endParaRPr>
            </a:p>
          </p:txBody>
        </p:sp>
        <p:sp>
          <p:nvSpPr>
            <p:cNvPr id="25611" name="Text Box 32"/>
            <p:cNvSpPr txBox="1">
              <a:spLocks noChangeArrowheads="1"/>
            </p:cNvSpPr>
            <p:nvPr/>
          </p:nvSpPr>
          <p:spPr bwMode="auto">
            <a:xfrm flipH="1">
              <a:off x="3870" y="1648"/>
              <a:ext cx="240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-</a:t>
              </a:r>
              <a:endParaRPr kumimoji="0" lang="en-US" altLang="zh-CN" sz="2000" b="1" dirty="0"/>
            </a:p>
          </p:txBody>
        </p:sp>
        <p:sp>
          <p:nvSpPr>
            <p:cNvPr id="25612" name="Text Box 33"/>
            <p:cNvSpPr txBox="1">
              <a:spLocks noChangeArrowheads="1"/>
            </p:cNvSpPr>
            <p:nvPr/>
          </p:nvSpPr>
          <p:spPr bwMode="auto">
            <a:xfrm flipH="1">
              <a:off x="3385" y="2036"/>
              <a:ext cx="239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9</a:t>
              </a:r>
              <a:endParaRPr kumimoji="0" lang="en-US" altLang="zh-CN" sz="2000" b="1" dirty="0"/>
            </a:p>
          </p:txBody>
        </p:sp>
        <p:sp>
          <p:nvSpPr>
            <p:cNvPr id="25613" name="Text Box 34"/>
            <p:cNvSpPr txBox="1">
              <a:spLocks noChangeArrowheads="1"/>
            </p:cNvSpPr>
            <p:nvPr/>
          </p:nvSpPr>
          <p:spPr bwMode="auto">
            <a:xfrm flipH="1">
              <a:off x="4492" y="2007"/>
              <a:ext cx="240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+</a:t>
              </a:r>
              <a:endParaRPr kumimoji="0" lang="en-US" altLang="zh-CN" sz="2000" b="1" dirty="0"/>
            </a:p>
          </p:txBody>
        </p:sp>
        <p:sp>
          <p:nvSpPr>
            <p:cNvPr id="25614" name="Text Box 35"/>
            <p:cNvSpPr txBox="1">
              <a:spLocks noChangeArrowheads="1"/>
            </p:cNvSpPr>
            <p:nvPr/>
          </p:nvSpPr>
          <p:spPr bwMode="auto">
            <a:xfrm flipH="1">
              <a:off x="4058" y="2292"/>
              <a:ext cx="240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5</a:t>
              </a:r>
              <a:endParaRPr kumimoji="0" lang="en-US" altLang="zh-CN" sz="2000" b="1" dirty="0"/>
            </a:p>
          </p:txBody>
        </p:sp>
        <p:sp>
          <p:nvSpPr>
            <p:cNvPr id="25615" name="Text Box 36"/>
            <p:cNvSpPr txBox="1">
              <a:spLocks noChangeArrowheads="1"/>
            </p:cNvSpPr>
            <p:nvPr/>
          </p:nvSpPr>
          <p:spPr bwMode="auto">
            <a:xfrm flipH="1">
              <a:off x="4814" y="2285"/>
              <a:ext cx="240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2</a:t>
              </a:r>
              <a:endParaRPr kumimoji="0" lang="en-US" altLang="zh-CN" sz="2000" b="1" dirty="0"/>
            </a:p>
          </p:txBody>
        </p:sp>
        <p:sp>
          <p:nvSpPr>
            <p:cNvPr id="25616" name="Line 37"/>
            <p:cNvSpPr>
              <a:spLocks noChangeShapeType="1"/>
            </p:cNvSpPr>
            <p:nvPr/>
          </p:nvSpPr>
          <p:spPr bwMode="auto">
            <a:xfrm flipH="1">
              <a:off x="4944" y="2211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7" name="Line 38"/>
            <p:cNvSpPr>
              <a:spLocks noChangeShapeType="1"/>
            </p:cNvSpPr>
            <p:nvPr/>
          </p:nvSpPr>
          <p:spPr bwMode="auto">
            <a:xfrm flipH="1">
              <a:off x="3984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8" name="Line 39"/>
            <p:cNvSpPr>
              <a:spLocks noChangeShapeType="1"/>
            </p:cNvSpPr>
            <p:nvPr/>
          </p:nvSpPr>
          <p:spPr bwMode="auto">
            <a:xfrm flipH="1">
              <a:off x="4608" y="196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9" name="Line 40"/>
            <p:cNvSpPr>
              <a:spLocks noChangeShapeType="1"/>
            </p:cNvSpPr>
            <p:nvPr/>
          </p:nvSpPr>
          <p:spPr bwMode="auto">
            <a:xfrm flipH="1">
              <a:off x="4176" y="220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0" name="Line 41"/>
            <p:cNvSpPr>
              <a:spLocks noChangeShapeType="1"/>
            </p:cNvSpPr>
            <p:nvPr/>
          </p:nvSpPr>
          <p:spPr bwMode="auto">
            <a:xfrm flipH="1">
              <a:off x="3501" y="196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1" name="Line 42"/>
            <p:cNvSpPr>
              <a:spLocks noChangeShapeType="1"/>
            </p:cNvSpPr>
            <p:nvPr/>
          </p:nvSpPr>
          <p:spPr bwMode="auto">
            <a:xfrm flipH="1">
              <a:off x="3556" y="1632"/>
              <a:ext cx="284" cy="1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2" name="Line 43"/>
            <p:cNvSpPr>
              <a:spLocks noChangeShapeType="1"/>
            </p:cNvSpPr>
            <p:nvPr/>
          </p:nvSpPr>
          <p:spPr bwMode="auto">
            <a:xfrm flipH="1" flipV="1">
              <a:off x="4176" y="1632"/>
              <a:ext cx="377" cy="1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3" name="Line 44"/>
            <p:cNvSpPr>
              <a:spLocks noChangeShapeType="1"/>
            </p:cNvSpPr>
            <p:nvPr/>
          </p:nvSpPr>
          <p:spPr bwMode="auto">
            <a:xfrm flipH="1">
              <a:off x="4272" y="1968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4" name="Line 45"/>
            <p:cNvSpPr>
              <a:spLocks noChangeShapeType="1"/>
            </p:cNvSpPr>
            <p:nvPr/>
          </p:nvSpPr>
          <p:spPr bwMode="auto">
            <a:xfrm flipH="1" flipV="1">
              <a:off x="4724" y="1956"/>
              <a:ext cx="185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605" name="Rectangle 4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 i="1"/>
              <a:t>expr 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400" i="1"/>
              <a:t> </a:t>
            </a:r>
            <a:r>
              <a:rPr kumimoji="0" lang="en-US" altLang="zh-CN" sz="2400">
                <a:sym typeface="Math1" pitchFamily="2" charset="2"/>
              </a:rPr>
              <a:t> </a:t>
            </a:r>
            <a:r>
              <a:rPr kumimoji="0" lang="en-US" altLang="zh-CN" sz="2400" i="1">
                <a:sym typeface="Math1" pitchFamily="2" charset="2"/>
              </a:rPr>
              <a:t>expr + expr | expr – expr</a:t>
            </a:r>
            <a:r>
              <a:rPr kumimoji="0" lang="en-US" altLang="zh-CN" sz="2400">
                <a:sym typeface="Math1" pitchFamily="2" charset="2"/>
              </a:rPr>
              <a:t> | 0 | 1 | …| 9</a:t>
            </a:r>
            <a:endParaRPr lang="en-US" altLang="zh-CN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2.2.3  </a:t>
            </a:r>
            <a:r>
              <a:rPr lang="zh-CN" altLang="en-US"/>
              <a:t>运算符的结合律</a:t>
            </a:r>
            <a:endParaRPr lang="zh-CN" alt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25688" y="3657600"/>
            <a:ext cx="6818312" cy="167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/>
              <a:t>9-5-2——(9-5)-2 </a:t>
            </a:r>
            <a:r>
              <a:rPr lang="zh-CN" altLang="en-US"/>
              <a:t>还是 </a:t>
            </a:r>
            <a:r>
              <a:rPr lang="en-US" altLang="zh-CN"/>
              <a:t>9-(5-2)</a:t>
            </a:r>
            <a:r>
              <a:rPr lang="zh-CN" altLang="en-US"/>
              <a:t>？</a:t>
            </a:r>
            <a:endParaRPr lang="zh-CN" altLang="en-US"/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左结合（</a:t>
            </a:r>
            <a:r>
              <a:rPr lang="en-US" altLang="zh-CN">
                <a:solidFill>
                  <a:schemeClr val="hlink"/>
                </a:solidFill>
              </a:rPr>
              <a:t>left associative</a:t>
            </a:r>
            <a:r>
              <a:rPr lang="zh-CN" altLang="en-US"/>
              <a:t>）：</a:t>
            </a:r>
            <a:r>
              <a:rPr lang="en-US" altLang="zh-CN"/>
              <a:t>+, -, *, /</a:t>
            </a:r>
            <a:endParaRPr lang="en-US" altLang="zh-CN"/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右结合（</a:t>
            </a:r>
            <a:r>
              <a:rPr lang="en-US" altLang="zh-CN">
                <a:solidFill>
                  <a:schemeClr val="hlink"/>
                </a:solidFill>
              </a:rPr>
              <a:t>right associative</a:t>
            </a:r>
            <a:r>
              <a:rPr lang="zh-CN" altLang="en-US"/>
              <a:t>）：</a:t>
            </a:r>
            <a:r>
              <a:rPr lang="en-US" altLang="zh-CN"/>
              <a:t>^, =</a:t>
            </a:r>
            <a:endParaRPr lang="en-US" altLang="zh-CN"/>
          </a:p>
        </p:txBody>
      </p:sp>
      <p:grpSp>
        <p:nvGrpSpPr>
          <p:cNvPr id="26628" name="Group 26"/>
          <p:cNvGrpSpPr/>
          <p:nvPr/>
        </p:nvGrpSpPr>
        <p:grpSpPr bwMode="auto">
          <a:xfrm>
            <a:off x="1447800" y="1203325"/>
            <a:ext cx="3429000" cy="2911475"/>
            <a:chOff x="768" y="3696"/>
            <a:chExt cx="2160" cy="1834"/>
          </a:xfrm>
        </p:grpSpPr>
        <p:sp>
          <p:nvSpPr>
            <p:cNvPr id="26630" name="Text Box 27"/>
            <p:cNvSpPr txBox="1">
              <a:spLocks noChangeArrowheads="1"/>
            </p:cNvSpPr>
            <p:nvPr/>
          </p:nvSpPr>
          <p:spPr bwMode="auto">
            <a:xfrm>
              <a:off x="1824" y="3696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 i="1"/>
                <a:t>expr</a:t>
              </a:r>
              <a:endParaRPr kumimoji="0" lang="en-US" altLang="zh-CN" sz="2400" b="1" i="1"/>
            </a:p>
          </p:txBody>
        </p:sp>
        <p:sp>
          <p:nvSpPr>
            <p:cNvPr id="26631" name="Text Box 28"/>
            <p:cNvSpPr txBox="1">
              <a:spLocks noChangeArrowheads="1"/>
            </p:cNvSpPr>
            <p:nvPr/>
          </p:nvSpPr>
          <p:spPr bwMode="auto">
            <a:xfrm>
              <a:off x="2400" y="4032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 i="1">
                  <a:solidFill>
                    <a:srgbClr val="00CC00"/>
                  </a:solidFill>
                </a:rPr>
                <a:t>digit</a:t>
              </a:r>
              <a:endParaRPr kumimoji="0" lang="en-US" altLang="zh-CN" sz="2400" b="1" i="1"/>
            </a:p>
          </p:txBody>
        </p:sp>
        <p:sp>
          <p:nvSpPr>
            <p:cNvPr id="26632" name="Text Box 29"/>
            <p:cNvSpPr txBox="1">
              <a:spLocks noChangeArrowheads="1"/>
            </p:cNvSpPr>
            <p:nvPr/>
          </p:nvSpPr>
          <p:spPr bwMode="auto">
            <a:xfrm>
              <a:off x="1728" y="4464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 i="1">
                  <a:solidFill>
                    <a:srgbClr val="FF5050"/>
                  </a:solidFill>
                </a:rPr>
                <a:t>digit</a:t>
              </a:r>
              <a:endParaRPr kumimoji="0" lang="en-US" altLang="zh-CN" sz="2400" b="1" i="1"/>
            </a:p>
          </p:txBody>
        </p:sp>
        <p:sp>
          <p:nvSpPr>
            <p:cNvPr id="26633" name="Text Box 30"/>
            <p:cNvSpPr txBox="1">
              <a:spLocks noChangeArrowheads="1"/>
            </p:cNvSpPr>
            <p:nvPr/>
          </p:nvSpPr>
          <p:spPr bwMode="auto">
            <a:xfrm>
              <a:off x="1296" y="4032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 i="1">
                  <a:solidFill>
                    <a:srgbClr val="0066FF"/>
                  </a:solidFill>
                </a:rPr>
                <a:t>expr</a:t>
              </a:r>
              <a:endParaRPr kumimoji="0" lang="en-US" altLang="zh-CN" sz="2400" b="1" i="1"/>
            </a:p>
          </p:txBody>
        </p:sp>
        <p:sp>
          <p:nvSpPr>
            <p:cNvPr id="26634" name="Text Box 31"/>
            <p:cNvSpPr txBox="1">
              <a:spLocks noChangeArrowheads="1"/>
            </p:cNvSpPr>
            <p:nvPr/>
          </p:nvSpPr>
          <p:spPr bwMode="auto">
            <a:xfrm>
              <a:off x="768" y="4944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 i="1">
                  <a:solidFill>
                    <a:srgbClr val="FF66FF"/>
                  </a:solidFill>
                </a:rPr>
                <a:t>digit</a:t>
              </a:r>
              <a:endParaRPr kumimoji="0" lang="en-US" altLang="zh-CN" sz="2400" b="1" i="1"/>
            </a:p>
          </p:txBody>
        </p:sp>
        <p:sp>
          <p:nvSpPr>
            <p:cNvPr id="26635" name="Text Box 32"/>
            <p:cNvSpPr txBox="1">
              <a:spLocks noChangeArrowheads="1"/>
            </p:cNvSpPr>
            <p:nvPr/>
          </p:nvSpPr>
          <p:spPr bwMode="auto">
            <a:xfrm>
              <a:off x="768" y="4464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 i="1">
                  <a:solidFill>
                    <a:srgbClr val="FF5050"/>
                  </a:solidFill>
                </a:rPr>
                <a:t>expr</a:t>
              </a:r>
              <a:endParaRPr kumimoji="0" lang="en-US" altLang="zh-CN" sz="2400" b="1" i="1"/>
            </a:p>
          </p:txBody>
        </p:sp>
        <p:sp>
          <p:nvSpPr>
            <p:cNvPr id="26636" name="Text Box 33"/>
            <p:cNvSpPr txBox="1">
              <a:spLocks noChangeArrowheads="1"/>
            </p:cNvSpPr>
            <p:nvPr/>
          </p:nvSpPr>
          <p:spPr bwMode="auto">
            <a:xfrm>
              <a:off x="912" y="5280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rgbClr val="FF66FF"/>
                  </a:solidFill>
                </a:rPr>
                <a:t>9</a:t>
              </a:r>
              <a:endParaRPr kumimoji="0" lang="en-US" altLang="zh-CN" sz="2000" b="1">
                <a:solidFill>
                  <a:srgbClr val="FF66FF"/>
                </a:solidFill>
              </a:endParaRPr>
            </a:p>
          </p:txBody>
        </p:sp>
        <p:sp>
          <p:nvSpPr>
            <p:cNvPr id="26637" name="Text Box 34"/>
            <p:cNvSpPr txBox="1">
              <a:spLocks noChangeArrowheads="1"/>
            </p:cNvSpPr>
            <p:nvPr/>
          </p:nvSpPr>
          <p:spPr bwMode="auto">
            <a:xfrm>
              <a:off x="1872" y="4800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rgbClr val="FF5050"/>
                  </a:solidFill>
                </a:rPr>
                <a:t>5</a:t>
              </a:r>
              <a:endParaRPr kumimoji="0" lang="en-US" altLang="zh-CN" sz="2000" b="1"/>
            </a:p>
          </p:txBody>
        </p:sp>
        <p:sp>
          <p:nvSpPr>
            <p:cNvPr id="26638" name="Text Box 35"/>
            <p:cNvSpPr txBox="1">
              <a:spLocks noChangeArrowheads="1"/>
            </p:cNvSpPr>
            <p:nvPr/>
          </p:nvSpPr>
          <p:spPr bwMode="auto">
            <a:xfrm>
              <a:off x="2544" y="4368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rgbClr val="00CC00"/>
                  </a:solidFill>
                </a:rPr>
                <a:t>2</a:t>
              </a:r>
              <a:endParaRPr kumimoji="0" lang="en-US" altLang="zh-CN" sz="2000" b="1">
                <a:solidFill>
                  <a:srgbClr val="00CC00"/>
                </a:solidFill>
              </a:endParaRPr>
            </a:p>
          </p:txBody>
        </p:sp>
        <p:sp>
          <p:nvSpPr>
            <p:cNvPr id="26639" name="Text Box 36"/>
            <p:cNvSpPr txBox="1">
              <a:spLocks noChangeArrowheads="1"/>
            </p:cNvSpPr>
            <p:nvPr/>
          </p:nvSpPr>
          <p:spPr bwMode="auto">
            <a:xfrm>
              <a:off x="1392" y="441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-</a:t>
              </a:r>
              <a:endParaRPr kumimoji="0" lang="en-US" altLang="zh-CN" sz="2000" b="1"/>
            </a:p>
          </p:txBody>
        </p:sp>
        <p:sp>
          <p:nvSpPr>
            <p:cNvPr id="26640" name="Text Box 37"/>
            <p:cNvSpPr txBox="1">
              <a:spLocks noChangeArrowheads="1"/>
            </p:cNvSpPr>
            <p:nvPr/>
          </p:nvSpPr>
          <p:spPr bwMode="auto">
            <a:xfrm>
              <a:off x="1968" y="4080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-</a:t>
              </a:r>
              <a:endParaRPr kumimoji="0" lang="en-US" altLang="zh-CN" sz="2000" b="1"/>
            </a:p>
          </p:txBody>
        </p:sp>
        <p:sp>
          <p:nvSpPr>
            <p:cNvPr id="26641" name="Line 38"/>
            <p:cNvSpPr>
              <a:spLocks noChangeShapeType="1"/>
            </p:cNvSpPr>
            <p:nvPr/>
          </p:nvSpPr>
          <p:spPr bwMode="auto">
            <a:xfrm flipH="1">
              <a:off x="1680" y="3888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2" name="Line 39"/>
            <p:cNvSpPr>
              <a:spLocks noChangeShapeType="1"/>
            </p:cNvSpPr>
            <p:nvPr/>
          </p:nvSpPr>
          <p:spPr bwMode="auto">
            <a:xfrm flipH="1" flipV="1">
              <a:off x="2208" y="3888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3" name="Line 40"/>
            <p:cNvSpPr>
              <a:spLocks noChangeShapeType="1"/>
            </p:cNvSpPr>
            <p:nvPr/>
          </p:nvSpPr>
          <p:spPr bwMode="auto">
            <a:xfrm flipH="1">
              <a:off x="1104" y="4272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4" name="Line 41"/>
            <p:cNvSpPr>
              <a:spLocks noChangeShapeType="1"/>
            </p:cNvSpPr>
            <p:nvPr/>
          </p:nvSpPr>
          <p:spPr bwMode="auto">
            <a:xfrm flipH="1" flipV="1">
              <a:off x="1632" y="4272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5" name="Line 42"/>
            <p:cNvSpPr>
              <a:spLocks noChangeShapeType="1"/>
            </p:cNvSpPr>
            <p:nvPr/>
          </p:nvSpPr>
          <p:spPr bwMode="auto">
            <a:xfrm>
              <a:off x="2112" y="39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6" name="Line 43"/>
            <p:cNvSpPr>
              <a:spLocks noChangeShapeType="1"/>
            </p:cNvSpPr>
            <p:nvPr/>
          </p:nvSpPr>
          <p:spPr bwMode="auto">
            <a:xfrm>
              <a:off x="1056" y="518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7" name="Line 44"/>
            <p:cNvSpPr>
              <a:spLocks noChangeShapeType="1"/>
            </p:cNvSpPr>
            <p:nvPr/>
          </p:nvSpPr>
          <p:spPr bwMode="auto">
            <a:xfrm>
              <a:off x="2016" y="470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8" name="Line 45"/>
            <p:cNvSpPr>
              <a:spLocks noChangeShapeType="1"/>
            </p:cNvSpPr>
            <p:nvPr/>
          </p:nvSpPr>
          <p:spPr bwMode="auto">
            <a:xfrm>
              <a:off x="2688" y="42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9" name="Line 46"/>
            <p:cNvSpPr>
              <a:spLocks noChangeShapeType="1"/>
            </p:cNvSpPr>
            <p:nvPr/>
          </p:nvSpPr>
          <p:spPr bwMode="auto">
            <a:xfrm>
              <a:off x="1536" y="42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50" name="Line 47"/>
            <p:cNvSpPr>
              <a:spLocks noChangeShapeType="1"/>
            </p:cNvSpPr>
            <p:nvPr/>
          </p:nvSpPr>
          <p:spPr bwMode="auto">
            <a:xfrm>
              <a:off x="1056" y="470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629" name="Rectangle 49"/>
          <p:cNvSpPr>
            <a:spLocks noChangeArrowheads="1"/>
          </p:cNvSpPr>
          <p:nvPr/>
        </p:nvSpPr>
        <p:spPr bwMode="auto">
          <a:xfrm>
            <a:off x="5076825" y="1341438"/>
            <a:ext cx="389572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>
                <a:ea typeface="隶书" panose="02010509060101010101" pitchFamily="49" charset="-122"/>
              </a:rPr>
              <a:t>expr</a:t>
            </a:r>
            <a:r>
              <a:rPr kumimoji="0" lang="en-US" altLang="zh-CN" sz="2000">
                <a:ea typeface="隶书" panose="02010509060101010101" pitchFamily="49" charset="-122"/>
              </a:rPr>
              <a:t> </a:t>
            </a:r>
            <a:r>
              <a:rPr kumimoji="0" lang="en-US" altLang="zh-CN" sz="2000">
                <a:ea typeface="隶书" panose="02010509060101010101" pitchFamily="49" charset="-122"/>
                <a:sym typeface="Symbol" panose="05050102010706020507" pitchFamily="18" charset="2"/>
              </a:rPr>
              <a:t></a:t>
            </a:r>
            <a:r>
              <a:rPr kumimoji="0" lang="en-US" altLang="zh-CN" sz="2000">
                <a:ea typeface="隶书" panose="02010509060101010101" pitchFamily="49" charset="-122"/>
              </a:rPr>
              <a:t> </a:t>
            </a:r>
            <a:r>
              <a:rPr kumimoji="0" lang="en-US" altLang="zh-CN" sz="2000" i="1">
                <a:ea typeface="隶书" panose="02010509060101010101" pitchFamily="49" charset="-122"/>
                <a:sym typeface="Math1" pitchFamily="2" charset="2"/>
              </a:rPr>
              <a:t>expr + digit</a:t>
            </a:r>
            <a:br>
              <a:rPr kumimoji="0" lang="en-US" altLang="zh-CN" sz="2000" i="1">
                <a:ea typeface="隶书" panose="02010509060101010101" pitchFamily="49" charset="-122"/>
                <a:sym typeface="Math1" pitchFamily="2" charset="2"/>
              </a:rPr>
            </a:br>
            <a:r>
              <a:rPr kumimoji="0" lang="en-US" altLang="zh-CN" sz="2000" i="1">
                <a:ea typeface="隶书" panose="02010509060101010101" pitchFamily="49" charset="-122"/>
                <a:sym typeface="Math1" pitchFamily="2" charset="2"/>
              </a:rPr>
              <a:t>expr</a:t>
            </a:r>
            <a:r>
              <a:rPr kumimoji="0" lang="en-US" altLang="zh-CN" sz="2000">
                <a:ea typeface="隶书" panose="02010509060101010101" pitchFamily="49" charset="-122"/>
                <a:sym typeface="Math1" pitchFamily="2" charset="2"/>
              </a:rPr>
              <a:t> </a:t>
            </a:r>
            <a:r>
              <a:rPr kumimoji="0" lang="en-US" altLang="zh-CN" sz="2000">
                <a:ea typeface="隶书" panose="02010509060101010101" pitchFamily="49" charset="-122"/>
                <a:sym typeface="Symbol" panose="05050102010706020507" pitchFamily="18" charset="2"/>
              </a:rPr>
              <a:t></a:t>
            </a:r>
            <a:r>
              <a:rPr kumimoji="0" lang="en-US" altLang="zh-CN" sz="2000">
                <a:ea typeface="隶书" panose="02010509060101010101" pitchFamily="49" charset="-122"/>
                <a:sym typeface="Math1" pitchFamily="2" charset="2"/>
              </a:rPr>
              <a:t> </a:t>
            </a:r>
            <a:r>
              <a:rPr kumimoji="0" lang="en-US" altLang="zh-CN" sz="2000" i="1">
                <a:ea typeface="隶书" panose="02010509060101010101" pitchFamily="49" charset="-122"/>
                <a:sym typeface="Math1" pitchFamily="2" charset="2"/>
              </a:rPr>
              <a:t>expr – digit</a:t>
            </a:r>
            <a:br>
              <a:rPr kumimoji="0" lang="en-US" altLang="zh-CN" sz="2000" i="1">
                <a:ea typeface="隶书" panose="02010509060101010101" pitchFamily="49" charset="-122"/>
                <a:sym typeface="Math1" pitchFamily="2" charset="2"/>
              </a:rPr>
            </a:br>
            <a:r>
              <a:rPr kumimoji="0" lang="en-US" altLang="zh-CN" sz="2000" i="1">
                <a:ea typeface="隶书" panose="02010509060101010101" pitchFamily="49" charset="-122"/>
                <a:sym typeface="Math1" pitchFamily="2" charset="2"/>
              </a:rPr>
              <a:t>expr</a:t>
            </a:r>
            <a:r>
              <a:rPr kumimoji="0" lang="en-US" altLang="zh-CN" sz="2000">
                <a:ea typeface="隶书" panose="02010509060101010101" pitchFamily="49" charset="-122"/>
                <a:sym typeface="Math1" pitchFamily="2" charset="2"/>
              </a:rPr>
              <a:t> </a:t>
            </a:r>
            <a:r>
              <a:rPr kumimoji="0" lang="en-US" altLang="zh-CN" sz="2000">
                <a:ea typeface="隶书" panose="02010509060101010101" pitchFamily="49" charset="-122"/>
                <a:sym typeface="Symbol" panose="05050102010706020507" pitchFamily="18" charset="2"/>
              </a:rPr>
              <a:t></a:t>
            </a:r>
            <a:r>
              <a:rPr kumimoji="0" lang="en-US" altLang="zh-CN" sz="2000">
                <a:ea typeface="隶书" panose="02010509060101010101" pitchFamily="49" charset="-122"/>
                <a:sym typeface="Math1" pitchFamily="2" charset="2"/>
              </a:rPr>
              <a:t> </a:t>
            </a:r>
            <a:r>
              <a:rPr kumimoji="0" lang="en-US" altLang="zh-CN" sz="2000" i="1">
                <a:ea typeface="隶书" panose="02010509060101010101" pitchFamily="49" charset="-122"/>
                <a:sym typeface="Math1" pitchFamily="2" charset="2"/>
              </a:rPr>
              <a:t>digit</a:t>
            </a:r>
            <a:br>
              <a:rPr kumimoji="0" lang="en-US" altLang="zh-CN" sz="2000" i="1">
                <a:ea typeface="隶书" panose="02010509060101010101" pitchFamily="49" charset="-122"/>
                <a:sym typeface="Math1" pitchFamily="2" charset="2"/>
              </a:rPr>
            </a:br>
            <a:r>
              <a:rPr kumimoji="0" lang="en-US" altLang="zh-CN" sz="2000" i="1">
                <a:ea typeface="隶书" panose="02010509060101010101" pitchFamily="49" charset="-122"/>
                <a:sym typeface="Math1" pitchFamily="2" charset="2"/>
              </a:rPr>
              <a:t>digit</a:t>
            </a:r>
            <a:r>
              <a:rPr kumimoji="0" lang="en-US" altLang="zh-CN" sz="2000">
                <a:ea typeface="隶书" panose="02010509060101010101" pitchFamily="49" charset="-122"/>
                <a:sym typeface="Math1" pitchFamily="2" charset="2"/>
              </a:rPr>
              <a:t> </a:t>
            </a:r>
            <a:r>
              <a:rPr kumimoji="0" lang="en-US" altLang="zh-CN" sz="2000">
                <a:ea typeface="隶书" panose="02010509060101010101" pitchFamily="49" charset="-122"/>
                <a:sym typeface="Symbol" panose="05050102010706020507" pitchFamily="18" charset="2"/>
              </a:rPr>
              <a:t></a:t>
            </a:r>
            <a:r>
              <a:rPr kumimoji="0" lang="en-US" altLang="zh-CN" sz="2000" b="1">
                <a:ea typeface="隶书" panose="02010509060101010101" pitchFamily="49" charset="-122"/>
                <a:sym typeface="Math1" pitchFamily="2" charset="2"/>
              </a:rPr>
              <a:t> </a:t>
            </a:r>
            <a:r>
              <a:rPr kumimoji="0" lang="en-US" altLang="zh-CN" sz="2000">
                <a:ea typeface="隶书" panose="02010509060101010101" pitchFamily="49" charset="-122"/>
                <a:sym typeface="Math1" pitchFamily="2" charset="2"/>
              </a:rPr>
              <a:t>0 | 1 | 2 | 3 | 4 | 5 | 6 | 7 | 8 | 9</a:t>
            </a:r>
            <a:endParaRPr kumimoji="0" lang="en-US" altLang="zh-CN" sz="2000">
              <a:ea typeface="隶书" panose="02010509060101010101" pitchFamily="49" charset="-122"/>
              <a:sym typeface="Math1" pitchFamily="2" charset="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右结合例</a:t>
            </a:r>
            <a:endParaRPr lang="zh-CN" altLang="en-US"/>
          </a:p>
        </p:txBody>
      </p:sp>
      <p:sp>
        <p:nvSpPr>
          <p:cNvPr id="27651" name="Text Box 5"/>
          <p:cNvSpPr txBox="1">
            <a:spLocks noChangeArrowheads="1"/>
          </p:cNvSpPr>
          <p:nvPr/>
        </p:nvSpPr>
        <p:spPr bwMode="auto">
          <a:xfrm flipH="1">
            <a:off x="3589338" y="120332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asgn</a:t>
            </a:r>
            <a:endParaRPr kumimoji="0" lang="en-US" altLang="zh-CN" sz="2400" b="1" i="1"/>
          </a:p>
        </p:txBody>
      </p:sp>
      <p:sp>
        <p:nvSpPr>
          <p:cNvPr id="27652" name="Text Box 6"/>
          <p:cNvSpPr txBox="1">
            <a:spLocks noChangeArrowheads="1"/>
          </p:cNvSpPr>
          <p:nvPr/>
        </p:nvSpPr>
        <p:spPr bwMode="auto">
          <a:xfrm flipH="1">
            <a:off x="2743200" y="173672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var</a:t>
            </a:r>
            <a:endParaRPr kumimoji="0" lang="en-US" altLang="zh-CN" sz="2400" b="1" i="1"/>
          </a:p>
        </p:txBody>
      </p:sp>
      <p:sp>
        <p:nvSpPr>
          <p:cNvPr id="27653" name="Text Box 7"/>
          <p:cNvSpPr txBox="1">
            <a:spLocks noChangeArrowheads="1"/>
          </p:cNvSpPr>
          <p:nvPr/>
        </p:nvSpPr>
        <p:spPr bwMode="auto">
          <a:xfrm flipH="1">
            <a:off x="3810000" y="242252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var</a:t>
            </a:r>
            <a:endParaRPr kumimoji="0" lang="en-US" altLang="zh-CN" sz="2400" b="1" i="1"/>
          </a:p>
        </p:txBody>
      </p:sp>
      <p:sp>
        <p:nvSpPr>
          <p:cNvPr id="27654" name="Text Box 8"/>
          <p:cNvSpPr txBox="1">
            <a:spLocks noChangeArrowheads="1"/>
          </p:cNvSpPr>
          <p:nvPr/>
        </p:nvSpPr>
        <p:spPr bwMode="auto">
          <a:xfrm flipH="1">
            <a:off x="4525963" y="173672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>
                <a:ea typeface="隶书" panose="02010509060101010101" pitchFamily="49" charset="-122"/>
              </a:rPr>
              <a:t>asgn</a:t>
            </a:r>
            <a:endParaRPr kumimoji="0" lang="en-US" altLang="zh-CN" sz="2400" b="1" i="1">
              <a:ea typeface="隶书" panose="02010509060101010101" pitchFamily="49" charset="-122"/>
            </a:endParaRPr>
          </a:p>
        </p:txBody>
      </p:sp>
      <p:sp>
        <p:nvSpPr>
          <p:cNvPr id="27655" name="Text Box 9"/>
          <p:cNvSpPr txBox="1">
            <a:spLocks noChangeArrowheads="1"/>
          </p:cNvSpPr>
          <p:nvPr/>
        </p:nvSpPr>
        <p:spPr bwMode="auto">
          <a:xfrm flipH="1">
            <a:off x="5334000" y="318452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var</a:t>
            </a:r>
            <a:endParaRPr kumimoji="0" lang="en-US" altLang="zh-CN" sz="2400" b="1" i="1"/>
          </a:p>
        </p:txBody>
      </p:sp>
      <p:sp>
        <p:nvSpPr>
          <p:cNvPr id="27656" name="Text Box 10"/>
          <p:cNvSpPr txBox="1">
            <a:spLocks noChangeArrowheads="1"/>
          </p:cNvSpPr>
          <p:nvPr/>
        </p:nvSpPr>
        <p:spPr bwMode="auto">
          <a:xfrm flipH="1">
            <a:off x="5334000" y="242252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asgn</a:t>
            </a:r>
            <a:endParaRPr kumimoji="0" lang="en-US" altLang="zh-CN" sz="2400" b="1" i="1"/>
          </a:p>
        </p:txBody>
      </p:sp>
      <p:sp>
        <p:nvSpPr>
          <p:cNvPr id="27657" name="Text Box 11"/>
          <p:cNvSpPr txBox="1">
            <a:spLocks noChangeArrowheads="1"/>
          </p:cNvSpPr>
          <p:nvPr/>
        </p:nvSpPr>
        <p:spPr bwMode="auto">
          <a:xfrm flipH="1">
            <a:off x="5486400" y="3717925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c</a:t>
            </a:r>
            <a:endParaRPr kumimoji="0" lang="en-US" altLang="zh-CN" sz="2000" b="1"/>
          </a:p>
        </p:txBody>
      </p:sp>
      <p:sp>
        <p:nvSpPr>
          <p:cNvPr id="27658" name="Text Box 12"/>
          <p:cNvSpPr txBox="1">
            <a:spLocks noChangeArrowheads="1"/>
          </p:cNvSpPr>
          <p:nvPr/>
        </p:nvSpPr>
        <p:spPr bwMode="auto">
          <a:xfrm flipH="1">
            <a:off x="3962400" y="2955925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b</a:t>
            </a:r>
            <a:endParaRPr kumimoji="0" lang="en-US" altLang="zh-CN" sz="2000" b="1"/>
          </a:p>
        </p:txBody>
      </p:sp>
      <p:sp>
        <p:nvSpPr>
          <p:cNvPr id="27659" name="Text Box 13"/>
          <p:cNvSpPr txBox="1">
            <a:spLocks noChangeArrowheads="1"/>
          </p:cNvSpPr>
          <p:nvPr/>
        </p:nvSpPr>
        <p:spPr bwMode="auto">
          <a:xfrm flipH="1">
            <a:off x="2895600" y="2270125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a</a:t>
            </a:r>
            <a:endParaRPr kumimoji="0" lang="en-US" altLang="zh-CN" sz="2000" b="1">
              <a:solidFill>
                <a:srgbClr val="00CC00"/>
              </a:solidFill>
            </a:endParaRPr>
          </a:p>
        </p:txBody>
      </p:sp>
      <p:sp>
        <p:nvSpPr>
          <p:cNvPr id="27660" name="Text Box 14"/>
          <p:cNvSpPr txBox="1">
            <a:spLocks noChangeArrowheads="1"/>
          </p:cNvSpPr>
          <p:nvPr/>
        </p:nvSpPr>
        <p:spPr bwMode="auto">
          <a:xfrm flipH="1">
            <a:off x="4724400" y="2346325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=</a:t>
            </a:r>
            <a:endParaRPr kumimoji="0" lang="en-US" altLang="zh-CN" sz="2000" b="1"/>
          </a:p>
        </p:txBody>
      </p:sp>
      <p:sp>
        <p:nvSpPr>
          <p:cNvPr id="27661" name="Text Box 15"/>
          <p:cNvSpPr txBox="1">
            <a:spLocks noChangeArrowheads="1"/>
          </p:cNvSpPr>
          <p:nvPr/>
        </p:nvSpPr>
        <p:spPr bwMode="auto">
          <a:xfrm flipH="1">
            <a:off x="3810000" y="1812925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=</a:t>
            </a:r>
            <a:endParaRPr kumimoji="0" lang="en-US" altLang="zh-CN" sz="2000" b="1"/>
          </a:p>
        </p:txBody>
      </p:sp>
      <p:sp>
        <p:nvSpPr>
          <p:cNvPr id="27662" name="Line 16"/>
          <p:cNvSpPr>
            <a:spLocks noChangeShapeType="1"/>
          </p:cNvSpPr>
          <p:nvPr/>
        </p:nvSpPr>
        <p:spPr bwMode="auto">
          <a:xfrm>
            <a:off x="4267200" y="1508125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63" name="Line 17"/>
          <p:cNvSpPr>
            <a:spLocks noChangeShapeType="1"/>
          </p:cNvSpPr>
          <p:nvPr/>
        </p:nvSpPr>
        <p:spPr bwMode="auto">
          <a:xfrm flipV="1">
            <a:off x="3429000" y="1508125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64" name="Line 18"/>
          <p:cNvSpPr>
            <a:spLocks noChangeShapeType="1"/>
          </p:cNvSpPr>
          <p:nvPr/>
        </p:nvSpPr>
        <p:spPr bwMode="auto">
          <a:xfrm>
            <a:off x="5181600" y="2117725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65" name="Line 19"/>
          <p:cNvSpPr>
            <a:spLocks noChangeShapeType="1"/>
          </p:cNvSpPr>
          <p:nvPr/>
        </p:nvSpPr>
        <p:spPr bwMode="auto">
          <a:xfrm flipV="1">
            <a:off x="4343400" y="2117725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66" name="Line 20"/>
          <p:cNvSpPr>
            <a:spLocks noChangeShapeType="1"/>
          </p:cNvSpPr>
          <p:nvPr/>
        </p:nvSpPr>
        <p:spPr bwMode="auto">
          <a:xfrm flipH="1">
            <a:off x="4038600" y="158432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67" name="Line 21"/>
          <p:cNvSpPr>
            <a:spLocks noChangeShapeType="1"/>
          </p:cNvSpPr>
          <p:nvPr/>
        </p:nvSpPr>
        <p:spPr bwMode="auto">
          <a:xfrm flipH="1">
            <a:off x="5715000" y="356552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68" name="Line 22"/>
          <p:cNvSpPr>
            <a:spLocks noChangeShapeType="1"/>
          </p:cNvSpPr>
          <p:nvPr/>
        </p:nvSpPr>
        <p:spPr bwMode="auto">
          <a:xfrm flipH="1">
            <a:off x="4191000" y="280352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69" name="Line 23"/>
          <p:cNvSpPr>
            <a:spLocks noChangeShapeType="1"/>
          </p:cNvSpPr>
          <p:nvPr/>
        </p:nvSpPr>
        <p:spPr bwMode="auto">
          <a:xfrm flipH="1">
            <a:off x="3124200" y="211772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70" name="Line 24"/>
          <p:cNvSpPr>
            <a:spLocks noChangeShapeType="1"/>
          </p:cNvSpPr>
          <p:nvPr/>
        </p:nvSpPr>
        <p:spPr bwMode="auto">
          <a:xfrm flipH="1">
            <a:off x="4953000" y="211772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71" name="Line 25"/>
          <p:cNvSpPr>
            <a:spLocks noChangeShapeType="1"/>
          </p:cNvSpPr>
          <p:nvPr/>
        </p:nvSpPr>
        <p:spPr bwMode="auto">
          <a:xfrm flipH="1">
            <a:off x="5715000" y="280352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72" name="Text Box 48"/>
          <p:cNvSpPr txBox="1">
            <a:spLocks noChangeArrowheads="1"/>
          </p:cNvSpPr>
          <p:nvPr/>
        </p:nvSpPr>
        <p:spPr bwMode="auto">
          <a:xfrm>
            <a:off x="1524000" y="3810000"/>
            <a:ext cx="38100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asgn</a:t>
            </a:r>
            <a:r>
              <a:rPr kumimoji="0" lang="en-US" altLang="zh-CN" sz="2000"/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000"/>
              <a:t> </a:t>
            </a:r>
            <a:r>
              <a:rPr kumimoji="0" lang="en-US" altLang="zh-CN" sz="2400" i="1">
                <a:sym typeface="Math1" pitchFamily="2" charset="2"/>
              </a:rPr>
              <a:t>var = asgn | var</a:t>
            </a:r>
            <a:endParaRPr kumimoji="0" lang="en-US" altLang="zh-CN" sz="2400" i="1">
              <a:sym typeface="Math1" pitchFamily="2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Math1" pitchFamily="2" charset="2"/>
              </a:rPr>
              <a:t>var</a:t>
            </a:r>
            <a:r>
              <a:rPr kumimoji="0" lang="en-US" altLang="zh-CN" sz="2400">
                <a:sym typeface="Math1" pitchFamily="2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400">
                <a:sym typeface="Math1" pitchFamily="2" charset="2"/>
              </a:rPr>
              <a:t>  a | b | c | …| z</a:t>
            </a:r>
            <a:endParaRPr kumimoji="0" lang="en-US" altLang="zh-CN" sz="2400">
              <a:sym typeface="Math1" pitchFamily="2" charset="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2.2.4  </a:t>
            </a:r>
            <a:r>
              <a:rPr lang="zh-CN" altLang="en-US"/>
              <a:t>运算符优先级</a:t>
            </a:r>
            <a:endParaRPr lang="zh-CN" alt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9+5*2——(9+5)*2 </a:t>
            </a:r>
            <a:r>
              <a:rPr lang="zh-CN" altLang="en-US" dirty="0"/>
              <a:t>还是 </a:t>
            </a:r>
            <a:r>
              <a:rPr lang="en-US" altLang="zh-CN" dirty="0"/>
              <a:t>9+(5*2)</a:t>
            </a:r>
            <a:r>
              <a:rPr lang="zh-CN" altLang="en-US" dirty="0"/>
              <a:t>？</a:t>
            </a:r>
            <a:endParaRPr lang="zh-CN" altLang="en-US" dirty="0"/>
          </a:p>
          <a:p>
            <a:pPr eaLnBrk="1" hangingPunct="1"/>
            <a:r>
              <a:rPr lang="zh-CN" altLang="en-US" dirty="0"/>
              <a:t>运算符优先级：*的优先级比</a:t>
            </a:r>
            <a:r>
              <a:rPr lang="en-US" altLang="zh-CN" dirty="0"/>
              <a:t>+</a:t>
            </a:r>
            <a:r>
              <a:rPr lang="zh-CN" altLang="en-US" dirty="0"/>
              <a:t>高</a:t>
            </a:r>
            <a:endParaRPr lang="zh-CN" altLang="en-US" dirty="0"/>
          </a:p>
          <a:p>
            <a:pPr eaLnBrk="1" hangingPunct="1"/>
            <a:r>
              <a:rPr lang="zh-CN" altLang="en-US" dirty="0"/>
              <a:t>典型的优先级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en-US" altLang="zh-CN" b="1" dirty="0">
                <a:solidFill>
                  <a:srgbClr val="3333CC"/>
                </a:solidFill>
              </a:rPr>
              <a:t>(   )</a:t>
            </a:r>
            <a:br>
              <a:rPr lang="en-US" altLang="zh-CN" dirty="0">
                <a:solidFill>
                  <a:srgbClr val="3333CC"/>
                </a:solidFill>
              </a:rPr>
            </a:br>
            <a:r>
              <a:rPr lang="en-US" altLang="zh-CN" dirty="0">
                <a:solidFill>
                  <a:srgbClr val="3333CC"/>
                </a:solidFill>
              </a:rPr>
              <a:t>  </a:t>
            </a:r>
            <a:r>
              <a:rPr lang="en-US" altLang="zh-CN" b="1" dirty="0">
                <a:solidFill>
                  <a:srgbClr val="3333CC"/>
                </a:solidFill>
              </a:rPr>
              <a:t>*  /</a:t>
            </a:r>
            <a:r>
              <a:rPr lang="en-US" altLang="zh-CN" dirty="0">
                <a:solidFill>
                  <a:srgbClr val="3333CC"/>
                </a:solidFill>
              </a:rPr>
              <a:t>  ——</a:t>
            </a:r>
            <a:r>
              <a:rPr lang="zh-CN" altLang="en-US" dirty="0">
                <a:solidFill>
                  <a:srgbClr val="FF3300"/>
                </a:solidFill>
              </a:rPr>
              <a:t>左结合</a:t>
            </a:r>
            <a:br>
              <a:rPr lang="zh-CN" altLang="en-US" dirty="0">
                <a:solidFill>
                  <a:srgbClr val="3333CC"/>
                </a:solidFill>
              </a:rPr>
            </a:br>
            <a:r>
              <a:rPr lang="zh-CN" altLang="en-US" dirty="0">
                <a:solidFill>
                  <a:srgbClr val="3333CC"/>
                </a:solidFill>
              </a:rPr>
              <a:t>  </a:t>
            </a:r>
            <a:r>
              <a:rPr lang="en-US" altLang="zh-CN" b="1" dirty="0">
                <a:solidFill>
                  <a:srgbClr val="3333CC"/>
                </a:solidFill>
              </a:rPr>
              <a:t>+  -</a:t>
            </a:r>
            <a:r>
              <a:rPr lang="en-US" altLang="zh-CN" dirty="0">
                <a:solidFill>
                  <a:srgbClr val="3333CC"/>
                </a:solidFill>
              </a:rPr>
              <a:t>  ——</a:t>
            </a:r>
            <a:r>
              <a:rPr lang="zh-CN" altLang="en-US" dirty="0">
                <a:solidFill>
                  <a:srgbClr val="FF3300"/>
                </a:solidFill>
              </a:rPr>
              <a:t>左结合</a:t>
            </a:r>
            <a:endParaRPr lang="en-US" altLang="zh-CN" dirty="0">
              <a:solidFill>
                <a:srgbClr val="FF3300"/>
              </a:solidFill>
            </a:endParaRPr>
          </a:p>
          <a:p>
            <a:pPr eaLnBrk="1" hangingPunct="1"/>
            <a:r>
              <a:rPr lang="zh-CN" altLang="en-US" dirty="0"/>
              <a:t>保持二义性文法，附加结合律和优先级来消除二义性（稍后介绍词法分析器生成工具）</a:t>
            </a:r>
            <a:endParaRPr lang="zh-CN" altLang="en-US" dirty="0">
              <a:solidFill>
                <a:srgbClr val="FF3300"/>
              </a:solidFill>
            </a:endParaRPr>
          </a:p>
        </p:txBody>
      </p:sp>
      <p:sp>
        <p:nvSpPr>
          <p:cNvPr id="28676" name="AutoShape 4"/>
          <p:cNvSpPr/>
          <p:nvPr/>
        </p:nvSpPr>
        <p:spPr bwMode="auto">
          <a:xfrm>
            <a:off x="1219200" y="3200400"/>
            <a:ext cx="381000" cy="1219200"/>
          </a:xfrm>
          <a:prstGeom prst="leftBrace">
            <a:avLst>
              <a:gd name="adj1" fmla="val 26667"/>
              <a:gd name="adj2" fmla="val 50000"/>
            </a:avLst>
          </a:prstGeom>
          <a:noFill/>
          <a:ln w="2857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设计非二义性的表达式文法</a:t>
            </a:r>
            <a:endParaRPr lang="zh-CN" altLang="en-US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i="1" dirty="0"/>
              <a:t>expr </a:t>
            </a:r>
            <a:r>
              <a:rPr kumimoji="0" lang="en-US" altLang="zh-CN" sz="2800" dirty="0">
                <a:sym typeface="Symbol" panose="05050102010706020507" pitchFamily="18" charset="2"/>
              </a:rPr>
              <a:t></a:t>
            </a:r>
            <a:r>
              <a:rPr kumimoji="0" lang="en-US" altLang="zh-CN" sz="2800" i="1" dirty="0"/>
              <a:t> </a:t>
            </a:r>
            <a:r>
              <a:rPr kumimoji="0" lang="en-US" altLang="zh-CN" sz="2800" dirty="0">
                <a:sym typeface="Math1" pitchFamily="2" charset="2"/>
              </a:rPr>
              <a:t> </a:t>
            </a:r>
            <a:r>
              <a:rPr kumimoji="0" lang="en-US" altLang="zh-CN" sz="2800" i="1" dirty="0">
                <a:sym typeface="Math1" pitchFamily="2" charset="2"/>
              </a:rPr>
              <a:t>expr + term | expr – term | term</a:t>
            </a:r>
            <a:endParaRPr kumimoji="0" lang="en-US" altLang="zh-CN" sz="2800" i="1" dirty="0">
              <a:sym typeface="Math1" pitchFamily="2" charset="2"/>
            </a:endParaRP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i="1" dirty="0">
                <a:sym typeface="Math1" pitchFamily="2" charset="2"/>
              </a:rPr>
              <a:t>term</a:t>
            </a:r>
            <a:r>
              <a:rPr kumimoji="0" lang="en-US" altLang="zh-CN" sz="2800" dirty="0">
                <a:sym typeface="Math1" pitchFamily="2" charset="2"/>
              </a:rPr>
              <a:t> </a:t>
            </a:r>
            <a:r>
              <a:rPr kumimoji="0" lang="en-US" altLang="zh-CN" sz="2800" dirty="0">
                <a:sym typeface="Symbol" panose="05050102010706020507" pitchFamily="18" charset="2"/>
              </a:rPr>
              <a:t></a:t>
            </a:r>
            <a:r>
              <a:rPr kumimoji="0" lang="en-US" altLang="zh-CN" sz="2800" dirty="0">
                <a:sym typeface="Math1" pitchFamily="2" charset="2"/>
              </a:rPr>
              <a:t>  </a:t>
            </a:r>
            <a:r>
              <a:rPr kumimoji="0" lang="en-US" altLang="zh-CN" sz="2800" i="1" dirty="0">
                <a:sym typeface="Math1" pitchFamily="2" charset="2"/>
              </a:rPr>
              <a:t>term * factor | term / factor | factor</a:t>
            </a:r>
            <a:endParaRPr kumimoji="0" lang="en-US" altLang="zh-CN" sz="2800" i="1" dirty="0">
              <a:sym typeface="Math1" pitchFamily="2" charset="2"/>
            </a:endParaRP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i="1" dirty="0">
                <a:sym typeface="Math1" pitchFamily="2" charset="2"/>
              </a:rPr>
              <a:t>factor </a:t>
            </a:r>
            <a:r>
              <a:rPr kumimoji="0" lang="en-US" altLang="zh-CN" sz="2800" dirty="0">
                <a:sym typeface="Symbol" panose="05050102010706020507" pitchFamily="18" charset="2"/>
              </a:rPr>
              <a:t></a:t>
            </a:r>
            <a:r>
              <a:rPr kumimoji="0" lang="en-US" altLang="zh-CN" sz="2800" i="1" dirty="0">
                <a:sym typeface="Math1" pitchFamily="2" charset="2"/>
              </a:rPr>
              <a:t> </a:t>
            </a:r>
            <a:r>
              <a:rPr kumimoji="0" lang="en-US" altLang="zh-CN" sz="2800" dirty="0">
                <a:sym typeface="Math1" pitchFamily="2" charset="2"/>
              </a:rPr>
              <a:t> </a:t>
            </a:r>
            <a:r>
              <a:rPr kumimoji="0" lang="en-US" altLang="zh-CN" sz="2800" b="1" dirty="0">
                <a:ea typeface="黑体" panose="02010609060101010101" pitchFamily="49" charset="-122"/>
                <a:sym typeface="Math1" pitchFamily="2" charset="2"/>
              </a:rPr>
              <a:t>digit</a:t>
            </a:r>
            <a:r>
              <a:rPr kumimoji="0" lang="en-US" altLang="zh-CN" sz="2800" i="1" dirty="0">
                <a:sym typeface="Math1" pitchFamily="2" charset="2"/>
              </a:rPr>
              <a:t> | (  expr  )</a:t>
            </a:r>
            <a:endParaRPr kumimoji="0" lang="en-US" altLang="zh-CN" sz="2800" i="1" dirty="0">
              <a:sym typeface="Math1" pitchFamily="2" charset="2"/>
            </a:endParaRP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dirty="0">
                <a:sym typeface="Math1" pitchFamily="2" charset="2"/>
              </a:rPr>
              <a:t>digit</a:t>
            </a:r>
            <a:r>
              <a:rPr kumimoji="0" lang="en-US" altLang="zh-CN" sz="2800" i="1" dirty="0">
                <a:sym typeface="Math1" pitchFamily="2" charset="2"/>
              </a:rPr>
              <a:t> </a:t>
            </a:r>
            <a:r>
              <a:rPr kumimoji="0" lang="en-US" altLang="zh-CN" sz="2800" dirty="0">
                <a:sym typeface="Symbol" panose="05050102010706020507" pitchFamily="18" charset="2"/>
              </a:rPr>
              <a:t></a:t>
            </a:r>
            <a:r>
              <a:rPr kumimoji="0" lang="en-US" altLang="zh-CN" sz="2800" i="1" dirty="0">
                <a:sym typeface="Math1" pitchFamily="2" charset="2"/>
              </a:rPr>
              <a:t> </a:t>
            </a:r>
            <a:r>
              <a:rPr kumimoji="0" lang="en-US" altLang="zh-CN" sz="2800" dirty="0">
                <a:sym typeface="Math1" pitchFamily="2" charset="2"/>
              </a:rPr>
              <a:t> 0 | 1 | 2 | 3 | … | 9</a:t>
            </a:r>
            <a:endParaRPr lang="en-US" altLang="zh-CN" sz="2800" dirty="0"/>
          </a:p>
          <a:p>
            <a:pPr eaLnBrk="1" hangingPunct="1"/>
            <a:r>
              <a:rPr lang="zh-CN" altLang="en-US" dirty="0"/>
              <a:t>体现优先级和结合律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expr</a:t>
            </a:r>
            <a:r>
              <a:rPr lang="zh-CN" altLang="en-US" dirty="0"/>
              <a:t>、</a:t>
            </a:r>
            <a:r>
              <a:rPr lang="en-US" altLang="zh-CN" dirty="0"/>
              <a:t>term</a:t>
            </a:r>
            <a:r>
              <a:rPr lang="zh-CN" altLang="en-US" dirty="0"/>
              <a:t>、</a:t>
            </a:r>
            <a:r>
              <a:rPr lang="en-US" altLang="zh-CN" dirty="0"/>
              <a:t>factor——</a:t>
            </a:r>
            <a:r>
              <a:rPr lang="zh-CN" altLang="en-US" dirty="0"/>
              <a:t>不同的优先级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左（右）递归</a:t>
            </a:r>
            <a:r>
              <a:rPr lang="en-US" altLang="zh-CN" dirty="0"/>
              <a:t>——</a:t>
            </a:r>
            <a:r>
              <a:rPr lang="zh-CN" altLang="en-US" dirty="0"/>
              <a:t>左（右）结合</a:t>
            </a:r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推导练习</a:t>
            </a:r>
            <a:endParaRPr lang="zh-CN" alt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zh-CN"/>
              <a:t>7 – 3 * (4 + 6)</a:t>
            </a:r>
            <a:endParaRPr lang="en-US" altLang="zh-CN"/>
          </a:p>
        </p:txBody>
      </p:sp>
      <p:sp>
        <p:nvSpPr>
          <p:cNvPr id="155652" name="Rectangle 4"/>
          <p:cNvSpPr>
            <a:spLocks noChangeArrowheads="1"/>
          </p:cNvSpPr>
          <p:nvPr/>
        </p:nvSpPr>
        <p:spPr bwMode="auto">
          <a:xfrm>
            <a:off x="76200" y="2209800"/>
            <a:ext cx="396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i="1"/>
              <a:t>expr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400" i="1">
                <a:solidFill>
                  <a:srgbClr val="3333CC"/>
                </a:solidFill>
                <a:sym typeface="Symbol" panose="05050102010706020507" pitchFamily="18" charset="2"/>
              </a:rPr>
              <a:t>expr</a:t>
            </a:r>
            <a:r>
              <a:rPr kumimoji="0" lang="en-US" altLang="zh-CN" sz="2400">
                <a:sym typeface="Symbol" panose="05050102010706020507" pitchFamily="18" charset="2"/>
              </a:rPr>
              <a:t> – </a:t>
            </a:r>
            <a:r>
              <a:rPr kumimoji="0" lang="en-US" altLang="zh-CN" sz="2400" i="1">
                <a:sym typeface="Symbol" panose="05050102010706020507" pitchFamily="18" charset="2"/>
              </a:rPr>
              <a:t>term</a:t>
            </a:r>
            <a:endParaRPr kumimoji="0" lang="en-US" altLang="zh-CN" sz="2400" i="1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</a:t>
            </a:r>
            <a:r>
              <a:rPr kumimoji="0" lang="en-US" altLang="zh-CN" sz="2400" i="1">
                <a:solidFill>
                  <a:srgbClr val="3333CC"/>
                </a:solidFill>
                <a:sym typeface="Symbol" panose="05050102010706020507" pitchFamily="18" charset="2"/>
              </a:rPr>
              <a:t>term</a:t>
            </a:r>
            <a:r>
              <a:rPr kumimoji="0" lang="en-US" altLang="zh-CN" sz="2400">
                <a:sym typeface="Symbol" panose="05050102010706020507" pitchFamily="18" charset="2"/>
              </a:rPr>
              <a:t> – </a:t>
            </a:r>
            <a:r>
              <a:rPr kumimoji="0" lang="en-US" altLang="zh-CN" sz="2400" i="1">
                <a:sym typeface="Symbol" panose="05050102010706020507" pitchFamily="18" charset="2"/>
              </a:rPr>
              <a:t>term</a:t>
            </a:r>
            <a:endParaRPr kumimoji="0" lang="en-US" altLang="zh-CN" sz="2400" i="1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</a:t>
            </a:r>
            <a:r>
              <a:rPr kumimoji="0" lang="en-US" altLang="zh-CN" sz="2400" i="1">
                <a:solidFill>
                  <a:srgbClr val="3333CC"/>
                </a:solidFill>
                <a:sym typeface="Symbol" panose="05050102010706020507" pitchFamily="18" charset="2"/>
              </a:rPr>
              <a:t>factor</a:t>
            </a:r>
            <a:r>
              <a:rPr kumimoji="0" lang="en-US" altLang="zh-CN" sz="2400">
                <a:sym typeface="Symbol" panose="05050102010706020507" pitchFamily="18" charset="2"/>
              </a:rPr>
              <a:t> – </a:t>
            </a:r>
            <a:r>
              <a:rPr kumimoji="0" lang="en-US" altLang="zh-CN" sz="2400" i="1">
                <a:sym typeface="Symbol" panose="05050102010706020507" pitchFamily="18" charset="2"/>
              </a:rPr>
              <a:t>term</a:t>
            </a:r>
            <a:endParaRPr kumimoji="0" lang="en-US" altLang="zh-CN" sz="2400" i="1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       </a:t>
            </a:r>
            <a:r>
              <a:rPr kumimoji="0" lang="en-US" altLang="zh-CN" sz="2400">
                <a:sym typeface="Symbol" panose="05050102010706020507" pitchFamily="18" charset="2"/>
              </a:rPr>
              <a:t>7 – </a:t>
            </a:r>
            <a:r>
              <a:rPr kumimoji="0" lang="en-US" altLang="zh-CN" sz="2400" i="1">
                <a:solidFill>
                  <a:srgbClr val="3333CC"/>
                </a:solidFill>
                <a:sym typeface="Symbol" panose="05050102010706020507" pitchFamily="18" charset="2"/>
              </a:rPr>
              <a:t>term</a:t>
            </a:r>
            <a:endParaRPr kumimoji="0" lang="en-US" altLang="zh-CN" sz="2400" i="1">
              <a:solidFill>
                <a:srgbClr val="3333CC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7 – </a:t>
            </a:r>
            <a:r>
              <a:rPr kumimoji="0" lang="en-US" altLang="zh-CN" sz="2400" i="1">
                <a:solidFill>
                  <a:srgbClr val="3333CC"/>
                </a:solidFill>
                <a:sym typeface="Symbol" panose="05050102010706020507" pitchFamily="18" charset="2"/>
              </a:rPr>
              <a:t>term</a:t>
            </a:r>
            <a:r>
              <a:rPr kumimoji="0" lang="en-US" altLang="zh-CN" sz="2400">
                <a:sym typeface="Symbol" panose="05050102010706020507" pitchFamily="18" charset="2"/>
              </a:rPr>
              <a:t> * </a:t>
            </a:r>
            <a:r>
              <a:rPr kumimoji="0" lang="en-US" altLang="zh-CN" sz="2400" i="1">
                <a:sym typeface="Symbol" panose="05050102010706020507" pitchFamily="18" charset="2"/>
              </a:rPr>
              <a:t>factor</a:t>
            </a:r>
            <a:endParaRPr kumimoji="0" lang="en-US" altLang="zh-CN" sz="2400" i="1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7 – </a:t>
            </a:r>
            <a:r>
              <a:rPr kumimoji="0" lang="en-US" altLang="zh-CN" sz="2400" i="1">
                <a:solidFill>
                  <a:srgbClr val="3333CC"/>
                </a:solidFill>
                <a:sym typeface="Symbol" panose="05050102010706020507" pitchFamily="18" charset="2"/>
              </a:rPr>
              <a:t>factor</a:t>
            </a:r>
            <a:r>
              <a:rPr kumimoji="0" lang="en-US" altLang="zh-CN" sz="2400">
                <a:sym typeface="Symbol" panose="05050102010706020507" pitchFamily="18" charset="2"/>
              </a:rPr>
              <a:t> * </a:t>
            </a:r>
            <a:r>
              <a:rPr kumimoji="0" lang="en-US" altLang="zh-CN" sz="2400" i="1">
                <a:sym typeface="Symbol" panose="05050102010706020507" pitchFamily="18" charset="2"/>
              </a:rPr>
              <a:t>factor</a:t>
            </a:r>
            <a:endParaRPr kumimoji="0" lang="en-US" altLang="zh-CN" sz="2400" i="1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7 – 3 * </a:t>
            </a:r>
            <a:r>
              <a:rPr kumimoji="0" lang="en-US" altLang="zh-CN" sz="2400" i="1">
                <a:solidFill>
                  <a:srgbClr val="3333CC"/>
                </a:solidFill>
                <a:sym typeface="Symbol" panose="05050102010706020507" pitchFamily="18" charset="2"/>
              </a:rPr>
              <a:t>factor</a:t>
            </a:r>
            <a:endParaRPr kumimoji="0" lang="en-US" altLang="zh-CN" sz="2400" i="1">
              <a:solidFill>
                <a:srgbClr val="3333CC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7 – 3 * (  </a:t>
            </a:r>
            <a:r>
              <a:rPr kumimoji="0" lang="en-US" altLang="zh-CN" sz="2400" i="1">
                <a:solidFill>
                  <a:srgbClr val="3333CC"/>
                </a:solidFill>
                <a:sym typeface="Symbol" panose="05050102010706020507" pitchFamily="18" charset="2"/>
              </a:rPr>
              <a:t>expr</a:t>
            </a:r>
            <a:r>
              <a:rPr kumimoji="0" lang="en-US" altLang="zh-CN" sz="2400">
                <a:sym typeface="Symbol" panose="05050102010706020507" pitchFamily="18" charset="2"/>
              </a:rPr>
              <a:t> 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7 – 3 * (  </a:t>
            </a:r>
            <a:r>
              <a:rPr kumimoji="0" lang="en-US" altLang="zh-CN" sz="2400" i="1">
                <a:solidFill>
                  <a:srgbClr val="3333CC"/>
                </a:solidFill>
                <a:sym typeface="Symbol" panose="05050102010706020507" pitchFamily="18" charset="2"/>
              </a:rPr>
              <a:t>expr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+</a:t>
            </a:r>
            <a:r>
              <a:rPr kumimoji="0" lang="en-US" altLang="zh-CN" sz="2400" i="1">
                <a:sym typeface="Symbol" panose="05050102010706020507" pitchFamily="18" charset="2"/>
              </a:rPr>
              <a:t> term</a:t>
            </a:r>
            <a:r>
              <a:rPr kumimoji="0" lang="en-US" altLang="zh-CN" sz="2400">
                <a:sym typeface="Symbol" panose="05050102010706020507" pitchFamily="18" charset="2"/>
              </a:rPr>
              <a:t> )</a:t>
            </a:r>
            <a:endParaRPr kumimoji="0" lang="en-US" altLang="zh-CN" sz="2400">
              <a:sym typeface="Symbol" panose="05050102010706020507" pitchFamily="18" charset="2"/>
            </a:endParaRPr>
          </a:p>
        </p:txBody>
      </p:sp>
      <p:sp>
        <p:nvSpPr>
          <p:cNvPr id="155654" name="Rectangle 6"/>
          <p:cNvSpPr>
            <a:spLocks noChangeArrowheads="1"/>
          </p:cNvSpPr>
          <p:nvPr/>
        </p:nvSpPr>
        <p:spPr bwMode="auto">
          <a:xfrm>
            <a:off x="3733800" y="3657600"/>
            <a:ext cx="39624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7 – 3 * (  </a:t>
            </a:r>
            <a:r>
              <a:rPr kumimoji="0" lang="en-US" altLang="zh-CN" sz="2400" i="1">
                <a:solidFill>
                  <a:srgbClr val="3333CC"/>
                </a:solidFill>
                <a:sym typeface="Symbol" panose="05050102010706020507" pitchFamily="18" charset="2"/>
              </a:rPr>
              <a:t>term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+</a:t>
            </a:r>
            <a:r>
              <a:rPr kumimoji="0" lang="en-US" altLang="zh-CN" sz="2400" i="1">
                <a:sym typeface="Symbol" panose="05050102010706020507" pitchFamily="18" charset="2"/>
              </a:rPr>
              <a:t> term</a:t>
            </a:r>
            <a:r>
              <a:rPr kumimoji="0" lang="en-US" altLang="zh-CN" sz="2400">
                <a:sym typeface="Symbol" panose="05050102010706020507" pitchFamily="18" charset="2"/>
              </a:rPr>
              <a:t> 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7 – 3 * (  </a:t>
            </a:r>
            <a:r>
              <a:rPr kumimoji="0" lang="en-US" altLang="zh-CN" sz="2400" i="1">
                <a:solidFill>
                  <a:srgbClr val="3333CC"/>
                </a:solidFill>
                <a:sym typeface="Symbol" panose="05050102010706020507" pitchFamily="18" charset="2"/>
              </a:rPr>
              <a:t>factor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+</a:t>
            </a:r>
            <a:r>
              <a:rPr kumimoji="0" lang="en-US" altLang="zh-CN" sz="2400" i="1">
                <a:sym typeface="Symbol" panose="05050102010706020507" pitchFamily="18" charset="2"/>
              </a:rPr>
              <a:t> term</a:t>
            </a:r>
            <a:r>
              <a:rPr kumimoji="0" lang="en-US" altLang="zh-CN" sz="2400">
                <a:sym typeface="Symbol" panose="05050102010706020507" pitchFamily="18" charset="2"/>
              </a:rPr>
              <a:t> 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7 – 3 * (  4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+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olidFill>
                  <a:srgbClr val="3333CC"/>
                </a:solidFill>
                <a:sym typeface="Symbol" panose="05050102010706020507" pitchFamily="18" charset="2"/>
              </a:rPr>
              <a:t>term</a:t>
            </a:r>
            <a:r>
              <a:rPr kumimoji="0" lang="en-US" altLang="zh-CN" sz="2400">
                <a:sym typeface="Symbol" panose="05050102010706020507" pitchFamily="18" charset="2"/>
              </a:rPr>
              <a:t> 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7 – 3 * (  4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+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olidFill>
                  <a:srgbClr val="3333CC"/>
                </a:solidFill>
                <a:sym typeface="Symbol" panose="05050102010706020507" pitchFamily="18" charset="2"/>
              </a:rPr>
              <a:t>factor</a:t>
            </a:r>
            <a:r>
              <a:rPr kumimoji="0" lang="en-US" altLang="zh-CN" sz="2400">
                <a:sym typeface="Symbol" panose="05050102010706020507" pitchFamily="18" charset="2"/>
              </a:rPr>
              <a:t> 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7 – 3 * (  4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+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6 )</a:t>
            </a:r>
            <a:endParaRPr kumimoji="0" lang="en-US" altLang="zh-CN" sz="2400">
              <a:sym typeface="Symbol" panose="05050102010706020507" pitchFamily="18" charset="2"/>
            </a:endParaRPr>
          </a:p>
        </p:txBody>
      </p:sp>
      <p:pic>
        <p:nvPicPr>
          <p:cNvPr id="155655" name="Picture 7" descr="deriv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0"/>
            <a:ext cx="3970338" cy="369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2" grpId="0" autoUpdateAnimBg="0"/>
      <p:bldP spid="155654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678" name="Picture 6" descr="1b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752600"/>
            <a:ext cx="4113213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推导练习</a:t>
            </a:r>
            <a:endParaRPr lang="zh-CN" altLang="en-US"/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1066800"/>
          </a:xfrm>
        </p:spPr>
        <p:txBody>
          <a:bodyPr/>
          <a:lstStyle/>
          <a:p>
            <a:pPr eaLnBrk="1" hangingPunct="1"/>
            <a:r>
              <a:rPr lang="en-US" altLang="zh-CN"/>
              <a:t>S</a:t>
            </a:r>
            <a:r>
              <a:rPr lang="en-US" altLang="zh-CN">
                <a:latin typeface="宋体" panose="02010600030101010101" pitchFamily="2" charset="-122"/>
              </a:rPr>
              <a:t>→</a:t>
            </a:r>
            <a:r>
              <a:rPr lang="en-US" altLang="zh-CN"/>
              <a:t> S S + | S S * | a</a:t>
            </a:r>
            <a:br>
              <a:rPr lang="en-US" altLang="zh-CN"/>
            </a:br>
            <a:r>
              <a:rPr lang="zh-CN" altLang="en-US"/>
              <a:t>给出</a:t>
            </a:r>
            <a:r>
              <a:rPr lang="en-US" altLang="zh-CN"/>
              <a:t>aa+a*</a:t>
            </a:r>
            <a:r>
              <a:rPr lang="zh-CN" altLang="en-US"/>
              <a:t>的推导和语法树</a:t>
            </a:r>
            <a:endParaRPr lang="zh-CN" altLang="en-US"/>
          </a:p>
        </p:txBody>
      </p:sp>
      <p:sp>
        <p:nvSpPr>
          <p:cNvPr id="156676" name="Rectangle 4"/>
          <p:cNvSpPr>
            <a:spLocks noChangeArrowheads="1"/>
          </p:cNvSpPr>
          <p:nvPr/>
        </p:nvSpPr>
        <p:spPr bwMode="auto">
          <a:xfrm>
            <a:off x="914400" y="2514600"/>
            <a:ext cx="7162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i="1">
                <a:sym typeface="Symbol" panose="05050102010706020507" pitchFamily="18" charset="2"/>
              </a:rPr>
              <a:t>S</a:t>
            </a:r>
            <a:r>
              <a:rPr kumimoji="0" lang="en-US" altLang="zh-CN" i="1">
                <a:latin typeface="宋体" panose="02010600030101010101" pitchFamily="2" charset="-122"/>
                <a:sym typeface="Symbol" panose="05050102010706020507" pitchFamily="18" charset="2"/>
              </a:rPr>
              <a:t>→</a:t>
            </a:r>
            <a:r>
              <a:rPr kumimoji="0" lang="en-US" altLang="zh-CN" i="1">
                <a:sym typeface="Symbol" panose="05050102010706020507" pitchFamily="18" charset="2"/>
              </a:rPr>
              <a:t> </a:t>
            </a:r>
            <a:r>
              <a:rPr kumimoji="0" lang="en-US" altLang="zh-CN" i="1">
                <a:solidFill>
                  <a:srgbClr val="3333CC"/>
                </a:solidFill>
                <a:sym typeface="Symbol" panose="05050102010706020507" pitchFamily="18" charset="2"/>
              </a:rPr>
              <a:t>S</a:t>
            </a:r>
            <a:r>
              <a:rPr kumimoji="0" lang="en-US" altLang="zh-CN" i="1">
                <a:sym typeface="Symbol" panose="05050102010706020507" pitchFamily="18" charset="2"/>
              </a:rPr>
              <a:t> S *</a:t>
            </a:r>
            <a:endParaRPr kumimoji="0" lang="en-US" altLang="zh-CN" i="1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i="1">
                <a:sym typeface="Symbol" panose="05050102010706020507" pitchFamily="18" charset="2"/>
              </a:rPr>
              <a:t>  </a:t>
            </a:r>
            <a:r>
              <a:rPr kumimoji="0" lang="en-US" altLang="zh-CN" i="1">
                <a:latin typeface="宋体" panose="02010600030101010101" pitchFamily="2" charset="-122"/>
                <a:sym typeface="Symbol" panose="05050102010706020507" pitchFamily="18" charset="2"/>
              </a:rPr>
              <a:t>→</a:t>
            </a:r>
            <a:r>
              <a:rPr kumimoji="0" lang="en-US" altLang="zh-CN" i="1">
                <a:sym typeface="Symbol" panose="05050102010706020507" pitchFamily="18" charset="2"/>
              </a:rPr>
              <a:t> </a:t>
            </a:r>
            <a:r>
              <a:rPr kumimoji="0" lang="en-US" altLang="zh-CN" i="1">
                <a:solidFill>
                  <a:srgbClr val="3333CC"/>
                </a:solidFill>
                <a:sym typeface="Symbol" panose="05050102010706020507" pitchFamily="18" charset="2"/>
              </a:rPr>
              <a:t>S</a:t>
            </a:r>
            <a:r>
              <a:rPr kumimoji="0" lang="en-US" altLang="zh-CN" i="1">
                <a:sym typeface="Symbol" panose="05050102010706020507" pitchFamily="18" charset="2"/>
              </a:rPr>
              <a:t> S + S *</a:t>
            </a:r>
            <a:endParaRPr kumimoji="0" lang="en-US" altLang="zh-CN" i="1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i="1">
                <a:sym typeface="Symbol" panose="05050102010706020507" pitchFamily="18" charset="2"/>
              </a:rPr>
              <a:t>  </a:t>
            </a:r>
            <a:r>
              <a:rPr kumimoji="0" lang="en-US" altLang="zh-CN" i="1">
                <a:latin typeface="宋体" panose="02010600030101010101" pitchFamily="2" charset="-122"/>
                <a:sym typeface="Symbol" panose="05050102010706020507" pitchFamily="18" charset="2"/>
              </a:rPr>
              <a:t>→</a:t>
            </a:r>
            <a:r>
              <a:rPr kumimoji="0" lang="en-US" altLang="zh-CN" i="1">
                <a:sym typeface="Symbol" panose="05050102010706020507" pitchFamily="18" charset="2"/>
              </a:rPr>
              <a:t>a </a:t>
            </a:r>
            <a:r>
              <a:rPr kumimoji="0" lang="en-US" altLang="zh-CN" i="1">
                <a:solidFill>
                  <a:srgbClr val="3333CC"/>
                </a:solidFill>
                <a:sym typeface="Symbol" panose="05050102010706020507" pitchFamily="18" charset="2"/>
              </a:rPr>
              <a:t>S</a:t>
            </a:r>
            <a:r>
              <a:rPr kumimoji="0" lang="en-US" altLang="zh-CN" i="1">
                <a:sym typeface="Symbol" panose="05050102010706020507" pitchFamily="18" charset="2"/>
              </a:rPr>
              <a:t> + S *</a:t>
            </a:r>
            <a:endParaRPr kumimoji="0" lang="en-US" altLang="zh-CN" i="1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i="1">
                <a:sym typeface="Symbol" panose="05050102010706020507" pitchFamily="18" charset="2"/>
              </a:rPr>
              <a:t>  </a:t>
            </a:r>
            <a:r>
              <a:rPr kumimoji="0" lang="en-US" altLang="zh-CN" i="1">
                <a:latin typeface="宋体" panose="02010600030101010101" pitchFamily="2" charset="-122"/>
                <a:sym typeface="Symbol" panose="05050102010706020507" pitchFamily="18" charset="2"/>
              </a:rPr>
              <a:t>→</a:t>
            </a:r>
            <a:r>
              <a:rPr kumimoji="0" lang="en-US" altLang="zh-CN" i="1">
                <a:sym typeface="Symbol" panose="05050102010706020507" pitchFamily="18" charset="2"/>
              </a:rPr>
              <a:t> a a + </a:t>
            </a:r>
            <a:r>
              <a:rPr kumimoji="0" lang="en-US" altLang="zh-CN" i="1">
                <a:solidFill>
                  <a:srgbClr val="3333CC"/>
                </a:solidFill>
                <a:sym typeface="Symbol" panose="05050102010706020507" pitchFamily="18" charset="2"/>
              </a:rPr>
              <a:t>S </a:t>
            </a:r>
            <a:r>
              <a:rPr kumimoji="0" lang="en-US" altLang="zh-CN" i="1">
                <a:sym typeface="Symbol" panose="05050102010706020507" pitchFamily="18" charset="2"/>
              </a:rPr>
              <a:t>*</a:t>
            </a:r>
            <a:endParaRPr kumimoji="0" lang="en-US" altLang="zh-CN" i="1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i="1">
                <a:sym typeface="Symbol" panose="05050102010706020507" pitchFamily="18" charset="2"/>
              </a:rPr>
              <a:t>  </a:t>
            </a:r>
            <a:r>
              <a:rPr kumimoji="0" lang="en-US" altLang="zh-CN" i="1">
                <a:latin typeface="宋体" panose="02010600030101010101" pitchFamily="2" charset="-122"/>
                <a:sym typeface="Symbol" panose="05050102010706020507" pitchFamily="18" charset="2"/>
              </a:rPr>
              <a:t>→</a:t>
            </a:r>
            <a:r>
              <a:rPr kumimoji="0" lang="en-US" altLang="zh-CN" i="1">
                <a:sym typeface="Symbol" panose="05050102010706020507" pitchFamily="18" charset="2"/>
              </a:rPr>
              <a:t> a a + a * </a:t>
            </a:r>
            <a:endParaRPr kumimoji="0" lang="en-US" altLang="zh-CN" i="1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6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Grammar-based compression</a:t>
            </a:r>
            <a:endParaRPr lang="zh-CN" altLang="en-US"/>
          </a:p>
        </p:txBody>
      </p:sp>
      <p:sp>
        <p:nvSpPr>
          <p:cNvPr id="3072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i="1"/>
              <a:t>x</a:t>
            </a:r>
            <a:r>
              <a:rPr lang="en-US" altLang="zh-CN" sz="2800"/>
              <a:t>=10011100010001110001111111000</a:t>
            </a:r>
            <a:r>
              <a:rPr lang="en-US" altLang="zh-CN" sz="2800">
                <a:sym typeface="Wingdings" panose="05000000000000000000" pitchFamily="2" charset="2"/>
              </a:rPr>
              <a:t></a:t>
            </a:r>
            <a:endParaRPr lang="en-US" altLang="zh-CN" sz="28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800" i="1"/>
              <a:t>s</a:t>
            </a:r>
            <a:r>
              <a:rPr kumimoji="0" lang="en-US" altLang="zh-CN" sz="2800" baseline="-25000"/>
              <a:t>0</a:t>
            </a:r>
            <a:r>
              <a:rPr kumimoji="0" lang="en-US" altLang="zh-CN" sz="2800" i="1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</a:t>
            </a:r>
            <a:r>
              <a:rPr kumimoji="0" lang="en-US" altLang="zh-CN" sz="2800" i="1"/>
              <a:t> s</a:t>
            </a:r>
            <a:r>
              <a:rPr kumimoji="0" lang="en-US" altLang="zh-CN" sz="2800" baseline="-25000"/>
              <a:t>1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3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2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3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3</a:t>
            </a:r>
            <a:endParaRPr kumimoji="0" lang="en-US" altLang="zh-CN" sz="2800" baseline="-250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800" i="1"/>
              <a:t>s</a:t>
            </a:r>
            <a:r>
              <a:rPr kumimoji="0" lang="en-US" altLang="zh-CN" sz="2800" baseline="-25000"/>
              <a:t>1</a:t>
            </a:r>
            <a:r>
              <a:rPr kumimoji="0" lang="en-US" altLang="zh-CN" sz="2800" i="1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 100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800" i="1"/>
              <a:t>s</a:t>
            </a:r>
            <a:r>
              <a:rPr kumimoji="0" lang="en-US" altLang="zh-CN" sz="2800" baseline="-25000"/>
              <a:t>2</a:t>
            </a:r>
            <a:r>
              <a:rPr kumimoji="0" lang="en-US" altLang="zh-CN" sz="2800" i="1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</a:t>
            </a:r>
            <a:r>
              <a:rPr kumimoji="0" lang="en-US" altLang="zh-CN" sz="2800" i="1"/>
              <a:t> s</a:t>
            </a:r>
            <a:r>
              <a:rPr kumimoji="0" lang="en-US" altLang="zh-CN" sz="2800" baseline="-25000"/>
              <a:t>1</a:t>
            </a:r>
            <a:r>
              <a:rPr kumimoji="0" lang="en-US" altLang="zh-CN" sz="2800">
                <a:sym typeface="Symbol" panose="05050102010706020507" pitchFamily="18" charset="2"/>
              </a:rPr>
              <a:t>0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800" i="1"/>
              <a:t>s</a:t>
            </a:r>
            <a:r>
              <a:rPr kumimoji="0" lang="en-US" altLang="zh-CN" sz="2800" baseline="-25000"/>
              <a:t>3</a:t>
            </a:r>
            <a:r>
              <a:rPr kumimoji="0" lang="en-US" altLang="zh-CN" sz="2800" i="1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</a:t>
            </a:r>
            <a:r>
              <a:rPr kumimoji="0" lang="en-US" altLang="zh-CN" sz="2800" i="1"/>
              <a:t> 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2</a:t>
            </a:r>
            <a:endParaRPr kumimoji="0" lang="en-US" altLang="zh-CN" sz="2800" baseline="-250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 11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>
              <a:spcBef>
                <a:spcPts val="800"/>
              </a:spcBef>
              <a:buFont typeface="Wingdings" panose="05000000000000000000" pitchFamily="2" charset="2"/>
              <a:buNone/>
            </a:pPr>
            <a:r>
              <a:rPr kumimoji="0" lang="zh-CN" altLang="en-US" sz="2800">
                <a:sym typeface="Symbol" panose="05050102010706020507" pitchFamily="18" charset="2"/>
              </a:rPr>
              <a:t>解压</a:t>
            </a:r>
            <a:r>
              <a:rPr kumimoji="0" lang="en-US" altLang="zh-CN" sz="2800">
                <a:sym typeface="Symbol" panose="05050102010706020507" pitchFamily="18" charset="2"/>
              </a:rPr>
              <a:t>——</a:t>
            </a:r>
            <a:r>
              <a:rPr kumimoji="0" lang="zh-CN" altLang="en-US" sz="2800">
                <a:sym typeface="Symbol" panose="05050102010706020507" pitchFamily="18" charset="2"/>
              </a:rPr>
              <a:t>推导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800" i="1"/>
              <a:t>s</a:t>
            </a:r>
            <a:r>
              <a:rPr kumimoji="0" lang="en-US" altLang="zh-CN" sz="2800" baseline="-25000"/>
              <a:t>0</a:t>
            </a:r>
            <a:r>
              <a:rPr kumimoji="0" lang="en-US" altLang="zh-CN" sz="2800" i="1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</a:t>
            </a:r>
            <a:r>
              <a:rPr kumimoji="0" lang="en-US" altLang="zh-CN" sz="2800" i="1"/>
              <a:t> s</a:t>
            </a:r>
            <a:r>
              <a:rPr kumimoji="0" lang="en-US" altLang="zh-CN" sz="2800" baseline="-25000"/>
              <a:t>1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3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2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3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3</a:t>
            </a:r>
            <a:r>
              <a:rPr kumimoji="0" lang="en-US" altLang="zh-CN" sz="2800" i="1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</a:t>
            </a:r>
            <a:r>
              <a:rPr kumimoji="0" lang="en-US" altLang="zh-CN" sz="2800" i="1"/>
              <a:t> s</a:t>
            </a:r>
            <a:r>
              <a:rPr kumimoji="0" lang="en-US" altLang="zh-CN" sz="2800" baseline="-25000"/>
              <a:t>1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2 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2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2</a:t>
            </a:r>
            <a:r>
              <a:rPr kumimoji="0" lang="en-US" altLang="zh-CN" sz="2800" baseline="-25000"/>
              <a:t> 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2</a:t>
            </a:r>
            <a:br>
              <a:rPr kumimoji="0" lang="en-US" altLang="zh-CN" sz="2800" i="1"/>
            </a:br>
            <a:r>
              <a:rPr kumimoji="0" lang="en-US" altLang="zh-CN" sz="2800">
                <a:sym typeface="Symbol" panose="05050102010706020507" pitchFamily="18" charset="2"/>
              </a:rPr>
              <a:t></a:t>
            </a:r>
            <a:r>
              <a:rPr kumimoji="0" lang="en-US" altLang="zh-CN" sz="2800" i="1"/>
              <a:t> 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1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1</a:t>
            </a:r>
            <a:r>
              <a:rPr kumimoji="0" lang="en-US" altLang="zh-CN" sz="2800">
                <a:sym typeface="Symbol" panose="05050102010706020507" pitchFamily="18" charset="2"/>
              </a:rPr>
              <a:t>0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1</a:t>
            </a:r>
            <a:r>
              <a:rPr kumimoji="0" lang="en-US" altLang="zh-CN" sz="2800">
                <a:sym typeface="Symbol" panose="05050102010706020507" pitchFamily="18" charset="2"/>
              </a:rPr>
              <a:t>0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1</a:t>
            </a:r>
            <a:r>
              <a:rPr kumimoji="0" lang="en-US" altLang="zh-CN" sz="2800">
                <a:sym typeface="Symbol" panose="05050102010706020507" pitchFamily="18" charset="2"/>
              </a:rPr>
              <a:t>0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/>
              <a:t>s</a:t>
            </a:r>
            <a:r>
              <a:rPr kumimoji="0" lang="en-US" altLang="zh-CN" sz="2800" baseline="-25000"/>
              <a:t>4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1</a:t>
            </a:r>
            <a:r>
              <a:rPr kumimoji="0" lang="en-US" altLang="zh-CN" sz="2800">
                <a:sym typeface="Symbol" panose="05050102010706020507" pitchFamily="18" charset="2"/>
              </a:rPr>
              <a:t>0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</a:t>
            </a:r>
            <a:r>
              <a:rPr kumimoji="0" lang="en-US" altLang="zh-CN" sz="2800" i="1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100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4</a:t>
            </a:r>
            <a:r>
              <a:rPr kumimoji="0" lang="en-US" altLang="zh-CN" sz="2800">
                <a:sym typeface="Symbol" panose="05050102010706020507" pitchFamily="18" charset="2"/>
              </a:rPr>
              <a:t>10001000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4</a:t>
            </a:r>
            <a:r>
              <a:rPr kumimoji="0" lang="en-US" altLang="zh-CN" sz="2800">
                <a:sym typeface="Symbol" panose="05050102010706020507" pitchFamily="18" charset="2"/>
              </a:rPr>
              <a:t>1000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4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4</a:t>
            </a:r>
            <a:r>
              <a:rPr kumimoji="0" lang="en-US" altLang="zh-CN" sz="2800" i="1">
                <a:solidFill>
                  <a:srgbClr val="FF0000"/>
                </a:solidFill>
              </a:rPr>
              <a:t>s</a:t>
            </a:r>
            <a:r>
              <a:rPr kumimoji="0" lang="en-US" altLang="zh-CN" sz="2800" baseline="-25000">
                <a:solidFill>
                  <a:srgbClr val="FF0000"/>
                </a:solidFill>
              </a:rPr>
              <a:t>4</a:t>
            </a:r>
            <a:r>
              <a:rPr kumimoji="0" lang="en-US" altLang="zh-CN" sz="2800">
                <a:sym typeface="Symbol" panose="05050102010706020507" pitchFamily="18" charset="2"/>
              </a:rPr>
              <a:t>1000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</a:t>
            </a:r>
            <a:r>
              <a:rPr kumimoji="0" lang="en-US" altLang="zh-CN" sz="2800" i="1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100</a:t>
            </a:r>
            <a:r>
              <a:rPr kumimoji="0" lang="en-US" altLang="zh-CN" sz="2800"/>
              <a:t>11</a:t>
            </a:r>
            <a:r>
              <a:rPr kumimoji="0" lang="en-US" altLang="zh-CN" sz="2800">
                <a:sym typeface="Symbol" panose="05050102010706020507" pitchFamily="18" charset="2"/>
              </a:rPr>
              <a:t>10001000</a:t>
            </a:r>
            <a:r>
              <a:rPr kumimoji="0" lang="en-US" altLang="zh-CN" sz="2800"/>
              <a:t>11</a:t>
            </a:r>
            <a:r>
              <a:rPr kumimoji="0" lang="en-US" altLang="zh-CN" sz="2800">
                <a:sym typeface="Symbol" panose="05050102010706020507" pitchFamily="18" charset="2"/>
              </a:rPr>
              <a:t>1000</a:t>
            </a:r>
            <a:r>
              <a:rPr kumimoji="0" lang="en-US" altLang="zh-CN" sz="2800"/>
              <a:t>111111</a:t>
            </a:r>
            <a:r>
              <a:rPr kumimoji="0" lang="en-US" altLang="zh-CN" sz="2800">
                <a:sym typeface="Symbol" panose="05050102010706020507" pitchFamily="18" charset="2"/>
              </a:rPr>
              <a:t>1000</a:t>
            </a:r>
            <a:endParaRPr kumimoji="0" lang="en-US" altLang="zh-CN" sz="2800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2.3  </a:t>
            </a:r>
            <a:r>
              <a:rPr lang="zh-CN" altLang="en-US"/>
              <a:t>语法制导翻译</a:t>
            </a:r>
            <a:endParaRPr lang="zh-CN" alt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eaLnBrk="1" hangingPunct="1"/>
            <a:r>
              <a:rPr lang="zh-CN" altLang="en-US" sz="2800"/>
              <a:t>翻译：为生成代码，需保存语言结构的类型、代码位置、代码数量等</a:t>
            </a:r>
            <a:endParaRPr lang="zh-CN" altLang="en-US" sz="2800"/>
          </a:p>
          <a:p>
            <a:pPr eaLnBrk="1" hangingPunct="1"/>
            <a:r>
              <a:rPr lang="zh-CN" altLang="en-US" sz="2800"/>
              <a:t>属性</a:t>
            </a:r>
            <a:r>
              <a:rPr lang="en-US" altLang="zh-CN" sz="2800"/>
              <a:t>(</a:t>
            </a:r>
            <a:r>
              <a:rPr lang="en-US" altLang="zh-CN" sz="2800">
                <a:solidFill>
                  <a:srgbClr val="FF3300"/>
                </a:solidFill>
              </a:rPr>
              <a:t>attribute</a:t>
            </a:r>
            <a:r>
              <a:rPr lang="en-US" altLang="zh-CN" sz="2800"/>
              <a:t>)</a:t>
            </a:r>
            <a:r>
              <a:rPr lang="zh-CN" altLang="en-US" sz="2800"/>
              <a:t>：类型、串、内存位置等</a:t>
            </a:r>
            <a:endParaRPr lang="zh-CN" altLang="en-US" sz="2800"/>
          </a:p>
          <a:p>
            <a:pPr eaLnBrk="1" hangingPunct="1"/>
            <a:r>
              <a:rPr lang="zh-CN" altLang="en-US" sz="2800" b="1">
                <a:solidFill>
                  <a:srgbClr val="3333CC"/>
                </a:solidFill>
                <a:ea typeface="黑体" panose="02010609060101010101" pitchFamily="49" charset="-122"/>
              </a:rPr>
              <a:t>语法制导翻译</a:t>
            </a:r>
            <a:br>
              <a:rPr lang="zh-CN" altLang="en-US" sz="2800"/>
            </a:br>
            <a:r>
              <a:rPr lang="en-US" altLang="zh-CN" sz="2800">
                <a:solidFill>
                  <a:srgbClr val="FF3300"/>
                </a:solidFill>
              </a:rPr>
              <a:t>syntax-directed translation</a:t>
            </a:r>
            <a:endParaRPr lang="en-US" altLang="zh-CN" sz="2800">
              <a:solidFill>
                <a:srgbClr val="FF3300"/>
              </a:solidFill>
            </a:endParaRPr>
          </a:p>
          <a:p>
            <a:pPr lvl="1" eaLnBrk="1" hangingPunct="1">
              <a:spcBef>
                <a:spcPct val="0"/>
              </a:spcBef>
            </a:pPr>
            <a:r>
              <a:rPr lang="zh-CN" altLang="en-US" sz="2400" b="1">
                <a:ea typeface="黑体" panose="02010609060101010101" pitchFamily="49" charset="-122"/>
              </a:rPr>
              <a:t>语法制导定义</a:t>
            </a:r>
            <a:br>
              <a:rPr lang="zh-CN" altLang="en-US" sz="2400"/>
            </a:br>
            <a:r>
              <a:rPr lang="en-US" altLang="zh-CN" sz="2400">
                <a:solidFill>
                  <a:srgbClr val="FF3300"/>
                </a:solidFill>
              </a:rPr>
              <a:t>syntax-directed definition</a:t>
            </a:r>
            <a:br>
              <a:rPr lang="en-US" altLang="zh-CN" sz="2400"/>
            </a:br>
            <a:r>
              <a:rPr lang="zh-CN" altLang="en-US" sz="2400"/>
              <a:t>属性与语法结构相关联</a:t>
            </a:r>
            <a:r>
              <a:rPr lang="zh-CN" altLang="en-US" sz="2400">
                <a:sym typeface="Wingdings" panose="05000000000000000000" pitchFamily="2" charset="2"/>
              </a:rPr>
              <a:t>指明翻译方法</a:t>
            </a:r>
            <a:endParaRPr lang="zh-CN" altLang="en-US" sz="240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z="2400" b="1">
                <a:ea typeface="黑体" panose="02010609060101010101" pitchFamily="49" charset="-122"/>
                <a:sym typeface="Wingdings" panose="05000000000000000000" pitchFamily="2" charset="2"/>
              </a:rPr>
              <a:t>翻译模式</a:t>
            </a:r>
            <a:r>
              <a:rPr lang="zh-CN" altLang="en-US" sz="2400">
                <a:sym typeface="Wingdings" panose="05000000000000000000" pitchFamily="2" charset="2"/>
              </a:rPr>
              <a:t>，</a:t>
            </a:r>
            <a:r>
              <a:rPr lang="en-US" altLang="zh-CN" sz="2400">
                <a:solidFill>
                  <a:srgbClr val="FF3300"/>
                </a:solidFill>
                <a:sym typeface="Wingdings" panose="05000000000000000000" pitchFamily="2" charset="2"/>
              </a:rPr>
              <a:t>translation scheme</a:t>
            </a:r>
            <a:endParaRPr lang="en-US" altLang="zh-CN" sz="2400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怎么设计语法制导翻译程序</a:t>
            </a:r>
            <a:endParaRPr lang="zh-CN" alt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/>
              <a:t>首先还是“</a:t>
            </a:r>
            <a:r>
              <a:rPr lang="zh-CN" altLang="en-US" sz="2800" kern="1200" dirty="0">
                <a:solidFill>
                  <a:schemeClr val="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人会做</a:t>
            </a:r>
            <a:r>
              <a:rPr lang="zh-CN" altLang="en-US" sz="2800" dirty="0"/>
              <a:t>”</a:t>
            </a:r>
            <a:endParaRPr lang="en-US" altLang="zh-CN" sz="2800" dirty="0"/>
          </a:p>
          <a:p>
            <a:pPr lvl="1" eaLnBrk="1" hangingPunct="1">
              <a:defRPr/>
            </a:pPr>
            <a:r>
              <a:rPr lang="zh-CN" altLang="en-US" sz="2400" dirty="0"/>
              <a:t>设计文法</a:t>
            </a:r>
            <a:endParaRPr lang="zh-CN" altLang="en-US" sz="2400" dirty="0"/>
          </a:p>
          <a:p>
            <a:pPr lvl="1" eaLnBrk="1" hangingPunct="1">
              <a:defRPr/>
            </a:pPr>
            <a:r>
              <a:rPr lang="zh-CN" altLang="en-US" sz="2400" dirty="0"/>
              <a:t>程序员自己先理清翻译的方法</a:t>
            </a:r>
            <a:r>
              <a:rPr lang="en-US" altLang="zh-CN" sz="2400" dirty="0"/>
              <a:t>——</a:t>
            </a:r>
            <a:r>
              <a:rPr lang="zh-CN" altLang="en-US" sz="2400" dirty="0"/>
              <a:t>我们不是为每个程序个体逐一设计翻译方法，而是设计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通用的翻译方法</a:t>
            </a:r>
            <a:r>
              <a:rPr lang="en-US" altLang="zh-CN" sz="2400" dirty="0"/>
              <a:t>——</a:t>
            </a:r>
            <a:r>
              <a:rPr lang="zh-CN" altLang="en-US" sz="2400" dirty="0"/>
              <a:t>为每个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语法结构</a:t>
            </a:r>
            <a:r>
              <a:rPr lang="zh-CN" altLang="en-US" sz="2400" dirty="0"/>
              <a:t>（产生式）设计如何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翻译</a:t>
            </a:r>
            <a:endParaRPr lang="zh-CN" altLang="en-US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sz="2800" dirty="0"/>
              <a:t>然后“</a:t>
            </a:r>
            <a:r>
              <a:rPr lang="zh-CN" altLang="en-US" sz="2800" kern="1200" dirty="0">
                <a:solidFill>
                  <a:schemeClr val="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让计算机会做</a:t>
            </a:r>
            <a:r>
              <a:rPr lang="zh-CN" altLang="en-US" sz="2800" dirty="0"/>
              <a:t>”</a:t>
            </a:r>
            <a:endParaRPr lang="en-US" altLang="zh-CN" sz="2800" dirty="0"/>
          </a:p>
          <a:p>
            <a:pPr lvl="1" eaLnBrk="1" hangingPunct="1">
              <a:defRPr/>
            </a:pPr>
            <a:r>
              <a:rPr lang="zh-CN" altLang="en-US" sz="2400" dirty="0"/>
              <a:t>设计文法符号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属性</a:t>
            </a:r>
            <a:r>
              <a:rPr lang="zh-CN" altLang="en-US" sz="2400" dirty="0"/>
              <a:t>，表示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翻译结果</a:t>
            </a:r>
            <a:endParaRPr lang="zh-CN" altLang="en-US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defRPr/>
            </a:pPr>
            <a:r>
              <a:rPr lang="zh-CN" altLang="en-US" sz="2400" dirty="0"/>
              <a:t>将翻译方法描述为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属性的运算</a:t>
            </a:r>
            <a:r>
              <a:rPr lang="en-US" altLang="zh-CN" sz="2400" dirty="0"/>
              <a:t>——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语义规则</a:t>
            </a:r>
            <a:r>
              <a:rPr lang="zh-CN" altLang="en-US" sz="2400" dirty="0"/>
              <a:t>（语义动作），将其附着于对应的产生式</a:t>
            </a:r>
            <a:endParaRPr lang="zh-CN" altLang="en-US" sz="2400" dirty="0"/>
          </a:p>
          <a:p>
            <a:pPr lvl="1" eaLnBrk="1" hangingPunct="1">
              <a:defRPr/>
            </a:pPr>
            <a:r>
              <a:rPr lang="zh-CN" altLang="en-US" sz="2400" dirty="0"/>
              <a:t>手工编写或利用自动生成工具形成语法分析程序，语义规则（语义动作）嵌入到程序的恰当位置，恰好实现了翻译方法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2.3.1  </a:t>
            </a:r>
            <a:r>
              <a:rPr lang="zh-CN" altLang="en-US"/>
              <a:t>表达式的后缀表示法</a:t>
            </a:r>
            <a:endParaRPr lang="zh-CN" alt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marL="609600" indent="-609600" eaLnBrk="1" hangingPunct="1"/>
            <a:r>
              <a:rPr lang="zh-CN" altLang="en-US" sz="2400" dirty="0"/>
              <a:t>表达式</a:t>
            </a:r>
            <a:r>
              <a:rPr lang="en-US" altLang="zh-CN" sz="2400" dirty="0"/>
              <a:t>E</a:t>
            </a:r>
            <a:r>
              <a:rPr lang="zh-CN" altLang="en-US" sz="2400" dirty="0"/>
              <a:t>的后缀形式</a:t>
            </a:r>
            <a:r>
              <a:rPr lang="en-US" altLang="zh-CN" sz="2400" dirty="0"/>
              <a:t>Postfix(E)</a:t>
            </a:r>
            <a:r>
              <a:rPr lang="zh-CN" altLang="en-US" sz="2400" dirty="0"/>
              <a:t>如何生成：</a:t>
            </a:r>
            <a:endParaRPr lang="zh-CN" altLang="en-US" sz="2400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000" dirty="0"/>
              <a:t>E</a:t>
            </a:r>
            <a:r>
              <a:rPr lang="zh-CN" altLang="en-US" sz="2000" dirty="0"/>
              <a:t>为变量或常量：</a:t>
            </a:r>
            <a:endParaRPr lang="en-US" altLang="zh-CN" sz="2000" dirty="0"/>
          </a:p>
          <a:p>
            <a:pPr marL="457200" lvl="1" indent="0" eaLnBrk="1" hangingPunct="1">
              <a:buNone/>
            </a:pPr>
            <a:r>
              <a:rPr lang="en-US" altLang="zh-CN" sz="2000" dirty="0"/>
              <a:t>	Postfix(E) = E</a:t>
            </a:r>
            <a:endParaRPr lang="en-US" altLang="zh-CN" sz="2000" dirty="0"/>
          </a:p>
          <a:p>
            <a:pPr marL="990600" lvl="1" indent="-533400" eaLnBrk="1" hangingPunct="1">
              <a:buFont typeface="+mj-lt"/>
              <a:buAutoNum type="arabicPeriod" startAt="2"/>
            </a:pPr>
            <a:r>
              <a:rPr lang="en-US" altLang="zh-CN" sz="2000" dirty="0"/>
              <a:t>E =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</a:t>
            </a:r>
            <a:r>
              <a:rPr lang="en-US" altLang="zh-CN" sz="2000" b="1" dirty="0"/>
              <a:t>op</a:t>
            </a:r>
            <a:r>
              <a:rPr lang="en-US" altLang="zh-CN" sz="2000" dirty="0"/>
              <a:t> E</a:t>
            </a:r>
            <a:r>
              <a:rPr lang="en-US" altLang="zh-CN" sz="2000" baseline="-25000" dirty="0"/>
              <a:t>2</a:t>
            </a:r>
            <a:r>
              <a:rPr lang="zh-CN" altLang="en-US" sz="2000" dirty="0"/>
              <a:t>，</a:t>
            </a:r>
            <a:r>
              <a:rPr lang="en-US" altLang="zh-CN" sz="2000" b="1" dirty="0"/>
              <a:t>op</a:t>
            </a:r>
            <a:r>
              <a:rPr lang="en-US" altLang="zh-CN" sz="2000" dirty="0">
                <a:sym typeface="Wingdings" panose="05000000000000000000" pitchFamily="2" charset="2"/>
              </a:rPr>
              <a:t>—</a:t>
            </a:r>
            <a:r>
              <a:rPr lang="zh-CN" altLang="en-US" sz="2000" dirty="0"/>
              <a:t>二元运算符，</a:t>
            </a:r>
            <a:r>
              <a:rPr lang="en-US" altLang="zh-CN" sz="2000" dirty="0"/>
              <a:t>E</a:t>
            </a:r>
            <a:r>
              <a:rPr lang="en-US" altLang="zh-CN" sz="2000" baseline="-25000" dirty="0"/>
              <a:t>1</a:t>
            </a:r>
            <a:r>
              <a:rPr lang="zh-CN" altLang="en-US" sz="2000" dirty="0"/>
              <a:t>、</a:t>
            </a:r>
            <a:r>
              <a:rPr lang="en-US" altLang="zh-CN" sz="2000" dirty="0"/>
              <a:t>E</a:t>
            </a:r>
            <a:r>
              <a:rPr lang="en-US" altLang="zh-CN" sz="2000" baseline="-25000" dirty="0"/>
              <a:t>2</a:t>
            </a:r>
            <a:r>
              <a:rPr lang="en-US" altLang="zh-CN" sz="2000" dirty="0">
                <a:sym typeface="Wingdings" panose="05000000000000000000" pitchFamily="2" charset="2"/>
              </a:rPr>
              <a:t>—</a:t>
            </a:r>
            <a:r>
              <a:rPr lang="zh-CN" altLang="en-US" sz="2000" dirty="0">
                <a:sym typeface="Wingdings" panose="05000000000000000000" pitchFamily="2" charset="2"/>
              </a:rPr>
              <a:t>子</a:t>
            </a:r>
            <a:r>
              <a:rPr lang="zh-CN" altLang="en-US" sz="2000" dirty="0"/>
              <a:t>表达式：</a:t>
            </a:r>
            <a:endParaRPr lang="en-US" altLang="zh-CN" sz="2000" dirty="0"/>
          </a:p>
          <a:p>
            <a:pPr marL="457200" lvl="1" indent="0" eaLnBrk="1" hangingPunct="1">
              <a:buNone/>
            </a:pPr>
            <a:r>
              <a:rPr lang="en-US" altLang="zh-CN" sz="2000" dirty="0"/>
              <a:t>	Postfix(E) = Postfix(E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</a:t>
            </a:r>
            <a:r>
              <a:rPr lang="en-US" altLang="zh-CN" sz="2000" b="1" dirty="0"/>
              <a:t>op</a:t>
            </a:r>
            <a:r>
              <a:rPr lang="en-US" altLang="zh-CN" sz="2000" dirty="0"/>
              <a:t>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)</a:t>
            </a:r>
            <a:br>
              <a:rPr lang="en-US" altLang="zh-CN" sz="2000" dirty="0"/>
            </a:br>
            <a:r>
              <a:rPr lang="en-US" altLang="zh-CN" sz="2000" dirty="0"/>
              <a:t>	= Postfix(E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) Postfix(E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) </a:t>
            </a:r>
            <a:r>
              <a:rPr lang="en-US" altLang="zh-CN" sz="2000" b="1" dirty="0"/>
              <a:t>op</a:t>
            </a:r>
            <a:endParaRPr lang="en-US" altLang="zh-CN" sz="2000" b="1" dirty="0"/>
          </a:p>
          <a:p>
            <a:pPr marL="990600" lvl="1" indent="-533400" eaLnBrk="1" hangingPunct="1">
              <a:buFont typeface="+mj-lt"/>
              <a:buAutoNum type="arabicPeriod" startAt="3"/>
            </a:pPr>
            <a:r>
              <a:rPr lang="en-US" altLang="zh-CN" sz="2000" dirty="0"/>
              <a:t>E = (E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)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marL="457200" lvl="1" indent="0" eaLnBrk="1" hangingPunct="1">
              <a:buNone/>
            </a:pPr>
            <a:r>
              <a:rPr lang="en-US" altLang="zh-CN" sz="2000" dirty="0"/>
              <a:t>	Postfix(E) = Postfix(E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marL="609600" indent="-609600" eaLnBrk="1" hangingPunct="1">
              <a:spcBef>
                <a:spcPts val="0"/>
              </a:spcBef>
            </a:pPr>
            <a:r>
              <a:rPr lang="en-US" altLang="zh-CN" sz="2400" dirty="0"/>
              <a:t>Postfix((9 - 5) + 2)</a:t>
            </a:r>
            <a:endParaRPr lang="en-US" altLang="zh-CN" sz="24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2400" dirty="0"/>
              <a:t>	= Postfix(9 - 5) Postfix(2) +</a:t>
            </a:r>
            <a:endParaRPr lang="en-US" altLang="zh-CN" sz="24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2400" dirty="0"/>
              <a:t>	= Postfix(9) Postfix(5) - 2 + = 9 5 - 2 +</a:t>
            </a:r>
            <a:endParaRPr lang="en-US" altLang="zh-CN" sz="2400" dirty="0"/>
          </a:p>
          <a:p>
            <a:pPr marL="609600" indent="-609600" eaLnBrk="1" hangingPunct="1">
              <a:spcBef>
                <a:spcPts val="0"/>
              </a:spcBef>
            </a:pPr>
            <a:r>
              <a:rPr lang="en-US" altLang="zh-CN" sz="2400" dirty="0"/>
              <a:t>Postfix(</a:t>
            </a:r>
            <a:r>
              <a:rPr lang="en-US" altLang="zh-CN" sz="2400" dirty="0">
                <a:sym typeface="Wingdings" panose="05000000000000000000" pitchFamily="2" charset="2"/>
              </a:rPr>
              <a:t>9 - (5 + 2)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2400" dirty="0"/>
              <a:t>	= Postfix(9) Postfix(5 + 2) -</a:t>
            </a:r>
            <a:endParaRPr lang="en-US" altLang="zh-CN" sz="24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2400" dirty="0"/>
              <a:t>	= 9 Postfix(5) Postfix(2) + - = 9 5 2 + -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2.3.2  </a:t>
            </a:r>
            <a:r>
              <a:rPr lang="zh-CN" altLang="en-US"/>
              <a:t>语法制导定义</a:t>
            </a:r>
            <a:endParaRPr lang="zh-CN" alt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00600"/>
          </a:xfrm>
        </p:spPr>
        <p:txBody>
          <a:bodyPr/>
          <a:lstStyle/>
          <a:p>
            <a:pPr marL="609600" indent="-609600" eaLnBrk="1" hangingPunct="1"/>
            <a:r>
              <a:rPr lang="zh-CN" altLang="en-US"/>
              <a:t>基于语言的上下文无关文法</a:t>
            </a:r>
            <a:endParaRPr lang="zh-CN" altLang="en-US"/>
          </a:p>
          <a:p>
            <a:pPr marL="609600" indent="-609600" eaLnBrk="1" hangingPunct="1"/>
            <a:r>
              <a:rPr lang="zh-CN" altLang="en-US"/>
              <a:t>语法符号</a:t>
            </a:r>
            <a:r>
              <a:rPr lang="en-US" altLang="zh-CN">
                <a:latin typeface="Tahoma" panose="020B0604030504040204" pitchFamily="34" charset="0"/>
              </a:rPr>
              <a:t>——</a:t>
            </a:r>
            <a:r>
              <a:rPr lang="zh-CN" altLang="en-US"/>
              <a:t>一组属性</a:t>
            </a:r>
            <a:endParaRPr lang="zh-CN" altLang="en-US"/>
          </a:p>
          <a:p>
            <a:pPr marL="609600" indent="-609600" eaLnBrk="1" hangingPunct="1"/>
            <a:r>
              <a:rPr lang="zh-CN" altLang="en-US"/>
              <a:t>产生式</a:t>
            </a:r>
            <a:r>
              <a:rPr lang="en-US" altLang="zh-CN">
                <a:latin typeface="Tahoma" panose="020B0604030504040204" pitchFamily="34" charset="0"/>
              </a:rPr>
              <a:t>——</a:t>
            </a:r>
            <a:r>
              <a:rPr lang="zh-CN" altLang="en-US"/>
              <a:t>一组</a:t>
            </a:r>
            <a:r>
              <a:rPr lang="zh-CN" altLang="en-US" b="1">
                <a:solidFill>
                  <a:srgbClr val="3333CC"/>
                </a:solidFill>
                <a:ea typeface="黑体" panose="02010609060101010101" pitchFamily="49" charset="-122"/>
              </a:rPr>
              <a:t>语义规则</a:t>
            </a:r>
            <a:r>
              <a:rPr lang="en-US" altLang="zh-CN"/>
              <a:t>(</a:t>
            </a:r>
            <a:r>
              <a:rPr lang="en-US" altLang="zh-CN">
                <a:solidFill>
                  <a:srgbClr val="FF3300"/>
                </a:solidFill>
              </a:rPr>
              <a:t>semantic rule</a:t>
            </a:r>
            <a:r>
              <a:rPr lang="en-US" altLang="zh-CN"/>
              <a:t>)</a:t>
            </a:r>
            <a:br>
              <a:rPr lang="en-US" altLang="zh-CN"/>
            </a:br>
            <a:r>
              <a:rPr lang="en-US" altLang="zh-CN">
                <a:latin typeface="Tahoma" panose="020B0604030504040204" pitchFamily="34" charset="0"/>
              </a:rPr>
              <a:t>——</a:t>
            </a:r>
            <a:r>
              <a:rPr lang="zh-CN" altLang="en-US"/>
              <a:t>属性值计算规则</a:t>
            </a:r>
            <a:endParaRPr lang="zh-CN" altLang="en-US"/>
          </a:p>
          <a:p>
            <a:pPr marL="609600" indent="-609600" eaLnBrk="1" hangingPunct="1">
              <a:spcBef>
                <a:spcPct val="0"/>
              </a:spcBef>
            </a:pPr>
            <a:r>
              <a:rPr lang="en-US" altLang="zh-CN"/>
              <a:t>CFG+</a:t>
            </a:r>
            <a:r>
              <a:rPr lang="zh-CN" altLang="en-US"/>
              <a:t>语义规则</a:t>
            </a:r>
            <a:r>
              <a:rPr lang="zh-CN" altLang="en-US">
                <a:sym typeface="Wingdings" panose="05000000000000000000" pitchFamily="2" charset="2"/>
              </a:rPr>
              <a:t>语法制导定义</a:t>
            </a:r>
            <a:endParaRPr lang="zh-CN" altLang="en-US">
              <a:sym typeface="Wingdings" panose="05000000000000000000" pitchFamily="2" charset="2"/>
            </a:endParaRPr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3505200" y="18288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关联</a:t>
            </a:r>
            <a:endParaRPr lang="zh-CN" altLang="en-US" sz="2000">
              <a:solidFill>
                <a:srgbClr val="3333CC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36869" name="Text Box 6"/>
          <p:cNvSpPr txBox="1">
            <a:spLocks noChangeArrowheads="1"/>
          </p:cNvSpPr>
          <p:nvPr/>
        </p:nvSpPr>
        <p:spPr bwMode="auto">
          <a:xfrm>
            <a:off x="3048000" y="23622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关联</a:t>
            </a:r>
            <a:endParaRPr lang="zh-CN" altLang="en-US" sz="2000">
              <a:solidFill>
                <a:srgbClr val="3333CC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语法制导翻译的基本过程</a:t>
            </a:r>
            <a:endParaRPr lang="zh-CN" alt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81588"/>
          </a:xfrm>
        </p:spPr>
        <p:txBody>
          <a:bodyPr/>
          <a:lstStyle/>
          <a:p>
            <a:pPr marL="609600" indent="-609600" eaLnBrk="1" hangingPunct="1"/>
            <a:r>
              <a:rPr lang="zh-CN" altLang="en-US" dirty="0">
                <a:sym typeface="Wingdings" panose="05000000000000000000" pitchFamily="2" charset="2"/>
              </a:rPr>
              <a:t>翻译</a:t>
            </a:r>
            <a:r>
              <a:rPr lang="en-US" altLang="zh-CN" dirty="0">
                <a:latin typeface="Tahoma" panose="020B0604030504040204" pitchFamily="34" charset="0"/>
                <a:sym typeface="Wingdings" panose="05000000000000000000" pitchFamily="2" charset="2"/>
              </a:rPr>
              <a:t>——</a:t>
            </a:r>
            <a:r>
              <a:rPr lang="zh-CN" altLang="en-US" dirty="0">
                <a:sym typeface="Wingdings" panose="05000000000000000000" pitchFamily="2" charset="2"/>
              </a:rPr>
              <a:t>输入输出映射过程</a:t>
            </a:r>
            <a:endParaRPr lang="zh-CN" altLang="en-US" dirty="0">
              <a:sym typeface="Wingdings" panose="05000000000000000000" pitchFamily="2" charset="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>
                <a:sym typeface="Wingdings" panose="05000000000000000000" pitchFamily="2" charset="2"/>
              </a:rPr>
              <a:t>输入单词串</a:t>
            </a:r>
            <a:r>
              <a:rPr lang="en-US" altLang="zh-CN" dirty="0">
                <a:sym typeface="Wingdings" panose="05000000000000000000" pitchFamily="2" charset="2"/>
              </a:rPr>
              <a:t>x</a:t>
            </a:r>
            <a:r>
              <a:rPr lang="zh-CN" altLang="en-US" dirty="0">
                <a:sym typeface="Wingdings" panose="05000000000000000000" pitchFamily="2" charset="2"/>
              </a:rPr>
              <a:t>语法分析树</a:t>
            </a:r>
            <a:endParaRPr lang="zh-CN" altLang="en-US" dirty="0">
              <a:sym typeface="Wingdings" panose="05000000000000000000" pitchFamily="2" charset="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>
                <a:sym typeface="Wingdings" panose="05000000000000000000" pitchFamily="2" charset="2"/>
              </a:rPr>
              <a:t>节点</a:t>
            </a:r>
            <a:r>
              <a:rPr lang="en-US" altLang="zh-CN" dirty="0">
                <a:sym typeface="Wingdings" panose="05000000000000000000" pitchFamily="2" charset="2"/>
              </a:rPr>
              <a:t>n</a:t>
            </a:r>
            <a:r>
              <a:rPr lang="zh-CN" altLang="en-US" dirty="0">
                <a:sym typeface="Wingdings" panose="05000000000000000000" pitchFamily="2" charset="2"/>
              </a:rPr>
              <a:t>标记为</a:t>
            </a:r>
            <a:r>
              <a:rPr lang="en-US" altLang="zh-CN" dirty="0">
                <a:sym typeface="Wingdings" panose="05000000000000000000" pitchFamily="2" charset="2"/>
              </a:rPr>
              <a:t>X</a:t>
            </a:r>
            <a:r>
              <a:rPr lang="zh-CN" altLang="en-US" dirty="0">
                <a:sym typeface="Wingdings" panose="05000000000000000000" pitchFamily="2" charset="2"/>
              </a:rPr>
              <a:t>，</a:t>
            </a:r>
            <a:r>
              <a:rPr lang="en-US" altLang="zh-CN" dirty="0" err="1">
                <a:sym typeface="Wingdings" panose="05000000000000000000" pitchFamily="2" charset="2"/>
              </a:rPr>
              <a:t>X.a</a:t>
            </a:r>
            <a:r>
              <a:rPr lang="en-US" altLang="zh-CN" dirty="0">
                <a:latin typeface="Tahoma" panose="020B0604030504040204" pitchFamily="34" charset="0"/>
                <a:sym typeface="Wingdings" panose="05000000000000000000" pitchFamily="2" charset="2"/>
              </a:rPr>
              <a:t>——</a:t>
            </a:r>
            <a:r>
              <a:rPr lang="en-US" altLang="zh-CN" dirty="0">
                <a:sym typeface="Wingdings" panose="05000000000000000000" pitchFamily="2" charset="2"/>
              </a:rPr>
              <a:t>X</a:t>
            </a:r>
            <a:r>
              <a:rPr lang="zh-CN" altLang="en-US" dirty="0">
                <a:sym typeface="Wingdings" panose="05000000000000000000" pitchFamily="2" charset="2"/>
              </a:rPr>
              <a:t>的属性</a:t>
            </a:r>
            <a:endParaRPr lang="zh-CN" altLang="en-US" dirty="0">
              <a:sym typeface="Wingdings" panose="05000000000000000000" pitchFamily="2" charset="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>
                <a:sym typeface="Wingdings" panose="05000000000000000000" pitchFamily="2" charset="2"/>
              </a:rPr>
              <a:t>计算节点</a:t>
            </a:r>
            <a:r>
              <a:rPr lang="en-US" altLang="zh-CN" dirty="0">
                <a:sym typeface="Wingdings" panose="05000000000000000000" pitchFamily="2" charset="2"/>
              </a:rPr>
              <a:t>n</a:t>
            </a:r>
            <a:r>
              <a:rPr lang="zh-CN" altLang="en-US" dirty="0">
                <a:sym typeface="Wingdings" panose="05000000000000000000" pitchFamily="2" charset="2"/>
              </a:rPr>
              <a:t>的</a:t>
            </a:r>
            <a:r>
              <a:rPr lang="en-US" altLang="zh-CN" dirty="0" err="1">
                <a:sym typeface="Wingdings" panose="05000000000000000000" pitchFamily="2" charset="2"/>
              </a:rPr>
              <a:t>X.a</a:t>
            </a:r>
            <a:r>
              <a:rPr lang="zh-CN" altLang="en-US" dirty="0">
                <a:sym typeface="Wingdings" panose="05000000000000000000" pitchFamily="2" charset="2"/>
              </a:rPr>
              <a:t>的值</a:t>
            </a:r>
            <a:r>
              <a:rPr lang="en-US" altLang="zh-CN" dirty="0">
                <a:latin typeface="Tahoma" panose="020B0604030504040204" pitchFamily="34" charset="0"/>
                <a:sym typeface="Wingdings" panose="05000000000000000000" pitchFamily="2" charset="2"/>
              </a:rPr>
              <a:t>——</a:t>
            </a:r>
            <a:r>
              <a:rPr lang="zh-CN" altLang="en-US" dirty="0">
                <a:sym typeface="Wingdings" panose="05000000000000000000" pitchFamily="2" charset="2"/>
              </a:rPr>
              <a:t>利用</a:t>
            </a:r>
            <a:r>
              <a:rPr lang="en-US" altLang="zh-CN" dirty="0">
                <a:sym typeface="Wingdings" panose="05000000000000000000" pitchFamily="2" charset="2"/>
              </a:rPr>
              <a:t>X</a:t>
            </a:r>
            <a:r>
              <a:rPr lang="zh-CN" altLang="en-US" dirty="0">
                <a:sym typeface="Wingdings" panose="05000000000000000000" pitchFamily="2" charset="2"/>
              </a:rPr>
              <a:t>产生式的语义规则</a:t>
            </a:r>
            <a:endParaRPr lang="zh-CN" altLang="en-US" dirty="0">
              <a:sym typeface="Wingdings" panose="05000000000000000000" pitchFamily="2" charset="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>
                <a:latin typeface="Tahoma" panose="020B0604030504040204" pitchFamily="34" charset="0"/>
                <a:sym typeface="Wingdings" panose="05000000000000000000" pitchFamily="2" charset="2"/>
              </a:rPr>
              <a:t>“</a:t>
            </a:r>
            <a:r>
              <a:rPr lang="zh-CN" altLang="en-US" dirty="0">
                <a:sym typeface="Wingdings" panose="05000000000000000000" pitchFamily="2" charset="2"/>
              </a:rPr>
              <a:t>注释语法分析树</a:t>
            </a:r>
            <a:r>
              <a:rPr lang="zh-CN" altLang="en-US" dirty="0">
                <a:latin typeface="Tahoma" panose="020B0604030504040204" pitchFamily="34" charset="0"/>
                <a:sym typeface="Wingdings" panose="05000000000000000000" pitchFamily="2" charset="2"/>
              </a:rPr>
              <a:t>”</a:t>
            </a:r>
            <a:r>
              <a:rPr lang="zh-CN" altLang="en-US" dirty="0">
                <a:sym typeface="Wingdings" panose="05000000000000000000" pitchFamily="2" charset="2"/>
              </a:rPr>
              <a:t>（</a:t>
            </a:r>
            <a:r>
              <a:rPr lang="en-US" altLang="zh-CN" dirty="0">
                <a:solidFill>
                  <a:srgbClr val="FF3300"/>
                </a:solidFill>
                <a:sym typeface="Wingdings" panose="05000000000000000000" pitchFamily="2" charset="2"/>
              </a:rPr>
              <a:t>annotated parse tree</a:t>
            </a:r>
            <a:r>
              <a:rPr lang="zh-CN" altLang="en-US" dirty="0">
                <a:sym typeface="Wingdings" panose="05000000000000000000" pitchFamily="2" charset="2"/>
              </a:rPr>
              <a:t>）</a:t>
            </a:r>
            <a:endParaRPr lang="zh-CN" altLang="en-US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2.3.3  </a:t>
            </a:r>
            <a:r>
              <a:rPr lang="zh-CN" altLang="en-US"/>
              <a:t>综合属性</a:t>
            </a:r>
            <a:endParaRPr lang="zh-CN" alt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FF3300"/>
                </a:solidFill>
              </a:rPr>
              <a:t>synthesized attributes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zh-CN" altLang="en-US"/>
              <a:t>节点属性值由其</a:t>
            </a:r>
            <a:r>
              <a:rPr lang="zh-CN" altLang="en-US">
                <a:solidFill>
                  <a:schemeClr val="folHlink"/>
                </a:solidFill>
                <a:ea typeface="黑体" panose="02010609060101010101" pitchFamily="49" charset="-122"/>
              </a:rPr>
              <a:t>孩子节点</a:t>
            </a:r>
            <a:r>
              <a:rPr lang="zh-CN" altLang="en-US"/>
              <a:t>属性值所决定</a:t>
            </a:r>
            <a:endParaRPr lang="zh-CN" altLang="en-US"/>
          </a:p>
          <a:p>
            <a:pPr eaLnBrk="1" hangingPunct="1"/>
            <a:r>
              <a:rPr lang="zh-CN" altLang="en-US"/>
              <a:t>自底向上（</a:t>
            </a:r>
            <a:r>
              <a:rPr lang="en-US" altLang="zh-CN">
                <a:solidFill>
                  <a:srgbClr val="FF3300"/>
                </a:solidFill>
              </a:rPr>
              <a:t>bottom-up</a:t>
            </a:r>
            <a:r>
              <a:rPr lang="zh-CN" altLang="en-US"/>
              <a:t>）计算</a:t>
            </a:r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2.6</a:t>
            </a:r>
            <a:endParaRPr lang="en-US" altLang="zh-CN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br>
              <a:rPr lang="en-US" altLang="zh-CN"/>
            </a:br>
            <a:br>
              <a:rPr lang="en-US" altLang="zh-CN"/>
            </a:br>
            <a:br>
              <a:rPr lang="en-US" altLang="zh-CN"/>
            </a:br>
            <a:r>
              <a:rPr lang="en-US" altLang="zh-CN" i="1"/>
              <a:t>expr</a:t>
            </a:r>
            <a:r>
              <a:rPr lang="zh-CN" altLang="en-US"/>
              <a:t>、</a:t>
            </a:r>
            <a:r>
              <a:rPr lang="en-US" altLang="zh-CN" i="1"/>
              <a:t>term</a:t>
            </a:r>
            <a:r>
              <a:rPr lang="zh-CN" altLang="en-US"/>
              <a:t>都设置属性</a:t>
            </a:r>
            <a:r>
              <a:rPr lang="en-US" altLang="zh-CN"/>
              <a:t>t——</a:t>
            </a:r>
            <a:r>
              <a:rPr lang="zh-CN" altLang="en-US"/>
              <a:t>字符串型，表示表达式的后缀表示形式</a:t>
            </a:r>
            <a:endParaRPr lang="zh-CN" altLang="en-US"/>
          </a:p>
        </p:txBody>
      </p:sp>
      <p:grpSp>
        <p:nvGrpSpPr>
          <p:cNvPr id="39940" name="Group 4"/>
          <p:cNvGrpSpPr/>
          <p:nvPr/>
        </p:nvGrpSpPr>
        <p:grpSpPr bwMode="auto">
          <a:xfrm>
            <a:off x="1752600" y="1524000"/>
            <a:ext cx="6019800" cy="1066800"/>
            <a:chOff x="1152" y="2592"/>
            <a:chExt cx="3792" cy="672"/>
          </a:xfrm>
        </p:grpSpPr>
        <p:sp>
          <p:nvSpPr>
            <p:cNvPr id="39941" name="Rectangle 5"/>
            <p:cNvSpPr>
              <a:spLocks noChangeArrowheads="1"/>
            </p:cNvSpPr>
            <p:nvPr/>
          </p:nvSpPr>
          <p:spPr bwMode="auto">
            <a:xfrm>
              <a:off x="1152" y="2614"/>
              <a:ext cx="3708" cy="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expr </a:t>
              </a:r>
              <a:r>
                <a:rPr kumimoji="0" lang="en-US" altLang="zh-CN" sz="2800">
                  <a:sym typeface="Symbol" panose="05050102010706020507" pitchFamily="18" charset="2"/>
                </a:rPr>
                <a:t></a:t>
              </a:r>
              <a:r>
                <a:rPr kumimoji="0" lang="en-US" altLang="zh-CN" sz="2800" i="1"/>
                <a:t> </a:t>
              </a:r>
              <a:r>
                <a:rPr kumimoji="0" lang="en-US" altLang="zh-CN" sz="2800" i="1">
                  <a:sym typeface="Math1" pitchFamily="2" charset="2"/>
                </a:rPr>
                <a:t>expr – term | expr + term | term</a:t>
              </a:r>
              <a:endParaRPr kumimoji="0" lang="en-US" altLang="zh-CN" sz="2800" i="1">
                <a:sym typeface="Math1" pitchFamily="2" charset="2"/>
              </a:endParaRP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>
                  <a:sym typeface="Math1" pitchFamily="2" charset="2"/>
                </a:rPr>
                <a:t>term</a:t>
              </a:r>
              <a:r>
                <a:rPr kumimoji="0" lang="en-US" altLang="zh-CN" sz="2800">
                  <a:sym typeface="Math1" pitchFamily="2" charset="2"/>
                </a:rPr>
                <a:t> </a:t>
              </a:r>
              <a:r>
                <a:rPr kumimoji="0" lang="en-US" altLang="zh-CN" sz="2800">
                  <a:sym typeface="Symbol" panose="05050102010706020507" pitchFamily="18" charset="2"/>
                </a:rPr>
                <a:t></a:t>
              </a:r>
              <a:r>
                <a:rPr kumimoji="0" lang="en-US" altLang="zh-CN" sz="2800">
                  <a:sym typeface="Math1" pitchFamily="2" charset="2"/>
                </a:rPr>
                <a:t>  0 | 1 | 2 | 3 | … | 9</a:t>
              </a:r>
              <a:endParaRPr kumimoji="0" lang="en-US" altLang="zh-CN" sz="2800">
                <a:sym typeface="Math1" pitchFamily="2" charset="2"/>
              </a:endParaRPr>
            </a:p>
          </p:txBody>
        </p:sp>
        <p:sp>
          <p:nvSpPr>
            <p:cNvPr id="39942" name="Rectangle 6"/>
            <p:cNvSpPr>
              <a:spLocks noChangeArrowheads="1"/>
            </p:cNvSpPr>
            <p:nvPr/>
          </p:nvSpPr>
          <p:spPr bwMode="auto">
            <a:xfrm>
              <a:off x="1152" y="2592"/>
              <a:ext cx="3792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翻译方法</a:t>
            </a:r>
            <a:r>
              <a:rPr lang="zh-CN" altLang="en-US">
                <a:sym typeface="Wingdings" panose="05000000000000000000" pitchFamily="2" charset="2"/>
              </a:rPr>
              <a:t>语义规则</a:t>
            </a:r>
            <a:endParaRPr lang="zh-CN" altLang="en-US"/>
          </a:p>
        </p:txBody>
      </p:sp>
      <p:sp>
        <p:nvSpPr>
          <p:cNvPr id="40963" name="Text Box 5"/>
          <p:cNvSpPr txBox="1">
            <a:spLocks noChangeArrowheads="1"/>
          </p:cNvSpPr>
          <p:nvPr/>
        </p:nvSpPr>
        <p:spPr bwMode="auto">
          <a:xfrm>
            <a:off x="1752600" y="1887538"/>
            <a:ext cx="1524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3333CC"/>
                </a:solidFill>
                <a:latin typeface="Tahoma" panose="020B0604030504040204" pitchFamily="34" charset="0"/>
              </a:rPr>
              <a:t>9 + 5</a:t>
            </a:r>
            <a:endParaRPr lang="en-US" altLang="zh-CN">
              <a:solidFill>
                <a:srgbClr val="3333CC"/>
              </a:solidFill>
              <a:latin typeface="Tahoma" panose="020B0604030504040204" pitchFamily="34" charset="0"/>
            </a:endParaRPr>
          </a:p>
        </p:txBody>
      </p:sp>
      <p:sp>
        <p:nvSpPr>
          <p:cNvPr id="39940" name="Text Box 8"/>
          <p:cNvSpPr txBox="1">
            <a:spLocks noChangeArrowheads="1"/>
          </p:cNvSpPr>
          <p:nvPr/>
        </p:nvSpPr>
        <p:spPr bwMode="auto">
          <a:xfrm>
            <a:off x="1295400" y="3106738"/>
            <a:ext cx="2286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3333CC"/>
                </a:solidFill>
                <a:latin typeface="Tahoma" panose="020B0604030504040204" pitchFamily="34" charset="0"/>
              </a:rPr>
              <a:t>E : E</a:t>
            </a:r>
            <a:r>
              <a:rPr lang="en-US" altLang="zh-CN" baseline="-25000">
                <a:solidFill>
                  <a:srgbClr val="3333CC"/>
                </a:solidFill>
                <a:latin typeface="Tahoma" panose="020B0604030504040204" pitchFamily="34" charset="0"/>
              </a:rPr>
              <a:t>1</a:t>
            </a:r>
            <a:r>
              <a:rPr lang="en-US" altLang="zh-CN">
                <a:solidFill>
                  <a:srgbClr val="3333CC"/>
                </a:solidFill>
                <a:latin typeface="Tahoma" panose="020B0604030504040204" pitchFamily="34" charset="0"/>
              </a:rPr>
              <a:t> + E</a:t>
            </a:r>
            <a:r>
              <a:rPr lang="en-US" altLang="zh-CN" baseline="-25000">
                <a:solidFill>
                  <a:srgbClr val="3333CC"/>
                </a:solidFill>
                <a:latin typeface="Tahoma" panose="020B0604030504040204" pitchFamily="34" charset="0"/>
              </a:rPr>
              <a:t>2</a:t>
            </a:r>
            <a:endParaRPr lang="en-US" altLang="zh-CN">
              <a:solidFill>
                <a:srgbClr val="3333CC"/>
              </a:solidFill>
              <a:latin typeface="Tahoma" panose="020B0604030504040204" pitchFamily="34" charset="0"/>
            </a:endParaRPr>
          </a:p>
        </p:txBody>
      </p:sp>
      <p:sp>
        <p:nvSpPr>
          <p:cNvPr id="39941" name="Line 9"/>
          <p:cNvSpPr>
            <a:spLocks noChangeShapeType="1"/>
          </p:cNvSpPr>
          <p:nvPr/>
        </p:nvSpPr>
        <p:spPr bwMode="auto">
          <a:xfrm>
            <a:off x="1752600" y="2573338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2" name="Line 10"/>
          <p:cNvSpPr>
            <a:spLocks noChangeShapeType="1"/>
          </p:cNvSpPr>
          <p:nvPr/>
        </p:nvSpPr>
        <p:spPr bwMode="auto">
          <a:xfrm flipV="1">
            <a:off x="1524000" y="2573338"/>
            <a:ext cx="838200" cy="6413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3" name="Line 11"/>
          <p:cNvSpPr>
            <a:spLocks noChangeShapeType="1"/>
          </p:cNvSpPr>
          <p:nvPr/>
        </p:nvSpPr>
        <p:spPr bwMode="auto">
          <a:xfrm>
            <a:off x="1752600" y="2344738"/>
            <a:ext cx="381000" cy="0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4" name="Line 12"/>
          <p:cNvSpPr>
            <a:spLocks noChangeShapeType="1"/>
          </p:cNvSpPr>
          <p:nvPr/>
        </p:nvSpPr>
        <p:spPr bwMode="auto">
          <a:xfrm>
            <a:off x="2438400" y="2344738"/>
            <a:ext cx="381000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5" name="Line 13"/>
          <p:cNvSpPr>
            <a:spLocks noChangeShapeType="1"/>
          </p:cNvSpPr>
          <p:nvPr/>
        </p:nvSpPr>
        <p:spPr bwMode="auto">
          <a:xfrm flipH="1" flipV="1">
            <a:off x="1905000" y="2344738"/>
            <a:ext cx="228600" cy="869950"/>
          </a:xfrm>
          <a:prstGeom prst="line">
            <a:avLst/>
          </a:prstGeom>
          <a:noFill/>
          <a:ln w="25400">
            <a:solidFill>
              <a:srgbClr val="99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6" name="Line 14"/>
          <p:cNvSpPr>
            <a:spLocks noChangeShapeType="1"/>
          </p:cNvSpPr>
          <p:nvPr/>
        </p:nvSpPr>
        <p:spPr bwMode="auto">
          <a:xfrm flipH="1" flipV="1">
            <a:off x="2667000" y="2344738"/>
            <a:ext cx="381000" cy="86995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71" name="Text Box 15"/>
          <p:cNvSpPr txBox="1">
            <a:spLocks noChangeArrowheads="1"/>
          </p:cNvSpPr>
          <p:nvPr/>
        </p:nvSpPr>
        <p:spPr bwMode="auto">
          <a:xfrm>
            <a:off x="5638800" y="1887538"/>
            <a:ext cx="1524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3333CC"/>
                </a:solidFill>
                <a:latin typeface="Tahoma" panose="020B0604030504040204" pitchFamily="34" charset="0"/>
              </a:rPr>
              <a:t>9 5 +</a:t>
            </a:r>
            <a:endParaRPr lang="en-US" altLang="zh-CN">
              <a:solidFill>
                <a:srgbClr val="3333CC"/>
              </a:solidFill>
              <a:latin typeface="Tahoma" panose="020B0604030504040204" pitchFamily="34" charset="0"/>
            </a:endParaRPr>
          </a:p>
        </p:txBody>
      </p:sp>
      <p:sp>
        <p:nvSpPr>
          <p:cNvPr id="39948" name="Text Box 16"/>
          <p:cNvSpPr txBox="1">
            <a:spLocks noChangeArrowheads="1"/>
          </p:cNvSpPr>
          <p:nvPr/>
        </p:nvSpPr>
        <p:spPr bwMode="auto">
          <a:xfrm>
            <a:off x="4343400" y="3228975"/>
            <a:ext cx="419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3333CC"/>
                </a:solidFill>
                <a:latin typeface="Tahoma" panose="020B0604030504040204" pitchFamily="34" charset="0"/>
              </a:rPr>
              <a:t>Post(E) = Post(E</a:t>
            </a:r>
            <a:r>
              <a:rPr lang="en-US" altLang="zh-CN" sz="2400" baseline="-25000">
                <a:solidFill>
                  <a:srgbClr val="3333CC"/>
                </a:solidFill>
                <a:latin typeface="Tahoma" panose="020B0604030504040204" pitchFamily="34" charset="0"/>
              </a:rPr>
              <a:t>1</a:t>
            </a:r>
            <a:r>
              <a:rPr lang="en-US" altLang="zh-CN" sz="2400">
                <a:solidFill>
                  <a:srgbClr val="3333CC"/>
                </a:solidFill>
                <a:latin typeface="Tahoma" panose="020B0604030504040204" pitchFamily="34" charset="0"/>
              </a:rPr>
              <a:t>) Post(E</a:t>
            </a:r>
            <a:r>
              <a:rPr lang="en-US" altLang="zh-CN" sz="2400" baseline="-25000">
                <a:solidFill>
                  <a:srgbClr val="3333CC"/>
                </a:solidFill>
                <a:latin typeface="Tahoma" panose="020B0604030504040204" pitchFamily="34" charset="0"/>
              </a:rPr>
              <a:t>2</a:t>
            </a:r>
            <a:r>
              <a:rPr lang="en-US" altLang="zh-CN" sz="2400">
                <a:solidFill>
                  <a:srgbClr val="3333CC"/>
                </a:solidFill>
                <a:latin typeface="Tahoma" panose="020B0604030504040204" pitchFamily="34" charset="0"/>
              </a:rPr>
              <a:t>) +</a:t>
            </a:r>
            <a:endParaRPr lang="en-US" altLang="zh-CN" sz="2400">
              <a:solidFill>
                <a:srgbClr val="3333CC"/>
              </a:solidFill>
              <a:latin typeface="Tahoma" panose="020B0604030504040204" pitchFamily="34" charset="0"/>
            </a:endParaRPr>
          </a:p>
        </p:txBody>
      </p:sp>
      <p:sp>
        <p:nvSpPr>
          <p:cNvPr id="39949" name="Line 17"/>
          <p:cNvSpPr>
            <a:spLocks noChangeShapeType="1"/>
          </p:cNvSpPr>
          <p:nvPr/>
        </p:nvSpPr>
        <p:spPr bwMode="auto">
          <a:xfrm>
            <a:off x="5638800" y="2573338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0" name="Line 18"/>
          <p:cNvSpPr>
            <a:spLocks noChangeShapeType="1"/>
          </p:cNvSpPr>
          <p:nvPr/>
        </p:nvSpPr>
        <p:spPr bwMode="auto">
          <a:xfrm flipV="1">
            <a:off x="4953000" y="2573338"/>
            <a:ext cx="1295400" cy="7175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1" name="Line 19"/>
          <p:cNvSpPr>
            <a:spLocks noChangeShapeType="1"/>
          </p:cNvSpPr>
          <p:nvPr/>
        </p:nvSpPr>
        <p:spPr bwMode="auto">
          <a:xfrm>
            <a:off x="5638800" y="2347913"/>
            <a:ext cx="381000" cy="0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2" name="Line 20"/>
          <p:cNvSpPr>
            <a:spLocks noChangeShapeType="1"/>
          </p:cNvSpPr>
          <p:nvPr/>
        </p:nvSpPr>
        <p:spPr bwMode="auto">
          <a:xfrm>
            <a:off x="6019800" y="2347913"/>
            <a:ext cx="381000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3" name="Line 21"/>
          <p:cNvSpPr>
            <a:spLocks noChangeShapeType="1"/>
          </p:cNvSpPr>
          <p:nvPr/>
        </p:nvSpPr>
        <p:spPr bwMode="auto">
          <a:xfrm flipH="1" flipV="1">
            <a:off x="5791200" y="2344738"/>
            <a:ext cx="685800" cy="946150"/>
          </a:xfrm>
          <a:prstGeom prst="line">
            <a:avLst/>
          </a:prstGeom>
          <a:noFill/>
          <a:ln w="25400">
            <a:solidFill>
              <a:srgbClr val="99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4" name="Line 22"/>
          <p:cNvSpPr>
            <a:spLocks noChangeShapeType="1"/>
          </p:cNvSpPr>
          <p:nvPr/>
        </p:nvSpPr>
        <p:spPr bwMode="auto">
          <a:xfrm flipH="1" flipV="1">
            <a:off x="6172200" y="2314575"/>
            <a:ext cx="1447800" cy="97631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5" name="Text Box 23"/>
          <p:cNvSpPr txBox="1">
            <a:spLocks noChangeArrowheads="1"/>
          </p:cNvSpPr>
          <p:nvPr/>
        </p:nvSpPr>
        <p:spPr bwMode="auto">
          <a:xfrm>
            <a:off x="457200" y="4205288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3333CC"/>
                </a:solidFill>
                <a:latin typeface="Tahoma" panose="020B0604030504040204" pitchFamily="34" charset="0"/>
              </a:rPr>
              <a:t>expr </a:t>
            </a:r>
            <a:r>
              <a:rPr kumimoji="0" lang="en-US" altLang="zh-CN" sz="2800">
                <a:solidFill>
                  <a:srgbClr val="3333CC"/>
                </a:solidFill>
                <a:sym typeface="Symbol" panose="05050102010706020507" pitchFamily="18" charset="2"/>
              </a:rPr>
              <a:t> </a:t>
            </a:r>
            <a:r>
              <a:rPr kumimoji="0" lang="en-US" altLang="zh-CN" sz="2800">
                <a:solidFill>
                  <a:srgbClr val="3333CC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expr + term</a:t>
            </a:r>
            <a:endParaRPr kumimoji="0" lang="en-US" altLang="zh-CN" sz="2800">
              <a:solidFill>
                <a:srgbClr val="3333CC"/>
              </a:solidFill>
              <a:sym typeface="Symbol" panose="05050102010706020507" pitchFamily="18" charset="2"/>
            </a:endParaRPr>
          </a:p>
        </p:txBody>
      </p:sp>
      <p:sp>
        <p:nvSpPr>
          <p:cNvPr id="39956" name="Line 25"/>
          <p:cNvSpPr>
            <a:spLocks noChangeShapeType="1"/>
          </p:cNvSpPr>
          <p:nvPr/>
        </p:nvSpPr>
        <p:spPr bwMode="auto">
          <a:xfrm flipV="1">
            <a:off x="838200" y="3533775"/>
            <a:ext cx="685800" cy="82391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7" name="Line 26"/>
          <p:cNvSpPr>
            <a:spLocks noChangeShapeType="1"/>
          </p:cNvSpPr>
          <p:nvPr/>
        </p:nvSpPr>
        <p:spPr bwMode="auto">
          <a:xfrm flipV="1">
            <a:off x="2209800" y="3533775"/>
            <a:ext cx="0" cy="82391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8" name="Line 27"/>
          <p:cNvSpPr>
            <a:spLocks noChangeShapeType="1"/>
          </p:cNvSpPr>
          <p:nvPr/>
        </p:nvSpPr>
        <p:spPr bwMode="auto">
          <a:xfrm flipH="1" flipV="1">
            <a:off x="3124200" y="3609975"/>
            <a:ext cx="228600" cy="74771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9" name="Text Box 28"/>
          <p:cNvSpPr txBox="1">
            <a:spLocks noChangeArrowheads="1"/>
          </p:cNvSpPr>
          <p:nvPr/>
        </p:nvSpPr>
        <p:spPr bwMode="auto">
          <a:xfrm>
            <a:off x="4114800" y="4205288"/>
            <a:ext cx="4849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3333CC"/>
                </a:solidFill>
                <a:latin typeface="Tahoma" panose="020B0604030504040204" pitchFamily="34" charset="0"/>
              </a:rPr>
              <a:t>expr.t=</a:t>
            </a:r>
            <a:r>
              <a:rPr kumimoji="0" lang="en-US" altLang="zh-CN" sz="2800">
                <a:solidFill>
                  <a:srgbClr val="3333CC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800">
                <a:solidFill>
                  <a:srgbClr val="3333CC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expr.t || term.t || ‘+’</a:t>
            </a:r>
            <a:endParaRPr kumimoji="0" lang="en-US" altLang="zh-CN" sz="2800">
              <a:solidFill>
                <a:srgbClr val="3333CC"/>
              </a:solidFill>
              <a:sym typeface="Symbol" panose="05050102010706020507" pitchFamily="18" charset="2"/>
            </a:endParaRPr>
          </a:p>
        </p:txBody>
      </p:sp>
      <p:sp>
        <p:nvSpPr>
          <p:cNvPr id="39960" name="Line 29"/>
          <p:cNvSpPr>
            <a:spLocks noChangeShapeType="1"/>
          </p:cNvSpPr>
          <p:nvPr/>
        </p:nvSpPr>
        <p:spPr bwMode="auto">
          <a:xfrm flipV="1">
            <a:off x="4572000" y="3609975"/>
            <a:ext cx="228600" cy="74771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61" name="Line 30"/>
          <p:cNvSpPr>
            <a:spLocks noChangeShapeType="1"/>
          </p:cNvSpPr>
          <p:nvPr/>
        </p:nvSpPr>
        <p:spPr bwMode="auto">
          <a:xfrm flipV="1">
            <a:off x="5943600" y="3562350"/>
            <a:ext cx="228600" cy="87153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62" name="Line 31"/>
          <p:cNvSpPr>
            <a:spLocks noChangeShapeType="1"/>
          </p:cNvSpPr>
          <p:nvPr/>
        </p:nvSpPr>
        <p:spPr bwMode="auto">
          <a:xfrm flipH="1" flipV="1">
            <a:off x="7391400" y="3533775"/>
            <a:ext cx="0" cy="82391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87" name="Text Box 32"/>
          <p:cNvSpPr txBox="1">
            <a:spLocks noChangeArrowheads="1"/>
          </p:cNvSpPr>
          <p:nvPr/>
        </p:nvSpPr>
        <p:spPr bwMode="auto">
          <a:xfrm>
            <a:off x="1752600" y="1201738"/>
            <a:ext cx="1524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中缀</a:t>
            </a:r>
            <a:endParaRPr lang="zh-CN" altLang="en-US">
              <a:solidFill>
                <a:srgbClr val="3333CC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40988" name="Text Box 33"/>
          <p:cNvSpPr txBox="1">
            <a:spLocks noChangeArrowheads="1"/>
          </p:cNvSpPr>
          <p:nvPr/>
        </p:nvSpPr>
        <p:spPr bwMode="auto">
          <a:xfrm>
            <a:off x="5638800" y="1201738"/>
            <a:ext cx="1524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后缀</a:t>
            </a:r>
            <a:endParaRPr lang="zh-CN" altLang="en-US">
              <a:solidFill>
                <a:srgbClr val="3333CC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40989" name="Line 9"/>
          <p:cNvSpPr>
            <a:spLocks noChangeShapeType="1"/>
          </p:cNvSpPr>
          <p:nvPr/>
        </p:nvSpPr>
        <p:spPr bwMode="auto">
          <a:xfrm>
            <a:off x="3276600" y="2205038"/>
            <a:ext cx="19431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Text Box 32"/>
          <p:cNvSpPr txBox="1">
            <a:spLocks noChangeArrowheads="1"/>
          </p:cNvSpPr>
          <p:nvPr/>
        </p:nvSpPr>
        <p:spPr bwMode="auto">
          <a:xfrm>
            <a:off x="3248025" y="1743075"/>
            <a:ext cx="20859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1800" dirty="0">
                <a:solidFill>
                  <a:schemeClr val="accent4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人做某个实例翻译</a:t>
            </a:r>
            <a:endParaRPr lang="zh-CN" altLang="en-US" sz="1800" dirty="0">
              <a:solidFill>
                <a:schemeClr val="accent4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32" name="Text Box 32"/>
          <p:cNvSpPr txBox="1">
            <a:spLocks noChangeArrowheads="1"/>
          </p:cNvSpPr>
          <p:nvPr/>
        </p:nvSpPr>
        <p:spPr bwMode="auto">
          <a:xfrm>
            <a:off x="671513" y="2632075"/>
            <a:ext cx="1247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1800" dirty="0">
                <a:solidFill>
                  <a:schemeClr val="accent4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语法抽象</a:t>
            </a:r>
            <a:endParaRPr lang="zh-CN" altLang="en-US" sz="1800" dirty="0">
              <a:solidFill>
                <a:schemeClr val="accent4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33" name="Text Box 32"/>
          <p:cNvSpPr txBox="1">
            <a:spLocks noChangeArrowheads="1"/>
          </p:cNvSpPr>
          <p:nvPr/>
        </p:nvSpPr>
        <p:spPr bwMode="auto">
          <a:xfrm>
            <a:off x="6877050" y="2565400"/>
            <a:ext cx="22669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1800" dirty="0">
                <a:solidFill>
                  <a:schemeClr val="accent4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语法对应的翻译方法</a:t>
            </a:r>
            <a:endParaRPr lang="zh-CN" altLang="en-US" sz="1800" dirty="0">
              <a:solidFill>
                <a:schemeClr val="accent4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34" name="Text Box 32"/>
          <p:cNvSpPr txBox="1">
            <a:spLocks noChangeArrowheads="1"/>
          </p:cNvSpPr>
          <p:nvPr/>
        </p:nvSpPr>
        <p:spPr bwMode="auto">
          <a:xfrm>
            <a:off x="117475" y="3575050"/>
            <a:ext cx="12477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1800" dirty="0">
                <a:solidFill>
                  <a:schemeClr val="accent4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符号化为产生式</a:t>
            </a:r>
            <a:endParaRPr lang="zh-CN" altLang="en-US" sz="1800" dirty="0">
              <a:solidFill>
                <a:schemeClr val="accent4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35" name="Text Box 32"/>
          <p:cNvSpPr txBox="1">
            <a:spLocks noChangeArrowheads="1"/>
          </p:cNvSpPr>
          <p:nvPr/>
        </p:nvSpPr>
        <p:spPr bwMode="auto">
          <a:xfrm>
            <a:off x="5076825" y="3773488"/>
            <a:ext cx="22669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1800" dirty="0">
                <a:solidFill>
                  <a:schemeClr val="accent4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符号化为语义规则</a:t>
            </a:r>
            <a:endParaRPr lang="zh-CN" altLang="en-US" sz="1800" dirty="0">
              <a:solidFill>
                <a:schemeClr val="accent4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36" name="Text Box 32"/>
          <p:cNvSpPr txBox="1">
            <a:spLocks noChangeArrowheads="1"/>
          </p:cNvSpPr>
          <p:nvPr/>
        </p:nvSpPr>
        <p:spPr bwMode="auto">
          <a:xfrm>
            <a:off x="4425950" y="5467350"/>
            <a:ext cx="17843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1800" dirty="0">
                <a:solidFill>
                  <a:schemeClr val="accent4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属性，表示翻译</a:t>
            </a:r>
            <a:br>
              <a:rPr lang="en-US" altLang="zh-CN" sz="1800" dirty="0">
                <a:solidFill>
                  <a:schemeClr val="accent4"/>
                </a:solidFill>
                <a:latin typeface="Tahoma" panose="020B0604030504040204" pitchFamily="34" charset="0"/>
                <a:ea typeface="黑体" panose="02010609060101010101" pitchFamily="49" charset="-122"/>
              </a:rPr>
            </a:br>
            <a:r>
              <a:rPr lang="zh-CN" altLang="en-US" sz="1800" dirty="0">
                <a:solidFill>
                  <a:schemeClr val="accent4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结果即后缀串</a:t>
            </a:r>
            <a:endParaRPr lang="en-US" altLang="zh-CN" sz="1800" dirty="0">
              <a:solidFill>
                <a:schemeClr val="accent4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37" name="Line 18"/>
          <p:cNvSpPr>
            <a:spLocks noChangeShapeType="1"/>
          </p:cNvSpPr>
          <p:nvPr/>
        </p:nvSpPr>
        <p:spPr bwMode="auto">
          <a:xfrm flipH="1" flipV="1">
            <a:off x="5003798" y="4645024"/>
            <a:ext cx="330201" cy="822319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Text Box 32"/>
          <p:cNvSpPr txBox="1">
            <a:spLocks noChangeArrowheads="1"/>
          </p:cNvSpPr>
          <p:nvPr/>
        </p:nvSpPr>
        <p:spPr bwMode="auto">
          <a:xfrm>
            <a:off x="6248400" y="5413375"/>
            <a:ext cx="19240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1800" dirty="0">
                <a:solidFill>
                  <a:schemeClr val="accent4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翻译方法表示为</a:t>
            </a:r>
            <a:br>
              <a:rPr lang="en-US" altLang="zh-CN" sz="1800" dirty="0">
                <a:solidFill>
                  <a:schemeClr val="accent4"/>
                </a:solidFill>
                <a:latin typeface="Tahoma" panose="020B0604030504040204" pitchFamily="34" charset="0"/>
                <a:ea typeface="黑体" panose="02010609060101010101" pitchFamily="49" charset="-122"/>
              </a:rPr>
            </a:br>
            <a:r>
              <a:rPr lang="zh-CN" altLang="en-US" sz="1800" dirty="0">
                <a:solidFill>
                  <a:schemeClr val="accent4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属性字符串运算</a:t>
            </a:r>
            <a:endParaRPr lang="en-US" altLang="zh-CN" sz="1800" dirty="0">
              <a:solidFill>
                <a:schemeClr val="accent4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39" name="Line 18"/>
          <p:cNvSpPr>
            <a:spLocks noChangeShapeType="1"/>
          </p:cNvSpPr>
          <p:nvPr/>
        </p:nvSpPr>
        <p:spPr bwMode="auto">
          <a:xfrm flipH="1" flipV="1">
            <a:off x="6588125" y="4710113"/>
            <a:ext cx="652463" cy="75723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Line 9"/>
          <p:cNvSpPr>
            <a:spLocks noChangeShapeType="1"/>
          </p:cNvSpPr>
          <p:nvPr/>
        </p:nvSpPr>
        <p:spPr bwMode="auto">
          <a:xfrm>
            <a:off x="3246410" y="3082130"/>
            <a:ext cx="19431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Text Box 32"/>
          <p:cNvSpPr txBox="1">
            <a:spLocks noChangeArrowheads="1"/>
          </p:cNvSpPr>
          <p:nvPr/>
        </p:nvSpPr>
        <p:spPr bwMode="auto">
          <a:xfrm>
            <a:off x="3217835" y="2620167"/>
            <a:ext cx="2085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1800" dirty="0">
                <a:solidFill>
                  <a:schemeClr val="accent4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人梳理清翻译方法</a:t>
            </a:r>
            <a:endParaRPr lang="zh-CN" altLang="en-US" sz="1800" dirty="0">
              <a:solidFill>
                <a:schemeClr val="accent4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42" name="Line 9"/>
          <p:cNvSpPr>
            <a:spLocks noChangeShapeType="1"/>
          </p:cNvSpPr>
          <p:nvPr/>
        </p:nvSpPr>
        <p:spPr bwMode="auto">
          <a:xfrm>
            <a:off x="3014497" y="5106988"/>
            <a:ext cx="19431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Text Box 32"/>
          <p:cNvSpPr txBox="1">
            <a:spLocks noChangeArrowheads="1"/>
          </p:cNvSpPr>
          <p:nvPr/>
        </p:nvSpPr>
        <p:spPr bwMode="auto">
          <a:xfrm>
            <a:off x="2985922" y="4645025"/>
            <a:ext cx="2085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1800" dirty="0">
                <a:solidFill>
                  <a:schemeClr val="accent4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语法制导翻译方法</a:t>
            </a:r>
            <a:endParaRPr lang="zh-CN" altLang="en-US" sz="1800" dirty="0">
              <a:solidFill>
                <a:schemeClr val="accent4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44" name="Line 18"/>
          <p:cNvSpPr>
            <a:spLocks noChangeShapeType="1"/>
          </p:cNvSpPr>
          <p:nvPr/>
        </p:nvSpPr>
        <p:spPr bwMode="auto">
          <a:xfrm flipV="1">
            <a:off x="5380200" y="4645022"/>
            <a:ext cx="868199" cy="822319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" name="Line 18"/>
          <p:cNvSpPr>
            <a:spLocks noChangeShapeType="1"/>
          </p:cNvSpPr>
          <p:nvPr/>
        </p:nvSpPr>
        <p:spPr bwMode="auto">
          <a:xfrm flipV="1">
            <a:off x="5436096" y="4629150"/>
            <a:ext cx="2226597" cy="83819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Line 18"/>
          <p:cNvSpPr>
            <a:spLocks noChangeShapeType="1"/>
          </p:cNvSpPr>
          <p:nvPr/>
        </p:nvSpPr>
        <p:spPr bwMode="auto">
          <a:xfrm flipV="1">
            <a:off x="7301703" y="4645021"/>
            <a:ext cx="700715" cy="817664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/>
      <p:bldP spid="39948" grpId="0"/>
      <p:bldP spid="39955" grpId="0"/>
      <p:bldP spid="39959" grpId="0"/>
      <p:bldP spid="40989" grpId="0" animBg="1"/>
      <p:bldP spid="31" grpId="0"/>
      <p:bldP spid="32" grpId="0"/>
      <p:bldP spid="33" grpId="0"/>
      <p:bldP spid="34" grpId="0"/>
      <p:bldP spid="35" grpId="0"/>
      <p:bldP spid="36" grpId="0"/>
      <p:bldP spid="38" grpId="0"/>
      <p:bldP spid="40" grpId="0" animBg="1"/>
      <p:bldP spid="41" grpId="0"/>
      <p:bldP spid="42" grpId="0" animBg="1"/>
      <p:bldP spid="4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2.6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41987" name="Text Box 50"/>
          <p:cNvSpPr txBox="1">
            <a:spLocks noChangeArrowheads="1"/>
          </p:cNvSpPr>
          <p:nvPr/>
        </p:nvSpPr>
        <p:spPr bwMode="auto">
          <a:xfrm>
            <a:off x="762000" y="1444625"/>
            <a:ext cx="8077200" cy="3391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 dirty="0"/>
              <a:t>Production                          Semantic Rule</a:t>
            </a:r>
            <a:endParaRPr kumimoji="0" lang="en-US" altLang="zh-CN" sz="2800" b="1" dirty="0"/>
          </a:p>
          <a:p>
            <a:pPr>
              <a:lnSpc>
                <a:spcPct val="5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2400" i="1" dirty="0"/>
          </a:p>
          <a:p>
            <a:pPr>
              <a:lnSpc>
                <a:spcPct val="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i="1" dirty="0"/>
              <a:t>expr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i="1" dirty="0">
                <a:sym typeface="Symbol" panose="05050102010706020507" pitchFamily="18" charset="2"/>
              </a:rPr>
              <a:t> expr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i="1" dirty="0">
                <a:sym typeface="Symbol" panose="05050102010706020507" pitchFamily="18" charset="2"/>
              </a:rPr>
              <a:t> + term     	expr.t = expr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i="1" dirty="0">
                <a:sym typeface="Symbol" panose="05050102010706020507" pitchFamily="18" charset="2"/>
              </a:rPr>
              <a:t>.t || term.t || </a:t>
            </a:r>
            <a:r>
              <a:rPr kumimoji="0" lang="en-US" altLang="zh-CN" sz="2400" dirty="0">
                <a:sym typeface="Symbol" panose="05050102010706020507" pitchFamily="18" charset="2"/>
              </a:rPr>
              <a:t>‘+’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>
                <a:sym typeface="Symbol" panose="05050102010706020507" pitchFamily="18" charset="2"/>
              </a:rPr>
              <a:t>expr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i="1" dirty="0">
                <a:sym typeface="Symbol" panose="05050102010706020507" pitchFamily="18" charset="2"/>
              </a:rPr>
              <a:t> expr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i="1" dirty="0">
                <a:sym typeface="Symbol" panose="05050102010706020507" pitchFamily="18" charset="2"/>
              </a:rPr>
              <a:t> – term      	expr.t = expr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i="1" dirty="0">
                <a:sym typeface="Symbol" panose="05050102010706020507" pitchFamily="18" charset="2"/>
              </a:rPr>
              <a:t>.t || term.t || </a:t>
            </a:r>
            <a:r>
              <a:rPr kumimoji="0" lang="en-US" altLang="zh-CN" sz="2400" dirty="0">
                <a:sym typeface="Symbol" panose="05050102010706020507" pitchFamily="18" charset="2"/>
              </a:rPr>
              <a:t>‘-’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>
                <a:sym typeface="Symbol" panose="05050102010706020507" pitchFamily="18" charset="2"/>
              </a:rPr>
              <a:t>expr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i="1" dirty="0">
                <a:sym typeface="Symbol" panose="05050102010706020507" pitchFamily="18" charset="2"/>
              </a:rPr>
              <a:t> term                  	expr.t = term.t</a:t>
            </a:r>
            <a:endParaRPr kumimoji="0" lang="en-US" altLang="zh-CN" sz="2400" i="1" dirty="0">
              <a:sym typeface="Symbol" panose="05050102010706020507" pitchFamily="18" charset="2"/>
            </a:endParaRP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>
                <a:sym typeface="Symbol" panose="05050102010706020507" pitchFamily="18" charset="2"/>
              </a:rPr>
              <a:t>term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0</a:t>
            </a:r>
            <a:r>
              <a:rPr kumimoji="0" lang="en-US" altLang="zh-CN" sz="2400" i="1" dirty="0">
                <a:sym typeface="Symbol" panose="05050102010706020507" pitchFamily="18" charset="2"/>
              </a:rPr>
              <a:t>                     	term.t = </a:t>
            </a:r>
            <a:r>
              <a:rPr kumimoji="0" lang="en-US" altLang="zh-CN" sz="2400" dirty="0">
                <a:sym typeface="Symbol" panose="05050102010706020507" pitchFamily="18" charset="2"/>
              </a:rPr>
              <a:t>‘0’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>
                <a:sym typeface="Symbol" panose="05050102010706020507" pitchFamily="18" charset="2"/>
              </a:rPr>
              <a:t>term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1 </a:t>
            </a:r>
            <a:r>
              <a:rPr kumimoji="0" lang="en-US" altLang="zh-CN" sz="2400" i="1" dirty="0">
                <a:sym typeface="Symbol" panose="05050102010706020507" pitchFamily="18" charset="2"/>
              </a:rPr>
              <a:t>                  	    	term.t = </a:t>
            </a:r>
            <a:r>
              <a:rPr kumimoji="0" lang="en-US" altLang="zh-CN" sz="2400" dirty="0">
                <a:sym typeface="Symbol" panose="05050102010706020507" pitchFamily="18" charset="2"/>
              </a:rPr>
              <a:t>‘1’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>
                <a:sym typeface="Symbol" panose="05050102010706020507" pitchFamily="18" charset="2"/>
              </a:rPr>
              <a:t>….                                 	….</a:t>
            </a:r>
            <a:endParaRPr kumimoji="0" lang="en-US" altLang="zh-CN" sz="2400" i="1" dirty="0">
              <a:sym typeface="Symbol" panose="05050102010706020507" pitchFamily="18" charset="2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>
                <a:sym typeface="Symbol" panose="05050102010706020507" pitchFamily="18" charset="2"/>
              </a:rPr>
              <a:t>term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9</a:t>
            </a:r>
            <a:r>
              <a:rPr kumimoji="0" lang="en-US" altLang="zh-CN" sz="2400" i="1" dirty="0">
                <a:sym typeface="Symbol" panose="05050102010706020507" pitchFamily="18" charset="2"/>
              </a:rPr>
              <a:t>                       	term.t = </a:t>
            </a:r>
            <a:r>
              <a:rPr kumimoji="0" lang="en-US" altLang="zh-CN" sz="2400" dirty="0">
                <a:sym typeface="Symbol" panose="05050102010706020507" pitchFamily="18" charset="2"/>
              </a:rPr>
              <a:t>‘9’</a:t>
            </a:r>
            <a:endParaRPr kumimoji="0" lang="en-US" altLang="zh-CN" sz="2400" dirty="0">
              <a:sym typeface="Symbol" panose="05050102010706020507" pitchFamily="18" charset="2"/>
            </a:endParaRPr>
          </a:p>
        </p:txBody>
      </p:sp>
      <p:sp>
        <p:nvSpPr>
          <p:cNvPr id="41988" name="Line 51"/>
          <p:cNvSpPr>
            <a:spLocks noChangeShapeType="1"/>
          </p:cNvSpPr>
          <p:nvPr/>
        </p:nvSpPr>
        <p:spPr bwMode="auto">
          <a:xfrm>
            <a:off x="685800" y="149225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89" name="Line 52"/>
          <p:cNvSpPr>
            <a:spLocks noChangeShapeType="1"/>
          </p:cNvSpPr>
          <p:nvPr/>
        </p:nvSpPr>
        <p:spPr bwMode="auto">
          <a:xfrm>
            <a:off x="685800" y="13716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90" name="Line 53"/>
          <p:cNvSpPr>
            <a:spLocks noChangeShapeType="1"/>
          </p:cNvSpPr>
          <p:nvPr/>
        </p:nvSpPr>
        <p:spPr bwMode="auto">
          <a:xfrm>
            <a:off x="685800" y="52578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91" name="Line 54"/>
          <p:cNvSpPr>
            <a:spLocks noChangeShapeType="1"/>
          </p:cNvSpPr>
          <p:nvPr/>
        </p:nvSpPr>
        <p:spPr bwMode="auto">
          <a:xfrm>
            <a:off x="685800" y="1979613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92" name="Line 55"/>
          <p:cNvSpPr>
            <a:spLocks noChangeShapeType="1"/>
          </p:cNvSpPr>
          <p:nvPr/>
        </p:nvSpPr>
        <p:spPr bwMode="auto">
          <a:xfrm>
            <a:off x="4079875" y="1492250"/>
            <a:ext cx="0" cy="376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2.6</a:t>
            </a:r>
            <a:r>
              <a:rPr lang="zh-CN" altLang="en-US"/>
              <a:t>（续）注释语法分析树</a:t>
            </a:r>
            <a:endParaRPr lang="zh-CN" altLang="en-US"/>
          </a:p>
        </p:txBody>
      </p:sp>
      <p:grpSp>
        <p:nvGrpSpPr>
          <p:cNvPr id="43011" name="Group 4"/>
          <p:cNvGrpSpPr/>
          <p:nvPr/>
        </p:nvGrpSpPr>
        <p:grpSpPr bwMode="auto">
          <a:xfrm>
            <a:off x="990600" y="1371600"/>
            <a:ext cx="7391400" cy="3894138"/>
            <a:chOff x="576" y="768"/>
            <a:chExt cx="3264" cy="2105"/>
          </a:xfrm>
        </p:grpSpPr>
        <p:sp>
          <p:nvSpPr>
            <p:cNvPr id="43012" name="Text Box 5"/>
            <p:cNvSpPr txBox="1">
              <a:spLocks noChangeArrowheads="1"/>
            </p:cNvSpPr>
            <p:nvPr/>
          </p:nvSpPr>
          <p:spPr bwMode="auto">
            <a:xfrm>
              <a:off x="1152" y="1152"/>
              <a:ext cx="864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 dirty="0"/>
                <a:t>expr.t</a:t>
              </a:r>
              <a:endParaRPr kumimoji="0" lang="en-US" altLang="zh-CN" sz="2800" i="1" dirty="0"/>
            </a:p>
          </p:txBody>
        </p:sp>
        <p:sp>
          <p:nvSpPr>
            <p:cNvPr id="43013" name="Text Box 6"/>
            <p:cNvSpPr txBox="1">
              <a:spLocks noChangeArrowheads="1"/>
            </p:cNvSpPr>
            <p:nvPr/>
          </p:nvSpPr>
          <p:spPr bwMode="auto">
            <a:xfrm>
              <a:off x="576" y="1536"/>
              <a:ext cx="864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 dirty="0"/>
                <a:t>expr.t</a:t>
              </a:r>
              <a:endParaRPr kumimoji="0" lang="en-US" altLang="zh-CN" sz="2800" i="1" dirty="0"/>
            </a:p>
          </p:txBody>
        </p:sp>
        <p:sp>
          <p:nvSpPr>
            <p:cNvPr id="43014" name="Text Box 7"/>
            <p:cNvSpPr txBox="1">
              <a:spLocks noChangeArrowheads="1"/>
            </p:cNvSpPr>
            <p:nvPr/>
          </p:nvSpPr>
          <p:spPr bwMode="auto">
            <a:xfrm>
              <a:off x="2208" y="768"/>
              <a:ext cx="1008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 dirty="0"/>
                <a:t>expr.t</a:t>
              </a:r>
              <a:endParaRPr kumimoji="0" lang="en-US" altLang="zh-CN" sz="2800" i="1" dirty="0"/>
            </a:p>
          </p:txBody>
        </p:sp>
        <p:sp>
          <p:nvSpPr>
            <p:cNvPr id="43015" name="Text Box 8"/>
            <p:cNvSpPr txBox="1">
              <a:spLocks noChangeArrowheads="1"/>
            </p:cNvSpPr>
            <p:nvPr/>
          </p:nvSpPr>
          <p:spPr bwMode="auto">
            <a:xfrm>
              <a:off x="1584" y="1536"/>
              <a:ext cx="864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 dirty="0"/>
                <a:t>term.t</a:t>
              </a:r>
              <a:endParaRPr kumimoji="0" lang="en-US" altLang="zh-CN" sz="2800" i="1" dirty="0"/>
            </a:p>
          </p:txBody>
        </p:sp>
        <p:sp>
          <p:nvSpPr>
            <p:cNvPr id="43016" name="Text Box 9"/>
            <p:cNvSpPr txBox="1">
              <a:spLocks noChangeArrowheads="1"/>
            </p:cNvSpPr>
            <p:nvPr/>
          </p:nvSpPr>
          <p:spPr bwMode="auto">
            <a:xfrm>
              <a:off x="2976" y="1152"/>
              <a:ext cx="864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 dirty="0"/>
                <a:t>term.t</a:t>
              </a:r>
              <a:endParaRPr kumimoji="0" lang="en-US" altLang="zh-CN" sz="2800" i="1" dirty="0"/>
            </a:p>
          </p:txBody>
        </p:sp>
        <p:sp>
          <p:nvSpPr>
            <p:cNvPr id="43017" name="Text Box 10"/>
            <p:cNvSpPr txBox="1">
              <a:spLocks noChangeArrowheads="1"/>
            </p:cNvSpPr>
            <p:nvPr/>
          </p:nvSpPr>
          <p:spPr bwMode="auto">
            <a:xfrm>
              <a:off x="576" y="2016"/>
              <a:ext cx="864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 dirty="0"/>
                <a:t>term.t</a:t>
              </a:r>
              <a:endParaRPr kumimoji="0" lang="en-US" altLang="zh-CN" sz="2800" i="1" dirty="0"/>
            </a:p>
          </p:txBody>
        </p:sp>
        <p:sp>
          <p:nvSpPr>
            <p:cNvPr id="43018" name="Line 11"/>
            <p:cNvSpPr>
              <a:spLocks noChangeShapeType="1"/>
            </p:cNvSpPr>
            <p:nvPr/>
          </p:nvSpPr>
          <p:spPr bwMode="auto">
            <a:xfrm>
              <a:off x="816" y="230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9" name="Line 12"/>
            <p:cNvSpPr>
              <a:spLocks noChangeShapeType="1"/>
            </p:cNvSpPr>
            <p:nvPr/>
          </p:nvSpPr>
          <p:spPr bwMode="auto">
            <a:xfrm>
              <a:off x="2736" y="960"/>
              <a:ext cx="43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0" name="Line 13"/>
            <p:cNvSpPr>
              <a:spLocks noChangeShapeType="1"/>
            </p:cNvSpPr>
            <p:nvPr/>
          </p:nvSpPr>
          <p:spPr bwMode="auto">
            <a:xfrm>
              <a:off x="1536" y="1344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1" name="Line 14"/>
            <p:cNvSpPr>
              <a:spLocks noChangeShapeType="1"/>
            </p:cNvSpPr>
            <p:nvPr/>
          </p:nvSpPr>
          <p:spPr bwMode="auto">
            <a:xfrm flipH="1">
              <a:off x="1392" y="912"/>
              <a:ext cx="81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2" name="Line 15"/>
            <p:cNvSpPr>
              <a:spLocks noChangeShapeType="1"/>
            </p:cNvSpPr>
            <p:nvPr/>
          </p:nvSpPr>
          <p:spPr bwMode="auto">
            <a:xfrm flipH="1">
              <a:off x="816" y="1344"/>
              <a:ext cx="3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3" name="Line 16"/>
            <p:cNvSpPr>
              <a:spLocks noChangeShapeType="1"/>
            </p:cNvSpPr>
            <p:nvPr/>
          </p:nvSpPr>
          <p:spPr bwMode="auto">
            <a:xfrm>
              <a:off x="768" y="177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4" name="Line 17"/>
            <p:cNvSpPr>
              <a:spLocks noChangeShapeType="1"/>
            </p:cNvSpPr>
            <p:nvPr/>
          </p:nvSpPr>
          <p:spPr bwMode="auto">
            <a:xfrm>
              <a:off x="1344" y="1440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5" name="Line 18"/>
            <p:cNvSpPr>
              <a:spLocks noChangeShapeType="1"/>
            </p:cNvSpPr>
            <p:nvPr/>
          </p:nvSpPr>
          <p:spPr bwMode="auto">
            <a:xfrm>
              <a:off x="2400" y="1056"/>
              <a:ext cx="0" cy="1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6" name="Line 19"/>
            <p:cNvSpPr>
              <a:spLocks noChangeShapeType="1"/>
            </p:cNvSpPr>
            <p:nvPr/>
          </p:nvSpPr>
          <p:spPr bwMode="auto">
            <a:xfrm>
              <a:off x="1776" y="1776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7" name="Line 20"/>
            <p:cNvSpPr>
              <a:spLocks noChangeShapeType="1"/>
            </p:cNvSpPr>
            <p:nvPr/>
          </p:nvSpPr>
          <p:spPr bwMode="auto">
            <a:xfrm>
              <a:off x="3168" y="1440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8" name="Text Box 21"/>
            <p:cNvSpPr txBox="1">
              <a:spLocks noChangeArrowheads="1"/>
            </p:cNvSpPr>
            <p:nvPr/>
          </p:nvSpPr>
          <p:spPr bwMode="auto">
            <a:xfrm>
              <a:off x="2928" y="2544"/>
              <a:ext cx="432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2</a:t>
              </a:r>
              <a:endParaRPr kumimoji="0" lang="en-US" altLang="zh-CN" sz="2800"/>
            </a:p>
          </p:txBody>
        </p:sp>
        <p:sp>
          <p:nvSpPr>
            <p:cNvPr id="43029" name="Text Box 22"/>
            <p:cNvSpPr txBox="1">
              <a:spLocks noChangeArrowheads="1"/>
            </p:cNvSpPr>
            <p:nvPr/>
          </p:nvSpPr>
          <p:spPr bwMode="auto">
            <a:xfrm>
              <a:off x="2160" y="2592"/>
              <a:ext cx="432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+</a:t>
              </a:r>
              <a:endParaRPr kumimoji="0" lang="en-US" altLang="zh-CN" sz="2800"/>
            </a:p>
          </p:txBody>
        </p:sp>
        <p:sp>
          <p:nvSpPr>
            <p:cNvPr id="43030" name="Text Box 23"/>
            <p:cNvSpPr txBox="1">
              <a:spLocks noChangeArrowheads="1"/>
            </p:cNvSpPr>
            <p:nvPr/>
          </p:nvSpPr>
          <p:spPr bwMode="auto">
            <a:xfrm>
              <a:off x="1584" y="2592"/>
              <a:ext cx="432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5</a:t>
              </a:r>
              <a:endParaRPr kumimoji="0" lang="en-US" altLang="zh-CN" sz="2800"/>
            </a:p>
          </p:txBody>
        </p:sp>
        <p:sp>
          <p:nvSpPr>
            <p:cNvPr id="43031" name="Text Box 24"/>
            <p:cNvSpPr txBox="1">
              <a:spLocks noChangeArrowheads="1"/>
            </p:cNvSpPr>
            <p:nvPr/>
          </p:nvSpPr>
          <p:spPr bwMode="auto">
            <a:xfrm>
              <a:off x="1104" y="2592"/>
              <a:ext cx="432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-</a:t>
              </a:r>
              <a:endParaRPr kumimoji="0" lang="en-US" altLang="zh-CN" sz="2800"/>
            </a:p>
          </p:txBody>
        </p:sp>
        <p:sp>
          <p:nvSpPr>
            <p:cNvPr id="43032" name="Text Box 25"/>
            <p:cNvSpPr txBox="1">
              <a:spLocks noChangeArrowheads="1"/>
            </p:cNvSpPr>
            <p:nvPr/>
          </p:nvSpPr>
          <p:spPr bwMode="auto">
            <a:xfrm>
              <a:off x="576" y="2592"/>
              <a:ext cx="432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9</a:t>
              </a:r>
              <a:endParaRPr kumimoji="0" lang="en-US" altLang="zh-CN" sz="2800"/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1846731" y="3708119"/>
            <a:ext cx="6611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800" i="1" dirty="0"/>
              <a:t>=</a:t>
            </a:r>
            <a:r>
              <a:rPr kumimoji="0" lang="en-US" altLang="zh-CN" sz="2800" dirty="0">
                <a:solidFill>
                  <a:srgbClr val="0066FF"/>
                </a:solidFill>
              </a:rPr>
              <a:t>9</a:t>
            </a:r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549088" y="4402547"/>
            <a:ext cx="2311537" cy="231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i="1" dirty="0">
                <a:sym typeface="Symbol" panose="05050102010706020507" pitchFamily="18" charset="2"/>
              </a:rPr>
              <a:t>term </a:t>
            </a:r>
            <a:r>
              <a:rPr kumimoji="0" lang="en-US" altLang="zh-CN" sz="1600" dirty="0">
                <a:sym typeface="Symbol" panose="05050102010706020507" pitchFamily="18" charset="2"/>
              </a:rPr>
              <a:t></a:t>
            </a:r>
            <a:r>
              <a:rPr kumimoji="0" lang="en-US" altLang="zh-CN" sz="1600" i="1" dirty="0">
                <a:sym typeface="Symbol" panose="05050102010706020507" pitchFamily="18" charset="2"/>
              </a:rPr>
              <a:t> </a:t>
            </a:r>
            <a:r>
              <a:rPr kumimoji="0" lang="en-US" altLang="zh-CN" sz="1600" dirty="0">
                <a:sym typeface="Symbol" panose="05050102010706020507" pitchFamily="18" charset="2"/>
              </a:rPr>
              <a:t>9</a:t>
            </a:r>
            <a:r>
              <a:rPr kumimoji="0" lang="en-US" altLang="zh-CN" sz="1600" i="1" dirty="0">
                <a:sym typeface="Symbol" panose="05050102010706020507" pitchFamily="18" charset="2"/>
              </a:rPr>
              <a:t>   </a:t>
            </a:r>
            <a:r>
              <a:rPr kumimoji="0" lang="en-US" altLang="zh-CN" sz="1600" dirty="0">
                <a:sym typeface="Symbol" panose="05050102010706020507" pitchFamily="18" charset="2"/>
              </a:rPr>
              <a:t>{</a:t>
            </a:r>
            <a:r>
              <a:rPr kumimoji="0" lang="en-US" altLang="zh-CN" sz="1600" i="1" dirty="0">
                <a:sym typeface="Symbol" panose="05050102010706020507" pitchFamily="18" charset="2"/>
              </a:rPr>
              <a:t>term.t = </a:t>
            </a:r>
            <a:r>
              <a:rPr kumimoji="0" lang="en-US" altLang="zh-CN" sz="1600" dirty="0">
                <a:sym typeface="Symbol" panose="05050102010706020507" pitchFamily="18" charset="2"/>
              </a:rPr>
              <a:t>‘9’}</a:t>
            </a:r>
            <a:endParaRPr kumimoji="0" lang="en-US" altLang="zh-CN" sz="1600" dirty="0">
              <a:sym typeface="Symbol" panose="05050102010706020507" pitchFamily="18" charset="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792382" y="2823503"/>
            <a:ext cx="6611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800" i="1" dirty="0"/>
              <a:t>=</a:t>
            </a:r>
            <a:r>
              <a:rPr kumimoji="0" lang="en-US" altLang="zh-CN" sz="2800" dirty="0">
                <a:solidFill>
                  <a:srgbClr val="0066FF"/>
                </a:solidFill>
              </a:rPr>
              <a:t>9</a:t>
            </a:r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329079" y="3401937"/>
            <a:ext cx="2618066" cy="231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i="1" dirty="0">
                <a:sym typeface="Symbol" panose="05050102010706020507" pitchFamily="18" charset="2"/>
              </a:rPr>
              <a:t>expr</a:t>
            </a:r>
            <a:r>
              <a:rPr kumimoji="0" lang="en-US" altLang="zh-CN" sz="1600" dirty="0">
                <a:sym typeface="Symbol" panose="05050102010706020507" pitchFamily="18" charset="2"/>
              </a:rPr>
              <a:t></a:t>
            </a:r>
            <a:r>
              <a:rPr kumimoji="0" lang="en-US" altLang="zh-CN" sz="1600" i="1" dirty="0">
                <a:sym typeface="Symbol" panose="05050102010706020507" pitchFamily="18" charset="2"/>
              </a:rPr>
              <a:t> term </a:t>
            </a:r>
            <a:r>
              <a:rPr kumimoji="0" lang="en-US" altLang="zh-CN" sz="1600" dirty="0">
                <a:sym typeface="Symbol" panose="05050102010706020507" pitchFamily="18" charset="2"/>
              </a:rPr>
              <a:t>{</a:t>
            </a:r>
            <a:r>
              <a:rPr kumimoji="0" lang="en-US" altLang="zh-CN" sz="1600" i="1" dirty="0">
                <a:sym typeface="Symbol" panose="05050102010706020507" pitchFamily="18" charset="2"/>
              </a:rPr>
              <a:t>expr.t= term.t</a:t>
            </a:r>
            <a:r>
              <a:rPr kumimoji="0" lang="en-US" altLang="zh-CN" sz="1600" dirty="0">
                <a:sym typeface="Symbol" panose="05050102010706020507" pitchFamily="18" charset="2"/>
              </a:rPr>
              <a:t>}</a:t>
            </a:r>
            <a:endParaRPr kumimoji="0" lang="en-US" altLang="zh-CN" sz="1600" dirty="0">
              <a:sym typeface="Symbol" panose="05050102010706020507" pitchFamily="18" charset="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138333" y="2816680"/>
            <a:ext cx="6611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800" i="1" dirty="0"/>
              <a:t>=</a:t>
            </a:r>
            <a:r>
              <a:rPr kumimoji="0" lang="en-US" altLang="zh-CN" sz="2800" dirty="0">
                <a:solidFill>
                  <a:srgbClr val="0066FF"/>
                </a:solidFill>
              </a:rPr>
              <a:t>5</a:t>
            </a:r>
            <a:endParaRPr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407362" y="2606782"/>
            <a:ext cx="4536085" cy="231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i="1" dirty="0">
                <a:sym typeface="Symbol" panose="05050102010706020507" pitchFamily="18" charset="2"/>
              </a:rPr>
              <a:t>expr</a:t>
            </a:r>
            <a:r>
              <a:rPr kumimoji="0" lang="en-US" altLang="zh-CN" sz="1600" dirty="0">
                <a:sym typeface="Symbol" panose="05050102010706020507" pitchFamily="18" charset="2"/>
              </a:rPr>
              <a:t></a:t>
            </a:r>
            <a:r>
              <a:rPr kumimoji="0" lang="en-US" altLang="zh-CN" sz="1600" i="1" dirty="0">
                <a:sym typeface="Symbol" panose="05050102010706020507" pitchFamily="18" charset="2"/>
              </a:rPr>
              <a:t> expr</a:t>
            </a:r>
            <a:r>
              <a:rPr kumimoji="0" lang="en-US" altLang="zh-CN" sz="1600" i="1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1600" i="1" dirty="0">
                <a:sym typeface="Symbol" panose="05050102010706020507" pitchFamily="18" charset="2"/>
              </a:rPr>
              <a:t> - term </a:t>
            </a:r>
            <a:r>
              <a:rPr kumimoji="0" lang="en-US" altLang="zh-CN" sz="1600" dirty="0">
                <a:sym typeface="Symbol" panose="05050102010706020507" pitchFamily="18" charset="2"/>
              </a:rPr>
              <a:t>{</a:t>
            </a:r>
            <a:r>
              <a:rPr kumimoji="0" lang="en-US" altLang="zh-CN" sz="1600" i="1" dirty="0">
                <a:sym typeface="Symbol" panose="05050102010706020507" pitchFamily="18" charset="2"/>
              </a:rPr>
              <a:t>expr.t= expr</a:t>
            </a:r>
            <a:r>
              <a:rPr kumimoji="0" lang="en-US" altLang="zh-CN" sz="1600" i="1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1600" i="1" dirty="0">
                <a:sym typeface="Symbol" panose="05050102010706020507" pitchFamily="18" charset="2"/>
              </a:rPr>
              <a:t>.t</a:t>
            </a:r>
            <a:r>
              <a:rPr kumimoji="0" lang="en-US" altLang="zh-CN" sz="1600" i="1" baseline="-25000" dirty="0">
                <a:sym typeface="Symbol" panose="05050102010706020507" pitchFamily="18" charset="2"/>
              </a:rPr>
              <a:t> </a:t>
            </a:r>
            <a:r>
              <a:rPr kumimoji="0" lang="en-US" altLang="zh-CN" sz="1600" i="1" dirty="0">
                <a:sym typeface="Symbol" panose="05050102010706020507" pitchFamily="18" charset="2"/>
              </a:rPr>
              <a:t>|| term.t || </a:t>
            </a:r>
            <a:r>
              <a:rPr kumimoji="0" lang="en-US" altLang="zh-CN" sz="1600" dirty="0">
                <a:sym typeface="Symbol" panose="05050102010706020507" pitchFamily="18" charset="2"/>
              </a:rPr>
              <a:t>‘-’}</a:t>
            </a:r>
            <a:endParaRPr kumimoji="0" lang="en-US" altLang="zh-CN" sz="1600" dirty="0">
              <a:sym typeface="Symbol" panose="05050102010706020507" pitchFamily="18" charset="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142070" y="2079462"/>
            <a:ext cx="9419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800" i="1" dirty="0"/>
              <a:t>=</a:t>
            </a:r>
            <a:r>
              <a:rPr kumimoji="0" lang="en-US" altLang="zh-CN" sz="2800" dirty="0">
                <a:solidFill>
                  <a:srgbClr val="0066FF"/>
                </a:solidFill>
              </a:rPr>
              <a:t>95-</a:t>
            </a:r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7272855" y="2091544"/>
            <a:ext cx="6611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800" i="1" dirty="0"/>
              <a:t>=</a:t>
            </a:r>
            <a:r>
              <a:rPr kumimoji="0" lang="en-US" altLang="zh-CN" sz="2800" dirty="0">
                <a:solidFill>
                  <a:srgbClr val="0066FF"/>
                </a:solidFill>
              </a:rPr>
              <a:t>2</a:t>
            </a:r>
            <a:endParaRPr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2758945" y="1912339"/>
            <a:ext cx="4536085" cy="231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i="1" dirty="0">
                <a:sym typeface="Symbol" panose="05050102010706020507" pitchFamily="18" charset="2"/>
              </a:rPr>
              <a:t>expr</a:t>
            </a:r>
            <a:r>
              <a:rPr kumimoji="0" lang="en-US" altLang="zh-CN" sz="1600" dirty="0">
                <a:sym typeface="Symbol" panose="05050102010706020507" pitchFamily="18" charset="2"/>
              </a:rPr>
              <a:t></a:t>
            </a:r>
            <a:r>
              <a:rPr kumimoji="0" lang="en-US" altLang="zh-CN" sz="1600" i="1" dirty="0">
                <a:sym typeface="Symbol" panose="05050102010706020507" pitchFamily="18" charset="2"/>
              </a:rPr>
              <a:t> expr</a:t>
            </a:r>
            <a:r>
              <a:rPr kumimoji="0" lang="en-US" altLang="zh-CN" sz="1600" i="1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1600" i="1" dirty="0">
                <a:sym typeface="Symbol" panose="05050102010706020507" pitchFamily="18" charset="2"/>
              </a:rPr>
              <a:t> + term </a:t>
            </a:r>
            <a:r>
              <a:rPr kumimoji="0" lang="en-US" altLang="zh-CN" sz="1600" dirty="0">
                <a:sym typeface="Symbol" panose="05050102010706020507" pitchFamily="18" charset="2"/>
              </a:rPr>
              <a:t>{</a:t>
            </a:r>
            <a:r>
              <a:rPr kumimoji="0" lang="en-US" altLang="zh-CN" sz="1600" i="1" dirty="0">
                <a:sym typeface="Symbol" panose="05050102010706020507" pitchFamily="18" charset="2"/>
              </a:rPr>
              <a:t>expr.t= expr</a:t>
            </a:r>
            <a:r>
              <a:rPr kumimoji="0" lang="en-US" altLang="zh-CN" sz="1600" i="1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1600" i="1" dirty="0">
                <a:sym typeface="Symbol" panose="05050102010706020507" pitchFamily="18" charset="2"/>
              </a:rPr>
              <a:t>.t</a:t>
            </a:r>
            <a:r>
              <a:rPr kumimoji="0" lang="en-US" altLang="zh-CN" sz="1600" i="1" baseline="-25000" dirty="0">
                <a:sym typeface="Symbol" panose="05050102010706020507" pitchFamily="18" charset="2"/>
              </a:rPr>
              <a:t> </a:t>
            </a:r>
            <a:r>
              <a:rPr kumimoji="0" lang="en-US" altLang="zh-CN" sz="1600" i="1" dirty="0">
                <a:sym typeface="Symbol" panose="05050102010706020507" pitchFamily="18" charset="2"/>
              </a:rPr>
              <a:t>|| term.t || </a:t>
            </a:r>
            <a:r>
              <a:rPr kumimoji="0" lang="en-US" altLang="zh-CN" sz="1600" dirty="0">
                <a:sym typeface="Symbol" panose="05050102010706020507" pitchFamily="18" charset="2"/>
              </a:rPr>
              <a:t>‘+’}</a:t>
            </a:r>
            <a:endParaRPr kumimoji="0" lang="en-US" altLang="zh-CN" sz="1600" dirty="0">
              <a:sym typeface="Symbol" panose="05050102010706020507" pitchFamily="18" charset="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493653" y="1385019"/>
            <a:ext cx="15266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800" i="1" dirty="0"/>
              <a:t>=</a:t>
            </a:r>
            <a:r>
              <a:rPr kumimoji="0" lang="en-US" altLang="zh-CN" sz="2800" dirty="0">
                <a:solidFill>
                  <a:srgbClr val="0066FF"/>
                </a:solidFill>
              </a:rPr>
              <a:t>95-2+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2.3.4  </a:t>
            </a:r>
            <a:r>
              <a:rPr lang="zh-CN" altLang="en-US"/>
              <a:t>语法制导定义的实现</a:t>
            </a:r>
            <a:endParaRPr lang="zh-CN" alt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/>
            <a:r>
              <a:rPr lang="zh-CN" altLang="en-US" dirty="0"/>
              <a:t>树的遍历：计算完所有孩子节点的属性，父节点才能计算自身属性</a:t>
            </a:r>
            <a:endParaRPr lang="zh-CN" altLang="en-US" dirty="0"/>
          </a:p>
          <a:p>
            <a:pPr eaLnBrk="1" hangingPunct="1"/>
            <a:r>
              <a:rPr lang="zh-CN" altLang="en-US" dirty="0"/>
              <a:t>后序遍历，深度优先</a:t>
            </a:r>
            <a:endParaRPr lang="zh-CN" altLang="en-US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void visit(node </a:t>
            </a:r>
            <a:r>
              <a:rPr lang="en-US" altLang="zh-CN" sz="2400" i="1" dirty="0"/>
              <a:t>n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{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</a:t>
            </a:r>
            <a:r>
              <a:rPr lang="en-US" altLang="zh-CN" sz="2400" b="1" dirty="0"/>
              <a:t>for</a:t>
            </a:r>
            <a:r>
              <a:rPr lang="en-US" altLang="zh-CN" sz="2400" dirty="0"/>
              <a:t> n</a:t>
            </a:r>
            <a:r>
              <a:rPr lang="zh-CN" altLang="en-US" sz="2400" dirty="0"/>
              <a:t>的每个孩子</a:t>
            </a:r>
            <a:r>
              <a:rPr lang="en-US" altLang="zh-CN" sz="2400" i="1" dirty="0"/>
              <a:t>m</a:t>
            </a:r>
            <a:r>
              <a:rPr lang="zh-CN" altLang="en-US" sz="2400" dirty="0"/>
              <a:t>（从左至右的顺序）</a:t>
            </a:r>
            <a:endParaRPr lang="zh-CN" altLang="en-US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		</a:t>
            </a:r>
            <a:r>
              <a:rPr lang="en-US" altLang="zh-CN" sz="2400" dirty="0"/>
              <a:t>visit(</a:t>
            </a:r>
            <a:r>
              <a:rPr lang="en-US" altLang="zh-CN" sz="2400" i="1" dirty="0"/>
              <a:t>m</a:t>
            </a:r>
            <a:r>
              <a:rPr lang="en-US" altLang="zh-CN" sz="2400" dirty="0"/>
              <a:t>);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利用</a:t>
            </a:r>
            <a:r>
              <a:rPr lang="en-US" altLang="zh-CN" sz="2400" i="1" dirty="0"/>
              <a:t>n</a:t>
            </a:r>
            <a:r>
              <a:rPr lang="zh-CN" altLang="en-US" sz="2400" dirty="0"/>
              <a:t>的语义规则计算其属性值</a:t>
            </a:r>
            <a:endParaRPr lang="zh-CN" altLang="en-US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}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2.3.5  </a:t>
            </a:r>
            <a:r>
              <a:rPr lang="zh-CN" altLang="en-US"/>
              <a:t>翻译模式</a:t>
            </a:r>
            <a:endParaRPr lang="zh-CN" alt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>
                <a:solidFill>
                  <a:srgbClr val="FF3300"/>
                </a:solidFill>
              </a:rPr>
              <a:t>translation scheme</a:t>
            </a:r>
            <a:endParaRPr lang="en-US" altLang="zh-CN" sz="2800" dirty="0"/>
          </a:p>
          <a:p>
            <a:pPr eaLnBrk="1" hangingPunct="1"/>
            <a:r>
              <a:rPr lang="zh-CN" altLang="en-US" sz="2800" dirty="0"/>
              <a:t>同样基于上下文无关文法</a:t>
            </a:r>
            <a:endParaRPr lang="en-US" altLang="zh-CN" sz="2800" dirty="0"/>
          </a:p>
          <a:p>
            <a:pPr eaLnBrk="1" hangingPunct="1"/>
            <a:r>
              <a:rPr lang="zh-CN" altLang="en-US" sz="2800" b="1" dirty="0">
                <a:solidFill>
                  <a:srgbClr val="3333CC"/>
                </a:solidFill>
                <a:ea typeface="黑体" panose="02010609060101010101" pitchFamily="49" charset="-122"/>
              </a:rPr>
              <a:t>语义动作</a:t>
            </a:r>
            <a:r>
              <a:rPr lang="zh-CN" altLang="en-US" sz="2800" dirty="0"/>
              <a:t>（</a:t>
            </a:r>
            <a:r>
              <a:rPr lang="en-US" altLang="zh-CN" sz="2800" dirty="0">
                <a:solidFill>
                  <a:srgbClr val="FF3300"/>
                </a:solidFill>
              </a:rPr>
              <a:t>semantic action</a:t>
            </a:r>
            <a:r>
              <a:rPr lang="zh-CN" altLang="en-US" sz="2800" dirty="0"/>
              <a:t>，程序片断）嵌入产生式的右部</a:t>
            </a:r>
            <a:endParaRPr lang="zh-CN" altLang="en-US" sz="2800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/>
              <a:t>	 </a:t>
            </a:r>
            <a:r>
              <a:rPr kumimoji="0" lang="en-US" altLang="zh-CN" sz="2400" i="1" dirty="0">
                <a:sym typeface="Symbol" panose="05050102010706020507" pitchFamily="18" charset="2"/>
              </a:rPr>
              <a:t>rest 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i="1" dirty="0">
                <a:sym typeface="Symbol" panose="05050102010706020507" pitchFamily="18" charset="2"/>
              </a:rPr>
              <a:t> + term </a:t>
            </a:r>
            <a:r>
              <a:rPr kumimoji="0" lang="en-US" altLang="zh-CN" sz="2400" dirty="0">
                <a:sym typeface="Symbol" panose="05050102010706020507" pitchFamily="18" charset="2"/>
              </a:rPr>
              <a:t>{ print(‘+’) }</a:t>
            </a:r>
            <a:r>
              <a:rPr kumimoji="0" lang="en-US" altLang="zh-CN" sz="2400" i="1" dirty="0">
                <a:sym typeface="Symbol" panose="05050102010706020507" pitchFamily="18" charset="2"/>
              </a:rPr>
              <a:t> rest</a:t>
            </a:r>
            <a:r>
              <a:rPr kumimoji="0" lang="en-US" altLang="zh-CN" sz="2400" i="1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endParaRPr lang="en-US" altLang="zh-CN" sz="2400" dirty="0"/>
          </a:p>
          <a:p>
            <a:pPr eaLnBrk="1" hangingPunct="1"/>
            <a:endParaRPr lang="en-US" altLang="zh-CN" sz="2800" dirty="0"/>
          </a:p>
          <a:p>
            <a:pPr eaLnBrk="1" hangingPunct="1"/>
            <a:endParaRPr lang="en-US" altLang="zh-CN" sz="2800" dirty="0"/>
          </a:p>
          <a:p>
            <a:pPr eaLnBrk="1" hangingPunct="1"/>
            <a:r>
              <a:rPr lang="zh-CN" altLang="en-US" sz="2800" dirty="0"/>
              <a:t>语法分析树添加额外节点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指明了语义动作执行顺序</a:t>
            </a:r>
            <a:endParaRPr lang="zh-CN" altLang="en-US" sz="2800" dirty="0"/>
          </a:p>
        </p:txBody>
      </p:sp>
      <p:grpSp>
        <p:nvGrpSpPr>
          <p:cNvPr id="49156" name="Group 13"/>
          <p:cNvGrpSpPr/>
          <p:nvPr/>
        </p:nvGrpSpPr>
        <p:grpSpPr bwMode="auto">
          <a:xfrm>
            <a:off x="2057400" y="3544888"/>
            <a:ext cx="5943600" cy="1331912"/>
            <a:chOff x="1008" y="2137"/>
            <a:chExt cx="3744" cy="839"/>
          </a:xfrm>
        </p:grpSpPr>
        <p:sp>
          <p:nvSpPr>
            <p:cNvPr id="49157" name="Text Box 4"/>
            <p:cNvSpPr txBox="1">
              <a:spLocks noChangeArrowheads="1"/>
            </p:cNvSpPr>
            <p:nvPr/>
          </p:nvSpPr>
          <p:spPr bwMode="auto">
            <a:xfrm>
              <a:off x="2184" y="2137"/>
              <a:ext cx="12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i="1"/>
                <a:t>rest</a:t>
              </a:r>
              <a:endParaRPr kumimoji="0" lang="en-US" altLang="zh-CN" sz="2400" i="1"/>
            </a:p>
          </p:txBody>
        </p:sp>
        <p:sp>
          <p:nvSpPr>
            <p:cNvPr id="49158" name="Text Box 5"/>
            <p:cNvSpPr txBox="1">
              <a:spLocks noChangeArrowheads="1"/>
            </p:cNvSpPr>
            <p:nvPr/>
          </p:nvSpPr>
          <p:spPr bwMode="auto">
            <a:xfrm>
              <a:off x="1728" y="2688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i="1"/>
                <a:t>term</a:t>
              </a:r>
              <a:endParaRPr kumimoji="0" lang="en-US" altLang="zh-CN" sz="2400" i="1"/>
            </a:p>
          </p:txBody>
        </p:sp>
        <p:sp>
          <p:nvSpPr>
            <p:cNvPr id="49159" name="Text Box 6"/>
            <p:cNvSpPr txBox="1">
              <a:spLocks noChangeArrowheads="1"/>
            </p:cNvSpPr>
            <p:nvPr/>
          </p:nvSpPr>
          <p:spPr bwMode="auto">
            <a:xfrm>
              <a:off x="2688" y="2688"/>
              <a:ext cx="13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{ print(‘+’) }</a:t>
              </a:r>
              <a:endParaRPr kumimoji="0" lang="en-US" altLang="zh-CN" sz="2400"/>
            </a:p>
          </p:txBody>
        </p:sp>
        <p:sp>
          <p:nvSpPr>
            <p:cNvPr id="49160" name="Line 7"/>
            <p:cNvSpPr>
              <a:spLocks noChangeShapeType="1"/>
            </p:cNvSpPr>
            <p:nvPr/>
          </p:nvSpPr>
          <p:spPr bwMode="auto">
            <a:xfrm>
              <a:off x="2949" y="2416"/>
              <a:ext cx="411" cy="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1" name="Line 8"/>
            <p:cNvSpPr>
              <a:spLocks noChangeShapeType="1"/>
            </p:cNvSpPr>
            <p:nvPr/>
          </p:nvSpPr>
          <p:spPr bwMode="auto">
            <a:xfrm flipH="1">
              <a:off x="1200" y="2416"/>
              <a:ext cx="984" cy="2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2" name="Line 9"/>
            <p:cNvSpPr>
              <a:spLocks noChangeShapeType="1"/>
            </p:cNvSpPr>
            <p:nvPr/>
          </p:nvSpPr>
          <p:spPr bwMode="auto">
            <a:xfrm>
              <a:off x="3336" y="2416"/>
              <a:ext cx="984" cy="2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3" name="Line 10"/>
            <p:cNvSpPr>
              <a:spLocks noChangeShapeType="1"/>
            </p:cNvSpPr>
            <p:nvPr/>
          </p:nvSpPr>
          <p:spPr bwMode="auto">
            <a:xfrm flipH="1">
              <a:off x="2085" y="2416"/>
              <a:ext cx="411" cy="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4" name="Text Box 11"/>
            <p:cNvSpPr txBox="1">
              <a:spLocks noChangeArrowheads="1"/>
            </p:cNvSpPr>
            <p:nvPr/>
          </p:nvSpPr>
          <p:spPr bwMode="auto">
            <a:xfrm>
              <a:off x="1008" y="268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i="1"/>
                <a:t>+</a:t>
              </a:r>
              <a:endParaRPr kumimoji="0" lang="en-US" altLang="zh-CN" sz="2400" i="1"/>
            </a:p>
          </p:txBody>
        </p:sp>
        <p:sp>
          <p:nvSpPr>
            <p:cNvPr id="49165" name="Text Box 12"/>
            <p:cNvSpPr txBox="1">
              <a:spLocks noChangeArrowheads="1"/>
            </p:cNvSpPr>
            <p:nvPr/>
          </p:nvSpPr>
          <p:spPr bwMode="auto">
            <a:xfrm>
              <a:off x="4128" y="2688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i="1"/>
                <a:t>rest</a:t>
              </a:r>
              <a:r>
                <a:rPr kumimoji="0" lang="en-US" altLang="zh-CN" sz="2400" i="1" baseline="-25000"/>
                <a:t>1</a:t>
              </a:r>
              <a:endParaRPr kumimoji="0" lang="en-US" altLang="zh-CN" sz="2400" i="1"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2.3.6  </a:t>
            </a:r>
            <a:r>
              <a:rPr lang="zh-CN" altLang="en-US"/>
              <a:t>执行翻译模式</a:t>
            </a:r>
            <a:endParaRPr lang="zh-CN" altLang="en-US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语义动作的执行顺序非常重要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语法制导定义：描述如何计算用属性翻译结果</a:t>
            </a:r>
            <a:endParaRPr lang="en-US" altLang="zh-CN" sz="2800" dirty="0"/>
          </a:p>
          <a:p>
            <a:pPr lvl="1" eaLnBrk="1" hangingPunct="1"/>
            <a:r>
              <a:rPr lang="zh-CN" altLang="en-US" sz="2400" dirty="0"/>
              <a:t>左部的翻译结果（后缀字符串）＝右部符号翻译结果按语义规则指定顺序连接</a:t>
            </a:r>
            <a:endParaRPr lang="zh-CN" altLang="en-US" sz="2400" dirty="0"/>
          </a:p>
          <a:p>
            <a:pPr eaLnBrk="1" hangingPunct="1"/>
            <a:r>
              <a:rPr lang="zh-CN" altLang="en-US" sz="2800" dirty="0"/>
              <a:t>翻译模式：更接近如何实现翻译程序</a:t>
            </a:r>
            <a:endParaRPr lang="zh-CN" altLang="en-US" sz="2800" dirty="0"/>
          </a:p>
          <a:p>
            <a:pPr lvl="1" eaLnBrk="1" hangingPunct="1"/>
            <a:r>
              <a:rPr lang="zh-CN" altLang="en-US" sz="2400" dirty="0"/>
              <a:t>语义动作</a:t>
            </a:r>
            <a:r>
              <a:rPr lang="en-US" altLang="zh-CN" sz="2400" dirty="0"/>
              <a:t>——</a:t>
            </a:r>
            <a:r>
              <a:rPr lang="zh-CN" altLang="en-US" sz="2400" dirty="0"/>
              <a:t>打印输出字符串（后缀串的一部分）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打印顺序：与字符串在语法制导定义中顺序相同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执行方式：语法（子）树（带语义动作）遍历完</a:t>
            </a:r>
            <a:r>
              <a:rPr lang="en-US" altLang="zh-CN" sz="2400" dirty="0">
                <a:sym typeface="Wingdings" panose="05000000000000000000" pitchFamily="2" charset="2"/>
              </a:rPr>
              <a:t></a:t>
            </a:r>
            <a:r>
              <a:rPr lang="zh-CN" altLang="en-US" sz="2400" dirty="0"/>
              <a:t>后缀串输出完毕</a:t>
            </a:r>
            <a:endParaRPr lang="zh-CN" altLang="en-US" sz="2400" dirty="0"/>
          </a:p>
          <a:p>
            <a:pPr lvl="1" eaLnBrk="1" hangingPunct="1">
              <a:spcBef>
                <a:spcPct val="0"/>
              </a:spcBef>
            </a:pPr>
            <a:r>
              <a:rPr kumimoji="0" lang="en-US" altLang="zh-CN" sz="2400" i="1" dirty="0">
                <a:solidFill>
                  <a:schemeClr val="tx1"/>
                </a:solidFill>
              </a:rPr>
              <a:t>rest </a:t>
            </a:r>
            <a:r>
              <a:rPr kumimoji="0"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</a:t>
            </a:r>
            <a:r>
              <a:rPr kumimoji="0" lang="en-US" altLang="zh-CN" sz="2400" i="1" dirty="0">
                <a:solidFill>
                  <a:schemeClr val="tx1"/>
                </a:solidFill>
                <a:sym typeface="Symbol" panose="05050102010706020507" pitchFamily="18" charset="2"/>
              </a:rPr>
              <a:t>  + term rest</a:t>
            </a:r>
            <a:r>
              <a:rPr kumimoji="0" lang="en-US" altLang="zh-CN" sz="2400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400" i="1" dirty="0">
                <a:solidFill>
                  <a:schemeClr val="tx1"/>
                </a:solidFill>
                <a:sym typeface="Symbol" panose="05050102010706020507" pitchFamily="18" charset="2"/>
              </a:rPr>
              <a:t>     rest.t := term.t || </a:t>
            </a:r>
            <a:r>
              <a:rPr kumimoji="0"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‘</a:t>
            </a:r>
            <a:r>
              <a:rPr kumimoji="0" lang="en-US" altLang="zh-CN" sz="2400" i="1" dirty="0">
                <a:solidFill>
                  <a:schemeClr val="tx1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’</a:t>
            </a:r>
            <a:r>
              <a:rPr kumimoji="0" lang="en-US" altLang="zh-CN" sz="2400" i="1" dirty="0">
                <a:solidFill>
                  <a:schemeClr val="tx1"/>
                </a:solidFill>
                <a:sym typeface="Symbol" panose="05050102010706020507" pitchFamily="18" charset="2"/>
              </a:rPr>
              <a:t> || rest</a:t>
            </a:r>
            <a:r>
              <a:rPr kumimoji="0" lang="en-US" altLang="zh-CN" sz="2400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400" i="1" dirty="0">
                <a:solidFill>
                  <a:schemeClr val="tx1"/>
                </a:solidFill>
                <a:sym typeface="Symbol" panose="05050102010706020507" pitchFamily="18" charset="2"/>
              </a:rPr>
              <a:t>.t</a:t>
            </a:r>
            <a:br>
              <a:rPr kumimoji="0" lang="en-US" altLang="zh-CN" sz="2400" i="1" dirty="0">
                <a:solidFill>
                  <a:schemeClr val="tx1"/>
                </a:solidFill>
                <a:sym typeface="Symbol" panose="05050102010706020507" pitchFamily="18" charset="2"/>
              </a:rPr>
            </a:br>
            <a:r>
              <a:rPr kumimoji="0" lang="en-US" altLang="zh-CN" sz="2400" dirty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kumimoji="0" lang="en-US" altLang="zh-CN" sz="2400" i="1" dirty="0">
                <a:solidFill>
                  <a:schemeClr val="tx1"/>
                </a:solidFill>
                <a:sym typeface="Symbol" panose="05050102010706020507" pitchFamily="18" charset="2"/>
              </a:rPr>
              <a:t>rest </a:t>
            </a:r>
            <a:r>
              <a:rPr kumimoji="0"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</a:t>
            </a:r>
            <a:r>
              <a:rPr kumimoji="0" lang="en-US" altLang="zh-CN" sz="2400" i="1" dirty="0">
                <a:solidFill>
                  <a:schemeClr val="tx1"/>
                </a:solidFill>
                <a:sym typeface="Symbol" panose="05050102010706020507" pitchFamily="18" charset="2"/>
              </a:rPr>
              <a:t> + term </a:t>
            </a:r>
            <a:r>
              <a:rPr kumimoji="0"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{ print(‘+’) }</a:t>
            </a:r>
            <a:r>
              <a:rPr kumimoji="0" lang="en-US" altLang="zh-CN" sz="2400" i="1" dirty="0">
                <a:solidFill>
                  <a:schemeClr val="tx1"/>
                </a:solidFill>
                <a:sym typeface="Symbol" panose="05050102010706020507" pitchFamily="18" charset="2"/>
              </a:rPr>
              <a:t> rest</a:t>
            </a:r>
            <a:r>
              <a:rPr kumimoji="0" lang="en-US" altLang="zh-CN" sz="2400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endParaRPr kumimoji="0" lang="en-US" altLang="zh-CN" sz="2400" i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如何设计翻译模式？</a:t>
            </a:r>
            <a:endParaRPr lang="zh-CN" altLang="en-US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3933056"/>
            <a:ext cx="7772400" cy="2592288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解决两个问题：</a:t>
            </a:r>
            <a:endParaRPr lang="en-US" altLang="zh-CN" sz="2800" dirty="0"/>
          </a:p>
          <a:p>
            <a:pPr lvl="1" eaLnBrk="1" hangingPunct="1"/>
            <a:r>
              <a:rPr lang="zh-CN" altLang="en-US" sz="2400" dirty="0"/>
              <a:t>语义动作是什么（打印什么内容）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语义动作嵌入到什么位置</a:t>
            </a:r>
            <a:endParaRPr lang="en-US" altLang="zh-CN" sz="2400" dirty="0"/>
          </a:p>
          <a:p>
            <a:pPr eaLnBrk="1" hangingPunct="1"/>
            <a:r>
              <a:rPr lang="zh-CN" altLang="en-US" sz="2800" dirty="0"/>
              <a:t>考虑翻译过程：</a:t>
            </a:r>
            <a:endParaRPr lang="en-US" altLang="zh-CN" sz="2800" dirty="0"/>
          </a:p>
          <a:p>
            <a:pPr lvl="1" eaLnBrk="1" hangingPunct="1"/>
            <a:r>
              <a:rPr lang="zh-CN" altLang="en-US" sz="2400" dirty="0"/>
              <a:t>遍历带语义动作的语法分析树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遍历过程中遇到语义动作即执行</a:t>
            </a:r>
            <a:endParaRPr lang="en-US" altLang="zh-CN" sz="2400" dirty="0"/>
          </a:p>
        </p:txBody>
      </p:sp>
      <p:sp>
        <p:nvSpPr>
          <p:cNvPr id="52229" name="Text Box 5"/>
          <p:cNvSpPr txBox="1">
            <a:spLocks noChangeArrowheads="1"/>
          </p:cNvSpPr>
          <p:nvPr/>
        </p:nvSpPr>
        <p:spPr bwMode="auto">
          <a:xfrm>
            <a:off x="1121066" y="2959175"/>
            <a:ext cx="1392583" cy="45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term</a:t>
            </a:r>
            <a:endParaRPr kumimoji="0" lang="en-US" altLang="zh-CN" sz="2400" i="1"/>
          </a:p>
        </p:txBody>
      </p:sp>
      <p:sp>
        <p:nvSpPr>
          <p:cNvPr id="52230" name="Text Box 6"/>
          <p:cNvSpPr txBox="1">
            <a:spLocks noChangeArrowheads="1"/>
          </p:cNvSpPr>
          <p:nvPr/>
        </p:nvSpPr>
        <p:spPr bwMode="auto">
          <a:xfrm>
            <a:off x="6114468" y="1871808"/>
            <a:ext cx="13925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/>
              <a:t>term</a:t>
            </a:r>
            <a:endParaRPr kumimoji="0" lang="en-US" altLang="zh-CN" sz="2400" i="1" dirty="0"/>
          </a:p>
        </p:txBody>
      </p:sp>
      <p:sp>
        <p:nvSpPr>
          <p:cNvPr id="52231" name="Text Box 7"/>
          <p:cNvSpPr txBox="1">
            <a:spLocks noChangeArrowheads="1"/>
          </p:cNvSpPr>
          <p:nvPr/>
        </p:nvSpPr>
        <p:spPr bwMode="auto">
          <a:xfrm>
            <a:off x="2942136" y="2354522"/>
            <a:ext cx="1392583" cy="45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term</a:t>
            </a:r>
            <a:endParaRPr kumimoji="0" lang="en-US" altLang="zh-CN" sz="2400" i="1"/>
          </a:p>
        </p:txBody>
      </p:sp>
      <p:sp>
        <p:nvSpPr>
          <p:cNvPr id="52232" name="Text Box 8"/>
          <p:cNvSpPr txBox="1">
            <a:spLocks noChangeArrowheads="1"/>
          </p:cNvSpPr>
          <p:nvPr/>
        </p:nvSpPr>
        <p:spPr bwMode="auto">
          <a:xfrm>
            <a:off x="1121066" y="2330806"/>
            <a:ext cx="1392583" cy="45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/>
              <a:t>expr</a:t>
            </a:r>
            <a:endParaRPr kumimoji="0" lang="en-US" altLang="zh-CN" sz="2400" i="1" dirty="0"/>
          </a:p>
        </p:txBody>
      </p:sp>
      <p:sp>
        <p:nvSpPr>
          <p:cNvPr id="52233" name="Text Box 9"/>
          <p:cNvSpPr txBox="1">
            <a:spLocks noChangeArrowheads="1"/>
          </p:cNvSpPr>
          <p:nvPr/>
        </p:nvSpPr>
        <p:spPr bwMode="auto">
          <a:xfrm>
            <a:off x="2727893" y="1846256"/>
            <a:ext cx="13925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/>
              <a:t>expr</a:t>
            </a:r>
            <a:endParaRPr kumimoji="0" lang="en-US" altLang="zh-CN" sz="2400" i="1" dirty="0"/>
          </a:p>
        </p:txBody>
      </p:sp>
      <p:sp>
        <p:nvSpPr>
          <p:cNvPr id="52234" name="Text Box 10"/>
          <p:cNvSpPr txBox="1">
            <a:spLocks noChangeArrowheads="1"/>
          </p:cNvSpPr>
          <p:nvPr/>
        </p:nvSpPr>
        <p:spPr bwMode="auto">
          <a:xfrm>
            <a:off x="4999385" y="1146194"/>
            <a:ext cx="13925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expr</a:t>
            </a:r>
            <a:endParaRPr kumimoji="0" lang="en-US" altLang="zh-CN" sz="2400" i="1"/>
          </a:p>
        </p:txBody>
      </p:sp>
      <p:sp>
        <p:nvSpPr>
          <p:cNvPr id="52235" name="Text Box 11"/>
          <p:cNvSpPr txBox="1">
            <a:spLocks noChangeArrowheads="1"/>
          </p:cNvSpPr>
          <p:nvPr/>
        </p:nvSpPr>
        <p:spPr bwMode="auto">
          <a:xfrm>
            <a:off x="1120957" y="3408010"/>
            <a:ext cx="642731" cy="45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9</a:t>
            </a:r>
            <a:endParaRPr kumimoji="0" lang="en-US" altLang="zh-CN" sz="2400" dirty="0"/>
          </a:p>
        </p:txBody>
      </p:sp>
      <p:sp>
        <p:nvSpPr>
          <p:cNvPr id="52236" name="Text Box 12"/>
          <p:cNvSpPr txBox="1">
            <a:spLocks noChangeArrowheads="1"/>
          </p:cNvSpPr>
          <p:nvPr/>
        </p:nvSpPr>
        <p:spPr bwMode="auto">
          <a:xfrm>
            <a:off x="2993165" y="2803357"/>
            <a:ext cx="642731" cy="45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5</a:t>
            </a:r>
            <a:endParaRPr kumimoji="0" lang="en-US" altLang="zh-CN" sz="2400" dirty="0"/>
          </a:p>
        </p:txBody>
      </p:sp>
      <p:sp>
        <p:nvSpPr>
          <p:cNvPr id="52237" name="Text Box 13"/>
          <p:cNvSpPr txBox="1">
            <a:spLocks noChangeArrowheads="1"/>
          </p:cNvSpPr>
          <p:nvPr/>
        </p:nvSpPr>
        <p:spPr bwMode="auto">
          <a:xfrm>
            <a:off x="6161517" y="2409631"/>
            <a:ext cx="642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2</a:t>
            </a:r>
            <a:endParaRPr kumimoji="0" lang="en-US" altLang="zh-CN" sz="2400" dirty="0"/>
          </a:p>
        </p:txBody>
      </p:sp>
      <p:sp>
        <p:nvSpPr>
          <p:cNvPr id="52238" name="Text Box 14"/>
          <p:cNvSpPr txBox="1">
            <a:spLocks noChangeArrowheads="1"/>
          </p:cNvSpPr>
          <p:nvPr/>
        </p:nvSpPr>
        <p:spPr bwMode="auto">
          <a:xfrm>
            <a:off x="2284485" y="2384858"/>
            <a:ext cx="642731" cy="45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-</a:t>
            </a:r>
            <a:endParaRPr kumimoji="0" lang="en-US" altLang="zh-CN" sz="2400" dirty="0"/>
          </a:p>
        </p:txBody>
      </p:sp>
      <p:sp>
        <p:nvSpPr>
          <p:cNvPr id="52239" name="Text Box 15"/>
          <p:cNvSpPr txBox="1">
            <a:spLocks noChangeArrowheads="1"/>
          </p:cNvSpPr>
          <p:nvPr/>
        </p:nvSpPr>
        <p:spPr bwMode="auto">
          <a:xfrm>
            <a:off x="4365570" y="1871688"/>
            <a:ext cx="642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+</a:t>
            </a:r>
            <a:endParaRPr kumimoji="0" lang="en-US" altLang="zh-CN" sz="2400" dirty="0"/>
          </a:p>
        </p:txBody>
      </p:sp>
      <p:sp>
        <p:nvSpPr>
          <p:cNvPr id="52245" name="Line 21"/>
          <p:cNvSpPr>
            <a:spLocks noChangeShapeType="1"/>
          </p:cNvSpPr>
          <p:nvPr/>
        </p:nvSpPr>
        <p:spPr bwMode="auto">
          <a:xfrm flipH="1">
            <a:off x="1335309" y="3318242"/>
            <a:ext cx="0" cy="21524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6" name="Line 22"/>
          <p:cNvSpPr>
            <a:spLocks noChangeShapeType="1"/>
          </p:cNvSpPr>
          <p:nvPr/>
        </p:nvSpPr>
        <p:spPr bwMode="auto">
          <a:xfrm flipH="1">
            <a:off x="2406526" y="2205324"/>
            <a:ext cx="642732" cy="2767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7" name="Line 23"/>
          <p:cNvSpPr>
            <a:spLocks noChangeShapeType="1"/>
          </p:cNvSpPr>
          <p:nvPr/>
        </p:nvSpPr>
        <p:spPr bwMode="auto">
          <a:xfrm>
            <a:off x="1442432" y="2689874"/>
            <a:ext cx="0" cy="35906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8" name="Line 24"/>
          <p:cNvSpPr>
            <a:spLocks noChangeShapeType="1"/>
          </p:cNvSpPr>
          <p:nvPr/>
        </p:nvSpPr>
        <p:spPr bwMode="auto">
          <a:xfrm flipH="1">
            <a:off x="1442430" y="2160623"/>
            <a:ext cx="1311483" cy="34971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9" name="Line 25"/>
          <p:cNvSpPr>
            <a:spLocks noChangeShapeType="1"/>
          </p:cNvSpPr>
          <p:nvPr/>
        </p:nvSpPr>
        <p:spPr bwMode="auto">
          <a:xfrm>
            <a:off x="3156382" y="2205324"/>
            <a:ext cx="104890" cy="2693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0" name="Line 26"/>
          <p:cNvSpPr>
            <a:spLocks noChangeShapeType="1"/>
          </p:cNvSpPr>
          <p:nvPr/>
        </p:nvSpPr>
        <p:spPr bwMode="auto">
          <a:xfrm flipH="1">
            <a:off x="3156380" y="2713590"/>
            <a:ext cx="0" cy="20987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1" name="Line 27"/>
          <p:cNvSpPr>
            <a:spLocks noChangeShapeType="1"/>
          </p:cNvSpPr>
          <p:nvPr/>
        </p:nvSpPr>
        <p:spPr bwMode="auto">
          <a:xfrm flipH="1">
            <a:off x="6306781" y="2319863"/>
            <a:ext cx="8918" cy="1904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2" name="Line 28"/>
          <p:cNvSpPr>
            <a:spLocks noChangeShapeType="1"/>
          </p:cNvSpPr>
          <p:nvPr/>
        </p:nvSpPr>
        <p:spPr bwMode="auto">
          <a:xfrm flipH="1">
            <a:off x="4548961" y="1505261"/>
            <a:ext cx="664665" cy="4973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3" name="Line 29"/>
          <p:cNvSpPr>
            <a:spLocks noChangeShapeType="1"/>
          </p:cNvSpPr>
          <p:nvPr/>
        </p:nvSpPr>
        <p:spPr bwMode="auto">
          <a:xfrm>
            <a:off x="5534994" y="1505262"/>
            <a:ext cx="856974" cy="4488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4" name="Line 30"/>
          <p:cNvSpPr>
            <a:spLocks noChangeShapeType="1"/>
          </p:cNvSpPr>
          <p:nvPr/>
        </p:nvSpPr>
        <p:spPr bwMode="auto">
          <a:xfrm flipH="1">
            <a:off x="3156380" y="1415494"/>
            <a:ext cx="1843004" cy="58713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如何设计翻译模式（续）</a:t>
            </a:r>
            <a:endParaRPr lang="zh-CN" altLang="en-US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3933056"/>
            <a:ext cx="7772400" cy="2592288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打印什么：对每个产生式（父表达式），对右部非终结符（子表达式）、遍历其子树时已打印出其后缀了</a:t>
            </a:r>
            <a:r>
              <a:rPr lang="en-US" altLang="zh-CN" sz="2400" dirty="0">
                <a:sym typeface="Wingdings" panose="05000000000000000000" pitchFamily="2" charset="2"/>
              </a:rPr>
              <a:t></a:t>
            </a:r>
            <a:r>
              <a:rPr lang="zh-CN" altLang="en-US" sz="2400" dirty="0">
                <a:sym typeface="Wingdings" panose="05000000000000000000" pitchFamily="2" charset="2"/>
              </a:rPr>
              <a:t>对父表达式只需打印运算符、无需打印子表达式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z="2400" dirty="0">
                <a:sym typeface="Wingdings" panose="05000000000000000000" pitchFamily="2" charset="2"/>
              </a:rPr>
              <a:t>嵌入位置：后缀表达式中运算符在两个运算对象之后</a:t>
            </a:r>
            <a:r>
              <a:rPr lang="en-US" altLang="zh-CN" sz="2400" dirty="0">
                <a:sym typeface="Wingdings" panose="05000000000000000000" pitchFamily="2" charset="2"/>
              </a:rPr>
              <a:t></a:t>
            </a:r>
            <a:r>
              <a:rPr lang="zh-CN" altLang="en-US" sz="2400" dirty="0">
                <a:sym typeface="Wingdings" panose="05000000000000000000" pitchFamily="2" charset="2"/>
              </a:rPr>
              <a:t>打印运算符的语义动作应该在两个子表达式（非终结符）之后</a:t>
            </a:r>
            <a:endParaRPr lang="zh-CN" altLang="en-US" sz="2400" dirty="0"/>
          </a:p>
        </p:txBody>
      </p:sp>
      <p:sp>
        <p:nvSpPr>
          <p:cNvPr id="52229" name="Text Box 5"/>
          <p:cNvSpPr txBox="1">
            <a:spLocks noChangeArrowheads="1"/>
          </p:cNvSpPr>
          <p:nvPr/>
        </p:nvSpPr>
        <p:spPr bwMode="auto">
          <a:xfrm>
            <a:off x="1121066" y="2959175"/>
            <a:ext cx="1392583" cy="45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term</a:t>
            </a:r>
            <a:endParaRPr kumimoji="0" lang="en-US" altLang="zh-CN" sz="2400" i="1"/>
          </a:p>
        </p:txBody>
      </p:sp>
      <p:sp>
        <p:nvSpPr>
          <p:cNvPr id="52230" name="Text Box 6"/>
          <p:cNvSpPr txBox="1">
            <a:spLocks noChangeArrowheads="1"/>
          </p:cNvSpPr>
          <p:nvPr/>
        </p:nvSpPr>
        <p:spPr bwMode="auto">
          <a:xfrm>
            <a:off x="6114468" y="1871808"/>
            <a:ext cx="13925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/>
              <a:t>term</a:t>
            </a:r>
            <a:endParaRPr kumimoji="0" lang="en-US" altLang="zh-CN" sz="2400" i="1" dirty="0"/>
          </a:p>
        </p:txBody>
      </p:sp>
      <p:sp>
        <p:nvSpPr>
          <p:cNvPr id="52231" name="Text Box 7"/>
          <p:cNvSpPr txBox="1">
            <a:spLocks noChangeArrowheads="1"/>
          </p:cNvSpPr>
          <p:nvPr/>
        </p:nvSpPr>
        <p:spPr bwMode="auto">
          <a:xfrm>
            <a:off x="2942136" y="2354522"/>
            <a:ext cx="1392583" cy="45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term</a:t>
            </a:r>
            <a:endParaRPr kumimoji="0" lang="en-US" altLang="zh-CN" sz="2400" i="1"/>
          </a:p>
        </p:txBody>
      </p:sp>
      <p:sp>
        <p:nvSpPr>
          <p:cNvPr id="52232" name="Text Box 8"/>
          <p:cNvSpPr txBox="1">
            <a:spLocks noChangeArrowheads="1"/>
          </p:cNvSpPr>
          <p:nvPr/>
        </p:nvSpPr>
        <p:spPr bwMode="auto">
          <a:xfrm>
            <a:off x="1121066" y="2330806"/>
            <a:ext cx="1392583" cy="45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/>
              <a:t>expr</a:t>
            </a:r>
            <a:endParaRPr kumimoji="0" lang="en-US" altLang="zh-CN" sz="2400" i="1" dirty="0"/>
          </a:p>
        </p:txBody>
      </p:sp>
      <p:sp>
        <p:nvSpPr>
          <p:cNvPr id="52233" name="Text Box 9"/>
          <p:cNvSpPr txBox="1">
            <a:spLocks noChangeArrowheads="1"/>
          </p:cNvSpPr>
          <p:nvPr/>
        </p:nvSpPr>
        <p:spPr bwMode="auto">
          <a:xfrm>
            <a:off x="2727893" y="1846256"/>
            <a:ext cx="13925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/>
              <a:t>expr</a:t>
            </a:r>
            <a:endParaRPr kumimoji="0" lang="en-US" altLang="zh-CN" sz="2400" i="1" dirty="0"/>
          </a:p>
        </p:txBody>
      </p:sp>
      <p:sp>
        <p:nvSpPr>
          <p:cNvPr id="52234" name="Text Box 10"/>
          <p:cNvSpPr txBox="1">
            <a:spLocks noChangeArrowheads="1"/>
          </p:cNvSpPr>
          <p:nvPr/>
        </p:nvSpPr>
        <p:spPr bwMode="auto">
          <a:xfrm>
            <a:off x="4999385" y="1146194"/>
            <a:ext cx="13925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expr</a:t>
            </a:r>
            <a:endParaRPr kumimoji="0" lang="en-US" altLang="zh-CN" sz="2400" i="1"/>
          </a:p>
        </p:txBody>
      </p:sp>
      <p:sp>
        <p:nvSpPr>
          <p:cNvPr id="52235" name="Text Box 11"/>
          <p:cNvSpPr txBox="1">
            <a:spLocks noChangeArrowheads="1"/>
          </p:cNvSpPr>
          <p:nvPr/>
        </p:nvSpPr>
        <p:spPr bwMode="auto">
          <a:xfrm>
            <a:off x="1120957" y="3408010"/>
            <a:ext cx="642731" cy="45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9</a:t>
            </a:r>
            <a:endParaRPr kumimoji="0" lang="en-US" altLang="zh-CN" sz="2400" dirty="0"/>
          </a:p>
        </p:txBody>
      </p:sp>
      <p:sp>
        <p:nvSpPr>
          <p:cNvPr id="52236" name="Text Box 12"/>
          <p:cNvSpPr txBox="1">
            <a:spLocks noChangeArrowheads="1"/>
          </p:cNvSpPr>
          <p:nvPr/>
        </p:nvSpPr>
        <p:spPr bwMode="auto">
          <a:xfrm>
            <a:off x="2993165" y="2803357"/>
            <a:ext cx="642731" cy="45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5</a:t>
            </a:r>
            <a:endParaRPr kumimoji="0" lang="en-US" altLang="zh-CN" sz="2400" dirty="0"/>
          </a:p>
        </p:txBody>
      </p:sp>
      <p:sp>
        <p:nvSpPr>
          <p:cNvPr id="52237" name="Text Box 13"/>
          <p:cNvSpPr txBox="1">
            <a:spLocks noChangeArrowheads="1"/>
          </p:cNvSpPr>
          <p:nvPr/>
        </p:nvSpPr>
        <p:spPr bwMode="auto">
          <a:xfrm>
            <a:off x="6161517" y="2409631"/>
            <a:ext cx="642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2</a:t>
            </a:r>
            <a:endParaRPr kumimoji="0" lang="en-US" altLang="zh-CN" sz="2400" dirty="0"/>
          </a:p>
        </p:txBody>
      </p:sp>
      <p:sp>
        <p:nvSpPr>
          <p:cNvPr id="52238" name="Text Box 14"/>
          <p:cNvSpPr txBox="1">
            <a:spLocks noChangeArrowheads="1"/>
          </p:cNvSpPr>
          <p:nvPr/>
        </p:nvSpPr>
        <p:spPr bwMode="auto">
          <a:xfrm>
            <a:off x="2284485" y="2384858"/>
            <a:ext cx="642731" cy="45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-</a:t>
            </a:r>
            <a:endParaRPr kumimoji="0" lang="en-US" altLang="zh-CN" sz="2400" dirty="0"/>
          </a:p>
        </p:txBody>
      </p:sp>
      <p:sp>
        <p:nvSpPr>
          <p:cNvPr id="52239" name="Text Box 15"/>
          <p:cNvSpPr txBox="1">
            <a:spLocks noChangeArrowheads="1"/>
          </p:cNvSpPr>
          <p:nvPr/>
        </p:nvSpPr>
        <p:spPr bwMode="auto">
          <a:xfrm>
            <a:off x="4365570" y="1871688"/>
            <a:ext cx="642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+</a:t>
            </a:r>
            <a:endParaRPr kumimoji="0" lang="en-US" altLang="zh-CN" sz="2400" dirty="0"/>
          </a:p>
        </p:txBody>
      </p:sp>
      <p:sp>
        <p:nvSpPr>
          <p:cNvPr id="52240" name="Text Box 16"/>
          <p:cNvSpPr txBox="1">
            <a:spLocks noChangeArrowheads="1"/>
          </p:cNvSpPr>
          <p:nvPr/>
        </p:nvSpPr>
        <p:spPr bwMode="auto">
          <a:xfrm>
            <a:off x="4249532" y="2385938"/>
            <a:ext cx="17139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{</a:t>
            </a:r>
            <a:r>
              <a:rPr kumimoji="0" lang="en-US" altLang="zh-CN" sz="2400" i="1" dirty="0"/>
              <a:t>print</a:t>
            </a:r>
            <a:r>
              <a:rPr kumimoji="0" lang="en-US" altLang="zh-CN" sz="2400" dirty="0"/>
              <a:t>(‘-’)}</a:t>
            </a:r>
            <a:endParaRPr kumimoji="0" lang="en-US" altLang="zh-CN" sz="2400" dirty="0"/>
          </a:p>
        </p:txBody>
      </p:sp>
      <p:sp>
        <p:nvSpPr>
          <p:cNvPr id="52241" name="Text Box 17"/>
          <p:cNvSpPr txBox="1">
            <a:spLocks noChangeArrowheads="1"/>
          </p:cNvSpPr>
          <p:nvPr/>
        </p:nvSpPr>
        <p:spPr bwMode="auto">
          <a:xfrm>
            <a:off x="1551785" y="3408010"/>
            <a:ext cx="17117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{</a:t>
            </a:r>
            <a:r>
              <a:rPr kumimoji="0" lang="en-US" altLang="zh-CN" sz="2400" i="1"/>
              <a:t>print</a:t>
            </a:r>
            <a:r>
              <a:rPr kumimoji="0" lang="en-US" altLang="zh-CN" sz="2400"/>
              <a:t>(‘9’)}</a:t>
            </a:r>
            <a:endParaRPr kumimoji="0" lang="en-US" altLang="zh-CN" sz="2400"/>
          </a:p>
        </p:txBody>
      </p:sp>
      <p:sp>
        <p:nvSpPr>
          <p:cNvPr id="52242" name="Text Box 18"/>
          <p:cNvSpPr txBox="1">
            <a:spLocks noChangeArrowheads="1"/>
          </p:cNvSpPr>
          <p:nvPr/>
        </p:nvSpPr>
        <p:spPr bwMode="auto">
          <a:xfrm>
            <a:off x="3479977" y="2803357"/>
            <a:ext cx="17117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{</a:t>
            </a:r>
            <a:r>
              <a:rPr kumimoji="0" lang="en-US" altLang="zh-CN" sz="2400" i="1" dirty="0"/>
              <a:t>print</a:t>
            </a:r>
            <a:r>
              <a:rPr kumimoji="0" lang="en-US" altLang="zh-CN" sz="2400" dirty="0"/>
              <a:t>(‘5’)}</a:t>
            </a:r>
            <a:endParaRPr kumimoji="0" lang="en-US" altLang="zh-CN" sz="2400" dirty="0"/>
          </a:p>
        </p:txBody>
      </p:sp>
      <p:sp>
        <p:nvSpPr>
          <p:cNvPr id="52243" name="Text Box 19"/>
          <p:cNvSpPr txBox="1">
            <a:spLocks noChangeArrowheads="1"/>
          </p:cNvSpPr>
          <p:nvPr/>
        </p:nvSpPr>
        <p:spPr bwMode="auto">
          <a:xfrm>
            <a:off x="6639296" y="2409631"/>
            <a:ext cx="17117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{</a:t>
            </a:r>
            <a:r>
              <a:rPr kumimoji="0" lang="en-US" altLang="zh-CN" sz="2400" i="1"/>
              <a:t>print</a:t>
            </a:r>
            <a:r>
              <a:rPr kumimoji="0" lang="en-US" altLang="zh-CN" sz="2400"/>
              <a:t>(‘2’)}</a:t>
            </a:r>
            <a:endParaRPr kumimoji="0" lang="en-US" altLang="zh-CN" sz="2400"/>
          </a:p>
        </p:txBody>
      </p:sp>
      <p:sp>
        <p:nvSpPr>
          <p:cNvPr id="52244" name="Text Box 20"/>
          <p:cNvSpPr txBox="1">
            <a:spLocks noChangeArrowheads="1"/>
          </p:cNvSpPr>
          <p:nvPr/>
        </p:nvSpPr>
        <p:spPr bwMode="auto">
          <a:xfrm>
            <a:off x="7305820" y="1889762"/>
            <a:ext cx="17117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{</a:t>
            </a:r>
            <a:r>
              <a:rPr kumimoji="0" lang="en-US" altLang="zh-CN" sz="2400" i="1" dirty="0"/>
              <a:t>print</a:t>
            </a:r>
            <a:r>
              <a:rPr kumimoji="0" lang="en-US" altLang="zh-CN" sz="2400" dirty="0"/>
              <a:t>(‘+’)}</a:t>
            </a:r>
            <a:endParaRPr kumimoji="0" lang="en-US" altLang="zh-CN" sz="2400" dirty="0"/>
          </a:p>
        </p:txBody>
      </p:sp>
      <p:sp>
        <p:nvSpPr>
          <p:cNvPr id="52245" name="Line 21"/>
          <p:cNvSpPr>
            <a:spLocks noChangeShapeType="1"/>
          </p:cNvSpPr>
          <p:nvPr/>
        </p:nvSpPr>
        <p:spPr bwMode="auto">
          <a:xfrm flipH="1">
            <a:off x="1335309" y="3318242"/>
            <a:ext cx="0" cy="21524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6" name="Line 22"/>
          <p:cNvSpPr>
            <a:spLocks noChangeShapeType="1"/>
          </p:cNvSpPr>
          <p:nvPr/>
        </p:nvSpPr>
        <p:spPr bwMode="auto">
          <a:xfrm flipH="1">
            <a:off x="2406526" y="2205324"/>
            <a:ext cx="642732" cy="2767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7" name="Line 23"/>
          <p:cNvSpPr>
            <a:spLocks noChangeShapeType="1"/>
          </p:cNvSpPr>
          <p:nvPr/>
        </p:nvSpPr>
        <p:spPr bwMode="auto">
          <a:xfrm>
            <a:off x="1442432" y="2689874"/>
            <a:ext cx="0" cy="35906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8" name="Line 24"/>
          <p:cNvSpPr>
            <a:spLocks noChangeShapeType="1"/>
          </p:cNvSpPr>
          <p:nvPr/>
        </p:nvSpPr>
        <p:spPr bwMode="auto">
          <a:xfrm flipH="1">
            <a:off x="1442430" y="2160623"/>
            <a:ext cx="1311483" cy="34971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49" name="Line 25"/>
          <p:cNvSpPr>
            <a:spLocks noChangeShapeType="1"/>
          </p:cNvSpPr>
          <p:nvPr/>
        </p:nvSpPr>
        <p:spPr bwMode="auto">
          <a:xfrm>
            <a:off x="3156382" y="2205324"/>
            <a:ext cx="104890" cy="2693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0" name="Line 26"/>
          <p:cNvSpPr>
            <a:spLocks noChangeShapeType="1"/>
          </p:cNvSpPr>
          <p:nvPr/>
        </p:nvSpPr>
        <p:spPr bwMode="auto">
          <a:xfrm flipH="1">
            <a:off x="3156380" y="2713590"/>
            <a:ext cx="0" cy="20987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1" name="Line 27"/>
          <p:cNvSpPr>
            <a:spLocks noChangeShapeType="1"/>
          </p:cNvSpPr>
          <p:nvPr/>
        </p:nvSpPr>
        <p:spPr bwMode="auto">
          <a:xfrm flipH="1">
            <a:off x="6306781" y="2319863"/>
            <a:ext cx="8918" cy="1904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2" name="Line 28"/>
          <p:cNvSpPr>
            <a:spLocks noChangeShapeType="1"/>
          </p:cNvSpPr>
          <p:nvPr/>
        </p:nvSpPr>
        <p:spPr bwMode="auto">
          <a:xfrm flipH="1">
            <a:off x="4548961" y="1505261"/>
            <a:ext cx="664665" cy="4973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3" name="Line 29"/>
          <p:cNvSpPr>
            <a:spLocks noChangeShapeType="1"/>
          </p:cNvSpPr>
          <p:nvPr/>
        </p:nvSpPr>
        <p:spPr bwMode="auto">
          <a:xfrm>
            <a:off x="5534994" y="1505262"/>
            <a:ext cx="856974" cy="4488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4" name="Line 30"/>
          <p:cNvSpPr>
            <a:spLocks noChangeShapeType="1"/>
          </p:cNvSpPr>
          <p:nvPr/>
        </p:nvSpPr>
        <p:spPr bwMode="auto">
          <a:xfrm flipH="1">
            <a:off x="3156380" y="1415494"/>
            <a:ext cx="1843004" cy="58713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5" name="Line 31"/>
          <p:cNvSpPr>
            <a:spLocks noChangeShapeType="1"/>
          </p:cNvSpPr>
          <p:nvPr/>
        </p:nvSpPr>
        <p:spPr bwMode="auto">
          <a:xfrm>
            <a:off x="3477745" y="2713590"/>
            <a:ext cx="428487" cy="17953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6" name="Line 32"/>
          <p:cNvSpPr>
            <a:spLocks noChangeShapeType="1"/>
          </p:cNvSpPr>
          <p:nvPr/>
        </p:nvSpPr>
        <p:spPr bwMode="auto">
          <a:xfrm>
            <a:off x="1763797" y="3318243"/>
            <a:ext cx="214244" cy="17953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7" name="Line 33"/>
          <p:cNvSpPr>
            <a:spLocks noChangeShapeType="1"/>
          </p:cNvSpPr>
          <p:nvPr/>
        </p:nvSpPr>
        <p:spPr bwMode="auto">
          <a:xfrm>
            <a:off x="3370624" y="2115557"/>
            <a:ext cx="1178338" cy="33621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8" name="Line 34"/>
          <p:cNvSpPr>
            <a:spLocks noChangeShapeType="1"/>
          </p:cNvSpPr>
          <p:nvPr/>
        </p:nvSpPr>
        <p:spPr bwMode="auto">
          <a:xfrm>
            <a:off x="6637064" y="2319864"/>
            <a:ext cx="428487" cy="17953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59" name="Line 35"/>
          <p:cNvSpPr>
            <a:spLocks noChangeShapeType="1"/>
          </p:cNvSpPr>
          <p:nvPr/>
        </p:nvSpPr>
        <p:spPr bwMode="auto">
          <a:xfrm>
            <a:off x="5749237" y="1415494"/>
            <a:ext cx="2207139" cy="545301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40" grpId="0"/>
      <p:bldP spid="52241" grpId="0"/>
      <p:bldP spid="52242" grpId="0"/>
      <p:bldP spid="52243" grpId="0"/>
      <p:bldP spid="52244" grpId="0"/>
      <p:bldP spid="52255" grpId="0" animBg="1"/>
      <p:bldP spid="52256" grpId="0" animBg="1"/>
      <p:bldP spid="52257" grpId="0" animBg="1"/>
      <p:bldP spid="52258" grpId="0" animBg="1"/>
      <p:bldP spid="5225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2.8</a:t>
            </a:r>
            <a:endParaRPr lang="en-US" altLang="zh-CN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expr 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i="1">
                <a:sym typeface="Symbol" panose="05050102010706020507" pitchFamily="18" charset="2"/>
              </a:rPr>
              <a:t>expr + term 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print</a:t>
            </a:r>
            <a:r>
              <a:rPr kumimoji="0" lang="en-US" altLang="zh-CN" sz="2400">
                <a:sym typeface="Symbol" panose="05050102010706020507" pitchFamily="18" charset="2"/>
              </a:rPr>
              <a:t>(‘+’)}</a:t>
            </a:r>
            <a:endParaRPr kumimoji="0" lang="en-US" altLang="zh-CN" sz="2400" i="1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  </a:t>
            </a:r>
            <a:r>
              <a:rPr kumimoji="0" lang="en-US" altLang="zh-CN" sz="2400" i="1">
                <a:sym typeface="Symbol" panose="05050102010706020507" pitchFamily="18" charset="2"/>
              </a:rPr>
              <a:t>expr - term   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print</a:t>
            </a:r>
            <a:r>
              <a:rPr kumimoji="0" lang="en-US" altLang="zh-CN" sz="2400">
                <a:sym typeface="Symbol" panose="05050102010706020507" pitchFamily="18" charset="2"/>
              </a:rPr>
              <a:t>(‘-’)}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  </a:t>
            </a:r>
            <a:r>
              <a:rPr kumimoji="0" lang="en-US" altLang="zh-CN" sz="2400" i="1">
                <a:sym typeface="Symbol" panose="05050102010706020507" pitchFamily="18" charset="2"/>
              </a:rPr>
              <a:t>term</a:t>
            </a:r>
            <a:endParaRPr kumimoji="0" lang="en-US" altLang="zh-CN" sz="2400" i="1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term 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i="1">
                <a:sym typeface="Symbol" panose="05050102010706020507" pitchFamily="18" charset="2"/>
              </a:rPr>
              <a:t>0                  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print</a:t>
            </a:r>
            <a:r>
              <a:rPr kumimoji="0" lang="en-US" altLang="zh-CN" sz="2400">
                <a:sym typeface="Symbol" panose="05050102010706020507" pitchFamily="18" charset="2"/>
              </a:rPr>
              <a:t>(‘0’)}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term </a:t>
            </a:r>
            <a:r>
              <a:rPr kumimoji="0" lang="en-US" altLang="zh-CN" sz="2400">
                <a:sym typeface="Symbol" panose="05050102010706020507" pitchFamily="18" charset="2"/>
              </a:rPr>
              <a:t> 1</a:t>
            </a:r>
            <a:r>
              <a:rPr kumimoji="0" lang="en-US" altLang="zh-CN" sz="2400" i="1">
                <a:sym typeface="Symbol" panose="05050102010706020507" pitchFamily="18" charset="2"/>
              </a:rPr>
              <a:t>                  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print</a:t>
            </a:r>
            <a:r>
              <a:rPr kumimoji="0" lang="en-US" altLang="zh-CN" sz="2400">
                <a:sym typeface="Symbol" panose="05050102010706020507" pitchFamily="18" charset="2"/>
              </a:rPr>
              <a:t>(‘1’)}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…</a:t>
            </a:r>
            <a:endParaRPr kumimoji="0" lang="en-US" altLang="zh-CN" sz="2400" i="1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term </a:t>
            </a:r>
            <a:r>
              <a:rPr kumimoji="0" lang="en-US" altLang="zh-CN" sz="2400">
                <a:sym typeface="Symbol" panose="05050102010706020507" pitchFamily="18" charset="2"/>
              </a:rPr>
              <a:t> 9</a:t>
            </a:r>
            <a:r>
              <a:rPr kumimoji="0" lang="en-US" altLang="zh-CN" sz="2400" i="1">
                <a:sym typeface="Symbol" panose="05050102010706020507" pitchFamily="18" charset="2"/>
              </a:rPr>
              <a:t>                  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print</a:t>
            </a:r>
            <a:r>
              <a:rPr kumimoji="0" lang="en-US" altLang="zh-CN" sz="2400">
                <a:sym typeface="Symbol" panose="05050102010706020507" pitchFamily="18" charset="2"/>
              </a:rPr>
              <a:t>(‘9’)}</a:t>
            </a:r>
            <a:endParaRPr lang="en-US" altLang="zh-CN" sz="2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翻译模式设计练习</a:t>
            </a:r>
            <a:endParaRPr lang="zh-CN" alt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sz="2800"/>
              <a:t>构造翻译模式，中缀</a:t>
            </a:r>
            <a:r>
              <a:rPr lang="zh-CN" altLang="en-US" sz="2800">
                <a:sym typeface="Wingdings" panose="05000000000000000000" pitchFamily="2" charset="2"/>
              </a:rPr>
              <a:t>前缀</a:t>
            </a:r>
            <a:br>
              <a:rPr lang="zh-CN" altLang="en-US" sz="2800">
                <a:sym typeface="Wingdings" panose="05000000000000000000" pitchFamily="2" charset="2"/>
              </a:rPr>
            </a:br>
            <a:r>
              <a:rPr lang="zh-CN" altLang="en-US" sz="2800">
                <a:sym typeface="Wingdings" panose="05000000000000000000" pitchFamily="2" charset="2"/>
              </a:rPr>
              <a:t>构造</a:t>
            </a:r>
            <a:r>
              <a:rPr lang="en-US" altLang="zh-CN" sz="2800">
                <a:sym typeface="Wingdings" panose="05000000000000000000" pitchFamily="2" charset="2"/>
              </a:rPr>
              <a:t>9-5*2</a:t>
            </a:r>
            <a:r>
              <a:rPr lang="zh-CN" altLang="en-US" sz="2800">
                <a:sym typeface="Wingdings" panose="05000000000000000000" pitchFamily="2" charset="2"/>
              </a:rPr>
              <a:t>的注释语法分析树</a:t>
            </a:r>
            <a:endParaRPr lang="zh-CN" altLang="en-US" sz="2800"/>
          </a:p>
        </p:txBody>
      </p:sp>
      <p:sp>
        <p:nvSpPr>
          <p:cNvPr id="157700" name="Rectangle 4"/>
          <p:cNvSpPr>
            <a:spLocks noChangeArrowheads="1"/>
          </p:cNvSpPr>
          <p:nvPr/>
        </p:nvSpPr>
        <p:spPr bwMode="auto">
          <a:xfrm>
            <a:off x="228600" y="2438400"/>
            <a:ext cx="43434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expr→ { print(‘+’); } expr + term</a:t>
            </a:r>
            <a:endParaRPr lang="en-US" altLang="zh-CN" sz="200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  | { print(‘-’); } expr – term</a:t>
            </a:r>
            <a:endParaRPr lang="en-US" altLang="zh-CN" sz="200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  | term</a:t>
            </a:r>
            <a:endParaRPr lang="en-US" altLang="zh-CN" sz="200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term→ { print(‘*’); } term * factor</a:t>
            </a:r>
            <a:endParaRPr lang="en-US" altLang="zh-CN" sz="200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  | { print(‘/’); } term / factor</a:t>
            </a:r>
            <a:endParaRPr lang="en-US" altLang="zh-CN" sz="200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  | factor</a:t>
            </a:r>
            <a:endParaRPr lang="en-US" altLang="zh-CN" sz="200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factor→ { print(num.value); } num</a:t>
            </a:r>
            <a:endParaRPr lang="en-US" altLang="zh-CN" sz="200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  | ( expr )</a:t>
            </a:r>
            <a:endParaRPr lang="en-US" altLang="zh-CN" sz="2000"/>
          </a:p>
        </p:txBody>
      </p:sp>
      <p:pic>
        <p:nvPicPr>
          <p:cNvPr id="157703" name="Picture 7" descr="7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075" y="2514600"/>
            <a:ext cx="4505325" cy="236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0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Yacc</a:t>
            </a:r>
            <a:endParaRPr lang="en-US" altLang="zh-CN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语法分析器自动生成工具</a:t>
            </a:r>
            <a:endParaRPr lang="zh-CN" altLang="en-US"/>
          </a:p>
        </p:txBody>
      </p:sp>
      <p:pic>
        <p:nvPicPr>
          <p:cNvPr id="54276" name="Picture 4" descr="yacc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133600"/>
            <a:ext cx="5456238" cy="294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2517" name="Text Box 5"/>
          <p:cNvSpPr txBox="1">
            <a:spLocks noChangeArrowheads="1"/>
          </p:cNvSpPr>
          <p:nvPr/>
        </p:nvSpPr>
        <p:spPr bwMode="auto">
          <a:xfrm>
            <a:off x="6227763" y="1628775"/>
            <a:ext cx="236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>
                <a:solidFill>
                  <a:srgbClr val="3333CC"/>
                </a:solidFill>
              </a:rPr>
              <a:t>语法分析器源程序</a:t>
            </a:r>
            <a:endParaRPr kumimoji="0" lang="zh-CN" altLang="en-US" sz="2000" b="1">
              <a:solidFill>
                <a:srgbClr val="3333CC"/>
              </a:solidFill>
              <a:sym typeface="Math1" pitchFamily="2" charset="2"/>
            </a:endParaRPr>
          </a:p>
        </p:txBody>
      </p:sp>
      <p:sp>
        <p:nvSpPr>
          <p:cNvPr id="192518" name="Line 6"/>
          <p:cNvSpPr>
            <a:spLocks noChangeShapeType="1"/>
          </p:cNvSpPr>
          <p:nvPr/>
        </p:nvSpPr>
        <p:spPr bwMode="auto">
          <a:xfrm flipH="1">
            <a:off x="6588125" y="1989138"/>
            <a:ext cx="288925" cy="4318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2519" name="Text Box 7"/>
          <p:cNvSpPr txBox="1">
            <a:spLocks noChangeArrowheads="1"/>
          </p:cNvSpPr>
          <p:nvPr/>
        </p:nvSpPr>
        <p:spPr bwMode="auto">
          <a:xfrm>
            <a:off x="5867400" y="3032125"/>
            <a:ext cx="2847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>
                <a:solidFill>
                  <a:srgbClr val="3333CC"/>
                </a:solidFill>
              </a:rPr>
              <a:t>语法分析器可执行程序</a:t>
            </a:r>
            <a:endParaRPr kumimoji="0" lang="zh-CN" altLang="en-US" sz="2000" b="1">
              <a:solidFill>
                <a:srgbClr val="3333CC"/>
              </a:solidFill>
              <a:sym typeface="Math1" pitchFamily="2" charset="2"/>
            </a:endParaRPr>
          </a:p>
        </p:txBody>
      </p:sp>
      <p:sp>
        <p:nvSpPr>
          <p:cNvPr id="192520" name="Line 8"/>
          <p:cNvSpPr>
            <a:spLocks noChangeShapeType="1"/>
          </p:cNvSpPr>
          <p:nvPr/>
        </p:nvSpPr>
        <p:spPr bwMode="auto">
          <a:xfrm flipH="1">
            <a:off x="6227763" y="3357563"/>
            <a:ext cx="360362" cy="2159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4281" name="矩形 1"/>
          <p:cNvSpPr>
            <a:spLocks noChangeArrowheads="1"/>
          </p:cNvSpPr>
          <p:nvPr/>
        </p:nvSpPr>
        <p:spPr bwMode="auto">
          <a:xfrm>
            <a:off x="2195513" y="2492375"/>
            <a:ext cx="1173162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ea typeface="隶书" panose="02010509060101010101" pitchFamily="49" charset="-122"/>
              </a:rPr>
              <a:t>myyacc.y</a:t>
            </a:r>
            <a:endParaRPr lang="zh-CN" altLang="en-US" sz="2000"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Yacc</a:t>
            </a:r>
            <a:r>
              <a:rPr lang="zh-CN" altLang="en-US"/>
              <a:t>程序结构</a:t>
            </a:r>
            <a:endParaRPr lang="zh-CN" altLang="en-US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/>
              <a:t>定义段：</a:t>
            </a:r>
            <a:endParaRPr lang="zh-CN" altLang="en-US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%{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C</a:t>
            </a:r>
            <a:r>
              <a:rPr lang="zh-CN" altLang="en-US" sz="2000"/>
              <a:t>语言代码</a:t>
            </a:r>
            <a:endParaRPr lang="zh-CN" altLang="en-US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%}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/>
              <a:t>定义</a:t>
            </a:r>
            <a:endParaRPr lang="zh-CN" altLang="en-US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%%</a:t>
            </a:r>
            <a:br>
              <a:rPr lang="en-US" altLang="zh-CN" sz="2000"/>
            </a:b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/>
              <a:t>规则段：语法规则、翻译模式</a:t>
            </a:r>
            <a:endParaRPr lang="zh-CN" altLang="en-US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%%</a:t>
            </a:r>
            <a:br>
              <a:rPr lang="en-US" altLang="zh-CN" sz="2000"/>
            </a:b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/>
              <a:t>用户子程序段</a:t>
            </a:r>
            <a:endParaRPr lang="zh-CN" altLang="en-US" sz="2000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例：简单表达式计算</a:t>
            </a:r>
            <a:endParaRPr lang="zh-CN" altLang="en-US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latin typeface="Courier New" panose="02070309020205020404" pitchFamily="49" charset="0"/>
              </a:rPr>
              <a:t>%{</a:t>
            </a:r>
            <a:endParaRPr kumimoji="0" lang="en-US" altLang="zh-CN" sz="20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latin typeface="Courier New" panose="02070309020205020404" pitchFamily="49" charset="0"/>
              </a:rPr>
              <a:t>/****************************************************************************</a:t>
            </a:r>
            <a:endParaRPr kumimoji="0" lang="en-US" altLang="zh-CN" sz="20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 err="1">
                <a:latin typeface="Courier New" panose="02070309020205020404" pitchFamily="49" charset="0"/>
              </a:rPr>
              <a:t>expr.y</a:t>
            </a:r>
            <a:endParaRPr kumimoji="0" lang="en-US" altLang="zh-CN" sz="20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 err="1">
                <a:latin typeface="Courier New" panose="02070309020205020404" pitchFamily="49" charset="0"/>
              </a:rPr>
              <a:t>ParserWizard</a:t>
            </a:r>
            <a:r>
              <a:rPr kumimoji="0" lang="en-US" altLang="zh-CN" sz="2000" dirty="0">
                <a:latin typeface="Courier New" panose="02070309020205020404" pitchFamily="49" charset="0"/>
              </a:rPr>
              <a:t> generated YACC file.</a:t>
            </a:r>
            <a:endParaRPr kumimoji="0" lang="en-US" altLang="zh-CN" sz="20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20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latin typeface="Courier New" panose="02070309020205020404" pitchFamily="49" charset="0"/>
              </a:rPr>
              <a:t>Date: 2005</a:t>
            </a:r>
            <a:r>
              <a:rPr kumimoji="0" lang="zh-CN" altLang="en-US" sz="2000" dirty="0">
                <a:latin typeface="Courier New" panose="02070309020205020404" pitchFamily="49" charset="0"/>
              </a:rPr>
              <a:t>年</a:t>
            </a:r>
            <a:r>
              <a:rPr kumimoji="0" lang="en-US" altLang="zh-CN" sz="2000" dirty="0">
                <a:latin typeface="Courier New" panose="02070309020205020404" pitchFamily="49" charset="0"/>
              </a:rPr>
              <a:t>8</a:t>
            </a:r>
            <a:r>
              <a:rPr kumimoji="0" lang="zh-CN" altLang="en-US" sz="2000" dirty="0">
                <a:latin typeface="Courier New" panose="02070309020205020404" pitchFamily="49" charset="0"/>
              </a:rPr>
              <a:t>月</a:t>
            </a:r>
            <a:r>
              <a:rPr kumimoji="0" lang="en-US" altLang="zh-CN" sz="2000" dirty="0">
                <a:latin typeface="Courier New" panose="02070309020205020404" pitchFamily="49" charset="0"/>
              </a:rPr>
              <a:t>22</a:t>
            </a:r>
            <a:r>
              <a:rPr kumimoji="0" lang="zh-CN" altLang="en-US" sz="2000" dirty="0">
                <a:latin typeface="Courier New" panose="02070309020205020404" pitchFamily="49" charset="0"/>
              </a:rPr>
              <a:t>日</a:t>
            </a:r>
            <a:endParaRPr kumimoji="0" lang="zh-CN" altLang="en-US" sz="20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000" dirty="0">
                <a:latin typeface="Courier New" panose="02070309020205020404" pitchFamily="49" charset="0"/>
              </a:rPr>
              <a:t>****************************************************************************</a:t>
            </a:r>
            <a:r>
              <a:rPr kumimoji="0" lang="en-US" altLang="zh-CN" sz="2000" dirty="0">
                <a:latin typeface="Courier New" panose="02070309020205020404" pitchFamily="49" charset="0"/>
              </a:rPr>
              <a:t>/</a:t>
            </a:r>
            <a:endParaRPr kumimoji="0" lang="en-US" altLang="zh-CN" sz="20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latin typeface="Courier New" panose="02070309020205020404" pitchFamily="49" charset="0"/>
              </a:rPr>
              <a:t>#include &lt;</a:t>
            </a:r>
            <a:r>
              <a:rPr kumimoji="0" lang="en-US" altLang="zh-CN" sz="2000" dirty="0" err="1">
                <a:latin typeface="Courier New" panose="02070309020205020404" pitchFamily="49" charset="0"/>
              </a:rPr>
              <a:t>ctype.h</a:t>
            </a:r>
            <a:r>
              <a:rPr kumimoji="0" lang="en-US" altLang="zh-CN" sz="2000" dirty="0">
                <a:latin typeface="Courier New" panose="02070309020205020404" pitchFamily="49" charset="0"/>
              </a:rPr>
              <a:t>&gt;</a:t>
            </a:r>
            <a:endParaRPr kumimoji="0" lang="en-US" altLang="zh-CN" sz="20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latin typeface="Courier New" panose="02070309020205020404" pitchFamily="49" charset="0"/>
              </a:rPr>
              <a:t>#include &lt;</a:t>
            </a:r>
            <a:r>
              <a:rPr kumimoji="0" lang="en-US" altLang="zh-CN" sz="2000" dirty="0" err="1">
                <a:latin typeface="Courier New" panose="02070309020205020404" pitchFamily="49" charset="0"/>
              </a:rPr>
              <a:t>stdio.h</a:t>
            </a:r>
            <a:r>
              <a:rPr kumimoji="0" lang="en-US" altLang="zh-CN" sz="2000" dirty="0">
                <a:latin typeface="Courier New" panose="02070309020205020404" pitchFamily="49" charset="0"/>
              </a:rPr>
              <a:t>&gt;</a:t>
            </a:r>
            <a:endParaRPr kumimoji="0" lang="en-US" altLang="zh-CN" sz="20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latin typeface="Courier New" panose="02070309020205020404" pitchFamily="49" charset="0"/>
              </a:rPr>
              <a:t>%}</a:t>
            </a:r>
            <a:endParaRPr kumimoji="0" lang="en-US" altLang="zh-CN" sz="2000" dirty="0">
              <a:latin typeface="Courier New" panose="02070309020205020404" pitchFamily="49" charset="0"/>
            </a:endParaRPr>
          </a:p>
        </p:txBody>
      </p:sp>
      <p:sp>
        <p:nvSpPr>
          <p:cNvPr id="194564" name="Text Box 4"/>
          <p:cNvSpPr txBox="1">
            <a:spLocks noChangeArrowheads="1"/>
          </p:cNvSpPr>
          <p:nvPr/>
        </p:nvSpPr>
        <p:spPr bwMode="auto">
          <a:xfrm>
            <a:off x="4932363" y="4581525"/>
            <a:ext cx="2362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>
                <a:solidFill>
                  <a:srgbClr val="3333CC"/>
                </a:solidFill>
              </a:rPr>
              <a:t>直接复制到语法分析程序中</a:t>
            </a:r>
            <a:endParaRPr kumimoji="0" lang="zh-CN" altLang="en-US" sz="2000" b="1">
              <a:solidFill>
                <a:srgbClr val="3333CC"/>
              </a:solidFill>
              <a:sym typeface="Math1" pitchFamily="2" charset="2"/>
            </a:endParaRPr>
          </a:p>
        </p:txBody>
      </p:sp>
      <p:sp>
        <p:nvSpPr>
          <p:cNvPr id="194565" name="Line 5"/>
          <p:cNvSpPr>
            <a:spLocks noChangeShapeType="1"/>
          </p:cNvSpPr>
          <p:nvPr/>
        </p:nvSpPr>
        <p:spPr bwMode="auto">
          <a:xfrm flipV="1">
            <a:off x="4170363" y="4733925"/>
            <a:ext cx="838200" cy="762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例：简单表达式计算（续）</a:t>
            </a:r>
            <a:endParaRPr lang="zh-CN" alt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%include {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#ifndef YYSTYPE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#define YYSTYPE double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#endif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}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20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//%token NUMBER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%left '+' '-'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%left '*' '/'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%right UMINUS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20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%%</a:t>
            </a:r>
            <a:endParaRPr kumimoji="0" lang="en-US" altLang="zh-CN" sz="2000">
              <a:latin typeface="Courier New" panose="02070309020205020404" pitchFamily="49" charset="0"/>
            </a:endParaRPr>
          </a:p>
        </p:txBody>
      </p:sp>
      <p:sp>
        <p:nvSpPr>
          <p:cNvPr id="195588" name="Text Box 4"/>
          <p:cNvSpPr txBox="1">
            <a:spLocks noChangeArrowheads="1"/>
          </p:cNvSpPr>
          <p:nvPr/>
        </p:nvSpPr>
        <p:spPr bwMode="auto">
          <a:xfrm>
            <a:off x="5435600" y="1989138"/>
            <a:ext cx="2520950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>
                <a:solidFill>
                  <a:srgbClr val="3333CC"/>
                </a:solidFill>
              </a:rPr>
              <a:t>我们要翻译的结果是什么？表达式值！</a:t>
            </a:r>
            <a:br>
              <a:rPr kumimoji="0" lang="zh-CN" altLang="en-US" sz="2000" b="1">
                <a:solidFill>
                  <a:srgbClr val="3333CC"/>
                </a:solidFill>
              </a:rPr>
            </a:br>
            <a:r>
              <a:rPr kumimoji="0" lang="zh-CN" altLang="en-US" sz="2000" b="1">
                <a:solidFill>
                  <a:srgbClr val="3333CC"/>
                </a:solidFill>
              </a:rPr>
              <a:t>所以类型是</a:t>
            </a:r>
            <a:r>
              <a:rPr kumimoji="0" lang="en-US" altLang="zh-CN" sz="2000" b="1">
                <a:solidFill>
                  <a:srgbClr val="3333CC"/>
                </a:solidFill>
              </a:rPr>
              <a:t>double</a:t>
            </a:r>
            <a:endParaRPr kumimoji="0" lang="en-US" altLang="zh-CN" sz="2000" b="1">
              <a:solidFill>
                <a:srgbClr val="3333CC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rgbClr val="3333CC"/>
                </a:solidFill>
              </a:rPr>
              <a:t>YYSTYPE</a:t>
            </a:r>
            <a:r>
              <a:rPr kumimoji="0" lang="zh-CN" altLang="en-US" sz="2000" b="1">
                <a:solidFill>
                  <a:srgbClr val="3333CC"/>
                </a:solidFill>
              </a:rPr>
              <a:t>是翻译结果的类型</a:t>
            </a:r>
            <a:endParaRPr kumimoji="0" lang="zh-CN" altLang="en-US" sz="2000" b="1">
              <a:solidFill>
                <a:srgbClr val="3333CC"/>
              </a:solidFill>
              <a:sym typeface="Math1" pitchFamily="2" charset="2"/>
            </a:endParaRPr>
          </a:p>
        </p:txBody>
      </p:sp>
      <p:sp>
        <p:nvSpPr>
          <p:cNvPr id="195589" name="Line 5"/>
          <p:cNvSpPr>
            <a:spLocks noChangeShapeType="1"/>
          </p:cNvSpPr>
          <p:nvPr/>
        </p:nvSpPr>
        <p:spPr bwMode="auto">
          <a:xfrm flipV="1">
            <a:off x="4673600" y="2141538"/>
            <a:ext cx="838200" cy="762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5590" name="Text Box 6"/>
          <p:cNvSpPr txBox="1">
            <a:spLocks noChangeArrowheads="1"/>
          </p:cNvSpPr>
          <p:nvPr/>
        </p:nvSpPr>
        <p:spPr bwMode="auto">
          <a:xfrm>
            <a:off x="4211638" y="4005263"/>
            <a:ext cx="2362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>
                <a:solidFill>
                  <a:srgbClr val="3333CC"/>
                </a:solidFill>
              </a:rPr>
              <a:t>运算符优先级</a:t>
            </a:r>
            <a:br>
              <a:rPr kumimoji="0" lang="en-US" altLang="zh-CN" sz="2000" b="1">
                <a:solidFill>
                  <a:srgbClr val="3333CC"/>
                </a:solidFill>
                <a:sym typeface="Math1" pitchFamily="2" charset="2"/>
              </a:rPr>
            </a:br>
            <a:r>
              <a:rPr kumimoji="0" lang="zh-CN" altLang="en-US" sz="2000" b="1">
                <a:solidFill>
                  <a:srgbClr val="3333CC"/>
                </a:solidFill>
                <a:sym typeface="Math1" pitchFamily="2" charset="2"/>
              </a:rPr>
              <a:t>前</a:t>
            </a:r>
            <a:r>
              <a:rPr kumimoji="0" lang="en-US" altLang="zh-CN" sz="2000" b="1">
                <a:solidFill>
                  <a:srgbClr val="3333CC"/>
                </a:solidFill>
                <a:sym typeface="Wingdings" panose="05000000000000000000" pitchFamily="2" charset="2"/>
              </a:rPr>
              <a:t></a:t>
            </a:r>
            <a:r>
              <a:rPr kumimoji="0" lang="zh-CN" altLang="en-US" sz="2000" b="1">
                <a:solidFill>
                  <a:srgbClr val="3333CC"/>
                </a:solidFill>
                <a:sym typeface="Wingdings" panose="05000000000000000000" pitchFamily="2" charset="2"/>
              </a:rPr>
              <a:t>后，低</a:t>
            </a:r>
            <a:r>
              <a:rPr kumimoji="0" lang="en-US" altLang="zh-CN" sz="2000" b="1">
                <a:solidFill>
                  <a:srgbClr val="3333CC"/>
                </a:solidFill>
                <a:sym typeface="Wingdings" panose="05000000000000000000" pitchFamily="2" charset="2"/>
              </a:rPr>
              <a:t></a:t>
            </a:r>
            <a:r>
              <a:rPr kumimoji="0" lang="zh-CN" altLang="en-US" sz="2000" b="1">
                <a:solidFill>
                  <a:srgbClr val="3333CC"/>
                </a:solidFill>
                <a:sym typeface="Wingdings" panose="05000000000000000000" pitchFamily="2" charset="2"/>
              </a:rPr>
              <a:t>高</a:t>
            </a:r>
            <a:endParaRPr kumimoji="0" lang="en-US" altLang="zh-CN" sz="2000" b="1">
              <a:solidFill>
                <a:srgbClr val="3333CC"/>
              </a:solidFill>
            </a:endParaRPr>
          </a:p>
        </p:txBody>
      </p:sp>
      <p:sp>
        <p:nvSpPr>
          <p:cNvPr id="195591" name="Line 7"/>
          <p:cNvSpPr>
            <a:spLocks noChangeShapeType="1"/>
          </p:cNvSpPr>
          <p:nvPr/>
        </p:nvSpPr>
        <p:spPr bwMode="auto">
          <a:xfrm flipV="1">
            <a:off x="3449638" y="4157663"/>
            <a:ext cx="838200" cy="762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4572000" y="1412875"/>
            <a:ext cx="2362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>
                <a:solidFill>
                  <a:srgbClr val="3333CC"/>
                </a:solidFill>
              </a:rPr>
              <a:t>复制到头文件中</a:t>
            </a:r>
            <a:endParaRPr kumimoji="0" lang="zh-CN" altLang="en-US" sz="2000" b="1">
              <a:solidFill>
                <a:srgbClr val="3333CC"/>
              </a:solidFill>
              <a:sym typeface="Math1" pitchFamily="2" charset="2"/>
            </a:endParaRPr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 flipV="1">
            <a:off x="3708400" y="1636713"/>
            <a:ext cx="939800" cy="2794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例：简单表达式计算（续）</a:t>
            </a:r>
            <a:endParaRPr lang="zh-CN" alt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 dirty="0">
                <a:latin typeface="Courier New" panose="02070309020205020404" pitchFamily="49" charset="0"/>
              </a:rPr>
              <a:t>lines	:	lines expr '\n'	{ </a:t>
            </a:r>
            <a:r>
              <a:rPr kumimoji="0" lang="en-US" altLang="zh-CN" sz="1800" dirty="0" err="1">
                <a:latin typeface="Courier New" panose="02070309020205020404" pitchFamily="49" charset="0"/>
              </a:rPr>
              <a:t>printf</a:t>
            </a:r>
            <a:r>
              <a:rPr kumimoji="0" lang="en-US" altLang="zh-CN" sz="1800" dirty="0">
                <a:latin typeface="Courier New" panose="02070309020205020404" pitchFamily="49" charset="0"/>
              </a:rPr>
              <a:t>("%g\n", $2); }</a:t>
            </a:r>
            <a:endParaRPr kumimoji="0" lang="en-US" altLang="zh-CN" sz="18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 dirty="0">
                <a:latin typeface="Courier New" panose="02070309020205020404" pitchFamily="49" charset="0"/>
              </a:rPr>
              <a:t>		|	lines '\n'</a:t>
            </a:r>
            <a:endParaRPr kumimoji="0" lang="en-US" altLang="zh-CN" sz="18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 dirty="0">
                <a:latin typeface="Courier New" panose="02070309020205020404" pitchFamily="49" charset="0"/>
              </a:rPr>
              <a:t>		|</a:t>
            </a:r>
            <a:endParaRPr kumimoji="0" lang="en-US" altLang="zh-CN" sz="18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 dirty="0">
                <a:latin typeface="Courier New" panose="02070309020205020404" pitchFamily="49" charset="0"/>
              </a:rPr>
              <a:t>		;</a:t>
            </a:r>
            <a:endParaRPr kumimoji="0" lang="en-US" altLang="zh-CN" sz="18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18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 dirty="0">
                <a:latin typeface="Courier New" panose="02070309020205020404" pitchFamily="49" charset="0"/>
              </a:rPr>
              <a:t>expr	:	expr '+' expr	{ $$ = $1 + $3; }</a:t>
            </a:r>
            <a:endParaRPr kumimoji="0" lang="en-US" altLang="zh-CN" sz="18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 dirty="0">
                <a:latin typeface="Courier New" panose="02070309020205020404" pitchFamily="49" charset="0"/>
              </a:rPr>
              <a:t>		|	expr '-' expr	{ $$ = $1 - $3; }</a:t>
            </a:r>
            <a:endParaRPr kumimoji="0" lang="en-US" altLang="zh-CN" sz="18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 dirty="0">
                <a:latin typeface="Courier New" panose="02070309020205020404" pitchFamily="49" charset="0"/>
              </a:rPr>
              <a:t>		|	expr '*' expr	{ $$ = $1 * $3; }</a:t>
            </a:r>
            <a:endParaRPr kumimoji="0" lang="en-US" altLang="zh-CN" sz="18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 dirty="0">
                <a:latin typeface="Courier New" panose="02070309020205020404" pitchFamily="49" charset="0"/>
              </a:rPr>
              <a:t>		|	expr '/' expr	{ $$ = $1 / $3; }</a:t>
            </a:r>
            <a:endParaRPr kumimoji="0" lang="en-US" altLang="zh-CN" sz="18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 dirty="0">
                <a:latin typeface="Courier New" panose="02070309020205020404" pitchFamily="49" charset="0"/>
              </a:rPr>
              <a:t>		|	'(' expr ')'	{ $$ = $2; }</a:t>
            </a:r>
            <a:endParaRPr kumimoji="0" lang="en-US" altLang="zh-CN" sz="18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 dirty="0">
                <a:latin typeface="Courier New" panose="02070309020205020404" pitchFamily="49" charset="0"/>
              </a:rPr>
              <a:t>		|	'-' expr %</a:t>
            </a:r>
            <a:r>
              <a:rPr kumimoji="0" lang="en-US" altLang="zh-CN" sz="1800" dirty="0" err="1">
                <a:latin typeface="Courier New" panose="02070309020205020404" pitchFamily="49" charset="0"/>
              </a:rPr>
              <a:t>prec</a:t>
            </a:r>
            <a:r>
              <a:rPr kumimoji="0" lang="en-US" altLang="zh-CN" sz="1800" dirty="0">
                <a:latin typeface="Courier New" panose="02070309020205020404" pitchFamily="49" charset="0"/>
              </a:rPr>
              <a:t> UMINUS	{ $$ = -$2; }</a:t>
            </a:r>
            <a:endParaRPr kumimoji="0" lang="en-US" altLang="zh-CN" sz="18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 dirty="0">
                <a:latin typeface="Courier New" panose="02070309020205020404" pitchFamily="49" charset="0"/>
              </a:rPr>
              <a:t>		|	NUMBER</a:t>
            </a:r>
            <a:endParaRPr kumimoji="0" lang="en-US" altLang="zh-CN" sz="18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 dirty="0">
                <a:latin typeface="Courier New" panose="02070309020205020404" pitchFamily="49" charset="0"/>
              </a:rPr>
              <a:t>		;</a:t>
            </a:r>
            <a:endParaRPr kumimoji="0" lang="en-US" altLang="zh-CN" sz="1800" dirty="0">
              <a:latin typeface="Courier New" panose="02070309020205020404" pitchFamily="49" charset="0"/>
            </a:endParaRPr>
          </a:p>
        </p:txBody>
      </p:sp>
      <p:sp>
        <p:nvSpPr>
          <p:cNvPr id="196612" name="Text Box 4"/>
          <p:cNvSpPr txBox="1">
            <a:spLocks noChangeArrowheads="1"/>
          </p:cNvSpPr>
          <p:nvPr/>
        </p:nvSpPr>
        <p:spPr bwMode="auto">
          <a:xfrm>
            <a:off x="4284663" y="5516563"/>
            <a:ext cx="2362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>
                <a:solidFill>
                  <a:srgbClr val="3333CC"/>
                </a:solidFill>
              </a:rPr>
              <a:t>表达式的上下文无关文法</a:t>
            </a:r>
            <a:r>
              <a:rPr kumimoji="0" lang="en-US" altLang="zh-CN" sz="2000" b="1">
                <a:solidFill>
                  <a:srgbClr val="3333CC"/>
                </a:solidFill>
              </a:rPr>
              <a:t>/</a:t>
            </a:r>
            <a:r>
              <a:rPr kumimoji="0" lang="zh-CN" altLang="en-US" sz="2000" b="1">
                <a:solidFill>
                  <a:srgbClr val="3333CC"/>
                </a:solidFill>
              </a:rPr>
              <a:t>翻译模式</a:t>
            </a:r>
            <a:endParaRPr kumimoji="0" lang="zh-CN" altLang="en-US" sz="2000" b="1">
              <a:solidFill>
                <a:srgbClr val="3333CC"/>
              </a:solidFill>
              <a:sym typeface="Math1" pitchFamily="2" charset="2"/>
            </a:endParaRPr>
          </a:p>
        </p:txBody>
      </p:sp>
      <p:sp>
        <p:nvSpPr>
          <p:cNvPr id="196613" name="Line 5"/>
          <p:cNvSpPr>
            <a:spLocks noChangeShapeType="1"/>
          </p:cNvSpPr>
          <p:nvPr/>
        </p:nvSpPr>
        <p:spPr bwMode="auto">
          <a:xfrm>
            <a:off x="4427538" y="4797425"/>
            <a:ext cx="509587" cy="8001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例：简单表达式计算（续）</a:t>
            </a:r>
            <a:endParaRPr lang="zh-CN" altLang="en-US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NUMBER	:	'0'				{ $$ = 0.0; }</a:t>
            </a:r>
            <a:endParaRPr kumimoji="0" lang="en-US" altLang="zh-CN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		|	'1'				{ $$ = 1.0; }</a:t>
            </a:r>
            <a:endParaRPr kumimoji="0" lang="en-US" altLang="zh-CN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		|	'2'				{ $$ = 2.0; }</a:t>
            </a:r>
            <a:endParaRPr kumimoji="0" lang="en-US" altLang="zh-CN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		|	'3'				{ $$ = 3.0; }</a:t>
            </a:r>
            <a:endParaRPr kumimoji="0" lang="en-US" altLang="zh-CN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		|	'4'				{ $$ = 4.0; }</a:t>
            </a:r>
            <a:endParaRPr kumimoji="0" lang="en-US" altLang="zh-CN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		|	'5'				{ $$ = 5.0; }</a:t>
            </a:r>
            <a:endParaRPr kumimoji="0" lang="en-US" altLang="zh-CN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		|	'6'				{ $$ = 6.0; }</a:t>
            </a:r>
            <a:endParaRPr kumimoji="0" lang="en-US" altLang="zh-CN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		|	'7'				{ $$ = 7.0; }</a:t>
            </a:r>
            <a:endParaRPr kumimoji="0" lang="en-US" altLang="zh-CN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		|	'8'				{ $$ = 8.0; }</a:t>
            </a:r>
            <a:endParaRPr kumimoji="0" lang="en-US" altLang="zh-CN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		|	'9'				{ $$ = 9.0; }</a:t>
            </a:r>
            <a:endParaRPr kumimoji="0" lang="en-US" altLang="zh-CN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		;</a:t>
            </a:r>
            <a:endParaRPr kumimoji="0" lang="en-US" altLang="zh-CN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		</a:t>
            </a:r>
            <a:endParaRPr kumimoji="0" lang="en-US" altLang="zh-CN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		</a:t>
            </a:r>
            <a:endParaRPr kumimoji="0" lang="en-US" altLang="zh-CN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%%</a:t>
            </a:r>
            <a:endParaRPr kumimoji="0" lang="en-US" altLang="zh-CN" sz="18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例：简单表达式计算（续）</a:t>
            </a:r>
            <a:endParaRPr lang="zh-CN" altLang="en-US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int yygettoken(void)</a:t>
            </a:r>
            <a:endParaRPr kumimoji="0" lang="en-US" altLang="zh-CN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{	</a:t>
            </a:r>
            <a:endParaRPr kumimoji="0" lang="en-US" altLang="zh-CN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	return getchar();</a:t>
            </a:r>
            <a:endParaRPr kumimoji="0" lang="en-US" altLang="zh-CN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}</a:t>
            </a:r>
            <a:endParaRPr kumimoji="0" lang="en-US" altLang="zh-CN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int main(void)</a:t>
            </a:r>
            <a:endParaRPr kumimoji="0" lang="en-US" altLang="zh-CN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{</a:t>
            </a:r>
            <a:endParaRPr kumimoji="0" lang="en-US" altLang="zh-CN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	return yyparse();</a:t>
            </a:r>
            <a:endParaRPr kumimoji="0" lang="en-US" altLang="zh-CN" sz="180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1800">
                <a:latin typeface="Courier New" panose="02070309020205020404" pitchFamily="49" charset="0"/>
              </a:rPr>
              <a:t>}</a:t>
            </a:r>
            <a:endParaRPr kumimoji="0" lang="en-US" altLang="zh-CN" sz="1800">
              <a:latin typeface="Courier New" panose="02070309020205020404" pitchFamily="49" charset="0"/>
            </a:endParaRPr>
          </a:p>
        </p:txBody>
      </p:sp>
      <p:sp>
        <p:nvSpPr>
          <p:cNvPr id="198660" name="Text Box 4"/>
          <p:cNvSpPr txBox="1">
            <a:spLocks noChangeArrowheads="1"/>
          </p:cNvSpPr>
          <p:nvPr/>
        </p:nvSpPr>
        <p:spPr bwMode="auto">
          <a:xfrm>
            <a:off x="4716463" y="1916113"/>
            <a:ext cx="23622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>
                <a:solidFill>
                  <a:srgbClr val="3333CC"/>
                </a:solidFill>
              </a:rPr>
              <a:t>还没有完整的词法分析器，简单地令每个字符是一个单词</a:t>
            </a:r>
            <a:endParaRPr kumimoji="0" lang="zh-CN" altLang="en-US" sz="2000" b="1">
              <a:solidFill>
                <a:srgbClr val="3333CC"/>
              </a:solidFill>
              <a:sym typeface="Math1" pitchFamily="2" charset="2"/>
            </a:endParaRPr>
          </a:p>
        </p:txBody>
      </p:sp>
      <p:sp>
        <p:nvSpPr>
          <p:cNvPr id="198661" name="Line 5"/>
          <p:cNvSpPr>
            <a:spLocks noChangeShapeType="1"/>
          </p:cNvSpPr>
          <p:nvPr/>
        </p:nvSpPr>
        <p:spPr bwMode="auto">
          <a:xfrm flipV="1">
            <a:off x="3954463" y="2068513"/>
            <a:ext cx="838200" cy="762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8662" name="Text Box 6"/>
          <p:cNvSpPr txBox="1">
            <a:spLocks noChangeArrowheads="1"/>
          </p:cNvSpPr>
          <p:nvPr/>
        </p:nvSpPr>
        <p:spPr bwMode="auto">
          <a:xfrm>
            <a:off x="4211638" y="4149725"/>
            <a:ext cx="2362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>
                <a:solidFill>
                  <a:srgbClr val="3333CC"/>
                </a:solidFill>
              </a:rPr>
              <a:t>调用语法分析（翻译）器</a:t>
            </a:r>
            <a:endParaRPr kumimoji="0" lang="zh-CN" altLang="en-US" sz="2000" b="1">
              <a:solidFill>
                <a:srgbClr val="3333CC"/>
              </a:solidFill>
              <a:sym typeface="Math1" pitchFamily="2" charset="2"/>
            </a:endParaRPr>
          </a:p>
        </p:txBody>
      </p:sp>
      <p:sp>
        <p:nvSpPr>
          <p:cNvPr id="198663" name="Line 7"/>
          <p:cNvSpPr>
            <a:spLocks noChangeShapeType="1"/>
          </p:cNvSpPr>
          <p:nvPr/>
        </p:nvSpPr>
        <p:spPr bwMode="auto">
          <a:xfrm>
            <a:off x="3635375" y="3789363"/>
            <a:ext cx="652463" cy="512762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C++</a:t>
            </a:r>
            <a:r>
              <a:rPr lang="zh-CN" altLang="en-US"/>
              <a:t>版本</a:t>
            </a:r>
            <a:endParaRPr lang="zh-CN" altLang="en-US"/>
          </a:p>
        </p:txBody>
      </p:sp>
      <p:sp>
        <p:nvSpPr>
          <p:cNvPr id="61443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%{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/****************************************************************************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expr.y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ParserWizard generated YACC file.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Date: 2016</a:t>
            </a:r>
            <a:r>
              <a:rPr kumimoji="0" lang="zh-CN" altLang="en-US" sz="2000">
                <a:latin typeface="Courier New" panose="02070309020205020404" pitchFamily="49" charset="0"/>
              </a:rPr>
              <a:t>年</a:t>
            </a:r>
            <a:r>
              <a:rPr kumimoji="0" lang="en-US" altLang="zh-CN" sz="2000">
                <a:latin typeface="Courier New" panose="02070309020205020404" pitchFamily="49" charset="0"/>
              </a:rPr>
              <a:t>10</a:t>
            </a:r>
            <a:r>
              <a:rPr kumimoji="0" lang="zh-CN" altLang="en-US" sz="2000">
                <a:latin typeface="Courier New" panose="02070309020205020404" pitchFamily="49" charset="0"/>
              </a:rPr>
              <a:t>月</a:t>
            </a:r>
            <a:r>
              <a:rPr kumimoji="0" lang="en-US" altLang="zh-CN" sz="2000">
                <a:latin typeface="Courier New" panose="02070309020205020404" pitchFamily="49" charset="0"/>
              </a:rPr>
              <a:t>18</a:t>
            </a:r>
            <a:r>
              <a:rPr kumimoji="0" lang="zh-CN" altLang="en-US" sz="2000">
                <a:latin typeface="Courier New" panose="02070309020205020404" pitchFamily="49" charset="0"/>
              </a:rPr>
              <a:t>日</a:t>
            </a:r>
            <a:endParaRPr kumimoji="0" lang="zh-CN" altLang="en-US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zh-CN" altLang="en-US" sz="2000">
                <a:latin typeface="Courier New" panose="02070309020205020404" pitchFamily="49" charset="0"/>
              </a:rPr>
              <a:t>****************************************************************************</a:t>
            </a:r>
            <a:r>
              <a:rPr kumimoji="0" lang="en-US" altLang="zh-CN" sz="2000">
                <a:latin typeface="Courier New" panose="02070309020205020404" pitchFamily="49" charset="0"/>
              </a:rPr>
              <a:t>/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#include &lt;iostream&gt;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#include &lt;cctype&gt;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using namespace std;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%}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kumimoji="0" lang="zh-CN" altLang="en-US" sz="20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C++</a:t>
            </a:r>
            <a:r>
              <a:rPr lang="zh-CN" altLang="en-US"/>
              <a:t>版本（续）</a:t>
            </a:r>
            <a:endParaRPr lang="zh-CN" altLang="en-US"/>
          </a:p>
        </p:txBody>
      </p:sp>
      <p:sp>
        <p:nvSpPr>
          <p:cNvPr id="62467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%include {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#ifndef YYSTYPE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#define YYSTYPE double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#endif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}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// parser name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%name expr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// class definition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{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	// place any extra class members here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	virtual int yygettoken();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}</a:t>
            </a:r>
            <a:endParaRPr kumimoji="0" lang="zh-CN" altLang="en-US" sz="20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C++</a:t>
            </a:r>
            <a:r>
              <a:rPr lang="zh-CN" altLang="en-US"/>
              <a:t>版本（续）</a:t>
            </a:r>
            <a:endParaRPr lang="zh-CN" altLang="en-US"/>
          </a:p>
        </p:txBody>
      </p:sp>
      <p:sp>
        <p:nvSpPr>
          <p:cNvPr id="63491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// constructor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{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	// place any extra initialisation code here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}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// destructor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{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	// place any extra cleanup code here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}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// place any declarations here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//%token NUMBER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%left '+' '-'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%left '*' '/'</a:t>
            </a:r>
            <a:endParaRPr kumimoji="0" lang="en-US" altLang="zh-CN" sz="20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2000">
                <a:latin typeface="Courier New" panose="02070309020205020404" pitchFamily="49" charset="0"/>
              </a:rPr>
              <a:t>%right UMINUS</a:t>
            </a:r>
            <a:endParaRPr kumimoji="0" lang="zh-CN" altLang="en-US" sz="20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C++</a:t>
            </a:r>
            <a:r>
              <a:rPr lang="zh-CN" altLang="en-US"/>
              <a:t>版本（续）</a:t>
            </a:r>
            <a:endParaRPr lang="zh-CN" altLang="en-US"/>
          </a:p>
        </p:txBody>
      </p:sp>
      <p:sp>
        <p:nvSpPr>
          <p:cNvPr id="64515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 dirty="0">
                <a:latin typeface="Courier New" panose="02070309020205020404" pitchFamily="49" charset="0"/>
              </a:rPr>
              <a:t>lines	:	lines expr '\n'	{ </a:t>
            </a:r>
            <a:r>
              <a:rPr kumimoji="0" lang="en-US" altLang="zh-CN" sz="1600" dirty="0" err="1">
                <a:latin typeface="Courier New" panose="02070309020205020404" pitchFamily="49" charset="0"/>
              </a:rPr>
              <a:t>cout</a:t>
            </a:r>
            <a:r>
              <a:rPr kumimoji="0" lang="en-US" altLang="zh-CN" sz="1600" dirty="0">
                <a:latin typeface="Courier New" panose="02070309020205020404" pitchFamily="49" charset="0"/>
              </a:rPr>
              <a:t> &lt;&lt; $2 &lt;&lt; </a:t>
            </a:r>
            <a:r>
              <a:rPr kumimoji="0" lang="en-US" altLang="zh-CN" sz="1600" dirty="0" err="1">
                <a:latin typeface="Courier New" panose="02070309020205020404" pitchFamily="49" charset="0"/>
              </a:rPr>
              <a:t>endl</a:t>
            </a:r>
            <a:r>
              <a:rPr kumimoji="0" lang="en-US" altLang="zh-CN" sz="1600" dirty="0">
                <a:latin typeface="Courier New" panose="02070309020205020404" pitchFamily="49" charset="0"/>
              </a:rPr>
              <a:t>; }</a:t>
            </a:r>
            <a:endParaRPr kumimoji="0" lang="en-US" altLang="zh-CN" sz="1600" dirty="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 dirty="0">
                <a:latin typeface="Courier New" panose="02070309020205020404" pitchFamily="49" charset="0"/>
              </a:rPr>
              <a:t>	|	lines '\n'</a:t>
            </a:r>
            <a:endParaRPr kumimoji="0" lang="en-US" altLang="zh-CN" sz="1600" dirty="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 dirty="0">
                <a:latin typeface="Courier New" panose="02070309020205020404" pitchFamily="49" charset="0"/>
              </a:rPr>
              <a:t>	|</a:t>
            </a:r>
            <a:endParaRPr kumimoji="0" lang="en-US" altLang="zh-CN" sz="1600" dirty="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 dirty="0">
                <a:latin typeface="Courier New" panose="02070309020205020404" pitchFamily="49" charset="0"/>
              </a:rPr>
              <a:t>	;</a:t>
            </a:r>
            <a:endParaRPr kumimoji="0" lang="en-US" altLang="zh-CN" sz="1600" dirty="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kumimoji="0" lang="en-US" altLang="zh-CN" sz="1600" dirty="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 dirty="0">
                <a:latin typeface="Courier New" panose="02070309020205020404" pitchFamily="49" charset="0"/>
              </a:rPr>
              <a:t>expr	:	expr '+' expr	{ $$ = $1 + $3; }</a:t>
            </a:r>
            <a:endParaRPr kumimoji="0" lang="en-US" altLang="zh-CN" sz="1600" dirty="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 dirty="0">
                <a:latin typeface="Courier New" panose="02070309020205020404" pitchFamily="49" charset="0"/>
              </a:rPr>
              <a:t>	|	expr '-' expr	{ $$ = $1 - $3; }</a:t>
            </a:r>
            <a:endParaRPr kumimoji="0" lang="en-US" altLang="zh-CN" sz="1600" dirty="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 dirty="0">
                <a:latin typeface="Courier New" panose="02070309020205020404" pitchFamily="49" charset="0"/>
              </a:rPr>
              <a:t>	|	expr '*' expr	{ $$ = $1 * $3; }</a:t>
            </a:r>
            <a:endParaRPr kumimoji="0" lang="en-US" altLang="zh-CN" sz="1600" dirty="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 dirty="0">
                <a:latin typeface="Courier New" panose="02070309020205020404" pitchFamily="49" charset="0"/>
              </a:rPr>
              <a:t>	|	expr '/' expr	{ $$ = $1 / $3; }</a:t>
            </a:r>
            <a:endParaRPr kumimoji="0" lang="en-US" altLang="zh-CN" sz="1600" dirty="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 dirty="0">
                <a:latin typeface="Courier New" panose="02070309020205020404" pitchFamily="49" charset="0"/>
              </a:rPr>
              <a:t>	|	'(' expr ')'	{ $$ = $2; }</a:t>
            </a:r>
            <a:endParaRPr kumimoji="0" lang="en-US" altLang="zh-CN" sz="1600" dirty="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 dirty="0">
                <a:latin typeface="Courier New" panose="02070309020205020404" pitchFamily="49" charset="0"/>
              </a:rPr>
              <a:t>	|	'-' expr %</a:t>
            </a:r>
            <a:r>
              <a:rPr kumimoji="0" lang="en-US" altLang="zh-CN" sz="1600" dirty="0" err="1">
                <a:latin typeface="Courier New" panose="02070309020205020404" pitchFamily="49" charset="0"/>
              </a:rPr>
              <a:t>prec</a:t>
            </a:r>
            <a:r>
              <a:rPr kumimoji="0" lang="en-US" altLang="zh-CN" sz="1600" dirty="0">
                <a:latin typeface="Courier New" panose="02070309020205020404" pitchFamily="49" charset="0"/>
              </a:rPr>
              <a:t> UMINUS	{ $$ = -$2; }</a:t>
            </a:r>
            <a:endParaRPr kumimoji="0" lang="en-US" altLang="zh-CN" sz="1600" dirty="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 dirty="0">
                <a:latin typeface="Courier New" panose="02070309020205020404" pitchFamily="49" charset="0"/>
              </a:rPr>
              <a:t>	|	NUMBER</a:t>
            </a:r>
            <a:endParaRPr kumimoji="0" lang="en-US" altLang="zh-CN" sz="1600" dirty="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 dirty="0">
                <a:latin typeface="Courier New" panose="02070309020205020404" pitchFamily="49" charset="0"/>
              </a:rPr>
              <a:t>	;</a:t>
            </a:r>
            <a:endParaRPr kumimoji="0" lang="zh-CN" altLang="en-US" sz="1600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C++</a:t>
            </a:r>
            <a:r>
              <a:rPr lang="zh-CN" altLang="en-US"/>
              <a:t>版本（续）</a:t>
            </a:r>
            <a:endParaRPr lang="zh-CN" altLang="en-US"/>
          </a:p>
        </p:txBody>
      </p:sp>
      <p:sp>
        <p:nvSpPr>
          <p:cNvPr id="65539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NUMBER	:	'0'				{ $$ = 0.0; }</a:t>
            </a:r>
            <a:endParaRPr kumimoji="0" lang="en-US" altLang="zh-CN" sz="16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|	'1'				{ $$ = 1.0; }</a:t>
            </a:r>
            <a:endParaRPr kumimoji="0" lang="en-US" altLang="zh-CN" sz="16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|	'2'				{ $$ = 2.0; }</a:t>
            </a:r>
            <a:endParaRPr kumimoji="0" lang="en-US" altLang="zh-CN" sz="16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|	'3'				{ $$ = 3.0; }</a:t>
            </a:r>
            <a:endParaRPr kumimoji="0" lang="en-US" altLang="zh-CN" sz="16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|	'4'				{ $$ = 4.0; }</a:t>
            </a:r>
            <a:endParaRPr kumimoji="0" lang="en-US" altLang="zh-CN" sz="16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|	'5'				{ $$ = 5.0; }</a:t>
            </a:r>
            <a:endParaRPr kumimoji="0" lang="en-US" altLang="zh-CN" sz="16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|	'6'				{ $$ = 6.0; }</a:t>
            </a:r>
            <a:endParaRPr kumimoji="0" lang="en-US" altLang="zh-CN" sz="16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|	'7'				{ $$ = 7.0; }</a:t>
            </a:r>
            <a:endParaRPr kumimoji="0" lang="en-US" altLang="zh-CN" sz="16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|	'8'				{ $$ = 8.0; }</a:t>
            </a:r>
            <a:endParaRPr kumimoji="0" lang="en-US" altLang="zh-CN" sz="16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|	'9'				{ $$ = 9.0; }</a:t>
            </a:r>
            <a:endParaRPr kumimoji="0" lang="en-US" altLang="zh-CN" sz="16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;</a:t>
            </a:r>
            <a:endParaRPr kumimoji="0" lang="en-US" altLang="zh-CN" sz="16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kumimoji="0" lang="en-US" altLang="zh-CN" sz="16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C++</a:t>
            </a:r>
            <a:r>
              <a:rPr lang="zh-CN" altLang="en-US"/>
              <a:t>版本（续）</a:t>
            </a:r>
            <a:endParaRPr lang="zh-CN" altLang="en-US"/>
          </a:p>
        </p:txBody>
      </p:sp>
      <p:sp>
        <p:nvSpPr>
          <p:cNvPr id="66563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int YYPARSERNAME::yygettoken()</a:t>
            </a:r>
            <a:endParaRPr kumimoji="0" lang="en-US" altLang="zh-CN" sz="16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{</a:t>
            </a:r>
            <a:endParaRPr kumimoji="0" lang="en-US" altLang="zh-CN" sz="16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// place your token retrieving code here</a:t>
            </a:r>
            <a:endParaRPr kumimoji="0" lang="en-US" altLang="zh-CN" sz="16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return getchar();</a:t>
            </a:r>
            <a:endParaRPr kumimoji="0" lang="en-US" altLang="zh-CN" sz="16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}</a:t>
            </a:r>
            <a:endParaRPr kumimoji="0" lang="en-US" altLang="zh-CN" sz="16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kumimoji="0" lang="en-US" altLang="zh-CN" sz="16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int main(void)</a:t>
            </a:r>
            <a:endParaRPr kumimoji="0" lang="en-US" altLang="zh-CN" sz="16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{</a:t>
            </a:r>
            <a:endParaRPr kumimoji="0" lang="en-US" altLang="zh-CN" sz="16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int n = 1;</a:t>
            </a:r>
            <a:endParaRPr kumimoji="0" lang="en-US" altLang="zh-CN" sz="16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expr parser;</a:t>
            </a:r>
            <a:endParaRPr kumimoji="0" lang="en-US" altLang="zh-CN" sz="16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if (parser.yycreate()) {</a:t>
            </a:r>
            <a:endParaRPr kumimoji="0" lang="en-US" altLang="zh-CN" sz="16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	n = parser.yyparse();</a:t>
            </a:r>
            <a:endParaRPr kumimoji="0" lang="en-US" altLang="zh-CN" sz="16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}</a:t>
            </a:r>
            <a:endParaRPr kumimoji="0" lang="en-US" altLang="zh-CN" sz="16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	return n;</a:t>
            </a:r>
            <a:endParaRPr kumimoji="0" lang="en-US" altLang="zh-CN" sz="1600">
              <a:latin typeface="Courier New" panose="020703090202050204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en-US" altLang="zh-CN" sz="1600">
                <a:latin typeface="Courier New" panose="02070309020205020404" pitchFamily="49" charset="0"/>
              </a:rPr>
              <a:t>}</a:t>
            </a:r>
            <a:endParaRPr kumimoji="0" lang="en-US" altLang="zh-CN" sz="16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  </a:t>
            </a:r>
            <a:r>
              <a:rPr lang="zh-CN" altLang="en-US"/>
              <a:t>语法分析</a:t>
            </a:r>
            <a:endParaRPr lang="zh-CN" alt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确定一个单词串是否可由一个文法生成</a:t>
            </a:r>
            <a:r>
              <a:rPr lang="en-US" altLang="zh-CN" sz="2400" dirty="0"/>
              <a:t>——</a:t>
            </a:r>
            <a:r>
              <a:rPr lang="zh-CN" altLang="en-US" sz="2400" dirty="0"/>
              <a:t>找到一个推导过程或证明任何推导过程都得不到此单词串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构造语法分析树</a:t>
            </a:r>
            <a:endParaRPr lang="zh-CN" altLang="en-US" sz="2400" dirty="0"/>
          </a:p>
          <a:p>
            <a:pPr eaLnBrk="1" hangingPunct="1">
              <a:spcBef>
                <a:spcPct val="0"/>
              </a:spcBef>
            </a:pPr>
            <a:r>
              <a:rPr lang="zh-CN" altLang="en-US" sz="2400" dirty="0"/>
              <a:t>时间复杂度</a:t>
            </a:r>
            <a:r>
              <a:rPr lang="en-US" altLang="zh-CN" sz="2400" dirty="0"/>
              <a:t>O(n</a:t>
            </a:r>
            <a:r>
              <a:rPr lang="en-US" altLang="zh-CN" sz="2400" baseline="30000" dirty="0"/>
              <a:t>3</a:t>
            </a:r>
            <a:r>
              <a:rPr lang="en-US" altLang="zh-CN" sz="2400" dirty="0"/>
              <a:t>)</a:t>
            </a:r>
            <a:r>
              <a:rPr lang="en-US" altLang="zh-CN" sz="2400" dirty="0">
                <a:sym typeface="Wingdings" panose="05000000000000000000" pitchFamily="2" charset="2"/>
              </a:rPr>
              <a:t>O(n)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z="2400" dirty="0">
                <a:sym typeface="Wingdings" panose="05000000000000000000" pitchFamily="2" charset="2"/>
              </a:rPr>
              <a:t>自顶向下分析方法，</a:t>
            </a:r>
            <a:r>
              <a:rPr lang="en-US" altLang="zh-CN" sz="2400" dirty="0">
                <a:solidFill>
                  <a:srgbClr val="FF3300"/>
                </a:solidFill>
                <a:sym typeface="Wingdings" panose="05000000000000000000" pitchFamily="2" charset="2"/>
              </a:rPr>
              <a:t>top-down</a:t>
            </a:r>
            <a:br>
              <a:rPr lang="en-US" altLang="zh-CN" sz="2400" dirty="0">
                <a:sym typeface="Wingdings" panose="05000000000000000000" pitchFamily="2" charset="2"/>
              </a:rPr>
            </a:br>
            <a:r>
              <a:rPr lang="zh-CN" altLang="en-US" sz="2400" dirty="0">
                <a:sym typeface="Wingdings" panose="05000000000000000000" pitchFamily="2" charset="2"/>
              </a:rPr>
              <a:t>语法树构造</a:t>
            </a:r>
            <a:r>
              <a:rPr lang="en-US" altLang="zh-CN" sz="2400" dirty="0">
                <a:sym typeface="Wingdings" panose="05000000000000000000" pitchFamily="2" charset="2"/>
              </a:rPr>
              <a:t>——</a:t>
            </a:r>
            <a:r>
              <a:rPr lang="zh-CN" altLang="en-US" sz="2400" dirty="0">
                <a:sym typeface="Wingdings" panose="05000000000000000000" pitchFamily="2" charset="2"/>
              </a:rPr>
              <a:t>由根向叶</a:t>
            </a:r>
            <a:br>
              <a:rPr lang="zh-CN" altLang="en-US" sz="2400" dirty="0">
                <a:sym typeface="Wingdings" panose="05000000000000000000" pitchFamily="2" charset="2"/>
              </a:rPr>
            </a:br>
            <a:r>
              <a:rPr lang="zh-CN" altLang="en-US" sz="2400" dirty="0">
                <a:sym typeface="Wingdings" panose="05000000000000000000" pitchFamily="2" charset="2"/>
              </a:rPr>
              <a:t>适合手工编写语法分析器</a:t>
            </a:r>
            <a:endParaRPr lang="zh-CN" altLang="en-US" sz="2400" dirty="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z="2400" dirty="0">
                <a:sym typeface="Wingdings" panose="05000000000000000000" pitchFamily="2" charset="2"/>
              </a:rPr>
              <a:t>自底向上分析方法，</a:t>
            </a:r>
            <a:r>
              <a:rPr lang="en-US" altLang="zh-CN" sz="2400" dirty="0">
                <a:solidFill>
                  <a:srgbClr val="FF3300"/>
                </a:solidFill>
                <a:sym typeface="Wingdings" panose="05000000000000000000" pitchFamily="2" charset="2"/>
              </a:rPr>
              <a:t>bottom-up</a:t>
            </a:r>
            <a:br>
              <a:rPr lang="en-US" altLang="zh-CN" sz="2400" dirty="0">
                <a:sym typeface="Wingdings" panose="05000000000000000000" pitchFamily="2" charset="2"/>
              </a:rPr>
            </a:br>
            <a:r>
              <a:rPr lang="zh-CN" altLang="en-US" sz="2400" dirty="0">
                <a:sym typeface="Wingdings" panose="05000000000000000000" pitchFamily="2" charset="2"/>
              </a:rPr>
              <a:t>语法树构造</a:t>
            </a:r>
            <a:r>
              <a:rPr lang="en-US" altLang="zh-CN" sz="2400" dirty="0">
                <a:sym typeface="Wingdings" panose="05000000000000000000" pitchFamily="2" charset="2"/>
              </a:rPr>
              <a:t>——</a:t>
            </a:r>
            <a:r>
              <a:rPr lang="zh-CN" altLang="en-US" sz="2400" dirty="0">
                <a:sym typeface="Wingdings" panose="05000000000000000000" pitchFamily="2" charset="2"/>
              </a:rPr>
              <a:t>由叶向根</a:t>
            </a:r>
            <a:br>
              <a:rPr lang="zh-CN" altLang="en-US" sz="2400" dirty="0">
                <a:sym typeface="Wingdings" panose="05000000000000000000" pitchFamily="2" charset="2"/>
              </a:rPr>
            </a:br>
            <a:r>
              <a:rPr lang="zh-CN" altLang="en-US" sz="2400" dirty="0">
                <a:sym typeface="Wingdings" panose="05000000000000000000" pitchFamily="2" charset="2"/>
              </a:rPr>
              <a:t>适用更多文法，自动生成工具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2.4.1  </a:t>
            </a:r>
            <a:r>
              <a:rPr lang="zh-CN" altLang="en-US"/>
              <a:t>自顶向下分析方法</a:t>
            </a:r>
            <a:endParaRPr lang="zh-CN" altLang="en-US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 sz="2800" dirty="0"/>
              <a:t>从根节点（标记为开始符号）开始构造语法树，不断重复以下步骤</a:t>
            </a:r>
            <a:endParaRPr lang="zh-CN" altLang="en-US" sz="2800" dirty="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对标记为</a:t>
            </a:r>
            <a:r>
              <a:rPr lang="en-US" altLang="zh-CN" sz="2800" dirty="0"/>
              <a:t>NT A</a:t>
            </a:r>
            <a:r>
              <a:rPr lang="zh-CN" altLang="en-US" sz="2800" dirty="0"/>
              <a:t>的节点</a:t>
            </a:r>
            <a:r>
              <a:rPr lang="en-US" altLang="zh-CN" sz="2800" dirty="0"/>
              <a:t>n </a:t>
            </a:r>
            <a:br>
              <a:rPr lang="en-US" altLang="zh-CN" sz="2800" dirty="0"/>
            </a:br>
            <a:r>
              <a:rPr lang="zh-CN" altLang="en-US" sz="2800" dirty="0"/>
              <a:t>选择一个关于</a:t>
            </a:r>
            <a:r>
              <a:rPr lang="en-US" altLang="zh-CN" sz="2800" dirty="0"/>
              <a:t>A</a:t>
            </a:r>
            <a:r>
              <a:rPr lang="zh-CN" altLang="en-US" sz="2800" dirty="0"/>
              <a:t>的产生式</a:t>
            </a:r>
            <a:br>
              <a:rPr lang="zh-CN" altLang="en-US" sz="2800" dirty="0"/>
            </a:br>
            <a:r>
              <a:rPr lang="zh-CN" altLang="en-US" sz="2800" dirty="0"/>
              <a:t>利用产生式右部构造</a:t>
            </a:r>
            <a:r>
              <a:rPr lang="en-US" altLang="zh-CN" sz="2800" dirty="0"/>
              <a:t>n</a:t>
            </a:r>
            <a:r>
              <a:rPr lang="zh-CN" altLang="en-US" sz="2800" dirty="0"/>
              <a:t>的孩子节点</a:t>
            </a:r>
            <a:endParaRPr lang="zh-CN" altLang="en-US" sz="2800" dirty="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选择下一个没有扩展（构造孩子节点）的节点，对它执行</a:t>
            </a:r>
            <a:r>
              <a:rPr lang="en-US" altLang="zh-CN" sz="2800" dirty="0"/>
              <a:t>1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例：</a:t>
            </a:r>
            <a:r>
              <a:rPr lang="en-US" altLang="zh-CN"/>
              <a:t>Pascal</a:t>
            </a:r>
            <a:r>
              <a:rPr lang="zh-CN" altLang="en-US"/>
              <a:t>的类型</a:t>
            </a:r>
            <a:endParaRPr lang="zh-CN" alt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i="1" dirty="0"/>
              <a:t>type </a:t>
            </a:r>
            <a:r>
              <a:rPr kumimoji="0" lang="en-US" altLang="zh-CN" sz="2800" dirty="0">
                <a:sym typeface="Symbol" panose="05050102010706020507" pitchFamily="18" charset="2"/>
              </a:rPr>
              <a:t> </a:t>
            </a:r>
            <a:r>
              <a:rPr kumimoji="0" lang="en-US" altLang="zh-CN" sz="2800" i="1" dirty="0">
                <a:sym typeface="Symbol" panose="05050102010706020507" pitchFamily="18" charset="2"/>
              </a:rPr>
              <a:t>simple</a:t>
            </a:r>
            <a:endParaRPr kumimoji="0" lang="en-US" altLang="zh-CN" sz="2800" i="1" dirty="0"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i="1" dirty="0">
                <a:sym typeface="Symbol" panose="05050102010706020507" pitchFamily="18" charset="2"/>
              </a:rPr>
              <a:t>           |  </a:t>
            </a:r>
            <a:r>
              <a:rPr kumimoji="0" lang="en-US" altLang="zh-CN" sz="2800" b="1" dirty="0">
                <a:sym typeface="Symbol" panose="05050102010706020507" pitchFamily="18" charset="2"/>
              </a:rPr>
              <a:t> id</a:t>
            </a:r>
            <a:endParaRPr kumimoji="0" lang="en-US" altLang="zh-CN" sz="2800" b="1" dirty="0"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 dirty="0">
                <a:sym typeface="Symbol" panose="05050102010706020507" pitchFamily="18" charset="2"/>
              </a:rPr>
              <a:t>           </a:t>
            </a:r>
            <a:r>
              <a:rPr kumimoji="0" lang="en-US" altLang="zh-CN" sz="2800" dirty="0">
                <a:sym typeface="Symbol" panose="05050102010706020507" pitchFamily="18" charset="2"/>
              </a:rPr>
              <a:t>| </a:t>
            </a:r>
            <a:r>
              <a:rPr kumimoji="0" lang="en-US" altLang="zh-CN" sz="2800" b="1" dirty="0">
                <a:sym typeface="Symbol" panose="05050102010706020507" pitchFamily="18" charset="2"/>
              </a:rPr>
              <a:t>array</a:t>
            </a:r>
            <a:r>
              <a:rPr kumimoji="0" lang="en-US" altLang="zh-CN" sz="2800" dirty="0">
                <a:sym typeface="Symbol" panose="05050102010706020507" pitchFamily="18" charset="2"/>
              </a:rPr>
              <a:t> [ </a:t>
            </a:r>
            <a:r>
              <a:rPr kumimoji="0" lang="en-US" altLang="zh-CN" sz="2800" i="1" dirty="0">
                <a:sym typeface="Symbol" panose="05050102010706020507" pitchFamily="18" charset="2"/>
              </a:rPr>
              <a:t>simple</a:t>
            </a:r>
            <a:r>
              <a:rPr kumimoji="0" lang="en-US" altLang="zh-CN" sz="2800" dirty="0">
                <a:sym typeface="Symbol" panose="05050102010706020507" pitchFamily="18" charset="2"/>
              </a:rPr>
              <a:t> ] </a:t>
            </a:r>
            <a:r>
              <a:rPr kumimoji="0" lang="en-US" altLang="zh-CN" sz="2800" b="1" dirty="0">
                <a:sym typeface="Symbol" panose="05050102010706020507" pitchFamily="18" charset="2"/>
              </a:rPr>
              <a:t>of</a:t>
            </a:r>
            <a:r>
              <a:rPr kumimoji="0" lang="en-US" altLang="zh-CN" sz="2800" dirty="0">
                <a:sym typeface="Symbol" panose="05050102010706020507" pitchFamily="18" charset="2"/>
              </a:rPr>
              <a:t>  </a:t>
            </a:r>
            <a:r>
              <a:rPr kumimoji="0" lang="en-US" altLang="zh-CN" sz="2800" i="1" dirty="0">
                <a:sym typeface="Symbol" panose="05050102010706020507" pitchFamily="18" charset="2"/>
              </a:rPr>
              <a:t>type</a:t>
            </a:r>
            <a:endParaRPr kumimoji="0" lang="en-US" altLang="zh-CN" sz="2800" i="1" dirty="0"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i="1" dirty="0">
                <a:sym typeface="Symbol" panose="05050102010706020507" pitchFamily="18" charset="2"/>
              </a:rPr>
              <a:t>simple </a:t>
            </a:r>
            <a:r>
              <a:rPr kumimoji="0" lang="en-US" altLang="zh-CN" sz="2800" dirty="0">
                <a:sym typeface="Symbol" panose="05050102010706020507" pitchFamily="18" charset="2"/>
              </a:rPr>
              <a:t> </a:t>
            </a:r>
            <a:r>
              <a:rPr kumimoji="0" lang="en-US" altLang="zh-CN" sz="2800" b="1" dirty="0">
                <a:sym typeface="Symbol" panose="05050102010706020507" pitchFamily="18" charset="2"/>
              </a:rPr>
              <a:t>integer</a:t>
            </a:r>
            <a:endParaRPr kumimoji="0" lang="en-US" altLang="zh-CN" sz="2800" b="1" dirty="0"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 dirty="0">
                <a:sym typeface="Symbol" panose="05050102010706020507" pitchFamily="18" charset="2"/>
              </a:rPr>
              <a:t>            </a:t>
            </a:r>
            <a:r>
              <a:rPr kumimoji="0" lang="en-US" altLang="zh-CN" sz="2800" dirty="0">
                <a:sym typeface="Symbol" panose="05050102010706020507" pitchFamily="18" charset="2"/>
              </a:rPr>
              <a:t>|</a:t>
            </a:r>
            <a:r>
              <a:rPr kumimoji="0" lang="en-US" altLang="zh-CN" sz="2800" b="1" dirty="0">
                <a:sym typeface="Symbol" panose="05050102010706020507" pitchFamily="18" charset="2"/>
              </a:rPr>
              <a:t>    char</a:t>
            </a:r>
            <a:endParaRPr kumimoji="0" lang="en-US" altLang="zh-CN" sz="2800" b="1" dirty="0"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 dirty="0">
                <a:sym typeface="Symbol" panose="05050102010706020507" pitchFamily="18" charset="2"/>
              </a:rPr>
              <a:t>            </a:t>
            </a:r>
            <a:r>
              <a:rPr kumimoji="0" lang="en-US" altLang="zh-CN" sz="2800" dirty="0">
                <a:sym typeface="Symbol" panose="05050102010706020507" pitchFamily="18" charset="2"/>
              </a:rPr>
              <a:t>| </a:t>
            </a:r>
            <a:r>
              <a:rPr kumimoji="0" lang="en-US" altLang="zh-CN" sz="2800" b="1" dirty="0">
                <a:sym typeface="Symbol" panose="05050102010706020507" pitchFamily="18" charset="2"/>
              </a:rPr>
              <a:t>   num </a:t>
            </a:r>
            <a:r>
              <a:rPr kumimoji="0" lang="en-US" altLang="zh-CN" sz="2800" b="1" dirty="0" err="1">
                <a:sym typeface="Symbol" panose="05050102010706020507" pitchFamily="18" charset="2"/>
              </a:rPr>
              <a:t>dotdot</a:t>
            </a:r>
            <a:r>
              <a:rPr kumimoji="0" lang="en-US" altLang="zh-CN" sz="2800" b="1" dirty="0">
                <a:sym typeface="Symbol" panose="05050102010706020507" pitchFamily="18" charset="2"/>
              </a:rPr>
              <a:t> num</a:t>
            </a:r>
            <a:endParaRPr lang="en-US" altLang="zh-CN" sz="2800" dirty="0"/>
          </a:p>
          <a:p>
            <a:pPr eaLnBrk="1" hangingPunct="1"/>
            <a:r>
              <a:rPr lang="en-US" altLang="zh-CN" sz="2800" dirty="0" err="1"/>
              <a:t>dotdot</a:t>
            </a:r>
            <a:r>
              <a:rPr lang="zh-CN" altLang="en-US" sz="2800" dirty="0"/>
              <a:t>，</a:t>
            </a:r>
            <a:r>
              <a:rPr lang="en-US" altLang="zh-CN" sz="2800" dirty="0">
                <a:latin typeface="Tahoma" panose="020B0604030504040204" pitchFamily="34" charset="0"/>
              </a:rPr>
              <a:t>”</a:t>
            </a:r>
            <a:r>
              <a:rPr lang="en-US" altLang="zh-CN" sz="2800" dirty="0"/>
              <a:t>..</a:t>
            </a:r>
            <a:r>
              <a:rPr lang="en-US" altLang="zh-CN" sz="2800" dirty="0">
                <a:latin typeface="Tahoma" panose="020B0604030504040204" pitchFamily="34" charset="0"/>
              </a:rPr>
              <a:t>”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语法分析树构造过程</a:t>
            </a:r>
            <a:endParaRPr lang="zh-CN" alt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609600"/>
          </a:xfrm>
        </p:spPr>
        <p:txBody>
          <a:bodyPr/>
          <a:lstStyle/>
          <a:p>
            <a:pPr eaLnBrk="1" hangingPunct="1"/>
            <a:r>
              <a:rPr lang="zh-CN" altLang="en-US"/>
              <a:t>输入：</a:t>
            </a:r>
            <a:r>
              <a:rPr kumimoji="0" lang="en-US" altLang="zh-CN" sz="2800" b="1"/>
              <a:t>array </a:t>
            </a:r>
            <a:r>
              <a:rPr kumimoji="0" lang="en-US" altLang="zh-CN" sz="2800"/>
              <a:t>[ </a:t>
            </a:r>
            <a:r>
              <a:rPr kumimoji="0" lang="en-US" altLang="zh-CN" sz="2800" b="1"/>
              <a:t>num dotdot num </a:t>
            </a:r>
            <a:r>
              <a:rPr kumimoji="0" lang="en-US" altLang="zh-CN" sz="2800"/>
              <a:t>] </a:t>
            </a:r>
            <a:r>
              <a:rPr kumimoji="0" lang="en-US" altLang="zh-CN" sz="2800" b="1"/>
              <a:t>of integer</a:t>
            </a:r>
            <a:endParaRPr kumimoji="0" lang="en-US" altLang="zh-CN" sz="2800" b="1"/>
          </a:p>
        </p:txBody>
      </p:sp>
      <p:sp>
        <p:nvSpPr>
          <p:cNvPr id="70660" name="Rectangle 4"/>
          <p:cNvSpPr>
            <a:spLocks noChangeArrowheads="1"/>
          </p:cNvSpPr>
          <p:nvPr/>
        </p:nvSpPr>
        <p:spPr bwMode="auto">
          <a:xfrm>
            <a:off x="4495800" y="2057400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i="1"/>
              <a:t>type</a:t>
            </a:r>
            <a:endParaRPr kumimoji="0" lang="en-US" altLang="zh-CN" sz="2800" i="1"/>
          </a:p>
        </p:txBody>
      </p:sp>
      <p:sp>
        <p:nvSpPr>
          <p:cNvPr id="70661" name="Rectangle 5"/>
          <p:cNvSpPr>
            <a:spLocks noChangeArrowheads="1"/>
          </p:cNvSpPr>
          <p:nvPr/>
        </p:nvSpPr>
        <p:spPr bwMode="auto">
          <a:xfrm>
            <a:off x="1219200" y="2057400"/>
            <a:ext cx="7620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latin typeface="Tahoma" panose="020B0604030504040204" pitchFamily="34" charset="0"/>
              </a:rPr>
              <a:t>(a)</a:t>
            </a:r>
            <a:endParaRPr kumimoji="0" lang="en-US" altLang="zh-CN"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latin typeface="Tahoma" panose="020B0604030504040204" pitchFamily="34" charset="0"/>
              </a:rPr>
              <a:t>(b)</a:t>
            </a:r>
            <a:endParaRPr kumimoji="0" lang="en-US" altLang="zh-CN"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kumimoji="0" lang="en-US" altLang="zh-CN"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kumimoji="0" lang="en-US" altLang="zh-CN" sz="2800" b="1"/>
          </a:p>
        </p:txBody>
      </p:sp>
      <p:grpSp>
        <p:nvGrpSpPr>
          <p:cNvPr id="70662" name="Group 35"/>
          <p:cNvGrpSpPr/>
          <p:nvPr/>
        </p:nvGrpSpPr>
        <p:grpSpPr bwMode="auto">
          <a:xfrm>
            <a:off x="2133600" y="2590800"/>
            <a:ext cx="6324600" cy="1568450"/>
            <a:chOff x="1584" y="1920"/>
            <a:chExt cx="2256" cy="431"/>
          </a:xfrm>
        </p:grpSpPr>
        <p:sp>
          <p:nvSpPr>
            <p:cNvPr id="70663" name="Text Box 22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type</a:t>
              </a:r>
              <a:endParaRPr kumimoji="0" lang="en-US" altLang="zh-CN" sz="2800" i="1"/>
            </a:p>
          </p:txBody>
        </p:sp>
        <p:sp>
          <p:nvSpPr>
            <p:cNvPr id="70664" name="Text Box 23"/>
            <p:cNvSpPr txBox="1">
              <a:spLocks noChangeArrowheads="1"/>
            </p:cNvSpPr>
            <p:nvPr/>
          </p:nvSpPr>
          <p:spPr bwMode="auto">
            <a:xfrm>
              <a:off x="2784" y="2208"/>
              <a:ext cx="720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]</a:t>
              </a:r>
              <a:endParaRPr kumimoji="0" lang="en-US" altLang="zh-CN" sz="2800"/>
            </a:p>
          </p:txBody>
        </p:sp>
        <p:sp>
          <p:nvSpPr>
            <p:cNvPr id="70665" name="Text Box 24"/>
            <p:cNvSpPr txBox="1">
              <a:spLocks noChangeArrowheads="1"/>
            </p:cNvSpPr>
            <p:nvPr/>
          </p:nvSpPr>
          <p:spPr bwMode="auto">
            <a:xfrm>
              <a:off x="2256" y="2208"/>
              <a:ext cx="720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simple</a:t>
              </a:r>
              <a:endParaRPr kumimoji="0" lang="en-US" altLang="zh-CN" sz="2800" i="1"/>
            </a:p>
          </p:txBody>
        </p:sp>
        <p:sp>
          <p:nvSpPr>
            <p:cNvPr id="70666" name="Text Box 25"/>
            <p:cNvSpPr txBox="1">
              <a:spLocks noChangeArrowheads="1"/>
            </p:cNvSpPr>
            <p:nvPr/>
          </p:nvSpPr>
          <p:spPr bwMode="auto">
            <a:xfrm>
              <a:off x="3120" y="2208"/>
              <a:ext cx="720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of</a:t>
              </a:r>
              <a:endParaRPr kumimoji="0" lang="en-US" altLang="zh-CN" sz="2800" b="1"/>
            </a:p>
          </p:txBody>
        </p:sp>
        <p:sp>
          <p:nvSpPr>
            <p:cNvPr id="70667" name="Text Box 26"/>
            <p:cNvSpPr txBox="1">
              <a:spLocks noChangeArrowheads="1"/>
            </p:cNvSpPr>
            <p:nvPr/>
          </p:nvSpPr>
          <p:spPr bwMode="auto">
            <a:xfrm>
              <a:off x="2016" y="2208"/>
              <a:ext cx="720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[</a:t>
              </a:r>
              <a:endParaRPr kumimoji="0" lang="en-US" altLang="zh-CN" sz="2800"/>
            </a:p>
          </p:txBody>
        </p:sp>
        <p:sp>
          <p:nvSpPr>
            <p:cNvPr id="70668" name="Text Box 27"/>
            <p:cNvSpPr txBox="1">
              <a:spLocks noChangeArrowheads="1"/>
            </p:cNvSpPr>
            <p:nvPr/>
          </p:nvSpPr>
          <p:spPr bwMode="auto">
            <a:xfrm>
              <a:off x="1584" y="2208"/>
              <a:ext cx="720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array</a:t>
              </a:r>
              <a:endParaRPr kumimoji="0" lang="en-US" altLang="zh-CN" sz="2800" b="1"/>
            </a:p>
          </p:txBody>
        </p:sp>
        <p:sp>
          <p:nvSpPr>
            <p:cNvPr id="70669" name="Text Box 28"/>
            <p:cNvSpPr txBox="1">
              <a:spLocks noChangeArrowheads="1"/>
            </p:cNvSpPr>
            <p:nvPr/>
          </p:nvSpPr>
          <p:spPr bwMode="auto">
            <a:xfrm>
              <a:off x="2496" y="1920"/>
              <a:ext cx="720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type</a:t>
              </a:r>
              <a:endParaRPr kumimoji="0" lang="en-US" altLang="zh-CN" sz="2800" i="1"/>
            </a:p>
          </p:txBody>
        </p:sp>
        <p:sp>
          <p:nvSpPr>
            <p:cNvPr id="70670" name="Line 29"/>
            <p:cNvSpPr>
              <a:spLocks noChangeShapeType="1"/>
            </p:cNvSpPr>
            <p:nvPr/>
          </p:nvSpPr>
          <p:spPr bwMode="auto">
            <a:xfrm flipH="1">
              <a:off x="2448" y="2112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1" name="Line 30"/>
            <p:cNvSpPr>
              <a:spLocks noChangeShapeType="1"/>
            </p:cNvSpPr>
            <p:nvPr/>
          </p:nvSpPr>
          <p:spPr bwMode="auto">
            <a:xfrm>
              <a:off x="2736" y="2112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2" name="Line 31"/>
            <p:cNvSpPr>
              <a:spLocks noChangeShapeType="1"/>
            </p:cNvSpPr>
            <p:nvPr/>
          </p:nvSpPr>
          <p:spPr bwMode="auto">
            <a:xfrm>
              <a:off x="2784" y="2064"/>
              <a:ext cx="43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3" name="Line 32"/>
            <p:cNvSpPr>
              <a:spLocks noChangeShapeType="1"/>
            </p:cNvSpPr>
            <p:nvPr/>
          </p:nvSpPr>
          <p:spPr bwMode="auto">
            <a:xfrm>
              <a:off x="2784" y="2016"/>
              <a:ext cx="76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4" name="Line 33"/>
            <p:cNvSpPr>
              <a:spLocks noChangeShapeType="1"/>
            </p:cNvSpPr>
            <p:nvPr/>
          </p:nvSpPr>
          <p:spPr bwMode="auto">
            <a:xfrm flipH="1">
              <a:off x="1824" y="2064"/>
              <a:ext cx="67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5" name="Line 34"/>
            <p:cNvSpPr>
              <a:spLocks noChangeShapeType="1"/>
            </p:cNvSpPr>
            <p:nvPr/>
          </p:nvSpPr>
          <p:spPr bwMode="auto">
            <a:xfrm flipH="1">
              <a:off x="2160" y="2112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语法分析树构造过程</a:t>
            </a:r>
            <a:endParaRPr lang="zh-CN" altLang="en-US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609600"/>
          </a:xfrm>
        </p:spPr>
        <p:txBody>
          <a:bodyPr/>
          <a:lstStyle/>
          <a:p>
            <a:pPr eaLnBrk="1" hangingPunct="1"/>
            <a:r>
              <a:rPr lang="zh-CN" altLang="en-US"/>
              <a:t>输入：</a:t>
            </a:r>
            <a:r>
              <a:rPr kumimoji="0" lang="en-US" altLang="zh-CN" sz="2800" b="1"/>
              <a:t>array </a:t>
            </a:r>
            <a:r>
              <a:rPr kumimoji="0" lang="en-US" altLang="zh-CN" sz="2800"/>
              <a:t>[ </a:t>
            </a:r>
            <a:r>
              <a:rPr kumimoji="0" lang="en-US" altLang="zh-CN" sz="2800" b="1"/>
              <a:t>num dotdot num </a:t>
            </a:r>
            <a:r>
              <a:rPr kumimoji="0" lang="en-US" altLang="zh-CN" sz="2800"/>
              <a:t>] </a:t>
            </a:r>
            <a:r>
              <a:rPr kumimoji="0" lang="en-US" altLang="zh-CN" sz="2800" b="1"/>
              <a:t>of integer</a:t>
            </a:r>
            <a:endParaRPr kumimoji="0" lang="en-US" altLang="zh-CN" sz="2800" b="1"/>
          </a:p>
        </p:txBody>
      </p:sp>
      <p:sp>
        <p:nvSpPr>
          <p:cNvPr id="71684" name="Rectangle 5"/>
          <p:cNvSpPr>
            <a:spLocks noChangeArrowheads="1"/>
          </p:cNvSpPr>
          <p:nvPr/>
        </p:nvSpPr>
        <p:spPr bwMode="auto">
          <a:xfrm>
            <a:off x="1219200" y="2057400"/>
            <a:ext cx="7620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latin typeface="Tahoma" panose="020B0604030504040204" pitchFamily="34" charset="0"/>
              </a:rPr>
              <a:t>(c)</a:t>
            </a:r>
            <a:endParaRPr kumimoji="0" lang="en-US" altLang="zh-CN" sz="2800" b="1"/>
          </a:p>
        </p:txBody>
      </p:sp>
      <p:grpSp>
        <p:nvGrpSpPr>
          <p:cNvPr id="71685" name="Group 20"/>
          <p:cNvGrpSpPr/>
          <p:nvPr/>
        </p:nvGrpSpPr>
        <p:grpSpPr bwMode="auto">
          <a:xfrm>
            <a:off x="2133600" y="1992313"/>
            <a:ext cx="6400800" cy="2198687"/>
            <a:chOff x="1392" y="2784"/>
            <a:chExt cx="2256" cy="817"/>
          </a:xfrm>
        </p:grpSpPr>
        <p:sp>
          <p:nvSpPr>
            <p:cNvPr id="71686" name="Text Box 21"/>
            <p:cNvSpPr txBox="1">
              <a:spLocks noChangeArrowheads="1"/>
            </p:cNvSpPr>
            <p:nvPr/>
          </p:nvSpPr>
          <p:spPr bwMode="auto">
            <a:xfrm>
              <a:off x="3264" y="3072"/>
              <a:ext cx="33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type</a:t>
              </a:r>
              <a:endParaRPr kumimoji="0" lang="en-US" altLang="zh-CN" sz="2800" i="1"/>
            </a:p>
          </p:txBody>
        </p:sp>
        <p:sp>
          <p:nvSpPr>
            <p:cNvPr id="71687" name="Text Box 22"/>
            <p:cNvSpPr txBox="1">
              <a:spLocks noChangeArrowheads="1"/>
            </p:cNvSpPr>
            <p:nvPr/>
          </p:nvSpPr>
          <p:spPr bwMode="auto">
            <a:xfrm>
              <a:off x="2592" y="3072"/>
              <a:ext cx="720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]</a:t>
              </a:r>
              <a:endParaRPr kumimoji="0" lang="en-US" altLang="zh-CN" sz="2800"/>
            </a:p>
          </p:txBody>
        </p:sp>
        <p:sp>
          <p:nvSpPr>
            <p:cNvPr id="71688" name="Text Box 23"/>
            <p:cNvSpPr txBox="1">
              <a:spLocks noChangeArrowheads="1"/>
            </p:cNvSpPr>
            <p:nvPr/>
          </p:nvSpPr>
          <p:spPr bwMode="auto">
            <a:xfrm>
              <a:off x="2064" y="3072"/>
              <a:ext cx="720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simple</a:t>
              </a:r>
              <a:endParaRPr kumimoji="0" lang="en-US" altLang="zh-CN" sz="2800" i="1"/>
            </a:p>
          </p:txBody>
        </p:sp>
        <p:sp>
          <p:nvSpPr>
            <p:cNvPr id="71689" name="Text Box 24"/>
            <p:cNvSpPr txBox="1">
              <a:spLocks noChangeArrowheads="1"/>
            </p:cNvSpPr>
            <p:nvPr/>
          </p:nvSpPr>
          <p:spPr bwMode="auto">
            <a:xfrm>
              <a:off x="2928" y="3072"/>
              <a:ext cx="720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of</a:t>
              </a:r>
              <a:endParaRPr kumimoji="0" lang="en-US" altLang="zh-CN" sz="2800" b="1"/>
            </a:p>
          </p:txBody>
        </p:sp>
        <p:sp>
          <p:nvSpPr>
            <p:cNvPr id="71690" name="Text Box 25"/>
            <p:cNvSpPr txBox="1">
              <a:spLocks noChangeArrowheads="1"/>
            </p:cNvSpPr>
            <p:nvPr/>
          </p:nvSpPr>
          <p:spPr bwMode="auto">
            <a:xfrm>
              <a:off x="1824" y="3072"/>
              <a:ext cx="720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[</a:t>
              </a:r>
              <a:endParaRPr kumimoji="0" lang="en-US" altLang="zh-CN" sz="2800"/>
            </a:p>
          </p:txBody>
        </p:sp>
        <p:sp>
          <p:nvSpPr>
            <p:cNvPr id="71691" name="Text Box 26"/>
            <p:cNvSpPr txBox="1">
              <a:spLocks noChangeArrowheads="1"/>
            </p:cNvSpPr>
            <p:nvPr/>
          </p:nvSpPr>
          <p:spPr bwMode="auto">
            <a:xfrm>
              <a:off x="1392" y="3072"/>
              <a:ext cx="720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array</a:t>
              </a:r>
              <a:endParaRPr kumimoji="0" lang="en-US" altLang="zh-CN" sz="2800" b="1"/>
            </a:p>
          </p:txBody>
        </p:sp>
        <p:sp>
          <p:nvSpPr>
            <p:cNvPr id="71692" name="Text Box 27"/>
            <p:cNvSpPr txBox="1">
              <a:spLocks noChangeArrowheads="1"/>
            </p:cNvSpPr>
            <p:nvPr/>
          </p:nvSpPr>
          <p:spPr bwMode="auto">
            <a:xfrm>
              <a:off x="2304" y="2784"/>
              <a:ext cx="720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type</a:t>
              </a:r>
              <a:endParaRPr kumimoji="0" lang="en-US" altLang="zh-CN" sz="2800" i="1"/>
            </a:p>
          </p:txBody>
        </p:sp>
        <p:sp>
          <p:nvSpPr>
            <p:cNvPr id="71693" name="Line 28"/>
            <p:cNvSpPr>
              <a:spLocks noChangeShapeType="1"/>
            </p:cNvSpPr>
            <p:nvPr/>
          </p:nvSpPr>
          <p:spPr bwMode="auto">
            <a:xfrm flipH="1">
              <a:off x="2256" y="2976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4" name="Line 29"/>
            <p:cNvSpPr>
              <a:spLocks noChangeShapeType="1"/>
            </p:cNvSpPr>
            <p:nvPr/>
          </p:nvSpPr>
          <p:spPr bwMode="auto">
            <a:xfrm>
              <a:off x="2544" y="297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5" name="Line 30"/>
            <p:cNvSpPr>
              <a:spLocks noChangeShapeType="1"/>
            </p:cNvSpPr>
            <p:nvPr/>
          </p:nvSpPr>
          <p:spPr bwMode="auto">
            <a:xfrm>
              <a:off x="2592" y="2928"/>
              <a:ext cx="43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6" name="Line 31"/>
            <p:cNvSpPr>
              <a:spLocks noChangeShapeType="1"/>
            </p:cNvSpPr>
            <p:nvPr/>
          </p:nvSpPr>
          <p:spPr bwMode="auto">
            <a:xfrm>
              <a:off x="2592" y="2880"/>
              <a:ext cx="76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7" name="Line 32"/>
            <p:cNvSpPr>
              <a:spLocks noChangeShapeType="1"/>
            </p:cNvSpPr>
            <p:nvPr/>
          </p:nvSpPr>
          <p:spPr bwMode="auto">
            <a:xfrm flipH="1">
              <a:off x="1632" y="2928"/>
              <a:ext cx="67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8" name="Line 33"/>
            <p:cNvSpPr>
              <a:spLocks noChangeShapeType="1"/>
            </p:cNvSpPr>
            <p:nvPr/>
          </p:nvSpPr>
          <p:spPr bwMode="auto">
            <a:xfrm flipH="1">
              <a:off x="1968" y="2976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9" name="Text Box 34"/>
            <p:cNvSpPr txBox="1">
              <a:spLocks noChangeArrowheads="1"/>
            </p:cNvSpPr>
            <p:nvPr/>
          </p:nvSpPr>
          <p:spPr bwMode="auto">
            <a:xfrm>
              <a:off x="2544" y="3408"/>
              <a:ext cx="672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num</a:t>
              </a:r>
              <a:endParaRPr kumimoji="0" lang="en-US" altLang="zh-CN" sz="2800" b="1"/>
            </a:p>
          </p:txBody>
        </p:sp>
        <p:sp>
          <p:nvSpPr>
            <p:cNvPr id="71700" name="Text Box 35"/>
            <p:cNvSpPr txBox="1">
              <a:spLocks noChangeArrowheads="1"/>
            </p:cNvSpPr>
            <p:nvPr/>
          </p:nvSpPr>
          <p:spPr bwMode="auto">
            <a:xfrm>
              <a:off x="1680" y="3408"/>
              <a:ext cx="672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num</a:t>
              </a:r>
              <a:endParaRPr kumimoji="0" lang="en-US" altLang="zh-CN" sz="2800" b="1"/>
            </a:p>
          </p:txBody>
        </p:sp>
        <p:sp>
          <p:nvSpPr>
            <p:cNvPr id="71701" name="Text Box 36"/>
            <p:cNvSpPr txBox="1">
              <a:spLocks noChangeArrowheads="1"/>
            </p:cNvSpPr>
            <p:nvPr/>
          </p:nvSpPr>
          <p:spPr bwMode="auto">
            <a:xfrm>
              <a:off x="2064" y="3408"/>
              <a:ext cx="672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dotdot</a:t>
              </a:r>
              <a:endParaRPr kumimoji="0" lang="en-US" altLang="zh-CN" sz="2800" b="1"/>
            </a:p>
          </p:txBody>
        </p:sp>
        <p:sp>
          <p:nvSpPr>
            <p:cNvPr id="71702" name="Line 37"/>
            <p:cNvSpPr>
              <a:spLocks noChangeShapeType="1"/>
            </p:cNvSpPr>
            <p:nvPr/>
          </p:nvSpPr>
          <p:spPr bwMode="auto">
            <a:xfrm flipH="1">
              <a:off x="2256" y="3312"/>
              <a:ext cx="4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3" name="Line 38"/>
            <p:cNvSpPr>
              <a:spLocks noChangeShapeType="1"/>
            </p:cNvSpPr>
            <p:nvPr/>
          </p:nvSpPr>
          <p:spPr bwMode="auto">
            <a:xfrm>
              <a:off x="2400" y="3264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4" name="Line 39"/>
            <p:cNvSpPr>
              <a:spLocks noChangeShapeType="1"/>
            </p:cNvSpPr>
            <p:nvPr/>
          </p:nvSpPr>
          <p:spPr bwMode="auto">
            <a:xfrm flipH="1">
              <a:off x="1872" y="3264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语法分析树构造过程（续）</a:t>
            </a:r>
            <a:endParaRPr lang="zh-CN" altLang="en-US"/>
          </a:p>
        </p:txBody>
      </p:sp>
      <p:grpSp>
        <p:nvGrpSpPr>
          <p:cNvPr id="72707" name="Group 26"/>
          <p:cNvGrpSpPr/>
          <p:nvPr/>
        </p:nvGrpSpPr>
        <p:grpSpPr bwMode="auto">
          <a:xfrm>
            <a:off x="2133600" y="1306513"/>
            <a:ext cx="6400800" cy="2198687"/>
            <a:chOff x="1344" y="823"/>
            <a:chExt cx="4032" cy="1385"/>
          </a:xfrm>
        </p:grpSpPr>
        <p:sp>
          <p:nvSpPr>
            <p:cNvPr id="72709" name="Text Box 5"/>
            <p:cNvSpPr txBox="1">
              <a:spLocks noChangeArrowheads="1"/>
            </p:cNvSpPr>
            <p:nvPr/>
          </p:nvSpPr>
          <p:spPr bwMode="auto">
            <a:xfrm>
              <a:off x="4690" y="1311"/>
              <a:ext cx="60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type</a:t>
              </a:r>
              <a:endParaRPr kumimoji="0" lang="en-US" altLang="zh-CN" sz="2800" i="1"/>
            </a:p>
          </p:txBody>
        </p:sp>
        <p:sp>
          <p:nvSpPr>
            <p:cNvPr id="72710" name="Text Box 6"/>
            <p:cNvSpPr txBox="1">
              <a:spLocks noChangeArrowheads="1"/>
            </p:cNvSpPr>
            <p:nvPr/>
          </p:nvSpPr>
          <p:spPr bwMode="auto">
            <a:xfrm>
              <a:off x="3489" y="1311"/>
              <a:ext cx="128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]</a:t>
              </a:r>
              <a:endParaRPr kumimoji="0" lang="en-US" altLang="zh-CN" sz="2800"/>
            </a:p>
          </p:txBody>
        </p:sp>
        <p:sp>
          <p:nvSpPr>
            <p:cNvPr id="72711" name="Text Box 7"/>
            <p:cNvSpPr txBox="1">
              <a:spLocks noChangeArrowheads="1"/>
            </p:cNvSpPr>
            <p:nvPr/>
          </p:nvSpPr>
          <p:spPr bwMode="auto">
            <a:xfrm>
              <a:off x="2545" y="1311"/>
              <a:ext cx="12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simple</a:t>
              </a:r>
              <a:endParaRPr kumimoji="0" lang="en-US" altLang="zh-CN" sz="2800" i="1"/>
            </a:p>
          </p:txBody>
        </p:sp>
        <p:sp>
          <p:nvSpPr>
            <p:cNvPr id="72712" name="Text Box 8"/>
            <p:cNvSpPr txBox="1">
              <a:spLocks noChangeArrowheads="1"/>
            </p:cNvSpPr>
            <p:nvPr/>
          </p:nvSpPr>
          <p:spPr bwMode="auto">
            <a:xfrm>
              <a:off x="4089" y="1311"/>
              <a:ext cx="12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of</a:t>
              </a:r>
              <a:endParaRPr kumimoji="0" lang="en-US" altLang="zh-CN" sz="2800" b="1"/>
            </a:p>
          </p:txBody>
        </p:sp>
        <p:sp>
          <p:nvSpPr>
            <p:cNvPr id="72713" name="Text Box 9"/>
            <p:cNvSpPr txBox="1">
              <a:spLocks noChangeArrowheads="1"/>
            </p:cNvSpPr>
            <p:nvPr/>
          </p:nvSpPr>
          <p:spPr bwMode="auto">
            <a:xfrm>
              <a:off x="2116" y="1311"/>
              <a:ext cx="12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[</a:t>
              </a:r>
              <a:endParaRPr kumimoji="0" lang="en-US" altLang="zh-CN" sz="2800"/>
            </a:p>
          </p:txBody>
        </p:sp>
        <p:sp>
          <p:nvSpPr>
            <p:cNvPr id="72714" name="Text Box 10"/>
            <p:cNvSpPr txBox="1">
              <a:spLocks noChangeArrowheads="1"/>
            </p:cNvSpPr>
            <p:nvPr/>
          </p:nvSpPr>
          <p:spPr bwMode="auto">
            <a:xfrm>
              <a:off x="1344" y="1311"/>
              <a:ext cx="12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array</a:t>
              </a:r>
              <a:endParaRPr kumimoji="0" lang="en-US" altLang="zh-CN" sz="2800" b="1"/>
            </a:p>
          </p:txBody>
        </p:sp>
        <p:sp>
          <p:nvSpPr>
            <p:cNvPr id="72715" name="Text Box 11"/>
            <p:cNvSpPr txBox="1">
              <a:spLocks noChangeArrowheads="1"/>
            </p:cNvSpPr>
            <p:nvPr/>
          </p:nvSpPr>
          <p:spPr bwMode="auto">
            <a:xfrm>
              <a:off x="2974" y="823"/>
              <a:ext cx="12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type</a:t>
              </a:r>
              <a:endParaRPr kumimoji="0" lang="en-US" altLang="zh-CN" sz="2800" i="1"/>
            </a:p>
          </p:txBody>
        </p:sp>
        <p:sp>
          <p:nvSpPr>
            <p:cNvPr id="72716" name="Line 12"/>
            <p:cNvSpPr>
              <a:spLocks noChangeShapeType="1"/>
            </p:cNvSpPr>
            <p:nvPr/>
          </p:nvSpPr>
          <p:spPr bwMode="auto">
            <a:xfrm flipH="1">
              <a:off x="2888" y="1148"/>
              <a:ext cx="258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17" name="Line 13"/>
            <p:cNvSpPr>
              <a:spLocks noChangeShapeType="1"/>
            </p:cNvSpPr>
            <p:nvPr/>
          </p:nvSpPr>
          <p:spPr bwMode="auto">
            <a:xfrm>
              <a:off x="3403" y="1148"/>
              <a:ext cx="171" cy="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18" name="Line 14"/>
            <p:cNvSpPr>
              <a:spLocks noChangeShapeType="1"/>
            </p:cNvSpPr>
            <p:nvPr/>
          </p:nvSpPr>
          <p:spPr bwMode="auto">
            <a:xfrm>
              <a:off x="3489" y="1067"/>
              <a:ext cx="772" cy="3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19" name="Line 15"/>
            <p:cNvSpPr>
              <a:spLocks noChangeShapeType="1"/>
            </p:cNvSpPr>
            <p:nvPr/>
          </p:nvSpPr>
          <p:spPr bwMode="auto">
            <a:xfrm>
              <a:off x="3489" y="986"/>
              <a:ext cx="1372" cy="4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0" name="Line 16"/>
            <p:cNvSpPr>
              <a:spLocks noChangeShapeType="1"/>
            </p:cNvSpPr>
            <p:nvPr/>
          </p:nvSpPr>
          <p:spPr bwMode="auto">
            <a:xfrm flipH="1">
              <a:off x="1773" y="1067"/>
              <a:ext cx="1201" cy="3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1" name="Line 17"/>
            <p:cNvSpPr>
              <a:spLocks noChangeShapeType="1"/>
            </p:cNvSpPr>
            <p:nvPr/>
          </p:nvSpPr>
          <p:spPr bwMode="auto">
            <a:xfrm flipH="1">
              <a:off x="2373" y="1148"/>
              <a:ext cx="601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2" name="Text Box 18"/>
            <p:cNvSpPr txBox="1">
              <a:spLocks noChangeArrowheads="1"/>
            </p:cNvSpPr>
            <p:nvPr/>
          </p:nvSpPr>
          <p:spPr bwMode="auto">
            <a:xfrm>
              <a:off x="3403" y="1881"/>
              <a:ext cx="120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num</a:t>
              </a:r>
              <a:endParaRPr kumimoji="0" lang="en-US" altLang="zh-CN" sz="2800" b="1"/>
            </a:p>
          </p:txBody>
        </p:sp>
        <p:sp>
          <p:nvSpPr>
            <p:cNvPr id="72723" name="Text Box 19"/>
            <p:cNvSpPr txBox="1">
              <a:spLocks noChangeArrowheads="1"/>
            </p:cNvSpPr>
            <p:nvPr/>
          </p:nvSpPr>
          <p:spPr bwMode="auto">
            <a:xfrm>
              <a:off x="1859" y="1881"/>
              <a:ext cx="120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num</a:t>
              </a:r>
              <a:endParaRPr kumimoji="0" lang="en-US" altLang="zh-CN" sz="2800" b="1"/>
            </a:p>
          </p:txBody>
        </p:sp>
        <p:sp>
          <p:nvSpPr>
            <p:cNvPr id="72724" name="Text Box 20"/>
            <p:cNvSpPr txBox="1">
              <a:spLocks noChangeArrowheads="1"/>
            </p:cNvSpPr>
            <p:nvPr/>
          </p:nvSpPr>
          <p:spPr bwMode="auto">
            <a:xfrm>
              <a:off x="2545" y="1881"/>
              <a:ext cx="120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dotdot</a:t>
              </a:r>
              <a:endParaRPr kumimoji="0" lang="en-US" altLang="zh-CN" sz="2800" b="1"/>
            </a:p>
          </p:txBody>
        </p:sp>
        <p:sp>
          <p:nvSpPr>
            <p:cNvPr id="72725" name="Line 21"/>
            <p:cNvSpPr>
              <a:spLocks noChangeShapeType="1"/>
            </p:cNvSpPr>
            <p:nvPr/>
          </p:nvSpPr>
          <p:spPr bwMode="auto">
            <a:xfrm flipH="1">
              <a:off x="2888" y="1718"/>
              <a:ext cx="86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6" name="Line 22"/>
            <p:cNvSpPr>
              <a:spLocks noChangeShapeType="1"/>
            </p:cNvSpPr>
            <p:nvPr/>
          </p:nvSpPr>
          <p:spPr bwMode="auto">
            <a:xfrm>
              <a:off x="3146" y="1637"/>
              <a:ext cx="514" cy="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7" name="Line 23"/>
            <p:cNvSpPr>
              <a:spLocks noChangeShapeType="1"/>
            </p:cNvSpPr>
            <p:nvPr/>
          </p:nvSpPr>
          <p:spPr bwMode="auto">
            <a:xfrm flipH="1">
              <a:off x="2202" y="1637"/>
              <a:ext cx="515" cy="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8" name="Text Box 24"/>
            <p:cNvSpPr txBox="1">
              <a:spLocks noChangeArrowheads="1"/>
            </p:cNvSpPr>
            <p:nvPr/>
          </p:nvSpPr>
          <p:spPr bwMode="auto">
            <a:xfrm>
              <a:off x="4608" y="1881"/>
              <a:ext cx="7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simple</a:t>
              </a:r>
              <a:endParaRPr kumimoji="0" lang="en-US" altLang="zh-CN" sz="2800" i="1"/>
            </a:p>
          </p:txBody>
        </p:sp>
        <p:sp>
          <p:nvSpPr>
            <p:cNvPr id="72729" name="Line 25"/>
            <p:cNvSpPr>
              <a:spLocks noChangeShapeType="1"/>
            </p:cNvSpPr>
            <p:nvPr/>
          </p:nvSpPr>
          <p:spPr bwMode="auto">
            <a:xfrm>
              <a:off x="4896" y="16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2708" name="Rectangle 52"/>
          <p:cNvSpPr>
            <a:spLocks noChangeArrowheads="1"/>
          </p:cNvSpPr>
          <p:nvPr/>
        </p:nvSpPr>
        <p:spPr bwMode="auto">
          <a:xfrm>
            <a:off x="1219200" y="1371600"/>
            <a:ext cx="7620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latin typeface="Tahoma" panose="020B0604030504040204" pitchFamily="34" charset="0"/>
              </a:rPr>
              <a:t>(d)</a:t>
            </a:r>
            <a:br>
              <a:rPr kumimoji="0" lang="en-US" altLang="zh-CN">
                <a:latin typeface="Tahoma" panose="020B0604030504040204" pitchFamily="34" charset="0"/>
              </a:rPr>
            </a:br>
            <a:br>
              <a:rPr kumimoji="0" lang="en-US" altLang="zh-CN">
                <a:latin typeface="Tahoma" panose="020B0604030504040204" pitchFamily="34" charset="0"/>
              </a:rPr>
            </a:br>
            <a:br>
              <a:rPr kumimoji="0" lang="en-US" altLang="zh-CN">
                <a:latin typeface="Tahoma" panose="020B0604030504040204" pitchFamily="34" charset="0"/>
              </a:rPr>
            </a:br>
            <a:endParaRPr kumimoji="0" lang="en-US" altLang="zh-CN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语法分析树构造过程（续）</a:t>
            </a:r>
            <a:endParaRPr lang="zh-CN" altLang="en-US"/>
          </a:p>
        </p:txBody>
      </p:sp>
      <p:grpSp>
        <p:nvGrpSpPr>
          <p:cNvPr id="73731" name="Group 25"/>
          <p:cNvGrpSpPr/>
          <p:nvPr/>
        </p:nvGrpSpPr>
        <p:grpSpPr bwMode="auto">
          <a:xfrm>
            <a:off x="2133600" y="1371600"/>
            <a:ext cx="6477000" cy="2971800"/>
            <a:chOff x="1344" y="2160"/>
            <a:chExt cx="4080" cy="1872"/>
          </a:xfrm>
        </p:grpSpPr>
        <p:sp>
          <p:nvSpPr>
            <p:cNvPr id="73733" name="Text Box 26"/>
            <p:cNvSpPr txBox="1">
              <a:spLocks noChangeArrowheads="1"/>
            </p:cNvSpPr>
            <p:nvPr/>
          </p:nvSpPr>
          <p:spPr bwMode="auto">
            <a:xfrm>
              <a:off x="4690" y="2648"/>
              <a:ext cx="60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type</a:t>
              </a:r>
              <a:endParaRPr kumimoji="0" lang="en-US" altLang="zh-CN" sz="2800" i="1"/>
            </a:p>
          </p:txBody>
        </p:sp>
        <p:sp>
          <p:nvSpPr>
            <p:cNvPr id="73734" name="Text Box 27"/>
            <p:cNvSpPr txBox="1">
              <a:spLocks noChangeArrowheads="1"/>
            </p:cNvSpPr>
            <p:nvPr/>
          </p:nvSpPr>
          <p:spPr bwMode="auto">
            <a:xfrm>
              <a:off x="3489" y="2648"/>
              <a:ext cx="128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]</a:t>
              </a:r>
              <a:endParaRPr kumimoji="0" lang="en-US" altLang="zh-CN" sz="2800"/>
            </a:p>
          </p:txBody>
        </p:sp>
        <p:sp>
          <p:nvSpPr>
            <p:cNvPr id="73735" name="Text Box 28"/>
            <p:cNvSpPr txBox="1">
              <a:spLocks noChangeArrowheads="1"/>
            </p:cNvSpPr>
            <p:nvPr/>
          </p:nvSpPr>
          <p:spPr bwMode="auto">
            <a:xfrm>
              <a:off x="2545" y="2648"/>
              <a:ext cx="12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simple</a:t>
              </a:r>
              <a:endParaRPr kumimoji="0" lang="en-US" altLang="zh-CN" sz="2800" i="1"/>
            </a:p>
          </p:txBody>
        </p:sp>
        <p:sp>
          <p:nvSpPr>
            <p:cNvPr id="73736" name="Text Box 29"/>
            <p:cNvSpPr txBox="1">
              <a:spLocks noChangeArrowheads="1"/>
            </p:cNvSpPr>
            <p:nvPr/>
          </p:nvSpPr>
          <p:spPr bwMode="auto">
            <a:xfrm>
              <a:off x="4089" y="2648"/>
              <a:ext cx="12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of</a:t>
              </a:r>
              <a:endParaRPr kumimoji="0" lang="en-US" altLang="zh-CN" sz="2800" b="1"/>
            </a:p>
          </p:txBody>
        </p:sp>
        <p:sp>
          <p:nvSpPr>
            <p:cNvPr id="73737" name="Text Box 30"/>
            <p:cNvSpPr txBox="1">
              <a:spLocks noChangeArrowheads="1"/>
            </p:cNvSpPr>
            <p:nvPr/>
          </p:nvSpPr>
          <p:spPr bwMode="auto">
            <a:xfrm>
              <a:off x="2116" y="2648"/>
              <a:ext cx="12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[</a:t>
              </a:r>
              <a:endParaRPr kumimoji="0" lang="en-US" altLang="zh-CN" sz="2800"/>
            </a:p>
          </p:txBody>
        </p:sp>
        <p:sp>
          <p:nvSpPr>
            <p:cNvPr id="73738" name="Text Box 31"/>
            <p:cNvSpPr txBox="1">
              <a:spLocks noChangeArrowheads="1"/>
            </p:cNvSpPr>
            <p:nvPr/>
          </p:nvSpPr>
          <p:spPr bwMode="auto">
            <a:xfrm>
              <a:off x="1344" y="2648"/>
              <a:ext cx="12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array</a:t>
              </a:r>
              <a:endParaRPr kumimoji="0" lang="en-US" altLang="zh-CN" sz="2800" b="1"/>
            </a:p>
          </p:txBody>
        </p:sp>
        <p:sp>
          <p:nvSpPr>
            <p:cNvPr id="73739" name="Text Box 32"/>
            <p:cNvSpPr txBox="1">
              <a:spLocks noChangeArrowheads="1"/>
            </p:cNvSpPr>
            <p:nvPr/>
          </p:nvSpPr>
          <p:spPr bwMode="auto">
            <a:xfrm>
              <a:off x="2974" y="2160"/>
              <a:ext cx="12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type</a:t>
              </a:r>
              <a:endParaRPr kumimoji="0" lang="en-US" altLang="zh-CN" sz="2800" i="1"/>
            </a:p>
          </p:txBody>
        </p:sp>
        <p:sp>
          <p:nvSpPr>
            <p:cNvPr id="73740" name="Line 33"/>
            <p:cNvSpPr>
              <a:spLocks noChangeShapeType="1"/>
            </p:cNvSpPr>
            <p:nvPr/>
          </p:nvSpPr>
          <p:spPr bwMode="auto">
            <a:xfrm flipH="1">
              <a:off x="2888" y="2485"/>
              <a:ext cx="258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1" name="Line 34"/>
            <p:cNvSpPr>
              <a:spLocks noChangeShapeType="1"/>
            </p:cNvSpPr>
            <p:nvPr/>
          </p:nvSpPr>
          <p:spPr bwMode="auto">
            <a:xfrm>
              <a:off x="3403" y="2485"/>
              <a:ext cx="171" cy="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2" name="Line 35"/>
            <p:cNvSpPr>
              <a:spLocks noChangeShapeType="1"/>
            </p:cNvSpPr>
            <p:nvPr/>
          </p:nvSpPr>
          <p:spPr bwMode="auto">
            <a:xfrm>
              <a:off x="3489" y="2404"/>
              <a:ext cx="772" cy="3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3" name="Line 36"/>
            <p:cNvSpPr>
              <a:spLocks noChangeShapeType="1"/>
            </p:cNvSpPr>
            <p:nvPr/>
          </p:nvSpPr>
          <p:spPr bwMode="auto">
            <a:xfrm>
              <a:off x="3489" y="2323"/>
              <a:ext cx="1372" cy="4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4" name="Line 37"/>
            <p:cNvSpPr>
              <a:spLocks noChangeShapeType="1"/>
            </p:cNvSpPr>
            <p:nvPr/>
          </p:nvSpPr>
          <p:spPr bwMode="auto">
            <a:xfrm flipH="1">
              <a:off x="1773" y="2404"/>
              <a:ext cx="1201" cy="3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5" name="Line 38"/>
            <p:cNvSpPr>
              <a:spLocks noChangeShapeType="1"/>
            </p:cNvSpPr>
            <p:nvPr/>
          </p:nvSpPr>
          <p:spPr bwMode="auto">
            <a:xfrm flipH="1">
              <a:off x="2373" y="2485"/>
              <a:ext cx="601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6" name="Text Box 39"/>
            <p:cNvSpPr txBox="1">
              <a:spLocks noChangeArrowheads="1"/>
            </p:cNvSpPr>
            <p:nvPr/>
          </p:nvSpPr>
          <p:spPr bwMode="auto">
            <a:xfrm>
              <a:off x="3403" y="3218"/>
              <a:ext cx="120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num</a:t>
              </a:r>
              <a:endParaRPr kumimoji="0" lang="en-US" altLang="zh-CN" sz="2800" b="1"/>
            </a:p>
          </p:txBody>
        </p:sp>
        <p:sp>
          <p:nvSpPr>
            <p:cNvPr id="73747" name="Text Box 40"/>
            <p:cNvSpPr txBox="1">
              <a:spLocks noChangeArrowheads="1"/>
            </p:cNvSpPr>
            <p:nvPr/>
          </p:nvSpPr>
          <p:spPr bwMode="auto">
            <a:xfrm>
              <a:off x="1859" y="3218"/>
              <a:ext cx="120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num</a:t>
              </a:r>
              <a:endParaRPr kumimoji="0" lang="en-US" altLang="zh-CN" sz="2800" b="1"/>
            </a:p>
          </p:txBody>
        </p:sp>
        <p:sp>
          <p:nvSpPr>
            <p:cNvPr id="73748" name="Text Box 41"/>
            <p:cNvSpPr txBox="1">
              <a:spLocks noChangeArrowheads="1"/>
            </p:cNvSpPr>
            <p:nvPr/>
          </p:nvSpPr>
          <p:spPr bwMode="auto">
            <a:xfrm>
              <a:off x="2545" y="3218"/>
              <a:ext cx="120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dotdot</a:t>
              </a:r>
              <a:endParaRPr kumimoji="0" lang="en-US" altLang="zh-CN" sz="2800" b="1"/>
            </a:p>
          </p:txBody>
        </p:sp>
        <p:sp>
          <p:nvSpPr>
            <p:cNvPr id="73749" name="Line 42"/>
            <p:cNvSpPr>
              <a:spLocks noChangeShapeType="1"/>
            </p:cNvSpPr>
            <p:nvPr/>
          </p:nvSpPr>
          <p:spPr bwMode="auto">
            <a:xfrm flipH="1">
              <a:off x="2888" y="3055"/>
              <a:ext cx="86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0" name="Line 43"/>
            <p:cNvSpPr>
              <a:spLocks noChangeShapeType="1"/>
            </p:cNvSpPr>
            <p:nvPr/>
          </p:nvSpPr>
          <p:spPr bwMode="auto">
            <a:xfrm>
              <a:off x="3146" y="2974"/>
              <a:ext cx="514" cy="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1" name="Line 44"/>
            <p:cNvSpPr>
              <a:spLocks noChangeShapeType="1"/>
            </p:cNvSpPr>
            <p:nvPr/>
          </p:nvSpPr>
          <p:spPr bwMode="auto">
            <a:xfrm flipH="1">
              <a:off x="2202" y="2974"/>
              <a:ext cx="515" cy="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2" name="Text Box 45"/>
            <p:cNvSpPr txBox="1">
              <a:spLocks noChangeArrowheads="1"/>
            </p:cNvSpPr>
            <p:nvPr/>
          </p:nvSpPr>
          <p:spPr bwMode="auto">
            <a:xfrm>
              <a:off x="4608" y="3218"/>
              <a:ext cx="7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i="1"/>
                <a:t>simple</a:t>
              </a:r>
              <a:endParaRPr kumimoji="0" lang="en-US" altLang="zh-CN" sz="2800" i="1"/>
            </a:p>
          </p:txBody>
        </p:sp>
        <p:sp>
          <p:nvSpPr>
            <p:cNvPr id="73753" name="Line 46"/>
            <p:cNvSpPr>
              <a:spLocks noChangeShapeType="1"/>
            </p:cNvSpPr>
            <p:nvPr/>
          </p:nvSpPr>
          <p:spPr bwMode="auto">
            <a:xfrm>
              <a:off x="4896" y="3017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4" name="Text Box 47"/>
            <p:cNvSpPr txBox="1">
              <a:spLocks noChangeArrowheads="1"/>
            </p:cNvSpPr>
            <p:nvPr/>
          </p:nvSpPr>
          <p:spPr bwMode="auto">
            <a:xfrm>
              <a:off x="4560" y="3705"/>
              <a:ext cx="8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 b="1"/>
                <a:t>integer</a:t>
              </a:r>
              <a:endParaRPr kumimoji="0" lang="en-US" altLang="zh-CN" sz="2800" b="1"/>
            </a:p>
          </p:txBody>
        </p:sp>
        <p:sp>
          <p:nvSpPr>
            <p:cNvPr id="73755" name="Line 48"/>
            <p:cNvSpPr>
              <a:spLocks noChangeShapeType="1"/>
            </p:cNvSpPr>
            <p:nvPr/>
          </p:nvSpPr>
          <p:spPr bwMode="auto">
            <a:xfrm>
              <a:off x="4896" y="350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3732" name="Rectangle 49"/>
          <p:cNvSpPr>
            <a:spLocks noChangeArrowheads="1"/>
          </p:cNvSpPr>
          <p:nvPr/>
        </p:nvSpPr>
        <p:spPr bwMode="auto">
          <a:xfrm>
            <a:off x="1219200" y="1371600"/>
            <a:ext cx="7620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latin typeface="Tahoma" panose="020B0604030504040204" pitchFamily="34" charset="0"/>
              </a:rPr>
              <a:t>(e)</a:t>
            </a:r>
            <a:endParaRPr kumimoji="0" lang="en-US" altLang="zh-CN" sz="2800" b="1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平凡算法</a:t>
            </a:r>
            <a:endParaRPr lang="zh-CN" alt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初始状态，根节点标记为开始符号，输入指针指向第一个单词</a:t>
            </a:r>
            <a:endParaRPr lang="zh-CN" altLang="en-US" sz="2400" dirty="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对于</a:t>
            </a:r>
            <a:r>
              <a:rPr lang="en-US" altLang="zh-CN" sz="2400" dirty="0"/>
              <a:t>NT</a:t>
            </a:r>
            <a:r>
              <a:rPr lang="zh-CN" altLang="en-US" sz="2400" dirty="0"/>
              <a:t>节点</a:t>
            </a:r>
            <a:endParaRPr lang="zh-CN" altLang="en-US" sz="2400" dirty="0"/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zh-CN" altLang="en-US" sz="2000" dirty="0"/>
              <a:t>选择产生式（尝试、回溯）构造孩子节点</a:t>
            </a:r>
            <a:endParaRPr lang="zh-CN" altLang="en-US" sz="2000" dirty="0"/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zh-CN" altLang="en-US" sz="2000" dirty="0"/>
              <a:t>对孩子节点从左至右继续分析</a:t>
            </a:r>
            <a:endParaRPr lang="zh-CN" altLang="en-US" sz="2000" dirty="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对于</a:t>
            </a:r>
            <a:r>
              <a:rPr lang="en-US" altLang="zh-CN" sz="2400" dirty="0"/>
              <a:t>T</a:t>
            </a:r>
            <a:r>
              <a:rPr lang="zh-CN" altLang="en-US" sz="2400" dirty="0"/>
              <a:t>节点</a:t>
            </a:r>
            <a:endParaRPr lang="zh-CN" altLang="en-US" sz="2400" dirty="0"/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zh-CN" altLang="en-US" sz="2000" dirty="0"/>
              <a:t>与当前输入单词进行比较</a:t>
            </a:r>
            <a:endParaRPr lang="zh-CN" altLang="en-US" sz="2000" dirty="0"/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zh-CN" altLang="en-US" sz="2000" dirty="0"/>
              <a:t>若匹配，输入指针前移，处理下一个节点</a:t>
            </a:r>
            <a:endParaRPr lang="zh-CN" altLang="en-US" sz="2000" dirty="0"/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zh-CN" altLang="en-US" sz="2000" dirty="0"/>
              <a:t>不匹配，可能需要回溯或报告错误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扫描输入分析过程</a:t>
            </a:r>
            <a:endParaRPr lang="zh-CN" altLang="en-US"/>
          </a:p>
        </p:txBody>
      </p:sp>
      <p:pic>
        <p:nvPicPr>
          <p:cNvPr id="75779" name="Picture 34" descr="predic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75" y="1411288"/>
            <a:ext cx="5495925" cy="133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0" name="Picture 35" descr="predict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75" y="3067050"/>
            <a:ext cx="549592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07950" y="5157788"/>
            <a:ext cx="3311525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</a:rPr>
              <a:t>type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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</a:t>
            </a:r>
            <a:endParaRPr kumimoji="0" lang="en-US" altLang="zh-CN" sz="1400" i="1">
              <a:ea typeface="隶书" panose="02010509060101010101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           | 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 id</a:t>
            </a:r>
            <a:endParaRPr kumimoji="0" lang="en-US" altLang="zh-CN" sz="1400" b="1">
              <a:ea typeface="隶书" panose="02010509060101010101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array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[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]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of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type</a:t>
            </a:r>
            <a:endParaRPr kumimoji="0" lang="en-US" altLang="zh-CN" sz="1400" i="1">
              <a:ea typeface="隶书" panose="02010509060101010101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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integer</a:t>
            </a:r>
            <a:endParaRPr kumimoji="0" lang="en-US" altLang="zh-CN" sz="1400" b="1">
              <a:ea typeface="隶书" panose="02010509060101010101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char</a:t>
            </a:r>
            <a:endParaRPr kumimoji="0" lang="en-US" altLang="zh-CN" sz="1400" b="1">
              <a:ea typeface="隶书" panose="02010509060101010101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num dotdot num</a:t>
            </a:r>
            <a:endParaRPr lang="en-US" altLang="zh-CN" sz="1400"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扫描输入分析过程（续）</a:t>
            </a:r>
            <a:endParaRPr lang="zh-CN" altLang="en-US"/>
          </a:p>
        </p:txBody>
      </p:sp>
      <p:pic>
        <p:nvPicPr>
          <p:cNvPr id="76803" name="Picture 5" descr="predict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263650"/>
            <a:ext cx="5495925" cy="216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4" name="Picture 6" descr="predict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3416300"/>
            <a:ext cx="5448300" cy="214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07950" y="5157788"/>
            <a:ext cx="3311525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</a:rPr>
              <a:t>type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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</a:t>
            </a:r>
            <a:endParaRPr kumimoji="0" lang="en-US" altLang="zh-CN" sz="1400" i="1">
              <a:ea typeface="隶书" panose="02010509060101010101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           | 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 id</a:t>
            </a:r>
            <a:endParaRPr kumimoji="0" lang="en-US" altLang="zh-CN" sz="1400" b="1">
              <a:ea typeface="隶书" panose="02010509060101010101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array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[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]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of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type</a:t>
            </a:r>
            <a:endParaRPr kumimoji="0" lang="en-US" altLang="zh-CN" sz="1400" i="1">
              <a:ea typeface="隶书" panose="02010509060101010101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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integer</a:t>
            </a:r>
            <a:endParaRPr kumimoji="0" lang="en-US" altLang="zh-CN" sz="1400" b="1">
              <a:ea typeface="隶书" panose="02010509060101010101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char</a:t>
            </a:r>
            <a:endParaRPr kumimoji="0" lang="en-US" altLang="zh-CN" sz="1400" b="1">
              <a:ea typeface="隶书" panose="02010509060101010101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num dotdot num</a:t>
            </a:r>
            <a:endParaRPr lang="en-US" altLang="zh-CN" sz="1400"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扫描输入分析过程（续）</a:t>
            </a:r>
            <a:endParaRPr lang="zh-CN" altLang="en-US"/>
          </a:p>
        </p:txBody>
      </p:sp>
      <p:pic>
        <p:nvPicPr>
          <p:cNvPr id="77827" name="Picture 8" descr="predict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295400"/>
            <a:ext cx="5448300" cy="214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28" name="Picture 9" descr="predict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450" y="3481388"/>
            <a:ext cx="5365750" cy="185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07950" y="5157788"/>
            <a:ext cx="3311525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</a:rPr>
              <a:t>type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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</a:t>
            </a:r>
            <a:endParaRPr kumimoji="0" lang="en-US" altLang="zh-CN" sz="1400" i="1">
              <a:ea typeface="隶书" panose="02010509060101010101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           | 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 id</a:t>
            </a:r>
            <a:endParaRPr kumimoji="0" lang="en-US" altLang="zh-CN" sz="1400" b="1">
              <a:ea typeface="隶书" panose="02010509060101010101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array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[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]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of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type</a:t>
            </a:r>
            <a:endParaRPr kumimoji="0" lang="en-US" altLang="zh-CN" sz="1400" i="1">
              <a:ea typeface="隶书" panose="02010509060101010101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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integer</a:t>
            </a:r>
            <a:endParaRPr kumimoji="0" lang="en-US" altLang="zh-CN" sz="1400" b="1">
              <a:ea typeface="隶书" panose="02010509060101010101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char</a:t>
            </a:r>
            <a:endParaRPr kumimoji="0" lang="en-US" altLang="zh-CN" sz="1400" b="1">
              <a:ea typeface="隶书" panose="02010509060101010101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num dotdot num</a:t>
            </a:r>
            <a:endParaRPr lang="en-US" altLang="zh-CN" sz="1400"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扫描输入分析过程（续）</a:t>
            </a:r>
            <a:endParaRPr lang="zh-CN" altLang="en-US"/>
          </a:p>
        </p:txBody>
      </p:sp>
      <p:pic>
        <p:nvPicPr>
          <p:cNvPr id="78851" name="Picture 6" descr="predict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371600"/>
            <a:ext cx="5376863" cy="162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52" name="Picture 7" descr="predict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254375"/>
            <a:ext cx="5456238" cy="162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07950" y="5157788"/>
            <a:ext cx="3311525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</a:rPr>
              <a:t>type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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</a:t>
            </a:r>
            <a:endParaRPr kumimoji="0" lang="en-US" altLang="zh-CN" sz="1400" i="1">
              <a:ea typeface="隶书" panose="02010509060101010101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           | 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 id</a:t>
            </a:r>
            <a:endParaRPr kumimoji="0" lang="en-US" altLang="zh-CN" sz="1400" b="1">
              <a:ea typeface="隶书" panose="02010509060101010101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array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[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]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of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type</a:t>
            </a:r>
            <a:endParaRPr kumimoji="0" lang="en-US" altLang="zh-CN" sz="1400" i="1">
              <a:ea typeface="隶书" panose="02010509060101010101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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integer</a:t>
            </a:r>
            <a:endParaRPr kumimoji="0" lang="en-US" altLang="zh-CN" sz="1400" b="1">
              <a:ea typeface="隶书" panose="02010509060101010101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char</a:t>
            </a:r>
            <a:endParaRPr kumimoji="0" lang="en-US" altLang="zh-CN" sz="1400" b="1">
              <a:ea typeface="隶书" panose="02010509060101010101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num dotdot num</a:t>
            </a:r>
            <a:endParaRPr lang="en-US" altLang="zh-CN" sz="1400"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扫描输入分析过程（续）</a:t>
            </a:r>
            <a:endParaRPr lang="zh-CN" altLang="en-US"/>
          </a:p>
        </p:txBody>
      </p:sp>
      <p:pic>
        <p:nvPicPr>
          <p:cNvPr id="79875" name="Picture 6" descr="predict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496491"/>
            <a:ext cx="7640638" cy="286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798984" y="4365104"/>
            <a:ext cx="7402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sym typeface="Wingdings" panose="05000000000000000000" pitchFamily="2" charset="2"/>
              </a:rPr>
              <a:t>人来做的话，为什么能直接选择第三个候选式？</a:t>
            </a:r>
            <a:endParaRPr lang="zh-CN" altLang="en-US" sz="2000" dirty="0"/>
          </a:p>
        </p:txBody>
      </p:sp>
      <p:sp>
        <p:nvSpPr>
          <p:cNvPr id="6" name="文本框 5"/>
          <p:cNvSpPr txBox="1"/>
          <p:nvPr/>
        </p:nvSpPr>
        <p:spPr>
          <a:xfrm>
            <a:off x="798984" y="4869160"/>
            <a:ext cx="54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sym typeface="Wingdings" panose="05000000000000000000" pitchFamily="2" charset="2"/>
              </a:rPr>
              <a:t>只有它能推导出与输入</a:t>
            </a:r>
            <a:r>
              <a:rPr lang="zh-CN" altLang="en-US" sz="2000" kern="0" noProof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Wingdings" panose="05000000000000000000" pitchFamily="2" charset="2"/>
              </a:rPr>
              <a:t>匹配的单词串！</a:t>
            </a:r>
            <a:endParaRPr lang="zh-CN" altLang="en-US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804383" y="5414518"/>
            <a:ext cx="3917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sym typeface="Wingdings" panose="05000000000000000000" pitchFamily="2" charset="2"/>
              </a:rPr>
              <a:t>我们查看了几个输入单词？</a:t>
            </a:r>
            <a:endParaRPr lang="zh-CN" altLang="en-US" sz="2000" dirty="0"/>
          </a:p>
        </p:txBody>
      </p:sp>
      <p:sp>
        <p:nvSpPr>
          <p:cNvPr id="8" name="文本框 7"/>
          <p:cNvSpPr txBox="1"/>
          <p:nvPr/>
        </p:nvSpPr>
        <p:spPr>
          <a:xfrm>
            <a:off x="774754" y="5958644"/>
            <a:ext cx="64615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sym typeface="Wingdings" panose="05000000000000000000" pitchFamily="2" charset="2"/>
              </a:rPr>
              <a:t>只看了第一个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sym typeface="Wingdings" panose="05000000000000000000" pitchFamily="2" charset="2"/>
              </a:rPr>
              <a:t>——LL</a:t>
            </a:r>
            <a:r>
              <a:rPr lang="en-US" altLang="zh-CN" sz="2000" kern="0" noProof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Wingdings" panose="05000000000000000000" pitchFamily="2" charset="2"/>
              </a:rPr>
              <a:t>(1)</a:t>
            </a:r>
            <a:r>
              <a:rPr lang="zh-CN" altLang="en-US" sz="2000" kern="0" noProof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Wingdings" panose="05000000000000000000" pitchFamily="2" charset="2"/>
              </a:rPr>
              <a:t>语法分析</a:t>
            </a:r>
            <a:r>
              <a:rPr lang="zh-CN" altLang="en-US" sz="2000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Wingdings" panose="05000000000000000000" pitchFamily="2" charset="2"/>
              </a:rPr>
              <a:t>！</a:t>
            </a:r>
            <a:endParaRPr lang="en-US" altLang="zh-CN" sz="2000" kern="0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r>
              <a:rPr lang="zh-CN" altLang="en-US" sz="2000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Wingdings" panose="05000000000000000000" pitchFamily="2" charset="2"/>
              </a:rPr>
              <a:t>根据候选式是否能推导出当前第一个输入单词来选择它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2.4.2  </a:t>
            </a:r>
            <a:r>
              <a:rPr lang="zh-CN" altLang="en-US"/>
              <a:t>预测分析</a:t>
            </a:r>
            <a:endParaRPr lang="zh-CN" altLang="en-US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3333CC"/>
                </a:solidFill>
              </a:rPr>
              <a:t>递归下降分析</a:t>
            </a:r>
            <a:br>
              <a:rPr lang="zh-CN" altLang="en-US" dirty="0"/>
            </a:br>
            <a:r>
              <a:rPr lang="en-US" altLang="zh-CN" dirty="0">
                <a:solidFill>
                  <a:srgbClr val="FF3300"/>
                </a:solidFill>
              </a:rPr>
              <a:t>recursive-descent paring</a:t>
            </a:r>
            <a:br>
              <a:rPr lang="en-US" altLang="zh-CN" dirty="0"/>
            </a:br>
            <a:r>
              <a:rPr lang="zh-CN" altLang="en-US" dirty="0"/>
              <a:t>递归函数</a:t>
            </a:r>
            <a:r>
              <a:rPr lang="zh-CN" altLang="en-US" dirty="0">
                <a:sym typeface="Wingdings" panose="05000000000000000000" pitchFamily="2" charset="2"/>
              </a:rPr>
              <a:t>非终结符的分析</a:t>
            </a:r>
            <a:endParaRPr lang="zh-CN" altLang="en-US" dirty="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b="1" dirty="0">
                <a:solidFill>
                  <a:srgbClr val="3333CC"/>
                </a:solidFill>
                <a:sym typeface="Wingdings" panose="05000000000000000000" pitchFamily="2" charset="2"/>
              </a:rPr>
              <a:t>预测分析</a:t>
            </a:r>
            <a:br>
              <a:rPr lang="zh-CN" altLang="en-US" b="1" dirty="0">
                <a:solidFill>
                  <a:srgbClr val="3333CC"/>
                </a:solidFill>
                <a:sym typeface="Wingdings" panose="05000000000000000000" pitchFamily="2" charset="2"/>
              </a:rPr>
            </a:br>
            <a:r>
              <a:rPr lang="en-US" altLang="zh-CN" dirty="0">
                <a:solidFill>
                  <a:srgbClr val="FF3300"/>
                </a:solidFill>
                <a:sym typeface="Wingdings" panose="05000000000000000000" pitchFamily="2" charset="2"/>
              </a:rPr>
              <a:t>predictive parsing</a:t>
            </a:r>
            <a:br>
              <a:rPr lang="en-US" altLang="zh-CN" dirty="0">
                <a:sym typeface="Wingdings" panose="05000000000000000000" pitchFamily="2" charset="2"/>
              </a:rPr>
            </a:br>
            <a:r>
              <a:rPr lang="zh-CN" altLang="en-US" dirty="0">
                <a:sym typeface="Wingdings" panose="05000000000000000000" pitchFamily="2" charset="2"/>
              </a:rPr>
              <a:t>只需一个超前单词</a:t>
            </a:r>
            <a:r>
              <a:rPr lang="en-US" altLang="zh-CN" dirty="0">
                <a:latin typeface="Tahoma" panose="020B0604030504040204" pitchFamily="34" charset="0"/>
                <a:sym typeface="Wingdings" panose="05000000000000000000" pitchFamily="2" charset="2"/>
              </a:rPr>
              <a:t>———</a:t>
            </a:r>
            <a:r>
              <a:rPr lang="zh-CN" altLang="en-US" dirty="0">
                <a:sym typeface="Wingdings" panose="05000000000000000000" pitchFamily="2" charset="2"/>
              </a:rPr>
              <a:t>产生式</a:t>
            </a:r>
            <a:endParaRPr lang="zh-CN" altLang="en-US" dirty="0"/>
          </a:p>
        </p:txBody>
      </p:sp>
      <p:sp>
        <p:nvSpPr>
          <p:cNvPr id="80900" name="Text Box 4"/>
          <p:cNvSpPr txBox="1">
            <a:spLocks noChangeArrowheads="1"/>
          </p:cNvSpPr>
          <p:nvPr/>
        </p:nvSpPr>
        <p:spPr bwMode="auto">
          <a:xfrm>
            <a:off x="4800600" y="3810000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唯一确定</a:t>
            </a:r>
            <a:endParaRPr lang="zh-CN" altLang="en-US" sz="2000">
              <a:solidFill>
                <a:srgbClr val="3333CC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预测分析程序</a:t>
            </a:r>
            <a:endParaRPr lang="zh-CN" altLang="en-US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/>
              <a:t>对终结符的处理</a:t>
            </a:r>
            <a:r>
              <a:rPr kumimoji="0" lang="en-US" altLang="zh-CN"/>
              <a:t>——</a:t>
            </a:r>
            <a:r>
              <a:rPr kumimoji="0" lang="zh-CN" altLang="en-US"/>
              <a:t>匹配输入，指针移动</a:t>
            </a:r>
            <a:endParaRPr kumimoji="0" lang="zh-CN" altLang="en-US"/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procedure</a:t>
            </a:r>
            <a:r>
              <a:rPr kumimoji="0" lang="en-US" altLang="zh-CN" sz="2400"/>
              <a:t>  </a:t>
            </a:r>
            <a:r>
              <a:rPr kumimoji="0" lang="en-US" altLang="zh-CN" sz="2400" i="1"/>
              <a:t>match</a:t>
            </a:r>
            <a:r>
              <a:rPr kumimoji="0" lang="en-US" altLang="zh-CN" sz="2400"/>
              <a:t> ( </a:t>
            </a:r>
            <a:r>
              <a:rPr kumimoji="0" lang="en-US" altLang="zh-CN" sz="2400" i="1"/>
              <a:t>t</a:t>
            </a:r>
            <a:r>
              <a:rPr kumimoji="0" lang="en-US" altLang="zh-CN" sz="2400"/>
              <a:t> : token ) ;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begin</a:t>
            </a:r>
            <a:endParaRPr kumimoji="0" lang="en-US" altLang="zh-CN" sz="2400" b="1"/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          if </a:t>
            </a:r>
            <a:r>
              <a:rPr kumimoji="0" lang="en-US" altLang="zh-CN" sz="2400" i="1"/>
              <a:t> lookahead </a:t>
            </a:r>
            <a:r>
              <a:rPr kumimoji="0" lang="en-US" altLang="zh-CN" sz="2400"/>
              <a:t>= </a:t>
            </a:r>
            <a:r>
              <a:rPr kumimoji="0" lang="en-US" altLang="zh-CN" sz="2400" i="1"/>
              <a:t>t</a:t>
            </a:r>
            <a:r>
              <a:rPr kumimoji="0" lang="en-US" altLang="zh-CN" sz="2400"/>
              <a:t>  </a:t>
            </a:r>
            <a:r>
              <a:rPr kumimoji="0" lang="en-US" altLang="zh-CN" sz="2400" b="1"/>
              <a:t>then</a:t>
            </a:r>
            <a:endParaRPr kumimoji="0" lang="en-US" altLang="zh-CN" sz="2400" b="1"/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                    </a:t>
            </a:r>
            <a:r>
              <a:rPr kumimoji="0" lang="en-US" altLang="zh-CN" sz="2400" i="1"/>
              <a:t>lookahead  </a:t>
            </a:r>
            <a:r>
              <a:rPr kumimoji="0" lang="en-US" altLang="zh-CN" sz="2400"/>
              <a:t>: =  </a:t>
            </a:r>
            <a:r>
              <a:rPr kumimoji="0" lang="en-US" altLang="zh-CN" sz="2400" i="1"/>
              <a:t>nexttoken</a:t>
            </a:r>
            <a:endParaRPr kumimoji="0" lang="en-US" altLang="zh-CN" sz="2400" i="1"/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          </a:t>
            </a:r>
            <a:r>
              <a:rPr kumimoji="0" lang="en-US" altLang="zh-CN" sz="2400" b="1"/>
              <a:t>else  </a:t>
            </a:r>
            <a:r>
              <a:rPr kumimoji="0" lang="en-US" altLang="zh-CN" sz="2400" i="1"/>
              <a:t>error</a:t>
            </a:r>
            <a:endParaRPr kumimoji="0" lang="en-US" altLang="zh-CN" sz="2400" i="1"/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end ;</a:t>
            </a:r>
            <a:endParaRPr kumimoji="0" lang="en-US" altLang="zh-CN" sz="2400" b="1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预测分析程序（续）</a:t>
            </a:r>
            <a:endParaRPr lang="zh-CN" altLang="en-US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/>
              <a:t>procedure </a:t>
            </a:r>
            <a:r>
              <a:rPr kumimoji="0" lang="en-US" altLang="zh-CN" sz="2000" i="1" dirty="0"/>
              <a:t> type </a:t>
            </a:r>
            <a:r>
              <a:rPr kumimoji="0" lang="en-US" altLang="zh-CN" sz="2000" dirty="0"/>
              <a:t>;</a:t>
            </a:r>
            <a:endParaRPr kumimoji="0" lang="en-US" altLang="zh-CN" sz="2000" dirty="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/>
              <a:t>begin</a:t>
            </a:r>
            <a:endParaRPr kumimoji="0" lang="en-US" altLang="zh-CN" sz="2000" b="1" dirty="0"/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/>
              <a:t>         if </a:t>
            </a:r>
            <a:r>
              <a:rPr kumimoji="0" lang="en-US" altLang="zh-CN" sz="2000" i="1" dirty="0"/>
              <a:t> lookahead  </a:t>
            </a:r>
            <a:r>
              <a:rPr kumimoji="0" lang="en-US" altLang="zh-CN" sz="2000" dirty="0"/>
              <a:t>is in { </a:t>
            </a:r>
            <a:r>
              <a:rPr kumimoji="0" lang="en-US" altLang="zh-CN" sz="2000" b="1" dirty="0"/>
              <a:t>integer, char, num </a:t>
            </a:r>
            <a:r>
              <a:rPr kumimoji="0" lang="en-US" altLang="zh-CN" sz="2000" dirty="0"/>
              <a:t>}  </a:t>
            </a:r>
            <a:r>
              <a:rPr kumimoji="0" lang="en-US" altLang="zh-CN" sz="2000" b="1" dirty="0"/>
              <a:t>then</a:t>
            </a:r>
            <a:endParaRPr kumimoji="0" lang="en-US" altLang="zh-CN" sz="2000" b="1" dirty="0"/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                </a:t>
            </a:r>
            <a:r>
              <a:rPr kumimoji="0" lang="en-US" altLang="zh-CN" sz="2000" i="1" dirty="0"/>
              <a:t>simple</a:t>
            </a:r>
            <a:endParaRPr kumimoji="0" lang="en-US" altLang="zh-CN" sz="2000" i="1" dirty="0"/>
          </a:p>
          <a:p>
            <a:pPr>
              <a:lnSpc>
                <a:spcPct val="50000"/>
              </a:lnSpc>
              <a:spcBef>
                <a:spcPts val="1200"/>
              </a:spcBef>
              <a:buClrTx/>
              <a:buSzTx/>
              <a:buFontTx/>
              <a:buNone/>
            </a:pPr>
            <a:r>
              <a:rPr kumimoji="0" lang="en-US" altLang="zh-CN" sz="2000" i="1" dirty="0"/>
              <a:t>         </a:t>
            </a:r>
            <a:r>
              <a:rPr kumimoji="0" lang="en-US" altLang="zh-CN" sz="2000" b="1" dirty="0"/>
              <a:t>else if </a:t>
            </a:r>
            <a:r>
              <a:rPr kumimoji="0" lang="en-US" altLang="zh-CN" sz="2000" dirty="0"/>
              <a:t> </a:t>
            </a:r>
            <a:r>
              <a:rPr kumimoji="0" lang="en-US" altLang="zh-CN" sz="2000" i="1" dirty="0"/>
              <a:t>lookahead</a:t>
            </a:r>
            <a:r>
              <a:rPr kumimoji="0" lang="en-US" altLang="zh-CN" sz="2000" dirty="0"/>
              <a:t>  = ‘</a:t>
            </a:r>
            <a:r>
              <a:rPr kumimoji="0" lang="en-US" altLang="zh-CN" sz="2000" dirty="0">
                <a:sym typeface="Symbol" panose="05050102010706020507" pitchFamily="18" charset="2"/>
              </a:rPr>
              <a:t>’  </a:t>
            </a:r>
            <a:r>
              <a:rPr kumimoji="0" lang="en-US" altLang="zh-CN" sz="2000" b="1" dirty="0">
                <a:sym typeface="Symbol" panose="05050102010706020507" pitchFamily="18" charset="2"/>
              </a:rPr>
              <a:t>then  begin</a:t>
            </a:r>
            <a:endParaRPr kumimoji="0" lang="en-US" altLang="zh-CN" sz="2000" b="1" dirty="0">
              <a:sym typeface="Symbol" panose="05050102010706020507" pitchFamily="18" charset="2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ym typeface="Symbol" panose="05050102010706020507" pitchFamily="18" charset="2"/>
              </a:rPr>
              <a:t>                </a:t>
            </a:r>
            <a:r>
              <a:rPr kumimoji="0" lang="en-US" altLang="zh-CN" sz="2000" i="1" dirty="0">
                <a:sym typeface="Symbol" panose="05050102010706020507" pitchFamily="18" charset="2"/>
              </a:rPr>
              <a:t>match </a:t>
            </a:r>
            <a:r>
              <a:rPr kumimoji="0" lang="en-US" altLang="zh-CN" sz="2000" dirty="0">
                <a:sym typeface="Symbol" panose="05050102010706020507" pitchFamily="18" charset="2"/>
              </a:rPr>
              <a:t>(</a:t>
            </a:r>
            <a:r>
              <a:rPr kumimoji="0" lang="en-US" altLang="zh-CN" sz="2000" dirty="0"/>
              <a:t>‘</a:t>
            </a:r>
            <a:r>
              <a:rPr kumimoji="0" lang="en-US" altLang="zh-CN" sz="2000" dirty="0">
                <a:sym typeface="Symbol" panose="05050102010706020507" pitchFamily="18" charset="2"/>
              </a:rPr>
              <a:t>’) ;  </a:t>
            </a:r>
            <a:r>
              <a:rPr kumimoji="0" lang="en-US" altLang="zh-CN" sz="2000" i="1" dirty="0">
                <a:sym typeface="Symbol" panose="05050102010706020507" pitchFamily="18" charset="2"/>
              </a:rPr>
              <a:t>match</a:t>
            </a:r>
            <a:r>
              <a:rPr kumimoji="0" lang="en-US" altLang="zh-CN" sz="2000" dirty="0">
                <a:sym typeface="Symbol" panose="05050102010706020507" pitchFamily="18" charset="2"/>
              </a:rPr>
              <a:t>(</a:t>
            </a:r>
            <a:r>
              <a:rPr kumimoji="0" lang="en-US" altLang="zh-CN" sz="2000" b="1" dirty="0">
                <a:sym typeface="Symbol" panose="05050102010706020507" pitchFamily="18" charset="2"/>
              </a:rPr>
              <a:t> id </a:t>
            </a:r>
            <a:r>
              <a:rPr kumimoji="0" lang="en-US" altLang="zh-CN" sz="2000" dirty="0">
                <a:sym typeface="Symbol" panose="05050102010706020507" pitchFamily="18" charset="2"/>
              </a:rPr>
              <a:t>)</a:t>
            </a:r>
            <a:endParaRPr kumimoji="0" lang="en-US" altLang="zh-CN" sz="2000" dirty="0">
              <a:sym typeface="Symbol" panose="05050102010706020507" pitchFamily="18" charset="2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         </a:t>
            </a:r>
            <a:r>
              <a:rPr kumimoji="0" lang="en-US" altLang="zh-CN" sz="2000" b="1" dirty="0">
                <a:sym typeface="Symbol" panose="05050102010706020507" pitchFamily="18" charset="2"/>
              </a:rPr>
              <a:t>end</a:t>
            </a:r>
            <a:endParaRPr kumimoji="0" lang="en-US" altLang="zh-CN" sz="2000" b="1" dirty="0">
              <a:sym typeface="Symbol" panose="05050102010706020507" pitchFamily="18" charset="2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ym typeface="Symbol" panose="05050102010706020507" pitchFamily="18" charset="2"/>
              </a:rPr>
              <a:t>         else if  </a:t>
            </a:r>
            <a:r>
              <a:rPr kumimoji="0" lang="en-US" altLang="zh-CN" sz="2000" i="1" dirty="0">
                <a:sym typeface="Symbol" panose="05050102010706020507" pitchFamily="18" charset="2"/>
              </a:rPr>
              <a:t>lookahead </a:t>
            </a:r>
            <a:r>
              <a:rPr kumimoji="0" lang="en-US" altLang="zh-CN" sz="2000" dirty="0">
                <a:sym typeface="Symbol" panose="05050102010706020507" pitchFamily="18" charset="2"/>
              </a:rPr>
              <a:t>= </a:t>
            </a:r>
            <a:r>
              <a:rPr kumimoji="0" lang="en-US" altLang="zh-CN" sz="2000" b="1" dirty="0">
                <a:sym typeface="Symbol" panose="05050102010706020507" pitchFamily="18" charset="2"/>
              </a:rPr>
              <a:t>array  then  begin</a:t>
            </a:r>
            <a:endParaRPr kumimoji="0" lang="en-US" altLang="zh-CN" sz="2000" b="1" dirty="0">
              <a:sym typeface="Symbol" panose="05050102010706020507" pitchFamily="18" charset="2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                     </a:t>
            </a:r>
            <a:r>
              <a:rPr kumimoji="0" lang="en-US" altLang="zh-CN" sz="2000" i="1" dirty="0">
                <a:sym typeface="Symbol" panose="05050102010706020507" pitchFamily="18" charset="2"/>
              </a:rPr>
              <a:t>match</a:t>
            </a:r>
            <a:r>
              <a:rPr kumimoji="0" lang="en-US" altLang="zh-CN" sz="2000" dirty="0">
                <a:sym typeface="Symbol" panose="05050102010706020507" pitchFamily="18" charset="2"/>
              </a:rPr>
              <a:t>( </a:t>
            </a:r>
            <a:r>
              <a:rPr kumimoji="0" lang="en-US" altLang="zh-CN" sz="2000" b="1" dirty="0">
                <a:sym typeface="Symbol" panose="05050102010706020507" pitchFamily="18" charset="2"/>
              </a:rPr>
              <a:t>array </a:t>
            </a:r>
            <a:r>
              <a:rPr kumimoji="0" lang="en-US" altLang="zh-CN" sz="2000" dirty="0">
                <a:sym typeface="Symbol" panose="05050102010706020507" pitchFamily="18" charset="2"/>
              </a:rPr>
              <a:t>); </a:t>
            </a:r>
            <a:r>
              <a:rPr kumimoji="0" lang="en-US" altLang="zh-CN" sz="2000" i="1" dirty="0">
                <a:sym typeface="Symbol" panose="05050102010706020507" pitchFamily="18" charset="2"/>
              </a:rPr>
              <a:t>match</a:t>
            </a:r>
            <a:r>
              <a:rPr kumimoji="0" lang="en-US" altLang="zh-CN" sz="2000" dirty="0">
                <a:sym typeface="Symbol" panose="05050102010706020507" pitchFamily="18" charset="2"/>
              </a:rPr>
              <a:t>(‘[’);</a:t>
            </a:r>
            <a:endParaRPr kumimoji="0" lang="en-US" altLang="zh-CN" sz="2000" dirty="0">
              <a:sym typeface="Symbol" panose="05050102010706020507" pitchFamily="18" charset="2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                     </a:t>
            </a:r>
            <a:r>
              <a:rPr kumimoji="0" lang="en-US" altLang="zh-CN" sz="2000" i="1" dirty="0">
                <a:sym typeface="Symbol" panose="05050102010706020507" pitchFamily="18" charset="2"/>
              </a:rPr>
              <a:t>simple</a:t>
            </a:r>
            <a:r>
              <a:rPr kumimoji="0" lang="en-US" altLang="zh-CN" sz="2000" dirty="0">
                <a:sym typeface="Symbol" panose="05050102010706020507" pitchFamily="18" charset="2"/>
              </a:rPr>
              <a:t>;</a:t>
            </a:r>
            <a:endParaRPr kumimoji="0" lang="en-US" altLang="zh-CN" sz="2000" dirty="0">
              <a:sym typeface="Symbol" panose="05050102010706020507" pitchFamily="18" charset="2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                     </a:t>
            </a:r>
            <a:r>
              <a:rPr kumimoji="0" lang="en-US" altLang="zh-CN" sz="2000" i="1" dirty="0">
                <a:sym typeface="Symbol" panose="05050102010706020507" pitchFamily="18" charset="2"/>
              </a:rPr>
              <a:t>match</a:t>
            </a:r>
            <a:r>
              <a:rPr kumimoji="0" lang="en-US" altLang="zh-CN" sz="2000" dirty="0">
                <a:sym typeface="Symbol" panose="05050102010706020507" pitchFamily="18" charset="2"/>
              </a:rPr>
              <a:t>(‘]’); </a:t>
            </a:r>
            <a:r>
              <a:rPr kumimoji="0" lang="en-US" altLang="zh-CN" sz="2000" i="1" dirty="0">
                <a:sym typeface="Symbol" panose="05050102010706020507" pitchFamily="18" charset="2"/>
              </a:rPr>
              <a:t>match</a:t>
            </a:r>
            <a:r>
              <a:rPr kumimoji="0" lang="en-US" altLang="zh-CN" sz="2000" dirty="0">
                <a:sym typeface="Symbol" panose="05050102010706020507" pitchFamily="18" charset="2"/>
              </a:rPr>
              <a:t>(</a:t>
            </a:r>
            <a:r>
              <a:rPr kumimoji="0" lang="en-US" altLang="zh-CN" sz="2000" b="1" dirty="0">
                <a:sym typeface="Symbol" panose="05050102010706020507" pitchFamily="18" charset="2"/>
              </a:rPr>
              <a:t>of</a:t>
            </a:r>
            <a:r>
              <a:rPr kumimoji="0" lang="en-US" altLang="zh-CN" sz="2000" dirty="0">
                <a:sym typeface="Symbol" panose="05050102010706020507" pitchFamily="18" charset="2"/>
              </a:rPr>
              <a:t>);</a:t>
            </a:r>
            <a:endParaRPr kumimoji="0" lang="en-US" altLang="zh-CN" sz="2000" dirty="0">
              <a:sym typeface="Symbol" panose="05050102010706020507" pitchFamily="18" charset="2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                     </a:t>
            </a:r>
            <a:r>
              <a:rPr kumimoji="0" lang="en-US" altLang="zh-CN" sz="2000" i="1" dirty="0">
                <a:sym typeface="Symbol" panose="05050102010706020507" pitchFamily="18" charset="2"/>
              </a:rPr>
              <a:t>type</a:t>
            </a:r>
            <a:endParaRPr kumimoji="0" lang="en-US" altLang="zh-CN" sz="2000" i="1" dirty="0">
              <a:sym typeface="Symbol" panose="05050102010706020507" pitchFamily="18" charset="2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ym typeface="Symbol" panose="05050102010706020507" pitchFamily="18" charset="2"/>
              </a:rPr>
              <a:t>         end</a:t>
            </a:r>
            <a:endParaRPr kumimoji="0" lang="en-US" altLang="zh-CN" sz="2000" b="1" dirty="0">
              <a:sym typeface="Symbol" panose="05050102010706020507" pitchFamily="18" charset="2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ym typeface="Symbol" panose="05050102010706020507" pitchFamily="18" charset="2"/>
              </a:rPr>
              <a:t>         else  </a:t>
            </a:r>
            <a:r>
              <a:rPr kumimoji="0" lang="en-US" altLang="zh-CN" sz="2000" i="1" dirty="0">
                <a:sym typeface="Symbol" panose="05050102010706020507" pitchFamily="18" charset="2"/>
              </a:rPr>
              <a:t>error</a:t>
            </a:r>
            <a:endParaRPr kumimoji="0" lang="en-US" altLang="zh-CN" sz="2000" i="1" dirty="0">
              <a:sym typeface="Symbol" panose="05050102010706020507" pitchFamily="18" charset="2"/>
            </a:endParaRPr>
          </a:p>
          <a:p>
            <a:pPr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ym typeface="Symbol" panose="05050102010706020507" pitchFamily="18" charset="2"/>
              </a:rPr>
              <a:t>end ;</a:t>
            </a:r>
            <a:endParaRPr kumimoji="0" lang="en-US" altLang="zh-CN" sz="2000" b="1" dirty="0">
              <a:sym typeface="Symbol" panose="05050102010706020507" pitchFamily="18" charset="2"/>
            </a:endParaRPr>
          </a:p>
        </p:txBody>
      </p:sp>
      <p:sp>
        <p:nvSpPr>
          <p:cNvPr id="95236" name="Text Box 4"/>
          <p:cNvSpPr txBox="1">
            <a:spLocks noChangeArrowheads="1"/>
          </p:cNvSpPr>
          <p:nvPr/>
        </p:nvSpPr>
        <p:spPr bwMode="auto">
          <a:xfrm>
            <a:off x="2017713" y="1590675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超前单词</a:t>
            </a:r>
            <a:endParaRPr lang="zh-CN" altLang="en-US" sz="240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95238" name="Text Box 6"/>
          <p:cNvSpPr txBox="1">
            <a:spLocks noChangeArrowheads="1"/>
          </p:cNvSpPr>
          <p:nvPr/>
        </p:nvSpPr>
        <p:spPr bwMode="auto">
          <a:xfrm>
            <a:off x="5795963" y="2492375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选择产生式</a:t>
            </a:r>
            <a:endParaRPr lang="zh-CN" altLang="en-US" sz="240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95241" name="Text Box 9"/>
          <p:cNvSpPr txBox="1">
            <a:spLocks noChangeArrowheads="1"/>
          </p:cNvSpPr>
          <p:nvPr/>
        </p:nvSpPr>
        <p:spPr bwMode="auto">
          <a:xfrm>
            <a:off x="6372225" y="3141663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分析孩子节点</a:t>
            </a:r>
            <a:endParaRPr lang="zh-CN" altLang="en-US" sz="240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95244" name="Text Box 12"/>
          <p:cNvSpPr txBox="1">
            <a:spLocks noChangeArrowheads="1"/>
          </p:cNvSpPr>
          <p:nvPr/>
        </p:nvSpPr>
        <p:spPr bwMode="auto">
          <a:xfrm>
            <a:off x="6300788" y="3789363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处理</a:t>
            </a:r>
            <a:r>
              <a:rPr lang="en-US" altLang="zh-CN" sz="2400">
                <a:solidFill>
                  <a:srgbClr val="FF3300"/>
                </a:solidFill>
                <a:latin typeface="Tahoma" panose="020B0604030504040204" pitchFamily="34" charset="0"/>
              </a:rPr>
              <a:t>T</a:t>
            </a:r>
            <a:endParaRPr lang="en-US" altLang="zh-CN" sz="240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95246" name="Text Box 14"/>
          <p:cNvSpPr txBox="1">
            <a:spLocks noChangeArrowheads="1"/>
          </p:cNvSpPr>
          <p:nvPr/>
        </p:nvSpPr>
        <p:spPr bwMode="auto">
          <a:xfrm>
            <a:off x="5867400" y="4724400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处理</a:t>
            </a:r>
            <a:r>
              <a:rPr lang="en-US" altLang="zh-CN" sz="2400">
                <a:solidFill>
                  <a:srgbClr val="FF3300"/>
                </a:solidFill>
                <a:latin typeface="Tahoma" panose="020B0604030504040204" pitchFamily="34" charset="0"/>
              </a:rPr>
              <a:t>NT</a:t>
            </a: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，递归</a:t>
            </a:r>
            <a:endParaRPr lang="zh-CN" altLang="en-US" sz="240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82953" name="矩形 8"/>
          <p:cNvSpPr>
            <a:spLocks noChangeArrowheads="1"/>
          </p:cNvSpPr>
          <p:nvPr/>
        </p:nvSpPr>
        <p:spPr bwMode="auto">
          <a:xfrm>
            <a:off x="3779838" y="5192713"/>
            <a:ext cx="3313112" cy="166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</a:rPr>
              <a:t>type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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</a:t>
            </a:r>
            <a:endParaRPr kumimoji="0" lang="en-US" altLang="zh-CN" sz="1400" i="1">
              <a:ea typeface="隶书" panose="02010509060101010101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           | 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 id</a:t>
            </a:r>
            <a:endParaRPr kumimoji="0" lang="en-US" altLang="zh-CN" sz="1400" b="1">
              <a:ea typeface="隶书" panose="02010509060101010101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array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[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]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of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  </a:t>
            </a: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type</a:t>
            </a:r>
            <a:endParaRPr kumimoji="0" lang="en-US" altLang="zh-CN" sz="1400" i="1">
              <a:ea typeface="隶书" panose="02010509060101010101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i="1">
                <a:ea typeface="隶书" panose="02010509060101010101" pitchFamily="49" charset="-122"/>
                <a:sym typeface="Symbol" panose="05050102010706020507" pitchFamily="18" charset="2"/>
              </a:rPr>
              <a:t>simple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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integer</a:t>
            </a:r>
            <a:endParaRPr kumimoji="0" lang="en-US" altLang="zh-CN" sz="1400" b="1">
              <a:ea typeface="隶书" panose="02010509060101010101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char</a:t>
            </a:r>
            <a:endParaRPr kumimoji="0" lang="en-US" altLang="zh-CN" sz="1400" b="1">
              <a:ea typeface="隶书" panose="02010509060101010101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         </a:t>
            </a:r>
            <a:r>
              <a:rPr kumimoji="0" lang="en-US" altLang="zh-CN" sz="1400">
                <a:ea typeface="隶书" panose="02010509060101010101" pitchFamily="49" charset="-122"/>
                <a:sym typeface="Symbol" panose="05050102010706020507" pitchFamily="18" charset="2"/>
              </a:rPr>
              <a:t>| </a:t>
            </a:r>
            <a:r>
              <a:rPr kumimoji="0" lang="en-US" altLang="zh-CN" sz="1400" b="1">
                <a:ea typeface="隶书" panose="02010509060101010101" pitchFamily="49" charset="-122"/>
                <a:sym typeface="Symbol" panose="05050102010706020507" pitchFamily="18" charset="2"/>
              </a:rPr>
              <a:t>   num dotdot num</a:t>
            </a:r>
            <a:endParaRPr lang="en-US" altLang="zh-CN" sz="1400">
              <a:ea typeface="隶书" panose="02010509060101010101" pitchFamily="49" charset="-122"/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4211638" y="1590675"/>
            <a:ext cx="2016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3300"/>
                </a:solidFill>
                <a:latin typeface="Tahoma" panose="020B0604030504040204" pitchFamily="34" charset="0"/>
              </a:rPr>
              <a:t>首单词集合</a:t>
            </a:r>
            <a:endParaRPr lang="zh-CN" altLang="en-US" sz="2400" dirty="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0" tmFilter="0, 0; .2, .5; .8, .5; 1, 0"/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0" autoRev="1" fill="hold"/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0" tmFilter="0, 0; .2, .5; .8, .5; 1, 0"/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0" autoRev="1" fill="hold"/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0" tmFilter="0, 0; .2, .5; .8, .5; 1, 0"/>
                                        <p:tgtEl>
                                          <p:spTgt spid="95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0" autoRev="1" fill="hold"/>
                                        <p:tgtEl>
                                          <p:spTgt spid="95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0" tmFilter="0, 0; .2, .5; .8, .5; 1, 0"/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0" autoRev="1" fill="hold"/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0" tmFilter="0, 0; .2, .5; .8, .5; 1, 0"/>
                                        <p:tgtEl>
                                          <p:spTgt spid="9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0" autoRev="1" fill="hold"/>
                                        <p:tgtEl>
                                          <p:spTgt spid="9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0" tmFilter="0, 0; .2, .5; .8, .5; 1, 0"/>
                                        <p:tgtEl>
                                          <p:spTgt spid="9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0" autoRev="1" fill="hold"/>
                                        <p:tgtEl>
                                          <p:spTgt spid="9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0" tmFilter="0, 0; .2, .5; .8, .5; 1, 0"/>
                                        <p:tgtEl>
                                          <p:spTgt spid="95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0" autoRev="1" fill="hold"/>
                                        <p:tgtEl>
                                          <p:spTgt spid="95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0" tmFilter="0, 0; .2, .5; .8, .5; 1, 0"/>
                                        <p:tgtEl>
                                          <p:spTgt spid="95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0" autoRev="1" fill="hold"/>
                                        <p:tgtEl>
                                          <p:spTgt spid="95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0" tmFilter="0, 0; .2, .5; .8, .5; 1, 0"/>
                                        <p:tgtEl>
                                          <p:spTgt spid="95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0" autoRev="1" fill="hold"/>
                                        <p:tgtEl>
                                          <p:spTgt spid="95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0" tmFilter="0, 0; .2, .5; .8, .5; 1, 0"/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0" autoRev="1" fill="hold"/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0" tmFilter="0, 0; .2, .5; .8, .5; 1, 0"/>
                                        <p:tgtEl>
                                          <p:spTgt spid="9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0" autoRev="1" fill="hold"/>
                                        <p:tgtEl>
                                          <p:spTgt spid="9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0" tmFilter="0, 0; .2, .5; .8, .5; 1, 0"/>
                                        <p:tgtEl>
                                          <p:spTgt spid="9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0" autoRev="1" fill="hold"/>
                                        <p:tgtEl>
                                          <p:spTgt spid="9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0" tmFilter="0, 0; .2, .5; .8, .5; 1, 0"/>
                                        <p:tgtEl>
                                          <p:spTgt spid="95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0" autoRev="1" fill="hold"/>
                                        <p:tgtEl>
                                          <p:spTgt spid="95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0" tmFilter="0, 0; .2, .5; .8, .5; 1, 0"/>
                                        <p:tgtEl>
                                          <p:spTgt spid="95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0" autoRev="1" fill="hold"/>
                                        <p:tgtEl>
                                          <p:spTgt spid="95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0" tmFilter="0, 0; .2, .5; .8, .5; 1, 0"/>
                                        <p:tgtEl>
                                          <p:spTgt spid="95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0" autoRev="1" fill="hold"/>
                                        <p:tgtEl>
                                          <p:spTgt spid="95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0" tmFilter="0, 0; .2, .5; .8, .5; 1, 0"/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3" dur="2500" autoRev="1" fill="hold"/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6" grpId="0"/>
      <p:bldP spid="95236" grpId="1"/>
      <p:bldP spid="95238" grpId="0"/>
      <p:bldP spid="95238" grpId="1"/>
      <p:bldP spid="95241" grpId="0"/>
      <p:bldP spid="95241" grpId="1"/>
      <p:bldP spid="95244" grpId="0"/>
      <p:bldP spid="95244" grpId="1"/>
      <p:bldP spid="95246" grpId="0"/>
      <p:bldP spid="10" grpId="0"/>
      <p:bldP spid="10" grpId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预测分析程序（续）</a:t>
            </a:r>
            <a:endParaRPr lang="zh-CN" altLang="en-US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procedure </a:t>
            </a:r>
            <a:r>
              <a:rPr kumimoji="0" lang="en-US" altLang="zh-CN" sz="2400" i="1">
                <a:sym typeface="Symbol" panose="05050102010706020507" pitchFamily="18" charset="2"/>
              </a:rPr>
              <a:t> simple </a:t>
            </a:r>
            <a:r>
              <a:rPr kumimoji="0" lang="en-US" altLang="zh-CN" sz="2400">
                <a:sym typeface="Symbol" panose="05050102010706020507" pitchFamily="18" charset="2"/>
              </a:rPr>
              <a:t>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begin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        if </a:t>
            </a:r>
            <a:r>
              <a:rPr kumimoji="0" lang="en-US" altLang="zh-CN" sz="2400" i="1">
                <a:sym typeface="Symbol" panose="05050102010706020507" pitchFamily="18" charset="2"/>
              </a:rPr>
              <a:t> lookahead </a:t>
            </a:r>
            <a:r>
              <a:rPr kumimoji="0" lang="en-US" altLang="zh-CN" sz="2400">
                <a:sym typeface="Symbol" panose="05050102010706020507" pitchFamily="18" charset="2"/>
              </a:rPr>
              <a:t>= </a:t>
            </a:r>
            <a:r>
              <a:rPr kumimoji="0" lang="en-US" altLang="zh-CN" sz="2400" b="1">
                <a:sym typeface="Symbol" panose="05050102010706020507" pitchFamily="18" charset="2"/>
              </a:rPr>
              <a:t>integer  then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                </a:t>
            </a:r>
            <a:r>
              <a:rPr kumimoji="0" lang="en-US" altLang="zh-CN" sz="2400" i="1">
                <a:sym typeface="Symbol" panose="05050102010706020507" pitchFamily="18" charset="2"/>
              </a:rPr>
              <a:t>match</a:t>
            </a:r>
            <a:r>
              <a:rPr kumimoji="0" lang="en-US" altLang="zh-CN" sz="2400">
                <a:sym typeface="Symbol" panose="05050102010706020507" pitchFamily="18" charset="2"/>
              </a:rPr>
              <a:t> ( </a:t>
            </a:r>
            <a:r>
              <a:rPr kumimoji="0" lang="en-US" altLang="zh-CN" sz="2400" b="1">
                <a:sym typeface="Symbol" panose="05050102010706020507" pitchFamily="18" charset="2"/>
              </a:rPr>
              <a:t>integer</a:t>
            </a:r>
            <a:r>
              <a:rPr kumimoji="0" lang="en-US" altLang="zh-CN" sz="2400">
                <a:sym typeface="Symbol" panose="05050102010706020507" pitchFamily="18" charset="2"/>
              </a:rPr>
              <a:t> );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  </a:t>
            </a:r>
            <a:r>
              <a:rPr kumimoji="0" lang="en-US" altLang="zh-CN" sz="2400" b="1">
                <a:sym typeface="Symbol" panose="05050102010706020507" pitchFamily="18" charset="2"/>
              </a:rPr>
              <a:t>else if </a:t>
            </a:r>
            <a:r>
              <a:rPr kumimoji="0" lang="en-US" altLang="zh-CN" sz="2400" i="1">
                <a:sym typeface="Symbol" panose="05050102010706020507" pitchFamily="18" charset="2"/>
              </a:rPr>
              <a:t> lookahead </a:t>
            </a:r>
            <a:r>
              <a:rPr kumimoji="0" lang="en-US" altLang="zh-CN" sz="2400">
                <a:sym typeface="Symbol" panose="05050102010706020507" pitchFamily="18" charset="2"/>
              </a:rPr>
              <a:t>= </a:t>
            </a:r>
            <a:r>
              <a:rPr kumimoji="0" lang="en-US" altLang="zh-CN" sz="2400" b="1">
                <a:sym typeface="Symbol" panose="05050102010706020507" pitchFamily="18" charset="2"/>
              </a:rPr>
              <a:t>char  then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                </a:t>
            </a:r>
            <a:r>
              <a:rPr kumimoji="0" lang="en-US" altLang="zh-CN" sz="2400" i="1">
                <a:sym typeface="Symbol" panose="05050102010706020507" pitchFamily="18" charset="2"/>
              </a:rPr>
              <a:t>match </a:t>
            </a:r>
            <a:r>
              <a:rPr kumimoji="0" lang="en-US" altLang="zh-CN" sz="2400">
                <a:sym typeface="Symbol" panose="05050102010706020507" pitchFamily="18" charset="2"/>
              </a:rPr>
              <a:t>( </a:t>
            </a:r>
            <a:r>
              <a:rPr kumimoji="0" lang="en-US" altLang="zh-CN" sz="2400" b="1">
                <a:sym typeface="Symbol" panose="05050102010706020507" pitchFamily="18" charset="2"/>
              </a:rPr>
              <a:t>char</a:t>
            </a:r>
            <a:r>
              <a:rPr kumimoji="0" lang="en-US" altLang="zh-CN" sz="2400">
                <a:sym typeface="Symbol" panose="05050102010706020507" pitchFamily="18" charset="2"/>
              </a:rPr>
              <a:t> );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        else if  </a:t>
            </a:r>
            <a:r>
              <a:rPr kumimoji="0" lang="en-US" altLang="zh-CN" sz="2400" i="1">
                <a:sym typeface="Symbol" panose="05050102010706020507" pitchFamily="18" charset="2"/>
              </a:rPr>
              <a:t>lookahead </a:t>
            </a:r>
            <a:r>
              <a:rPr kumimoji="0" lang="en-US" altLang="zh-CN" sz="2400">
                <a:sym typeface="Symbol" panose="05050102010706020507" pitchFamily="18" charset="2"/>
              </a:rPr>
              <a:t>= </a:t>
            </a:r>
            <a:r>
              <a:rPr kumimoji="0" lang="en-US" altLang="zh-CN" sz="2400" b="1">
                <a:sym typeface="Symbol" panose="05050102010706020507" pitchFamily="18" charset="2"/>
              </a:rPr>
              <a:t>num  then  begin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                </a:t>
            </a:r>
            <a:r>
              <a:rPr kumimoji="0" lang="en-US" altLang="zh-CN" sz="2400" i="1">
                <a:sym typeface="Symbol" panose="05050102010706020507" pitchFamily="18" charset="2"/>
              </a:rPr>
              <a:t>match </a:t>
            </a:r>
            <a:r>
              <a:rPr kumimoji="0" lang="en-US" altLang="zh-CN" sz="2400"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ym typeface="Symbol" panose="05050102010706020507" pitchFamily="18" charset="2"/>
              </a:rPr>
              <a:t>); </a:t>
            </a:r>
            <a:r>
              <a:rPr kumimoji="0" lang="en-US" altLang="zh-CN" sz="2400" i="1">
                <a:sym typeface="Symbol" panose="05050102010706020507" pitchFamily="18" charset="2"/>
              </a:rPr>
              <a:t>match </a:t>
            </a:r>
            <a:r>
              <a:rPr kumimoji="0" lang="en-US" altLang="zh-CN" sz="2400"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dotdot</a:t>
            </a:r>
            <a:r>
              <a:rPr kumimoji="0" lang="en-US" altLang="zh-CN" sz="2400">
                <a:sym typeface="Symbol" panose="05050102010706020507" pitchFamily="18" charset="2"/>
              </a:rPr>
              <a:t>); </a:t>
            </a:r>
            <a:r>
              <a:rPr kumimoji="0" lang="en-US" altLang="zh-CN" sz="2400" i="1">
                <a:sym typeface="Symbol" panose="05050102010706020507" pitchFamily="18" charset="2"/>
              </a:rPr>
              <a:t>match </a:t>
            </a:r>
            <a:r>
              <a:rPr kumimoji="0" lang="en-US" altLang="zh-CN" sz="2400"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  </a:t>
            </a:r>
            <a:r>
              <a:rPr kumimoji="0" lang="en-US" altLang="zh-CN" sz="2400" b="1">
                <a:sym typeface="Symbol" panose="05050102010706020507" pitchFamily="18" charset="2"/>
              </a:rPr>
              <a:t>end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        else  </a:t>
            </a:r>
            <a:r>
              <a:rPr kumimoji="0" lang="en-US" altLang="zh-CN" sz="2400" i="1">
                <a:sym typeface="Symbol" panose="05050102010706020507" pitchFamily="18" charset="2"/>
              </a:rPr>
              <a:t>error</a:t>
            </a:r>
            <a:endParaRPr kumimoji="0" lang="en-US" altLang="zh-CN" sz="2400" i="1">
              <a:sym typeface="Symbol" panose="05050102010706020507" pitchFamily="18" charset="2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end ;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2.4.4  </a:t>
            </a:r>
            <a:r>
              <a:rPr lang="zh-CN" altLang="en-US"/>
              <a:t>设计预测分析器</a:t>
            </a:r>
            <a:endParaRPr lang="zh-CN" altLang="en-US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sym typeface="Wingdings" panose="05000000000000000000" pitchFamily="2" charset="2"/>
              </a:rPr>
              <a:t>一个超前单词</a:t>
            </a:r>
            <a:r>
              <a:rPr lang="en-US" altLang="zh-CN" sz="2800" dirty="0">
                <a:latin typeface="Tahoma" panose="020B0604030504040204" pitchFamily="34" charset="0"/>
                <a:sym typeface="Wingdings" panose="05000000000000000000" pitchFamily="2" charset="2"/>
              </a:rPr>
              <a:t>———</a:t>
            </a:r>
            <a:r>
              <a:rPr lang="zh-CN" altLang="en-US" sz="2800" dirty="0">
                <a:sym typeface="Wingdings" panose="05000000000000000000" pitchFamily="2" charset="2"/>
              </a:rPr>
              <a:t>产生式</a:t>
            </a:r>
            <a:br>
              <a:rPr lang="zh-CN" altLang="en-US" sz="2800" dirty="0">
                <a:sym typeface="Wingdings" panose="05000000000000000000" pitchFamily="2" charset="2"/>
              </a:rPr>
            </a:br>
            <a:r>
              <a:rPr lang="zh-CN" altLang="en-US" sz="2800" dirty="0">
                <a:sym typeface="Wingdings" panose="05000000000000000000" pitchFamily="2" charset="2"/>
              </a:rPr>
              <a:t>不同候选式推导出的单词串的第一个单词不同</a:t>
            </a:r>
            <a:endParaRPr lang="zh-CN" altLang="en-US" sz="2800" dirty="0"/>
          </a:p>
          <a:p>
            <a:pPr eaLnBrk="1" hangingPunct="1"/>
            <a:r>
              <a:rPr lang="en-US" altLang="zh-CN" sz="2800" dirty="0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en-US" altLang="zh-CN" sz="2800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sz="2400" dirty="0">
                <a:sym typeface="Symbol" panose="05050102010706020507" pitchFamily="18" charset="2"/>
              </a:rPr>
              <a:t>FIRST()</a:t>
            </a:r>
            <a:r>
              <a:rPr lang="zh-CN" altLang="en-US" sz="2400" dirty="0">
                <a:sym typeface="Symbol" panose="05050102010706020507" pitchFamily="18" charset="2"/>
              </a:rPr>
              <a:t>：推导出的单词串的第一个单词的集合，可包含</a:t>
            </a:r>
            <a:r>
              <a:rPr lang="en-US" altLang="zh-CN" sz="2400" dirty="0">
                <a:sym typeface="Symbol" panose="05050102010706020507" pitchFamily="18" charset="2"/>
              </a:rPr>
              <a:t>ε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sz="2400" dirty="0">
                <a:sym typeface="Symbol" panose="05050102010706020507" pitchFamily="18" charset="2"/>
              </a:rPr>
              <a:t>FIRST(simple) = { integer, char, num }</a:t>
            </a:r>
            <a:br>
              <a:rPr lang="en-US" altLang="zh-CN" sz="2400" dirty="0">
                <a:sym typeface="Symbol" panose="05050102010706020507" pitchFamily="18" charset="2"/>
              </a:rPr>
            </a:br>
            <a:r>
              <a:rPr lang="en-US" altLang="zh-CN" sz="2400" dirty="0">
                <a:sym typeface="Symbol" panose="05050102010706020507" pitchFamily="18" charset="2"/>
              </a:rPr>
              <a:t>FIRST(</a:t>
            </a:r>
            <a:r>
              <a:rPr kumimoji="0" lang="en-US" altLang="zh-CN" sz="2400" dirty="0">
                <a:sym typeface="Symbol" panose="05050102010706020507" pitchFamily="18" charset="2"/>
              </a:rPr>
              <a:t></a:t>
            </a:r>
            <a:r>
              <a:rPr kumimoji="0" lang="en-US" altLang="zh-CN" sz="2400" b="1" dirty="0">
                <a:sym typeface="Symbol" panose="05050102010706020507" pitchFamily="18" charset="2"/>
              </a:rPr>
              <a:t>id</a:t>
            </a:r>
            <a:r>
              <a:rPr kumimoji="0" lang="en-US" altLang="zh-CN" sz="2400" dirty="0">
                <a:sym typeface="Symbol" panose="05050102010706020507" pitchFamily="18" charset="2"/>
              </a:rPr>
              <a:t>) = {}</a:t>
            </a:r>
            <a:br>
              <a:rPr kumimoji="0" lang="en-US" altLang="zh-CN" sz="2400" dirty="0">
                <a:sym typeface="Symbol" panose="05050102010706020507" pitchFamily="18" charset="2"/>
              </a:rPr>
            </a:br>
            <a:r>
              <a:rPr kumimoji="0" lang="en-US" altLang="zh-CN" sz="2400" dirty="0">
                <a:sym typeface="Symbol" panose="05050102010706020507" pitchFamily="18" charset="2"/>
              </a:rPr>
              <a:t>FIRST(</a:t>
            </a:r>
            <a:r>
              <a:rPr kumimoji="0" lang="en-US" altLang="zh-CN" sz="2400" b="1" dirty="0">
                <a:sym typeface="Symbol" panose="05050102010706020507" pitchFamily="18" charset="2"/>
              </a:rPr>
              <a:t>array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[</a:t>
            </a:r>
            <a:r>
              <a:rPr kumimoji="0" lang="en-US" altLang="zh-CN" sz="2400" dirty="0">
                <a:sym typeface="Symbol" panose="05050102010706020507" pitchFamily="18" charset="2"/>
              </a:rPr>
              <a:t> simple </a:t>
            </a:r>
            <a:r>
              <a:rPr kumimoji="0" lang="en-US" altLang="zh-CN" sz="2400" b="1" dirty="0">
                <a:sym typeface="Symbol" panose="05050102010706020507" pitchFamily="18" charset="2"/>
              </a:rPr>
              <a:t>]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of</a:t>
            </a:r>
            <a:r>
              <a:rPr kumimoji="0" lang="en-US" altLang="zh-CN" sz="2400" dirty="0">
                <a:sym typeface="Symbol" panose="05050102010706020507" pitchFamily="18" charset="2"/>
              </a:rPr>
              <a:t> type) = { </a:t>
            </a:r>
            <a:r>
              <a:rPr kumimoji="0" lang="en-US" altLang="zh-CN" sz="2400" b="1" dirty="0">
                <a:sym typeface="Symbol" panose="05050102010706020507" pitchFamily="18" charset="2"/>
              </a:rPr>
              <a:t>array</a:t>
            </a:r>
            <a:r>
              <a:rPr kumimoji="0" lang="en-US" altLang="zh-CN" sz="2400" dirty="0">
                <a:sym typeface="Symbol" panose="05050102010706020507" pitchFamily="18" charset="2"/>
              </a:rPr>
              <a:t> }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dirty="0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</a:t>
            </a:r>
            <a:r>
              <a:rPr lang="zh-CN" altLang="en-US" sz="2800" dirty="0">
                <a:sym typeface="Symbol" panose="05050102010706020507" pitchFamily="18" charset="2"/>
              </a:rPr>
              <a:t>，</a:t>
            </a:r>
            <a:r>
              <a:rPr lang="en-US" altLang="zh-CN" sz="2800" dirty="0" err="1"/>
              <a:t>A</a:t>
            </a:r>
            <a:r>
              <a:rPr lang="en-US" altLang="zh-CN" sz="2800" dirty="0" err="1">
                <a:sym typeface="Symbol" panose="05050102010706020507" pitchFamily="18" charset="2"/>
              </a:rPr>
              <a:t></a:t>
            </a:r>
            <a:r>
              <a:rPr lang="en-US" altLang="zh-CN" sz="2800" dirty="0" err="1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sym typeface="Symbol" panose="05050102010706020507" pitchFamily="18" charset="2"/>
              </a:rPr>
              <a:t>FIRST()</a:t>
            </a:r>
            <a:r>
              <a:rPr lang="zh-CN" altLang="en-US" sz="2800" dirty="0">
                <a:sym typeface="Symbol" panose="05050102010706020507" pitchFamily="18" charset="2"/>
              </a:rPr>
              <a:t>和</a:t>
            </a:r>
            <a:r>
              <a:rPr lang="en-US" altLang="zh-CN" sz="2800" dirty="0">
                <a:sym typeface="Symbol" panose="05050102010706020507" pitchFamily="18" charset="2"/>
              </a:rPr>
              <a:t>FIRST(</a:t>
            </a:r>
            <a:r>
              <a:rPr lang="en-US" altLang="zh-CN" sz="2800" dirty="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zh-CN" sz="2800" dirty="0">
                <a:sym typeface="Symbol" panose="05050102010706020507" pitchFamily="18" charset="2"/>
              </a:rPr>
              <a:t>)</a:t>
            </a:r>
            <a:r>
              <a:rPr lang="zh-CN" altLang="en-US" sz="2800" dirty="0">
                <a:sym typeface="Symbol" panose="05050102010706020507" pitchFamily="18" charset="2"/>
              </a:rPr>
              <a:t>不能相交</a:t>
            </a:r>
            <a:endParaRPr lang="zh-CN" altLang="en-US" sz="2800" dirty="0">
              <a:sym typeface="Symbol" panose="05050102010706020507" pitchFamily="18" charset="2"/>
            </a:endParaRPr>
          </a:p>
        </p:txBody>
      </p:sp>
      <p:sp>
        <p:nvSpPr>
          <p:cNvPr id="84996" name="Text Box 4"/>
          <p:cNvSpPr txBox="1">
            <a:spLocks noChangeArrowheads="1"/>
          </p:cNvSpPr>
          <p:nvPr/>
        </p:nvSpPr>
        <p:spPr bwMode="auto">
          <a:xfrm>
            <a:off x="3657600" y="1295400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唯一确定</a:t>
            </a:r>
            <a:endParaRPr lang="zh-CN" altLang="en-US" sz="2000">
              <a:solidFill>
                <a:srgbClr val="3333CC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预测分析器算法</a:t>
            </a:r>
            <a:endParaRPr lang="zh-CN" altLang="en-US"/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609600" indent="-609600" eaLnBrk="1" hangingPunct="1"/>
            <a:r>
              <a:rPr lang="zh-CN" altLang="en-US" sz="2800"/>
              <a:t>为每个</a:t>
            </a:r>
            <a:r>
              <a:rPr lang="en-US" altLang="zh-CN" sz="2800"/>
              <a:t>NT A</a:t>
            </a:r>
            <a:r>
              <a:rPr lang="zh-CN" altLang="en-US" sz="2800"/>
              <a:t>构造一个递归函数，完成如下工作：</a:t>
            </a:r>
            <a:endParaRPr lang="zh-CN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产生式选择</a:t>
            </a:r>
            <a:endParaRPr lang="zh-CN" altLang="en-US" sz="2800"/>
          </a:p>
          <a:p>
            <a:pPr marL="990600" lvl="1" indent="-533400" eaLnBrk="1" hangingPunct="1">
              <a:spcBef>
                <a:spcPct val="0"/>
              </a:spcBef>
              <a:buFont typeface="Wingdings" panose="05000000000000000000" pitchFamily="2" charset="2"/>
              <a:buAutoNum type="alphaLcParenR"/>
            </a:pPr>
            <a:r>
              <a:rPr lang="zh-CN" altLang="en-US" sz="2400"/>
              <a:t>对</a:t>
            </a:r>
            <a:r>
              <a:rPr lang="en-US" altLang="zh-CN" sz="2400"/>
              <a:t>A</a:t>
            </a:r>
            <a:r>
              <a:rPr lang="en-US" altLang="zh-CN" sz="2400">
                <a:sym typeface="Symbol" panose="05050102010706020507" pitchFamily="18" charset="2"/>
              </a:rPr>
              <a:t></a:t>
            </a:r>
            <a:r>
              <a:rPr lang="en-US" altLang="zh-CN" sz="2400">
                <a:latin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lang="zh-CN" altLang="en-US" sz="2400">
                <a:latin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zh-CN" altLang="en-US" sz="2400">
                <a:sym typeface="Symbol" panose="05050102010706020507" pitchFamily="18" charset="2"/>
              </a:rPr>
              <a:t>超前符号在</a:t>
            </a:r>
            <a:r>
              <a:rPr lang="en-US" altLang="zh-CN" sz="2400">
                <a:sym typeface="Symbol" panose="05050102010706020507" pitchFamily="18" charset="2"/>
              </a:rPr>
              <a:t>FIRST()</a:t>
            </a:r>
            <a:r>
              <a:rPr lang="zh-CN" altLang="en-US" sz="2400">
                <a:sym typeface="Symbol" panose="05050102010706020507" pitchFamily="18" charset="2"/>
              </a:rPr>
              <a:t>中</a:t>
            </a:r>
            <a:r>
              <a:rPr lang="zh-CN" altLang="en-US" sz="2400">
                <a:sym typeface="Wingdings" panose="05000000000000000000" pitchFamily="2" charset="2"/>
              </a:rPr>
              <a:t></a:t>
            </a:r>
            <a:r>
              <a:rPr lang="zh-CN" altLang="en-US" sz="2400">
                <a:sym typeface="Symbol" panose="05050102010706020507" pitchFamily="18" charset="2"/>
              </a:rPr>
              <a:t>选择它</a:t>
            </a:r>
            <a:endParaRPr lang="zh-CN" altLang="en-US" sz="2400">
              <a:sym typeface="Symbol" panose="05050102010706020507" pitchFamily="18" charset="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zh-CN" altLang="en-US" sz="2400">
                <a:sym typeface="Symbol" panose="05050102010706020507" pitchFamily="18" charset="2"/>
              </a:rPr>
              <a:t>若有冲突</a:t>
            </a:r>
            <a:r>
              <a:rPr lang="zh-CN" altLang="en-US" sz="2400">
                <a:sym typeface="Wingdings" panose="05000000000000000000" pitchFamily="2" charset="2"/>
              </a:rPr>
              <a:t></a:t>
            </a:r>
            <a:r>
              <a:rPr lang="zh-CN" altLang="en-US" sz="2400">
                <a:sym typeface="Symbol" panose="05050102010706020507" pitchFamily="18" charset="2"/>
              </a:rPr>
              <a:t>预测分析法不适用</a:t>
            </a:r>
            <a:endParaRPr lang="zh-CN" altLang="en-US" sz="2400">
              <a:sym typeface="Symbol" panose="05050102010706020507" pitchFamily="18" charset="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en-US" altLang="zh-CN" sz="2400"/>
              <a:t>A</a:t>
            </a:r>
            <a:r>
              <a:rPr lang="en-US" altLang="zh-CN" sz="2400">
                <a:sym typeface="Symbol" panose="05050102010706020507" pitchFamily="18" charset="2"/>
              </a:rPr>
              <a:t> 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zh-CN" altLang="en-US" sz="2400">
                <a:sym typeface="Symbol" panose="05050102010706020507" pitchFamily="18" charset="2"/>
              </a:rPr>
              <a:t>，且超前单词不在其他任何产生式右部的</a:t>
            </a:r>
            <a:r>
              <a:rPr lang="en-US" altLang="zh-CN" sz="2400">
                <a:sym typeface="Symbol" panose="05050102010706020507" pitchFamily="18" charset="2"/>
              </a:rPr>
              <a:t>FIRST</a:t>
            </a:r>
            <a:r>
              <a:rPr lang="zh-CN" altLang="en-US" sz="2400">
                <a:sym typeface="Symbol" panose="05050102010706020507" pitchFamily="18" charset="2"/>
              </a:rPr>
              <a:t>集中</a:t>
            </a:r>
            <a:r>
              <a:rPr lang="zh-CN" altLang="en-US" sz="2400">
                <a:sym typeface="Wingdings" panose="05000000000000000000" pitchFamily="2" charset="2"/>
              </a:rPr>
              <a:t></a:t>
            </a:r>
            <a:r>
              <a:rPr lang="zh-CN" altLang="en-US" sz="2400">
                <a:sym typeface="Symbol" panose="05050102010706020507" pitchFamily="18" charset="2"/>
              </a:rPr>
              <a:t>选择它</a:t>
            </a:r>
            <a:endParaRPr lang="zh-CN" altLang="en-US" sz="24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预测分析器算法</a:t>
            </a:r>
            <a:endParaRPr lang="zh-CN" altLang="en-US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 startAt="2"/>
            </a:pPr>
            <a:r>
              <a:rPr lang="zh-CN" altLang="en-US">
                <a:sym typeface="Symbol" panose="05050102010706020507" pitchFamily="18" charset="2"/>
              </a:rPr>
              <a:t>产生式的使用</a:t>
            </a:r>
            <a:r>
              <a:rPr lang="en-US" altLang="zh-CN">
                <a:sym typeface="Symbol" panose="05050102010706020507" pitchFamily="18" charset="2"/>
              </a:rPr>
              <a:t>——</a:t>
            </a:r>
            <a:r>
              <a:rPr lang="zh-CN" altLang="en-US">
                <a:sym typeface="Symbol" panose="05050102010706020507" pitchFamily="18" charset="2"/>
              </a:rPr>
              <a:t>依次处理右部符号</a:t>
            </a:r>
            <a:endParaRPr lang="zh-CN" altLang="en-US">
              <a:sym typeface="Symbol" panose="05050102010706020507" pitchFamily="18" charset="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zh-CN" altLang="en-US">
                <a:sym typeface="Symbol" panose="05050102010706020507" pitchFamily="18" charset="2"/>
              </a:rPr>
              <a:t>对</a:t>
            </a:r>
            <a:r>
              <a:rPr lang="en-US" altLang="zh-CN">
                <a:sym typeface="Symbol" panose="05050102010706020507" pitchFamily="18" charset="2"/>
              </a:rPr>
              <a:t>NT</a:t>
            </a:r>
            <a:r>
              <a:rPr lang="zh-CN" altLang="en-US">
                <a:sym typeface="Symbol" panose="05050102010706020507" pitchFamily="18" charset="2"/>
              </a:rPr>
              <a:t>，调用对应递归函数</a:t>
            </a:r>
            <a:endParaRPr lang="zh-CN" altLang="en-US">
              <a:sym typeface="Symbol" panose="05050102010706020507" pitchFamily="18" charset="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zh-CN" altLang="en-US">
                <a:sym typeface="Symbol" panose="05050102010706020507" pitchFamily="18" charset="2"/>
              </a:rPr>
              <a:t>对</a:t>
            </a:r>
            <a:r>
              <a:rPr lang="en-US" altLang="zh-CN">
                <a:sym typeface="Symbol" panose="05050102010706020507" pitchFamily="18" charset="2"/>
              </a:rPr>
              <a:t>T</a:t>
            </a:r>
            <a:r>
              <a:rPr lang="zh-CN" altLang="en-US">
                <a:sym typeface="Symbol" panose="05050102010706020507" pitchFamily="18" charset="2"/>
              </a:rPr>
              <a:t>，与超前单词比较，若匹配读取下一单词，否则错误</a:t>
            </a:r>
            <a:endParaRPr lang="zh-CN" altLang="en-US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结合翻译模式</a:t>
            </a:r>
            <a:endParaRPr lang="zh-CN" altLang="en-US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812800" indent="-812800" eaLnBrk="1" hangingPunct="1"/>
            <a:r>
              <a:rPr lang="zh-CN" altLang="en-US" sz="2800" dirty="0"/>
              <a:t>简单方法</a:t>
            </a:r>
            <a:endParaRPr lang="zh-CN" altLang="en-US" sz="2800" dirty="0"/>
          </a:p>
          <a:p>
            <a:pPr marL="812800" indent="-8128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首先构造预测分析器</a:t>
            </a:r>
            <a:endParaRPr lang="zh-CN" altLang="en-US" sz="2800" dirty="0"/>
          </a:p>
          <a:p>
            <a:pPr marL="812800" indent="-8128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实现语义动作</a:t>
            </a:r>
            <a:endParaRPr lang="zh-CN" altLang="en-US" sz="2800" dirty="0"/>
          </a:p>
          <a:p>
            <a:pPr marL="1168400" lvl="1" indent="-711200" eaLnBrk="1" hangingPunct="1">
              <a:buFont typeface="Wingdings" panose="05000000000000000000" pitchFamily="2" charset="2"/>
              <a:buAutoNum type="alphaLcParenR"/>
            </a:pPr>
            <a:r>
              <a:rPr lang="zh-CN" altLang="en-US" sz="2400" dirty="0"/>
              <a:t>将语义动作的程序片段复制到分析器代码中</a:t>
            </a:r>
            <a:endParaRPr lang="zh-CN" altLang="en-US" sz="2400" dirty="0"/>
          </a:p>
          <a:p>
            <a:pPr marL="1168400" lvl="1" indent="-711200" eaLnBrk="1" hangingPunct="1">
              <a:buFont typeface="Wingdings" panose="05000000000000000000" pitchFamily="2" charset="2"/>
              <a:buAutoNum type="alphaLcParenR"/>
            </a:pPr>
            <a:r>
              <a:rPr lang="zh-CN" altLang="en-US" sz="2400" dirty="0"/>
              <a:t>位置？</a:t>
            </a:r>
            <a:endParaRPr lang="zh-CN" altLang="en-US" sz="2400" dirty="0"/>
          </a:p>
          <a:p>
            <a:pPr marL="1524000" lvl="2" indent="-609600" eaLnBrk="1" hangingPunct="1">
              <a:buFont typeface="Wingdings" panose="05000000000000000000" pitchFamily="2" charset="2"/>
              <a:buAutoNum type="romanUcPeriod"/>
            </a:pPr>
            <a:r>
              <a:rPr lang="zh-CN" altLang="en-US" sz="2000" dirty="0"/>
              <a:t>语义动作位于语法符号</a:t>
            </a:r>
            <a:r>
              <a:rPr lang="en-US" altLang="zh-CN" sz="2000" dirty="0"/>
              <a:t>X</a:t>
            </a:r>
            <a:r>
              <a:rPr lang="zh-CN" altLang="en-US" sz="2000" dirty="0"/>
              <a:t>之后</a:t>
            </a:r>
            <a:br>
              <a:rPr lang="zh-CN" altLang="en-US" sz="2000" dirty="0"/>
            </a:br>
            <a:r>
              <a:rPr lang="zh-CN" altLang="en-US" sz="2000" dirty="0"/>
              <a:t>将程序片段放在紧接在处理</a:t>
            </a:r>
            <a:r>
              <a:rPr lang="en-US" altLang="zh-CN" sz="2000" dirty="0"/>
              <a:t>X</a:t>
            </a:r>
            <a:r>
              <a:rPr lang="zh-CN" altLang="en-US" sz="2000" dirty="0"/>
              <a:t>的代码之后</a:t>
            </a:r>
            <a:endParaRPr lang="zh-CN" altLang="en-US" sz="2000" dirty="0"/>
          </a:p>
          <a:p>
            <a:pPr marL="1524000" lvl="2" indent="-609600" eaLnBrk="1" hangingPunct="1">
              <a:buFont typeface="Wingdings" panose="05000000000000000000" pitchFamily="2" charset="2"/>
              <a:buAutoNum type="romanUcPeriod"/>
            </a:pPr>
            <a:r>
              <a:rPr lang="zh-CN" altLang="en-US" sz="2000" dirty="0"/>
              <a:t>位于产生式开始，复制到函数最前面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2.4.5  </a:t>
            </a:r>
            <a:r>
              <a:rPr lang="zh-CN" altLang="en-US"/>
              <a:t>左递归</a:t>
            </a:r>
            <a:endParaRPr lang="zh-CN" altLang="en-US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3300"/>
                </a:solidFill>
              </a:rPr>
              <a:t>left recursion</a:t>
            </a:r>
            <a:r>
              <a:rPr lang="zh-CN" altLang="en-US" sz="2400" dirty="0"/>
              <a:t>，导致递归下降程序无限循环</a:t>
            </a:r>
            <a:endParaRPr lang="zh-CN" altLang="en-US" sz="2400" dirty="0"/>
          </a:p>
        </p:txBody>
      </p:sp>
      <p:sp>
        <p:nvSpPr>
          <p:cNvPr id="89096" name="Text Box 8"/>
          <p:cNvSpPr txBox="1">
            <a:spLocks noChangeArrowheads="1"/>
          </p:cNvSpPr>
          <p:nvPr/>
        </p:nvSpPr>
        <p:spPr bwMode="auto">
          <a:xfrm>
            <a:off x="1230364" y="2420275"/>
            <a:ext cx="3657600" cy="2245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3333CC"/>
                </a:solidFill>
                <a:latin typeface="Tahoma" panose="020B0604030504040204" pitchFamily="34" charset="0"/>
              </a:rPr>
              <a:t>void </a:t>
            </a:r>
            <a:r>
              <a:rPr lang="en-US" altLang="zh-CN" sz="2200" dirty="0" err="1">
                <a:solidFill>
                  <a:srgbClr val="3333CC"/>
                </a:solidFill>
                <a:latin typeface="Tahoma" panose="020B0604030504040204" pitchFamily="34" charset="0"/>
              </a:rPr>
              <a:t>idlist</a:t>
            </a:r>
            <a:r>
              <a:rPr lang="en-US" altLang="zh-CN" sz="2200" dirty="0">
                <a:solidFill>
                  <a:srgbClr val="3333CC"/>
                </a:solidFill>
                <a:latin typeface="Tahoma" panose="020B0604030504040204" pitchFamily="34" charset="0"/>
              </a:rPr>
              <a:t>()</a:t>
            </a:r>
            <a:endParaRPr lang="en-US" altLang="zh-CN" sz="2200" dirty="0">
              <a:solidFill>
                <a:srgbClr val="3333CC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65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3333CC"/>
                </a:solidFill>
                <a:latin typeface="Tahoma" panose="020B0604030504040204" pitchFamily="34" charset="0"/>
              </a:rPr>
              <a:t>{</a:t>
            </a:r>
            <a:endParaRPr lang="en-US" altLang="zh-CN" sz="2200" dirty="0">
              <a:solidFill>
                <a:srgbClr val="3333CC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65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3333CC"/>
                </a:solidFill>
                <a:latin typeface="Tahoma" panose="020B0604030504040204" pitchFamily="34" charset="0"/>
              </a:rPr>
              <a:t>    </a:t>
            </a:r>
            <a:r>
              <a:rPr lang="en-US" altLang="zh-CN" sz="2200" dirty="0">
                <a:solidFill>
                  <a:srgbClr val="3333CC"/>
                </a:solidFill>
              </a:rPr>
              <a:t>…</a:t>
            </a:r>
            <a:endParaRPr lang="en-US" altLang="zh-CN" sz="2200" dirty="0">
              <a:solidFill>
                <a:srgbClr val="3333CC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3333CC"/>
                </a:solidFill>
                <a:latin typeface="Tahoma" panose="020B0604030504040204" pitchFamily="34" charset="0"/>
              </a:rPr>
              <a:t>    if (lookahead == </a:t>
            </a:r>
            <a:r>
              <a:rPr lang="en-US" altLang="zh-CN" sz="2200" dirty="0">
                <a:solidFill>
                  <a:srgbClr val="3333CC"/>
                </a:solidFill>
              </a:rPr>
              <a:t>…</a:t>
            </a:r>
            <a:r>
              <a:rPr lang="en-US" altLang="zh-CN" sz="2200" dirty="0">
                <a:solidFill>
                  <a:srgbClr val="3333CC"/>
                </a:solidFill>
                <a:latin typeface="Tahoma" panose="020B0604030504040204" pitchFamily="34" charset="0"/>
              </a:rPr>
              <a:t>) {</a:t>
            </a:r>
            <a:endParaRPr lang="en-US" altLang="zh-CN" sz="2200" dirty="0">
              <a:solidFill>
                <a:srgbClr val="3333CC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3333CC"/>
                </a:solidFill>
                <a:latin typeface="Tahoma" panose="020B0604030504040204" pitchFamily="34" charset="0"/>
              </a:rPr>
              <a:t>	</a:t>
            </a:r>
            <a:r>
              <a:rPr lang="en-US" altLang="zh-CN" sz="2200" dirty="0" err="1">
                <a:solidFill>
                  <a:srgbClr val="3333CC"/>
                </a:solidFill>
                <a:latin typeface="Tahoma" panose="020B0604030504040204" pitchFamily="34" charset="0"/>
              </a:rPr>
              <a:t>idlist</a:t>
            </a:r>
            <a:r>
              <a:rPr lang="en-US" altLang="zh-CN" sz="2200" dirty="0">
                <a:solidFill>
                  <a:srgbClr val="3333CC"/>
                </a:solidFill>
                <a:latin typeface="Tahoma" panose="020B0604030504040204" pitchFamily="34" charset="0"/>
              </a:rPr>
              <a:t>();</a:t>
            </a:r>
            <a:endParaRPr lang="en-US" altLang="zh-CN" sz="2200" dirty="0">
              <a:solidFill>
                <a:srgbClr val="3333CC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65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3333CC"/>
                </a:solidFill>
                <a:latin typeface="Tahoma" panose="020B0604030504040204" pitchFamily="34" charset="0"/>
              </a:rPr>
              <a:t>	</a:t>
            </a:r>
            <a:r>
              <a:rPr lang="en-US" altLang="zh-CN" sz="2200" dirty="0">
                <a:solidFill>
                  <a:srgbClr val="3333CC"/>
                </a:solidFill>
              </a:rPr>
              <a:t>…</a:t>
            </a:r>
            <a:endParaRPr lang="en-US" altLang="zh-CN" sz="2200" dirty="0">
              <a:solidFill>
                <a:srgbClr val="3333CC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65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3333CC"/>
                </a:solidFill>
                <a:latin typeface="Tahoma" panose="020B0604030504040204" pitchFamily="34" charset="0"/>
              </a:rPr>
              <a:t>    }</a:t>
            </a:r>
            <a:endParaRPr lang="en-US" altLang="zh-CN" sz="2200" dirty="0">
              <a:solidFill>
                <a:srgbClr val="3333CC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65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3333CC"/>
                </a:solidFill>
                <a:latin typeface="Tahoma" panose="020B0604030504040204" pitchFamily="34" charset="0"/>
              </a:rPr>
              <a:t>}</a:t>
            </a:r>
            <a:endParaRPr lang="en-US" altLang="zh-CN" sz="2200" dirty="0">
              <a:solidFill>
                <a:srgbClr val="3333CC"/>
              </a:solidFill>
              <a:latin typeface="Tahoma" panose="020B0604030504040204" pitchFamily="34" charset="0"/>
            </a:endParaRPr>
          </a:p>
        </p:txBody>
      </p:sp>
      <p:sp>
        <p:nvSpPr>
          <p:cNvPr id="89097" name="Freeform 9"/>
          <p:cNvSpPr/>
          <p:nvPr/>
        </p:nvSpPr>
        <p:spPr bwMode="auto">
          <a:xfrm>
            <a:off x="1147814" y="2572675"/>
            <a:ext cx="1073150" cy="1219200"/>
          </a:xfrm>
          <a:custGeom>
            <a:avLst/>
            <a:gdLst>
              <a:gd name="T0" fmla="*/ 2147483646 w 676"/>
              <a:gd name="T1" fmla="*/ 2147483646 h 737"/>
              <a:gd name="T2" fmla="*/ 2147483646 w 676"/>
              <a:gd name="T3" fmla="*/ 2147483646 h 737"/>
              <a:gd name="T4" fmla="*/ 2147483646 w 676"/>
              <a:gd name="T5" fmla="*/ 2147483646 h 737"/>
              <a:gd name="T6" fmla="*/ 2147483646 w 676"/>
              <a:gd name="T7" fmla="*/ 0 h 737"/>
              <a:gd name="T8" fmla="*/ 0 60000 65536"/>
              <a:gd name="T9" fmla="*/ 0 60000 65536"/>
              <a:gd name="T10" fmla="*/ 0 60000 65536"/>
              <a:gd name="T11" fmla="*/ 0 60000 65536"/>
              <a:gd name="T12" fmla="*/ 0 w 676"/>
              <a:gd name="T13" fmla="*/ 0 h 737"/>
              <a:gd name="T14" fmla="*/ 676 w 676"/>
              <a:gd name="T15" fmla="*/ 737 h 7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6" h="737">
                <a:moveTo>
                  <a:pt x="676" y="672"/>
                </a:moveTo>
                <a:cubicBezTo>
                  <a:pt x="496" y="704"/>
                  <a:pt x="306" y="737"/>
                  <a:pt x="196" y="672"/>
                </a:cubicBezTo>
                <a:cubicBezTo>
                  <a:pt x="86" y="607"/>
                  <a:pt x="32" y="391"/>
                  <a:pt x="16" y="279"/>
                </a:cubicBezTo>
                <a:cubicBezTo>
                  <a:pt x="0" y="167"/>
                  <a:pt x="82" y="58"/>
                  <a:pt x="100" y="0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9098" name="Text Box 10"/>
          <p:cNvSpPr txBox="1">
            <a:spLocks noChangeArrowheads="1"/>
          </p:cNvSpPr>
          <p:nvPr/>
        </p:nvSpPr>
        <p:spPr bwMode="auto">
          <a:xfrm>
            <a:off x="0" y="2920876"/>
            <a:ext cx="133164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3300"/>
                </a:solidFill>
                <a:latin typeface="+mn-lt"/>
              </a:rPr>
              <a:t>选择左递归产生式</a:t>
            </a:r>
            <a:r>
              <a:rPr lang="en-US" altLang="zh-CN" sz="1800" b="1" dirty="0">
                <a:solidFill>
                  <a:srgbClr val="FF3300"/>
                </a:solidFill>
                <a:latin typeface="+mn-lt"/>
                <a:sym typeface="Wingdings" panose="05000000000000000000" pitchFamily="2" charset="2"/>
              </a:rPr>
              <a:t></a:t>
            </a:r>
            <a:endParaRPr lang="en-US" altLang="zh-CN" sz="1800" b="1" dirty="0">
              <a:solidFill>
                <a:srgbClr val="FF3300"/>
              </a:solidFill>
              <a:latin typeface="+mn-lt"/>
              <a:sym typeface="Wingdings" panose="05000000000000000000" pitchFamily="2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3300"/>
                </a:solidFill>
                <a:latin typeface="+mn-lt"/>
              </a:rPr>
              <a:t>第一个要</a:t>
            </a:r>
            <a:r>
              <a:rPr lang="en-US" altLang="zh-CN" sz="1800" b="1" dirty="0">
                <a:solidFill>
                  <a:srgbClr val="FF3300"/>
                </a:solidFill>
                <a:sym typeface="Wingdings" panose="05000000000000000000" pitchFamily="2" charset="2"/>
              </a:rPr>
              <a:t></a:t>
            </a:r>
            <a:r>
              <a:rPr lang="zh-CN" altLang="en-US" sz="1800" b="1" dirty="0">
                <a:solidFill>
                  <a:srgbClr val="FF3300"/>
                </a:solidFill>
                <a:latin typeface="+mn-lt"/>
              </a:rPr>
              <a:t>处理的</a:t>
            </a:r>
            <a:r>
              <a:rPr lang="en-US" altLang="zh-CN" sz="1800" b="1" dirty="0">
                <a:solidFill>
                  <a:srgbClr val="FF3300"/>
                </a:solidFill>
                <a:latin typeface="+mn-lt"/>
              </a:rPr>
              <a:t>NT</a:t>
            </a:r>
            <a:r>
              <a:rPr lang="zh-CN" altLang="en-US" sz="1800" b="1" dirty="0">
                <a:solidFill>
                  <a:srgbClr val="FF3300"/>
                </a:solidFill>
                <a:latin typeface="+mn-lt"/>
              </a:rPr>
              <a:t>与左部</a:t>
            </a:r>
            <a:r>
              <a:rPr lang="en-US" altLang="zh-CN" sz="1800" b="1" dirty="0">
                <a:solidFill>
                  <a:srgbClr val="FF3300"/>
                </a:solidFill>
                <a:latin typeface="+mn-lt"/>
              </a:rPr>
              <a:t>NT</a:t>
            </a:r>
            <a:r>
              <a:rPr lang="zh-CN" altLang="en-US" sz="1800" b="1" dirty="0">
                <a:solidFill>
                  <a:srgbClr val="FF3300"/>
                </a:solidFill>
                <a:latin typeface="+mn-lt"/>
              </a:rPr>
              <a:t>相同</a:t>
            </a:r>
            <a:endParaRPr lang="en-US" altLang="zh-CN" sz="1800" b="1" dirty="0">
              <a:solidFill>
                <a:srgbClr val="FF3300"/>
              </a:solidFill>
              <a:latin typeface="+mn-lt"/>
              <a:sym typeface="Wingdings" panose="05000000000000000000" pitchFamily="2" charset="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3300"/>
                </a:solidFill>
                <a:latin typeface="+mn-lt"/>
                <a:sym typeface="Wingdings" panose="05000000000000000000" pitchFamily="2" charset="2"/>
              </a:rPr>
              <a:t>递归函数调用自身</a:t>
            </a:r>
            <a:endParaRPr lang="zh-CN" altLang="en-US" sz="1800" b="1" dirty="0">
              <a:solidFill>
                <a:srgbClr val="FF3300"/>
              </a:solidFill>
              <a:latin typeface="+mn-lt"/>
            </a:endParaRPr>
          </a:p>
        </p:txBody>
      </p:sp>
      <p:sp>
        <p:nvSpPr>
          <p:cNvPr id="89099" name="Text Box 12"/>
          <p:cNvSpPr txBox="1">
            <a:spLocks noChangeArrowheads="1"/>
          </p:cNvSpPr>
          <p:nvPr/>
        </p:nvSpPr>
        <p:spPr bwMode="auto">
          <a:xfrm>
            <a:off x="6248697" y="3364217"/>
            <a:ext cx="2754067" cy="1000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200" dirty="0">
                <a:solidFill>
                  <a:srgbClr val="FF0000"/>
                </a:solidFill>
                <a:latin typeface="Tahoma" panose="020B0604030504040204" pitchFamily="34" charset="0"/>
              </a:rPr>
              <a:t>输入缓冲剩余单词</a:t>
            </a:r>
            <a:endParaRPr lang="en-US" altLang="zh-CN" sz="22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3333CC"/>
                </a:solidFill>
                <a:latin typeface="Tahoma" panose="020B0604030504040204" pitchFamily="34" charset="0"/>
              </a:rPr>
              <a:t>id , id , </a:t>
            </a:r>
            <a:r>
              <a:rPr lang="en-US" altLang="zh-CN" sz="2200" dirty="0">
                <a:solidFill>
                  <a:srgbClr val="3333CC"/>
                </a:solidFill>
              </a:rPr>
              <a:t>…</a:t>
            </a:r>
            <a:endParaRPr lang="en-US" altLang="zh-CN" sz="2200" dirty="0">
              <a:solidFill>
                <a:srgbClr val="3333CC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olidFill>
                  <a:srgbClr val="3333CC"/>
                </a:solidFill>
                <a:sym typeface="Symbol" panose="05050102010706020507" pitchFamily="18" charset="2"/>
              </a:rPr>
              <a:t></a:t>
            </a:r>
            <a:endParaRPr kumimoji="0" lang="en-US" altLang="zh-CN" sz="2400" dirty="0">
              <a:solidFill>
                <a:srgbClr val="3333CC"/>
              </a:solidFill>
              <a:sym typeface="Symbol" panose="05050102010706020507" pitchFamily="18" charset="2"/>
            </a:endParaRP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6189293" y="2420275"/>
            <a:ext cx="2487164" cy="63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200" dirty="0">
                <a:solidFill>
                  <a:srgbClr val="FF0000"/>
                </a:solidFill>
                <a:latin typeface="Tahoma" panose="020B0604030504040204" pitchFamily="34" charset="0"/>
              </a:rPr>
              <a:t>语法树当前未处理</a:t>
            </a:r>
            <a:r>
              <a:rPr lang="en-US" altLang="zh-CN" sz="2200" dirty="0">
                <a:solidFill>
                  <a:srgbClr val="FF0000"/>
                </a:solidFill>
                <a:latin typeface="Tahoma" panose="020B0604030504040204" pitchFamily="34" charset="0"/>
              </a:rPr>
              <a:t>NT</a:t>
            </a:r>
            <a:r>
              <a:rPr lang="zh-CN" altLang="en-US" sz="2200" dirty="0">
                <a:solidFill>
                  <a:srgbClr val="FF0000"/>
                </a:solidFill>
                <a:latin typeface="Tahoma" panose="020B0604030504040204" pitchFamily="34" charset="0"/>
              </a:rPr>
              <a:t>为 </a:t>
            </a:r>
            <a:r>
              <a:rPr lang="en-US" altLang="zh-CN" sz="2200" dirty="0" err="1">
                <a:solidFill>
                  <a:srgbClr val="3333CC"/>
                </a:solidFill>
                <a:latin typeface="Tahoma" panose="020B0604030504040204" pitchFamily="34" charset="0"/>
              </a:rPr>
              <a:t>idlist</a:t>
            </a:r>
            <a:endParaRPr kumimoji="0" lang="en-US" altLang="zh-CN" sz="2400" dirty="0">
              <a:solidFill>
                <a:srgbClr val="3333CC"/>
              </a:solidFill>
              <a:sym typeface="Symbol" panose="05050102010706020507" pitchFamily="18" charset="2"/>
            </a:endParaRPr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>
            <a:off x="2771799" y="2572674"/>
            <a:ext cx="3369818" cy="190713"/>
          </a:xfrm>
          <a:prstGeom prst="line">
            <a:avLst/>
          </a:prstGeom>
          <a:noFill/>
          <a:ln w="25400">
            <a:solidFill>
              <a:srgbClr val="FF3300"/>
            </a:solidFill>
            <a:miter lim="800000"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4499992" y="3117573"/>
            <a:ext cx="1800200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3300"/>
                </a:solidFill>
                <a:latin typeface="+mn-lt"/>
              </a:rPr>
              <a:t>结合</a:t>
            </a:r>
            <a:r>
              <a:rPr lang="en-US" altLang="zh-CN" sz="1800" b="1" dirty="0">
                <a:solidFill>
                  <a:srgbClr val="FF3300"/>
                </a:solidFill>
                <a:latin typeface="+mn-lt"/>
              </a:rPr>
              <a:t>First</a:t>
            </a:r>
            <a:r>
              <a:rPr lang="zh-CN" altLang="en-US" sz="1800" b="1" dirty="0">
                <a:solidFill>
                  <a:srgbClr val="FF3300"/>
                </a:solidFill>
                <a:latin typeface="+mn-lt"/>
              </a:rPr>
              <a:t>函数</a:t>
            </a:r>
            <a:endParaRPr lang="en-US" altLang="zh-CN" sz="1800" b="1" dirty="0">
              <a:solidFill>
                <a:srgbClr val="FF3300"/>
              </a:solidFill>
              <a:latin typeface="+mn-lt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3300"/>
                </a:solidFill>
                <a:latin typeface="+mn-lt"/>
              </a:rPr>
              <a:t>选择递归产生式</a:t>
            </a:r>
            <a:br>
              <a:rPr lang="en-US" altLang="zh-CN" sz="1800" b="1" dirty="0">
                <a:solidFill>
                  <a:srgbClr val="FF3300"/>
                </a:solidFill>
                <a:latin typeface="+mn-lt"/>
              </a:rPr>
            </a:br>
            <a:r>
              <a:rPr lang="en-US" altLang="zh-CN" sz="1800" i="1" dirty="0" err="1">
                <a:solidFill>
                  <a:srgbClr val="FF0000"/>
                </a:solidFill>
              </a:rPr>
              <a:t>idlist</a:t>
            </a:r>
            <a:r>
              <a:rPr kumimoji="0" lang="en-US" altLang="zh-CN" sz="1800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kumimoji="0" lang="en-US" altLang="zh-CN" sz="1800" b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1800" i="1" dirty="0" err="1">
                <a:solidFill>
                  <a:srgbClr val="FF0000"/>
                </a:solidFill>
                <a:sym typeface="Symbol" panose="05050102010706020507" pitchFamily="18" charset="2"/>
              </a:rPr>
              <a:t>idlist</a:t>
            </a:r>
            <a:r>
              <a:rPr kumimoji="0" lang="en-US" altLang="zh-CN" sz="1800" i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1800" dirty="0">
                <a:solidFill>
                  <a:srgbClr val="FF0000"/>
                </a:solidFill>
                <a:sym typeface="Symbol" panose="05050102010706020507" pitchFamily="18" charset="2"/>
              </a:rPr>
              <a:t>, </a:t>
            </a:r>
            <a:r>
              <a:rPr kumimoji="0" lang="en-US" altLang="zh-CN" sz="1800" b="1" dirty="0">
                <a:solidFill>
                  <a:srgbClr val="FF0000"/>
                </a:solidFill>
                <a:sym typeface="Symbol" panose="05050102010706020507" pitchFamily="18" charset="2"/>
              </a:rPr>
              <a:t>id</a:t>
            </a:r>
            <a:endParaRPr lang="en-US" altLang="zh-CN" sz="1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9" name="Line 13"/>
          <p:cNvSpPr>
            <a:spLocks noChangeShapeType="1"/>
          </p:cNvSpPr>
          <p:nvPr/>
        </p:nvSpPr>
        <p:spPr bwMode="auto">
          <a:xfrm>
            <a:off x="4499992" y="3454639"/>
            <a:ext cx="1632564" cy="93579"/>
          </a:xfrm>
          <a:prstGeom prst="line">
            <a:avLst/>
          </a:prstGeom>
          <a:noFill/>
          <a:ln w="25400">
            <a:solidFill>
              <a:srgbClr val="FF3300"/>
            </a:solidFill>
            <a:miter lim="800000"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3492008" y="2276259"/>
            <a:ext cx="22405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3300"/>
                </a:solidFill>
                <a:latin typeface="Symbol" panose="05050102010706020507" pitchFamily="18" charset="2"/>
              </a:rPr>
              <a:t>进入对应递归函数</a:t>
            </a:r>
            <a:endParaRPr lang="zh-CN" altLang="en-US" sz="1800" b="1" dirty="0">
              <a:solidFill>
                <a:srgbClr val="FF3300"/>
              </a:solidFill>
              <a:latin typeface="Symbol" panose="05050102010706020507" pitchFamily="18" charset="2"/>
            </a:endParaRPr>
          </a:p>
        </p:txBody>
      </p:sp>
      <p:sp>
        <p:nvSpPr>
          <p:cNvPr id="21" name="Text Box 12"/>
          <p:cNvSpPr txBox="1">
            <a:spLocks noChangeArrowheads="1"/>
          </p:cNvSpPr>
          <p:nvPr/>
        </p:nvSpPr>
        <p:spPr bwMode="auto">
          <a:xfrm>
            <a:off x="4275086" y="5298072"/>
            <a:ext cx="2754067" cy="363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200" dirty="0">
                <a:solidFill>
                  <a:srgbClr val="FF0000"/>
                </a:solidFill>
                <a:latin typeface="Tahoma" panose="020B0604030504040204" pitchFamily="34" charset="0"/>
              </a:rPr>
              <a:t>期间未处理任何</a:t>
            </a:r>
            <a:r>
              <a:rPr lang="en-US" altLang="zh-CN" sz="2200" dirty="0">
                <a:solidFill>
                  <a:srgbClr val="FF0000"/>
                </a:solidFill>
                <a:latin typeface="Tahoma" panose="020B0604030504040204" pitchFamily="34" charset="0"/>
              </a:rPr>
              <a:t>T</a:t>
            </a:r>
            <a:endParaRPr lang="en-US" altLang="zh-CN" sz="2200" dirty="0">
              <a:solidFill>
                <a:srgbClr val="FF0000"/>
              </a:solidFill>
              <a:latin typeface="Tahoma" panose="020B0604030504040204" pitchFamily="34" charset="0"/>
              <a:sym typeface="Wingdings" panose="05000000000000000000" pitchFamily="2" charset="2"/>
            </a:endParaRPr>
          </a:p>
        </p:txBody>
      </p:sp>
      <p:sp>
        <p:nvSpPr>
          <p:cNvPr id="22" name="Line 13"/>
          <p:cNvSpPr>
            <a:spLocks noChangeShapeType="1"/>
          </p:cNvSpPr>
          <p:nvPr/>
        </p:nvSpPr>
        <p:spPr bwMode="auto">
          <a:xfrm flipH="1">
            <a:off x="5647593" y="4256589"/>
            <a:ext cx="541700" cy="1000274"/>
          </a:xfrm>
          <a:prstGeom prst="line">
            <a:avLst/>
          </a:prstGeom>
          <a:noFill/>
          <a:ln w="25400">
            <a:solidFill>
              <a:srgbClr val="FF3300"/>
            </a:solidFill>
            <a:miter lim="800000"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" name="Text Box 10"/>
          <p:cNvSpPr txBox="1">
            <a:spLocks noChangeArrowheads="1"/>
          </p:cNvSpPr>
          <p:nvPr/>
        </p:nvSpPr>
        <p:spPr bwMode="auto">
          <a:xfrm>
            <a:off x="5926226" y="4611135"/>
            <a:ext cx="27502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3300"/>
                </a:solidFill>
                <a:latin typeface="Symbol" panose="05050102010706020507" pitchFamily="18" charset="2"/>
              </a:rPr>
              <a:t>输入缓冲区没有任何变化</a:t>
            </a:r>
            <a:endParaRPr lang="zh-CN" altLang="en-US" sz="1800" b="1" dirty="0">
              <a:solidFill>
                <a:srgbClr val="FF3300"/>
              </a:solidFill>
              <a:latin typeface="Symbol" panose="05050102010706020507" pitchFamily="18" charset="2"/>
            </a:endParaRPr>
          </a:p>
        </p:txBody>
      </p:sp>
      <p:sp>
        <p:nvSpPr>
          <p:cNvPr id="25" name="Line 13"/>
          <p:cNvSpPr>
            <a:spLocks noChangeShapeType="1"/>
          </p:cNvSpPr>
          <p:nvPr/>
        </p:nvSpPr>
        <p:spPr bwMode="auto">
          <a:xfrm>
            <a:off x="4211959" y="3570312"/>
            <a:ext cx="1073150" cy="1686551"/>
          </a:xfrm>
          <a:prstGeom prst="line">
            <a:avLst/>
          </a:prstGeom>
          <a:noFill/>
          <a:ln w="25400">
            <a:solidFill>
              <a:srgbClr val="FF3300"/>
            </a:solidFill>
            <a:miter lim="800000"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2987740" y="4364491"/>
            <a:ext cx="180732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3300"/>
                </a:solidFill>
                <a:latin typeface="Symbol" panose="05050102010706020507" pitchFamily="18" charset="2"/>
              </a:rPr>
              <a:t>仍会选择左递归产生式</a:t>
            </a:r>
            <a:br>
              <a:rPr lang="en-US" altLang="zh-CN" sz="1800" b="1" dirty="0">
                <a:solidFill>
                  <a:srgbClr val="FF3300"/>
                </a:solidFill>
                <a:latin typeface="Symbol" panose="05050102010706020507" pitchFamily="18" charset="2"/>
                <a:sym typeface="Wingdings" panose="05000000000000000000" pitchFamily="2" charset="2"/>
              </a:rPr>
            </a:br>
            <a:r>
              <a:rPr lang="zh-CN" altLang="en-US" sz="1800" b="1" dirty="0">
                <a:solidFill>
                  <a:srgbClr val="FF3300"/>
                </a:solidFill>
                <a:latin typeface="Symbol" panose="05050102010706020507" pitchFamily="18" charset="2"/>
                <a:sym typeface="Wingdings" panose="05000000000000000000" pitchFamily="2" charset="2"/>
              </a:rPr>
              <a:t>死循环！</a:t>
            </a:r>
            <a:endParaRPr lang="en-US" altLang="zh-CN" sz="1800" b="1" dirty="0">
              <a:solidFill>
                <a:srgbClr val="FF3300"/>
              </a:solidFill>
              <a:latin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7" grpId="0" animBg="1"/>
      <p:bldP spid="89098" grpId="0"/>
      <p:bldP spid="89099" grpId="0"/>
      <p:bldP spid="13" grpId="0"/>
      <p:bldP spid="14" grpId="0" animBg="1"/>
      <p:bldP spid="18" grpId="0"/>
      <p:bldP spid="19" grpId="0" animBg="1"/>
      <p:bldP spid="20" grpId="0"/>
      <p:bldP spid="21" grpId="0"/>
      <p:bldP spid="22" grpId="0" animBg="1"/>
      <p:bldP spid="23" grpId="0"/>
      <p:bldP spid="25" grpId="0" animBg="1"/>
      <p:bldP spid="26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左递归的另一个问题</a:t>
            </a:r>
            <a:endParaRPr lang="zh-CN" altLang="en-US" dirty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400" dirty="0"/>
              <a:t>FIRST</a:t>
            </a:r>
            <a:r>
              <a:rPr lang="zh-CN" altLang="en-US" sz="2400" dirty="0"/>
              <a:t>函数冲突，导致预测分析法失效</a:t>
            </a:r>
            <a:endParaRPr lang="zh-CN" altLang="en-US" sz="2400" dirty="0"/>
          </a:p>
          <a:p>
            <a:pPr eaLnBrk="1" hangingPunct="1">
              <a:spcBef>
                <a:spcPct val="0"/>
              </a:spcBef>
            </a:pPr>
            <a:r>
              <a:rPr kumimoji="0" lang="en-US" altLang="zh-CN" sz="2400" dirty="0">
                <a:solidFill>
                  <a:srgbClr val="FF3300"/>
                </a:solidFill>
              </a:rPr>
              <a:t>A</a:t>
            </a:r>
            <a:r>
              <a:rPr kumimoji="0" lang="en-US" altLang="zh-CN" sz="2400" dirty="0">
                <a:solidFill>
                  <a:srgbClr val="FF3300"/>
                </a:solidFill>
                <a:sym typeface="Symbol" panose="05050102010706020507" pitchFamily="18" charset="2"/>
              </a:rPr>
              <a:t>A | </a:t>
            </a:r>
            <a:endParaRPr kumimoji="0" lang="zh-CN" altLang="en-US" sz="2400" dirty="0">
              <a:solidFill>
                <a:srgbClr val="FF3300"/>
              </a:solidFill>
              <a:sym typeface="Wingdings" panose="05000000000000000000" pitchFamily="2" charset="2"/>
            </a:endParaRPr>
          </a:p>
          <a:p>
            <a:pPr eaLnBrk="1" hangingPunct="1"/>
            <a:r>
              <a:rPr lang="en-US" altLang="zh-CN" sz="2400" dirty="0">
                <a:sym typeface="Symbol" panose="05050102010706020507" pitchFamily="18" charset="2"/>
              </a:rPr>
              <a:t>FIRST(A)=FIRST(A) 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∪</a:t>
            </a:r>
            <a:r>
              <a:rPr lang="en-US" altLang="zh-CN" sz="2400" dirty="0">
                <a:sym typeface="Symbol" panose="05050102010706020507" pitchFamily="18" charset="2"/>
              </a:rPr>
              <a:t> FIRST()</a:t>
            </a:r>
            <a:br>
              <a:rPr lang="en-US" altLang="zh-CN" sz="2400" dirty="0">
                <a:sym typeface="Symbol" panose="05050102010706020507" pitchFamily="18" charset="2"/>
              </a:rPr>
            </a:br>
            <a:r>
              <a:rPr lang="en-US" altLang="zh-CN" sz="2400" dirty="0">
                <a:sym typeface="Wingdings" panose="05000000000000000000" pitchFamily="2" charset="2"/>
              </a:rPr>
              <a:t> </a:t>
            </a:r>
            <a:r>
              <a:rPr lang="en-US" altLang="zh-CN" sz="2400" dirty="0">
                <a:sym typeface="Symbol" panose="05050102010706020507" pitchFamily="18" charset="2"/>
              </a:rPr>
              <a:t>FIRST(A) </a:t>
            </a:r>
            <a:r>
              <a:rPr lang="zh-CN" altLang="en-US" sz="2400" dirty="0">
                <a:sym typeface="Symbol" panose="05050102010706020507" pitchFamily="18" charset="2"/>
              </a:rPr>
              <a:t>必然包含 </a:t>
            </a:r>
            <a:r>
              <a:rPr lang="en-US" altLang="zh-CN" sz="2400" dirty="0">
                <a:sym typeface="Symbol" panose="05050102010706020507" pitchFamily="18" charset="2"/>
              </a:rPr>
              <a:t>FIRST()</a:t>
            </a:r>
            <a:br>
              <a:rPr lang="en-US" altLang="zh-CN" sz="2400" dirty="0">
                <a:sym typeface="Symbol" panose="05050102010706020507" pitchFamily="18" charset="2"/>
              </a:rPr>
            </a:br>
            <a:r>
              <a:rPr lang="en-US" altLang="zh-CN" sz="2400" dirty="0">
                <a:sym typeface="Wingdings" panose="05000000000000000000" pitchFamily="2" charset="2"/>
              </a:rPr>
              <a:t> </a:t>
            </a:r>
            <a:r>
              <a:rPr lang="en-US" altLang="zh-CN" sz="2400" dirty="0">
                <a:sym typeface="Symbol" panose="05050102010706020507" pitchFamily="18" charset="2"/>
              </a:rPr>
              <a:t>FIRST(A) </a:t>
            </a:r>
            <a:r>
              <a:rPr lang="zh-CN" altLang="en-US" sz="2400" dirty="0">
                <a:sym typeface="Symbol" panose="05050102010706020507" pitchFamily="18" charset="2"/>
              </a:rPr>
              <a:t>和 </a:t>
            </a:r>
            <a:r>
              <a:rPr lang="en-US" altLang="zh-CN" sz="2400" dirty="0">
                <a:sym typeface="Symbol" panose="05050102010706020507" pitchFamily="18" charset="2"/>
              </a:rPr>
              <a:t>FIRST()</a:t>
            </a:r>
            <a:r>
              <a:rPr lang="zh-CN" altLang="en-US" sz="2400" dirty="0">
                <a:sym typeface="Symbol" panose="05050102010706020507" pitchFamily="18" charset="2"/>
              </a:rPr>
              <a:t> 冲突，预测分析法失效</a:t>
            </a:r>
            <a:endParaRPr lang="zh-CN" altLang="en-US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消除左递归</a:t>
            </a:r>
            <a:endParaRPr lang="zh-CN" altLang="en-US" dirty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/>
              <a:t>解决方法：改写为右递归文法</a:t>
            </a:r>
            <a:endParaRPr lang="en-US" altLang="zh-CN" sz="2400" dirty="0"/>
          </a:p>
          <a:p>
            <a:pPr lvl="1" eaLnBrk="1" hangingPunct="1"/>
            <a:r>
              <a:rPr lang="zh-CN" altLang="en-US" sz="2000" dirty="0"/>
              <a:t>文法</a:t>
            </a:r>
            <a:r>
              <a:rPr lang="en-US" altLang="zh-CN" sz="2000" dirty="0">
                <a:latin typeface="Symbol" panose="05050102010706020507" pitchFamily="18" charset="2"/>
              </a:rPr>
              <a:t>A</a:t>
            </a:r>
            <a:r>
              <a:rPr lang="en-US" altLang="zh-CN" sz="2000" dirty="0">
                <a:latin typeface="Symbol" panose="05050102010706020507" pitchFamily="18" charset="2"/>
                <a:sym typeface="Symbol" panose="05050102010706020507" pitchFamily="18" charset="2"/>
              </a:rPr>
              <a:t>A | </a:t>
            </a:r>
            <a:r>
              <a:rPr lang="zh-CN" altLang="en-US" sz="2000" dirty="0"/>
              <a:t>推导出的符号串长什么样？</a:t>
            </a:r>
            <a:endParaRPr lang="en-US" altLang="zh-CN" sz="2000" dirty="0"/>
          </a:p>
          <a:p>
            <a:pPr marL="457200" lvl="1" indent="0" eaLnBrk="1" hangingPunct="1">
              <a:buNone/>
            </a:pPr>
            <a:r>
              <a:rPr lang="en-US" altLang="zh-CN" sz="2000" dirty="0"/>
              <a:t>	</a:t>
            </a:r>
            <a:r>
              <a:rPr lang="en-US" altLang="zh-CN" sz="2000" dirty="0">
                <a:latin typeface="Symbol" panose="05050102010706020507" pitchFamily="18" charset="2"/>
              </a:rPr>
              <a:t></a:t>
            </a:r>
            <a:r>
              <a:rPr lang="en-US" altLang="zh-CN" sz="2000" dirty="0"/>
              <a:t>…</a:t>
            </a:r>
            <a:r>
              <a:rPr lang="en-US" altLang="zh-CN" sz="2000" dirty="0">
                <a:latin typeface="Symbol" panose="05050102010706020507" pitchFamily="18" charset="2"/>
              </a:rPr>
              <a:t></a:t>
            </a:r>
            <a:endParaRPr lang="en-US" altLang="zh-CN" sz="2000" dirty="0">
              <a:latin typeface="Symbol" panose="05050102010706020507" pitchFamily="18" charset="2"/>
            </a:endParaRPr>
          </a:p>
          <a:p>
            <a:pPr lvl="1" eaLnBrk="1" hangingPunct="1"/>
            <a:r>
              <a:rPr lang="zh-CN" altLang="en-US" sz="2000" dirty="0"/>
              <a:t>文法设计思想：先生成一个</a:t>
            </a:r>
            <a:r>
              <a:rPr lang="en-US" altLang="zh-CN" sz="2000" dirty="0">
                <a:latin typeface="Symbol" panose="05050102010706020507" pitchFamily="18" charset="2"/>
              </a:rPr>
              <a:t></a:t>
            </a:r>
            <a:r>
              <a:rPr lang="zh-CN" altLang="en-US" sz="2000" dirty="0"/>
              <a:t>，再连接若干</a:t>
            </a:r>
            <a:r>
              <a:rPr lang="en-US" altLang="zh-CN" sz="2000" dirty="0">
                <a:latin typeface="Symbol" panose="05050102010706020507" pitchFamily="18" charset="2"/>
              </a:rPr>
              <a:t></a:t>
            </a:r>
            <a:endParaRPr lang="zh-CN" altLang="en-US" sz="2000" dirty="0"/>
          </a:p>
          <a:p>
            <a:pPr lvl="1" eaLnBrk="1" hangingPunct="1"/>
            <a:r>
              <a:rPr lang="zh-CN" altLang="en-US" sz="2000" dirty="0"/>
              <a:t>换个思路：先生成若干</a:t>
            </a:r>
            <a:r>
              <a:rPr lang="en-US" altLang="zh-CN" sz="2000" dirty="0">
                <a:latin typeface="Symbol" panose="05050102010706020507" pitchFamily="18" charset="2"/>
              </a:rPr>
              <a:t></a:t>
            </a:r>
            <a:r>
              <a:rPr lang="zh-CN" altLang="en-US" sz="2000" dirty="0">
                <a:latin typeface="Symbol" panose="05050102010706020507" pitchFamily="18" charset="2"/>
              </a:rPr>
              <a:t>，最后连接最开始的</a:t>
            </a:r>
            <a:r>
              <a:rPr lang="en-US" altLang="zh-CN" sz="2000" dirty="0">
                <a:latin typeface="Symbol" panose="05050102010706020507" pitchFamily="18" charset="2"/>
              </a:rPr>
              <a:t></a:t>
            </a:r>
            <a:endParaRPr lang="zh-CN" altLang="en-US" sz="2000" dirty="0"/>
          </a:p>
          <a:p>
            <a:pPr lvl="1" eaLnBrk="1" hangingPunct="1"/>
            <a:r>
              <a:rPr kumimoji="0" lang="en-US" altLang="zh-CN" sz="2000" dirty="0">
                <a:solidFill>
                  <a:srgbClr val="FF3300"/>
                </a:solidFill>
              </a:rPr>
              <a:t>A</a:t>
            </a:r>
            <a:r>
              <a:rPr kumimoji="0" lang="en-US" altLang="zh-CN" sz="2000" dirty="0">
                <a:solidFill>
                  <a:srgbClr val="FF3300"/>
                </a:solidFill>
                <a:sym typeface="Symbol" panose="05050102010706020507" pitchFamily="18" charset="2"/>
              </a:rPr>
              <a:t> R</a:t>
            </a:r>
            <a:br>
              <a:rPr kumimoji="0" lang="en-US" altLang="zh-CN" sz="2000" dirty="0">
                <a:solidFill>
                  <a:srgbClr val="FF3300"/>
                </a:solidFill>
                <a:sym typeface="Symbol" panose="05050102010706020507" pitchFamily="18" charset="2"/>
              </a:rPr>
            </a:br>
            <a:r>
              <a:rPr kumimoji="0" lang="en-US" altLang="zh-CN" sz="2000" dirty="0" err="1">
                <a:solidFill>
                  <a:srgbClr val="FF3300"/>
                </a:solidFill>
                <a:sym typeface="Symbol" panose="05050102010706020507" pitchFamily="18" charset="2"/>
              </a:rPr>
              <a:t>R</a:t>
            </a:r>
            <a:r>
              <a:rPr kumimoji="0" lang="en-US" altLang="zh-CN" sz="2000" dirty="0">
                <a:solidFill>
                  <a:srgbClr val="FF3300"/>
                </a:solidFill>
                <a:sym typeface="Symbol" panose="05050102010706020507" pitchFamily="18" charset="2"/>
              </a:rPr>
              <a:t> R | </a:t>
            </a:r>
            <a:r>
              <a:rPr lang="en-US" altLang="zh-CN" sz="2000" dirty="0">
                <a:solidFill>
                  <a:srgbClr val="FF3300"/>
                </a:solidFill>
                <a:sym typeface="Symbol" panose="05050102010706020507" pitchFamily="18" charset="2"/>
              </a:rPr>
              <a:t>ε</a:t>
            </a:r>
            <a:endParaRPr lang="en-US" altLang="zh-CN" sz="2000" dirty="0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dirty="0">
                <a:sym typeface="Symbol" panose="05050102010706020507" pitchFamily="18" charset="2"/>
              </a:rPr>
              <a:t>例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en-US" altLang="zh-CN" sz="2000" i="1" dirty="0"/>
              <a:t>expr </a:t>
            </a:r>
            <a:r>
              <a:rPr kumimoji="0" lang="en-US" altLang="zh-CN" sz="2000" dirty="0">
                <a:sym typeface="Symbol" panose="05050102010706020507" pitchFamily="18" charset="2"/>
              </a:rPr>
              <a:t></a:t>
            </a:r>
            <a:r>
              <a:rPr kumimoji="0" lang="en-US" altLang="zh-CN" sz="2000" i="1" dirty="0"/>
              <a:t> </a:t>
            </a:r>
            <a:r>
              <a:rPr kumimoji="0" lang="en-US" altLang="zh-CN" sz="2000" i="1" dirty="0">
                <a:sym typeface="Math1" pitchFamily="2" charset="2"/>
              </a:rPr>
              <a:t>expr </a:t>
            </a:r>
            <a:r>
              <a:rPr kumimoji="0" lang="en-US" altLang="zh-CN" sz="2000" i="1" u="sng" dirty="0">
                <a:sym typeface="Math1" pitchFamily="2" charset="2"/>
              </a:rPr>
              <a:t>+ term</a:t>
            </a:r>
            <a:r>
              <a:rPr kumimoji="0" lang="en-US" altLang="zh-CN" sz="2000" i="1" dirty="0">
                <a:sym typeface="Math1" pitchFamily="2" charset="2"/>
              </a:rPr>
              <a:t> | </a:t>
            </a:r>
            <a:r>
              <a:rPr kumimoji="0" lang="en-US" altLang="zh-CN" sz="2000" i="1" u="sng" dirty="0">
                <a:sym typeface="Math1" pitchFamily="2" charset="2"/>
              </a:rPr>
              <a:t>term</a:t>
            </a:r>
            <a:r>
              <a:rPr kumimoji="0" lang="en-US" altLang="zh-CN" sz="2000" dirty="0">
                <a:sym typeface="Wingdings" panose="05000000000000000000" pitchFamily="2" charset="2"/>
              </a:rPr>
              <a:t></a:t>
            </a:r>
            <a:endParaRPr kumimoji="0" lang="en-US" altLang="zh-CN" sz="2000" dirty="0">
              <a:sym typeface="Math1" pitchFamily="2" charset="2"/>
            </a:endParaRPr>
          </a:p>
          <a:p>
            <a:pPr lvl="1" eaLnBrk="1" hangingPunct="1"/>
            <a:r>
              <a:rPr kumimoji="0" lang="en-US" altLang="zh-CN" sz="2000" i="1" dirty="0"/>
              <a:t>expr </a:t>
            </a:r>
            <a:r>
              <a:rPr kumimoji="0" lang="en-US" altLang="zh-CN" sz="2000" dirty="0">
                <a:sym typeface="Symbol" panose="05050102010706020507" pitchFamily="18" charset="2"/>
              </a:rPr>
              <a:t></a:t>
            </a:r>
            <a:r>
              <a:rPr kumimoji="0" lang="en-US" altLang="zh-CN" sz="2000" i="1" dirty="0"/>
              <a:t> </a:t>
            </a:r>
            <a:r>
              <a:rPr kumimoji="0" lang="en-US" altLang="zh-CN" sz="2000" i="1" u="sng" dirty="0">
                <a:sym typeface="Math1" pitchFamily="2" charset="2"/>
              </a:rPr>
              <a:t>term</a:t>
            </a:r>
            <a:r>
              <a:rPr kumimoji="0" lang="en-US" altLang="zh-CN" sz="2000" i="1" dirty="0">
                <a:sym typeface="Math1" pitchFamily="2" charset="2"/>
              </a:rPr>
              <a:t> rest</a:t>
            </a:r>
            <a:br>
              <a:rPr kumimoji="0" lang="en-US" altLang="zh-CN" sz="2000" i="1" dirty="0">
                <a:sym typeface="Math1" pitchFamily="2" charset="2"/>
              </a:rPr>
            </a:br>
            <a:r>
              <a:rPr kumimoji="0" lang="en-US" altLang="zh-CN" sz="2000" i="1" dirty="0" err="1">
                <a:sym typeface="Math1" pitchFamily="2" charset="2"/>
              </a:rPr>
              <a:t>rest</a:t>
            </a:r>
            <a:r>
              <a:rPr kumimoji="0" lang="en-US" altLang="zh-CN" sz="2000" i="1" dirty="0"/>
              <a:t> </a:t>
            </a:r>
            <a:r>
              <a:rPr kumimoji="0" lang="en-US" altLang="zh-CN" sz="2000" dirty="0">
                <a:sym typeface="Symbol" panose="05050102010706020507" pitchFamily="18" charset="2"/>
              </a:rPr>
              <a:t></a:t>
            </a:r>
            <a:r>
              <a:rPr kumimoji="0" lang="en-US" altLang="zh-CN" sz="2000" i="1" dirty="0"/>
              <a:t> </a:t>
            </a:r>
            <a:r>
              <a:rPr kumimoji="0" lang="en-US" altLang="zh-CN" sz="2000" i="1" u="sng" dirty="0"/>
              <a:t>+ term</a:t>
            </a:r>
            <a:r>
              <a:rPr kumimoji="0" lang="en-US" altLang="zh-CN" sz="2000" i="1" dirty="0"/>
              <a:t> rest </a:t>
            </a:r>
            <a:r>
              <a:rPr kumimoji="0" lang="en-US" altLang="zh-CN" sz="2000" dirty="0">
                <a:sym typeface="Symbol" panose="05050102010706020507" pitchFamily="18" charset="2"/>
              </a:rPr>
              <a:t>| </a:t>
            </a:r>
            <a:r>
              <a:rPr lang="en-US" altLang="zh-CN" sz="2000" dirty="0">
                <a:sym typeface="Symbol" panose="05050102010706020507" pitchFamily="18" charset="2"/>
              </a:rPr>
              <a:t>ε</a:t>
            </a:r>
            <a:endParaRPr lang="en-US" altLang="zh-CN" sz="2000" dirty="0">
              <a:sym typeface="Symbol" panose="05050102010706020507" pitchFamily="18" charset="2"/>
            </a:endParaRPr>
          </a:p>
        </p:txBody>
      </p:sp>
      <p:sp>
        <p:nvSpPr>
          <p:cNvPr id="89092" name="Text Box 4"/>
          <p:cNvSpPr txBox="1">
            <a:spLocks noChangeArrowheads="1"/>
          </p:cNvSpPr>
          <p:nvPr/>
        </p:nvSpPr>
        <p:spPr bwMode="auto">
          <a:xfrm>
            <a:off x="4876800" y="5204048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FF3300"/>
                </a:solidFill>
                <a:latin typeface="Symbol" panose="05050102010706020507" pitchFamily="18" charset="2"/>
              </a:rPr>
              <a:t>a</a:t>
            </a:r>
            <a:endParaRPr lang="en-US" altLang="zh-CN" sz="2400" b="1">
              <a:solidFill>
                <a:srgbClr val="FF3300"/>
              </a:solidFill>
              <a:latin typeface="Symbol" panose="05050102010706020507" pitchFamily="18" charset="2"/>
            </a:endParaRPr>
          </a:p>
        </p:txBody>
      </p:sp>
      <p:sp>
        <p:nvSpPr>
          <p:cNvPr id="89093" name="Text Box 5"/>
          <p:cNvSpPr txBox="1">
            <a:spLocks noChangeArrowheads="1"/>
          </p:cNvSpPr>
          <p:nvPr/>
        </p:nvSpPr>
        <p:spPr bwMode="auto">
          <a:xfrm>
            <a:off x="5867400" y="5204048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FF3300"/>
                </a:solidFill>
                <a:latin typeface="Symbol" panose="05050102010706020507" pitchFamily="18" charset="2"/>
              </a:rPr>
              <a:t>b</a:t>
            </a:r>
            <a:endParaRPr lang="en-US" altLang="zh-CN" sz="2400" b="1">
              <a:solidFill>
                <a:srgbClr val="FF3300"/>
              </a:solidFill>
              <a:latin typeface="Symbol" panose="05050102010706020507" pitchFamily="18" charset="2"/>
            </a:endParaRPr>
          </a:p>
        </p:txBody>
      </p:sp>
      <p:sp>
        <p:nvSpPr>
          <p:cNvPr id="89094" name="Line 6"/>
          <p:cNvSpPr>
            <a:spLocks noChangeShapeType="1"/>
          </p:cNvSpPr>
          <p:nvPr/>
        </p:nvSpPr>
        <p:spPr bwMode="auto">
          <a:xfrm flipH="1" flipV="1">
            <a:off x="3733800" y="4670648"/>
            <a:ext cx="1219200" cy="762000"/>
          </a:xfrm>
          <a:prstGeom prst="line">
            <a:avLst/>
          </a:prstGeom>
          <a:noFill/>
          <a:ln w="25400">
            <a:solidFill>
              <a:srgbClr val="FF33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9095" name="Line 7"/>
          <p:cNvSpPr>
            <a:spLocks noChangeShapeType="1"/>
          </p:cNvSpPr>
          <p:nvPr/>
        </p:nvSpPr>
        <p:spPr bwMode="auto">
          <a:xfrm flipH="1" flipV="1">
            <a:off x="4572000" y="4670648"/>
            <a:ext cx="1371600" cy="685800"/>
          </a:xfrm>
          <a:prstGeom prst="line">
            <a:avLst/>
          </a:prstGeom>
          <a:noFill/>
          <a:ln w="25400">
            <a:solidFill>
              <a:srgbClr val="FF33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 flipH="1" flipV="1">
            <a:off x="3160712" y="5051648"/>
            <a:ext cx="2782888" cy="304800"/>
          </a:xfrm>
          <a:prstGeom prst="line">
            <a:avLst/>
          </a:prstGeom>
          <a:noFill/>
          <a:ln w="25400">
            <a:solidFill>
              <a:srgbClr val="FF33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 flipH="1" flipV="1">
            <a:off x="3203848" y="5356448"/>
            <a:ext cx="1749152" cy="76200"/>
          </a:xfrm>
          <a:prstGeom prst="line">
            <a:avLst/>
          </a:prstGeom>
          <a:noFill/>
          <a:ln w="25400">
            <a:solidFill>
              <a:srgbClr val="FF33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2" grpId="0"/>
      <p:bldP spid="89093" grpId="0"/>
      <p:bldP spid="89094" grpId="0" animBg="1"/>
      <p:bldP spid="89095" grpId="0" animBg="1"/>
      <p:bldP spid="8" grpId="0" animBg="1"/>
      <p:bldP spid="9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左递归 </a:t>
            </a:r>
            <a:r>
              <a:rPr lang="en-US" altLang="zh-CN"/>
              <a:t>vs. </a:t>
            </a:r>
            <a:r>
              <a:rPr lang="zh-CN" altLang="en-US"/>
              <a:t>右递归语法树差异</a:t>
            </a:r>
            <a:endParaRPr lang="zh-CN" altLang="en-US"/>
          </a:p>
        </p:txBody>
      </p:sp>
      <p:pic>
        <p:nvPicPr>
          <p:cNvPr id="90115" name="Picture 4" descr="l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1295400"/>
            <a:ext cx="8442325" cy="301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2.5  </a:t>
            </a:r>
            <a:r>
              <a:rPr lang="zh-CN" altLang="en-US"/>
              <a:t>构造表达式转换的编译器</a:t>
            </a:r>
            <a:endParaRPr lang="zh-CN" altLang="en-US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原始语法：需改写</a:t>
            </a:r>
            <a:endParaRPr lang="zh-CN" altLang="en-US" sz="2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i="1"/>
              <a:t>expr </a:t>
            </a:r>
            <a:r>
              <a:rPr kumimoji="0" lang="en-US" altLang="zh-CN" sz="2000">
                <a:sym typeface="Symbol" panose="05050102010706020507" pitchFamily="18" charset="2"/>
              </a:rPr>
              <a:t> </a:t>
            </a:r>
            <a:r>
              <a:rPr kumimoji="0" lang="en-US" altLang="zh-CN" sz="2000" i="1">
                <a:sym typeface="Symbol" panose="05050102010706020507" pitchFamily="18" charset="2"/>
              </a:rPr>
              <a:t>expr + term  </a:t>
            </a:r>
            <a:r>
              <a:rPr kumimoji="0" lang="en-US" altLang="zh-CN" sz="2000">
                <a:sym typeface="Symbol" panose="05050102010706020507" pitchFamily="18" charset="2"/>
              </a:rPr>
              <a:t>{</a:t>
            </a:r>
            <a:r>
              <a:rPr kumimoji="0" lang="en-US" altLang="zh-CN" sz="2000" i="1">
                <a:sym typeface="Symbol" panose="05050102010706020507" pitchFamily="18" charset="2"/>
              </a:rPr>
              <a:t>print</a:t>
            </a:r>
            <a:r>
              <a:rPr kumimoji="0" lang="en-US" altLang="zh-CN" sz="2000">
                <a:sym typeface="Symbol" panose="05050102010706020507" pitchFamily="18" charset="2"/>
              </a:rPr>
              <a:t>(‘+’)}</a:t>
            </a:r>
            <a:endParaRPr kumimoji="0" lang="en-US" altLang="zh-CN" sz="2000" i="1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expr</a:t>
            </a:r>
            <a:r>
              <a:rPr kumimoji="0" lang="en-US" altLang="zh-CN" sz="2000">
                <a:sym typeface="Symbol" panose="05050102010706020507" pitchFamily="18" charset="2"/>
              </a:rPr>
              <a:t>  </a:t>
            </a:r>
            <a:r>
              <a:rPr kumimoji="0" lang="en-US" altLang="zh-CN" sz="2000" i="1">
                <a:sym typeface="Symbol" panose="05050102010706020507" pitchFamily="18" charset="2"/>
              </a:rPr>
              <a:t>expr - term    </a:t>
            </a:r>
            <a:r>
              <a:rPr kumimoji="0" lang="en-US" altLang="zh-CN" sz="2000">
                <a:sym typeface="Symbol" panose="05050102010706020507" pitchFamily="18" charset="2"/>
              </a:rPr>
              <a:t>{</a:t>
            </a:r>
            <a:r>
              <a:rPr kumimoji="0" lang="en-US" altLang="zh-CN" sz="2000" i="1">
                <a:sym typeface="Symbol" panose="05050102010706020507" pitchFamily="18" charset="2"/>
              </a:rPr>
              <a:t>print</a:t>
            </a:r>
            <a:r>
              <a:rPr kumimoji="0" lang="en-US" altLang="zh-CN" sz="2000">
                <a:sym typeface="Symbol" panose="05050102010706020507" pitchFamily="18" charset="2"/>
              </a:rPr>
              <a:t>(‘-’)}</a:t>
            </a:r>
            <a:endParaRPr kumimoji="0" lang="en-US" altLang="zh-CN" sz="2000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expr</a:t>
            </a:r>
            <a:r>
              <a:rPr kumimoji="0" lang="en-US" altLang="zh-CN" sz="2000">
                <a:sym typeface="Symbol" panose="05050102010706020507" pitchFamily="18" charset="2"/>
              </a:rPr>
              <a:t>  </a:t>
            </a:r>
            <a:r>
              <a:rPr kumimoji="0" lang="en-US" altLang="zh-CN" sz="2000" i="1">
                <a:sym typeface="Symbol" panose="05050102010706020507" pitchFamily="18" charset="2"/>
              </a:rPr>
              <a:t>term</a:t>
            </a:r>
            <a:endParaRPr kumimoji="0" lang="en-US" altLang="zh-CN" sz="2000" i="1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>
                <a:sym typeface="Symbol" panose="05050102010706020507" pitchFamily="18" charset="2"/>
              </a:rPr>
              <a:t>term </a:t>
            </a:r>
            <a:r>
              <a:rPr kumimoji="0" lang="en-US" altLang="zh-CN" sz="2000">
                <a:sym typeface="Symbol" panose="05050102010706020507" pitchFamily="18" charset="2"/>
              </a:rPr>
              <a:t> </a:t>
            </a:r>
            <a:r>
              <a:rPr kumimoji="0" lang="en-US" altLang="zh-CN" sz="2000" i="1">
                <a:sym typeface="Symbol" panose="05050102010706020507" pitchFamily="18" charset="2"/>
              </a:rPr>
              <a:t>0                   </a:t>
            </a:r>
            <a:r>
              <a:rPr kumimoji="0" lang="en-US" altLang="zh-CN" sz="2000">
                <a:sym typeface="Symbol" panose="05050102010706020507" pitchFamily="18" charset="2"/>
              </a:rPr>
              <a:t>{</a:t>
            </a:r>
            <a:r>
              <a:rPr kumimoji="0" lang="en-US" altLang="zh-CN" sz="2000" i="1">
                <a:sym typeface="Symbol" panose="05050102010706020507" pitchFamily="18" charset="2"/>
              </a:rPr>
              <a:t>print</a:t>
            </a:r>
            <a:r>
              <a:rPr kumimoji="0" lang="en-US" altLang="zh-CN" sz="2000">
                <a:sym typeface="Symbol" panose="05050102010706020507" pitchFamily="18" charset="2"/>
              </a:rPr>
              <a:t>(‘0’)}</a:t>
            </a:r>
            <a:endParaRPr kumimoji="0" lang="en-US" altLang="zh-CN" sz="2000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>
                <a:sym typeface="Symbol" panose="05050102010706020507" pitchFamily="18" charset="2"/>
              </a:rPr>
              <a:t>term </a:t>
            </a:r>
            <a:r>
              <a:rPr kumimoji="0" lang="en-US" altLang="zh-CN" sz="2000">
                <a:sym typeface="Symbol" panose="05050102010706020507" pitchFamily="18" charset="2"/>
              </a:rPr>
              <a:t> 1</a:t>
            </a:r>
            <a:r>
              <a:rPr kumimoji="0" lang="en-US" altLang="zh-CN" sz="2000" i="1">
                <a:sym typeface="Symbol" panose="05050102010706020507" pitchFamily="18" charset="2"/>
              </a:rPr>
              <a:t>                   </a:t>
            </a:r>
            <a:r>
              <a:rPr kumimoji="0" lang="en-US" altLang="zh-CN" sz="2000">
                <a:sym typeface="Symbol" panose="05050102010706020507" pitchFamily="18" charset="2"/>
              </a:rPr>
              <a:t>{</a:t>
            </a:r>
            <a:r>
              <a:rPr kumimoji="0" lang="en-US" altLang="zh-CN" sz="2000" i="1">
                <a:sym typeface="Symbol" panose="05050102010706020507" pitchFamily="18" charset="2"/>
              </a:rPr>
              <a:t>print</a:t>
            </a:r>
            <a:r>
              <a:rPr kumimoji="0" lang="en-US" altLang="zh-CN" sz="2000">
                <a:sym typeface="Symbol" panose="05050102010706020507" pitchFamily="18" charset="2"/>
              </a:rPr>
              <a:t>(‘1’)}</a:t>
            </a:r>
            <a:endParaRPr kumimoji="0" lang="en-US" altLang="zh-CN" sz="2000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>
                <a:sym typeface="Symbol" panose="05050102010706020507" pitchFamily="18" charset="2"/>
              </a:rPr>
              <a:t>…</a:t>
            </a:r>
            <a:endParaRPr kumimoji="0" lang="en-US" altLang="zh-CN" sz="2000" i="1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>
                <a:sym typeface="Symbol" panose="05050102010706020507" pitchFamily="18" charset="2"/>
              </a:rPr>
              <a:t>term </a:t>
            </a:r>
            <a:r>
              <a:rPr kumimoji="0" lang="en-US" altLang="zh-CN" sz="2000">
                <a:sym typeface="Symbol" panose="05050102010706020507" pitchFamily="18" charset="2"/>
              </a:rPr>
              <a:t> 9</a:t>
            </a:r>
            <a:r>
              <a:rPr kumimoji="0" lang="en-US" altLang="zh-CN" sz="2000" i="1">
                <a:sym typeface="Symbol" panose="05050102010706020507" pitchFamily="18" charset="2"/>
              </a:rPr>
              <a:t>                   </a:t>
            </a:r>
            <a:r>
              <a:rPr kumimoji="0" lang="en-US" altLang="zh-CN" sz="2000">
                <a:sym typeface="Symbol" panose="05050102010706020507" pitchFamily="18" charset="2"/>
              </a:rPr>
              <a:t>{</a:t>
            </a:r>
            <a:r>
              <a:rPr kumimoji="0" lang="en-US" altLang="zh-CN" sz="2000" i="1">
                <a:sym typeface="Symbol" panose="05050102010706020507" pitchFamily="18" charset="2"/>
              </a:rPr>
              <a:t>print</a:t>
            </a:r>
            <a:r>
              <a:rPr kumimoji="0" lang="en-US" altLang="zh-CN" sz="2000">
                <a:sym typeface="Symbol" panose="05050102010706020507" pitchFamily="18" charset="2"/>
              </a:rPr>
              <a:t>(‘9’)}</a:t>
            </a:r>
            <a:endParaRPr kumimoji="0" lang="en-US" altLang="zh-CN" sz="20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消除左递归、加入翻译模式</a:t>
            </a:r>
            <a:endParaRPr lang="zh-CN" alt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expr 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i="1">
                <a:sym typeface="Symbol" panose="05050102010706020507" pitchFamily="18" charset="2"/>
              </a:rPr>
              <a:t>term rest</a:t>
            </a:r>
            <a:endParaRPr kumimoji="0" lang="en-US" altLang="zh-CN" sz="2400" i="1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rest</a:t>
            </a:r>
            <a:r>
              <a:rPr kumimoji="0" lang="en-US" altLang="zh-CN" sz="2400">
                <a:sym typeface="Symbol" panose="05050102010706020507" pitchFamily="18" charset="2"/>
              </a:rPr>
              <a:t>  </a:t>
            </a:r>
            <a:r>
              <a:rPr kumimoji="0" lang="en-US" altLang="zh-CN" sz="2400" i="1">
                <a:sym typeface="Symbol" panose="05050102010706020507" pitchFamily="18" charset="2"/>
              </a:rPr>
              <a:t>+ term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 print</a:t>
            </a:r>
            <a:r>
              <a:rPr kumimoji="0" lang="en-US" altLang="zh-CN" sz="2400">
                <a:sym typeface="Symbol" panose="05050102010706020507" pitchFamily="18" charset="2"/>
              </a:rPr>
              <a:t>(‘+’)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}</a:t>
            </a:r>
            <a:r>
              <a:rPr kumimoji="0" lang="en-US" altLang="zh-CN" sz="2400" i="1">
                <a:sym typeface="Symbol" panose="05050102010706020507" pitchFamily="18" charset="2"/>
              </a:rPr>
              <a:t> rest |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      - </a:t>
            </a:r>
            <a:r>
              <a:rPr kumimoji="0" lang="en-US" altLang="zh-CN" sz="2400" i="1">
                <a:sym typeface="Symbol" panose="05050102010706020507" pitchFamily="18" charset="2"/>
              </a:rPr>
              <a:t>term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 print</a:t>
            </a:r>
            <a:r>
              <a:rPr kumimoji="0" lang="en-US" altLang="zh-CN" sz="2400">
                <a:sym typeface="Symbol" panose="05050102010706020507" pitchFamily="18" charset="2"/>
              </a:rPr>
              <a:t>(‘-’)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}</a:t>
            </a:r>
            <a:r>
              <a:rPr kumimoji="0" lang="en-US" altLang="zh-CN" sz="2400" i="1">
                <a:sym typeface="Symbol" panose="05050102010706020507" pitchFamily="18" charset="2"/>
              </a:rPr>
              <a:t> rest | </a:t>
            </a:r>
            <a:r>
              <a:rPr lang="en-US" altLang="zh-CN" sz="2400">
                <a:sym typeface="Symbol" panose="05050102010706020507" pitchFamily="18" charset="2"/>
              </a:rPr>
              <a:t>ε</a:t>
            </a:r>
            <a:endParaRPr kumimoji="0" lang="en-US" altLang="zh-CN" sz="2400" i="1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term 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i="1">
                <a:sym typeface="Symbol" panose="05050102010706020507" pitchFamily="18" charset="2"/>
              </a:rPr>
              <a:t>0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print</a:t>
            </a:r>
            <a:r>
              <a:rPr kumimoji="0" lang="en-US" altLang="zh-CN" sz="2400">
                <a:sym typeface="Symbol" panose="05050102010706020507" pitchFamily="18" charset="2"/>
              </a:rPr>
              <a:t>(‘0’)}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term </a:t>
            </a:r>
            <a:r>
              <a:rPr kumimoji="0" lang="en-US" altLang="zh-CN" sz="2400">
                <a:sym typeface="Symbol" panose="05050102010706020507" pitchFamily="18" charset="2"/>
              </a:rPr>
              <a:t> 1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print</a:t>
            </a:r>
            <a:r>
              <a:rPr kumimoji="0" lang="en-US" altLang="zh-CN" sz="2400">
                <a:sym typeface="Symbol" panose="05050102010706020507" pitchFamily="18" charset="2"/>
              </a:rPr>
              <a:t>(‘1’)}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…</a:t>
            </a:r>
            <a:endParaRPr kumimoji="0" lang="en-US" altLang="zh-CN" sz="2400" i="1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term </a:t>
            </a:r>
            <a:r>
              <a:rPr kumimoji="0" lang="en-US" altLang="zh-CN" sz="2400">
                <a:sym typeface="Symbol" panose="05050102010706020507" pitchFamily="18" charset="2"/>
              </a:rPr>
              <a:t> 9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print</a:t>
            </a:r>
            <a:r>
              <a:rPr kumimoji="0" lang="en-US" altLang="zh-CN" sz="2400">
                <a:sym typeface="Symbol" panose="05050102010706020507" pitchFamily="18" charset="2"/>
              </a:rPr>
              <a:t>(‘9’)}</a:t>
            </a:r>
            <a:endParaRPr kumimoji="0" lang="en-US" altLang="zh-CN" sz="24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9-5+2</a:t>
            </a:r>
            <a:r>
              <a:rPr lang="zh-CN" altLang="en-US"/>
              <a:t>翻译为</a:t>
            </a:r>
            <a:r>
              <a:rPr lang="en-US" altLang="zh-CN"/>
              <a:t>95-2+</a:t>
            </a:r>
            <a:endParaRPr lang="en-US" altLang="zh-CN"/>
          </a:p>
        </p:txBody>
      </p:sp>
      <p:sp>
        <p:nvSpPr>
          <p:cNvPr id="93188" name="Text Box 71"/>
          <p:cNvSpPr txBox="1">
            <a:spLocks noChangeArrowheads="1"/>
          </p:cNvSpPr>
          <p:nvPr/>
        </p:nvSpPr>
        <p:spPr bwMode="auto">
          <a:xfrm>
            <a:off x="5988050" y="4523849"/>
            <a:ext cx="2132013" cy="457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chemeClr val="folHlink"/>
                </a:solidFill>
              </a:rPr>
              <a:t>{</a:t>
            </a:r>
            <a:r>
              <a:rPr kumimoji="0" lang="en-US" altLang="zh-CN" sz="2400" i="1">
                <a:solidFill>
                  <a:schemeClr val="folHlink"/>
                </a:solidFill>
              </a:rPr>
              <a:t>print</a:t>
            </a:r>
            <a:r>
              <a:rPr kumimoji="0" lang="en-US" altLang="zh-CN" sz="2400">
                <a:solidFill>
                  <a:schemeClr val="folHlink"/>
                </a:solidFill>
              </a:rPr>
              <a:t>(‘2’)}</a:t>
            </a:r>
            <a:endParaRPr kumimoji="0" lang="en-US" altLang="zh-CN" sz="2400" i="1">
              <a:solidFill>
                <a:schemeClr val="folHlink"/>
              </a:solidFill>
            </a:endParaRPr>
          </a:p>
        </p:txBody>
      </p:sp>
      <p:sp>
        <p:nvSpPr>
          <p:cNvPr id="93189" name="Text Box 72"/>
          <p:cNvSpPr txBox="1">
            <a:spLocks noChangeArrowheads="1"/>
          </p:cNvSpPr>
          <p:nvPr/>
        </p:nvSpPr>
        <p:spPr bwMode="auto">
          <a:xfrm>
            <a:off x="2093913" y="1219200"/>
            <a:ext cx="1390650" cy="457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expr</a:t>
            </a:r>
            <a:endParaRPr kumimoji="0" lang="en-US" altLang="zh-CN" sz="2400" i="1"/>
          </a:p>
        </p:txBody>
      </p:sp>
      <p:sp>
        <p:nvSpPr>
          <p:cNvPr id="93190" name="Text Box 73"/>
          <p:cNvSpPr txBox="1">
            <a:spLocks noChangeArrowheads="1"/>
          </p:cNvSpPr>
          <p:nvPr/>
        </p:nvSpPr>
        <p:spPr bwMode="auto">
          <a:xfrm>
            <a:off x="981075" y="2017319"/>
            <a:ext cx="1390650" cy="457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term</a:t>
            </a:r>
            <a:endParaRPr kumimoji="0" lang="en-US" altLang="zh-CN" sz="2400" i="1"/>
          </a:p>
        </p:txBody>
      </p:sp>
      <p:sp>
        <p:nvSpPr>
          <p:cNvPr id="93191" name="Text Box 74"/>
          <p:cNvSpPr txBox="1">
            <a:spLocks noChangeArrowheads="1"/>
          </p:cNvSpPr>
          <p:nvPr/>
        </p:nvSpPr>
        <p:spPr bwMode="auto">
          <a:xfrm>
            <a:off x="3298825" y="2816727"/>
            <a:ext cx="26892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/>
              <a:t>term</a:t>
            </a:r>
            <a:endParaRPr kumimoji="0" lang="en-US" altLang="zh-CN" sz="2400" i="1" dirty="0">
              <a:solidFill>
                <a:schemeClr val="folHlink"/>
              </a:solidFill>
            </a:endParaRPr>
          </a:p>
        </p:txBody>
      </p:sp>
      <p:sp>
        <p:nvSpPr>
          <p:cNvPr id="93192" name="Text Box 75"/>
          <p:cNvSpPr txBox="1">
            <a:spLocks noChangeArrowheads="1"/>
          </p:cNvSpPr>
          <p:nvPr/>
        </p:nvSpPr>
        <p:spPr bwMode="auto">
          <a:xfrm>
            <a:off x="5524500" y="3384048"/>
            <a:ext cx="3009900" cy="457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 dirty="0"/>
              <a:t>term                     </a:t>
            </a:r>
            <a:r>
              <a:rPr kumimoji="0" lang="en-US" altLang="zh-CN" sz="2400" dirty="0"/>
              <a:t>rest</a:t>
            </a:r>
            <a:endParaRPr kumimoji="0" lang="en-US" altLang="zh-CN" sz="2400" i="1" dirty="0"/>
          </a:p>
        </p:txBody>
      </p:sp>
      <p:sp>
        <p:nvSpPr>
          <p:cNvPr id="93193" name="Text Box 76"/>
          <p:cNvSpPr txBox="1">
            <a:spLocks noChangeArrowheads="1"/>
          </p:cNvSpPr>
          <p:nvPr/>
        </p:nvSpPr>
        <p:spPr bwMode="auto">
          <a:xfrm>
            <a:off x="3670300" y="3613556"/>
            <a:ext cx="26876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olidFill>
                  <a:schemeClr val="folHlink"/>
                </a:solidFill>
              </a:rPr>
              <a:t>{</a:t>
            </a:r>
            <a:r>
              <a:rPr kumimoji="0" lang="en-US" altLang="zh-CN" sz="2400" i="1" dirty="0">
                <a:solidFill>
                  <a:schemeClr val="folHlink"/>
                </a:solidFill>
              </a:rPr>
              <a:t>print</a:t>
            </a:r>
            <a:r>
              <a:rPr kumimoji="0" lang="en-US" altLang="zh-CN" sz="2400" dirty="0">
                <a:solidFill>
                  <a:schemeClr val="folHlink"/>
                </a:solidFill>
              </a:rPr>
              <a:t>(‘5’)}</a:t>
            </a:r>
            <a:endParaRPr kumimoji="0" lang="en-US" altLang="zh-CN" sz="2400" i="1" dirty="0">
              <a:solidFill>
                <a:schemeClr val="folHlink"/>
              </a:solidFill>
            </a:endParaRPr>
          </a:p>
        </p:txBody>
      </p:sp>
      <p:sp>
        <p:nvSpPr>
          <p:cNvPr id="93194" name="Text Box 77"/>
          <p:cNvSpPr txBox="1">
            <a:spLocks noChangeArrowheads="1"/>
          </p:cNvSpPr>
          <p:nvPr/>
        </p:nvSpPr>
        <p:spPr bwMode="auto">
          <a:xfrm>
            <a:off x="1258888" y="2928902"/>
            <a:ext cx="2689225" cy="457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olidFill>
                  <a:schemeClr val="folHlink"/>
                </a:solidFill>
              </a:rPr>
              <a:t>{</a:t>
            </a:r>
            <a:r>
              <a:rPr kumimoji="0" lang="en-US" altLang="zh-CN" sz="2400" i="1" dirty="0">
                <a:solidFill>
                  <a:schemeClr val="folHlink"/>
                </a:solidFill>
              </a:rPr>
              <a:t>print</a:t>
            </a:r>
            <a:r>
              <a:rPr kumimoji="0" lang="en-US" altLang="zh-CN" sz="2400" dirty="0">
                <a:solidFill>
                  <a:schemeClr val="folHlink"/>
                </a:solidFill>
              </a:rPr>
              <a:t>(‘9’)}</a:t>
            </a:r>
            <a:endParaRPr kumimoji="0" lang="en-US" altLang="zh-CN" sz="2400" i="1" dirty="0">
              <a:solidFill>
                <a:schemeClr val="folHlink"/>
              </a:solidFill>
            </a:endParaRPr>
          </a:p>
        </p:txBody>
      </p:sp>
      <p:sp>
        <p:nvSpPr>
          <p:cNvPr id="93195" name="Text Box 78"/>
          <p:cNvSpPr txBox="1">
            <a:spLocks noChangeArrowheads="1"/>
          </p:cNvSpPr>
          <p:nvPr/>
        </p:nvSpPr>
        <p:spPr bwMode="auto">
          <a:xfrm>
            <a:off x="5988050" y="2816727"/>
            <a:ext cx="1390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rest</a:t>
            </a:r>
            <a:endParaRPr kumimoji="0" lang="en-US" altLang="zh-CN" sz="2400" i="1"/>
          </a:p>
        </p:txBody>
      </p:sp>
      <p:sp>
        <p:nvSpPr>
          <p:cNvPr id="93196" name="Text Box 79"/>
          <p:cNvSpPr txBox="1">
            <a:spLocks noChangeArrowheads="1"/>
          </p:cNvSpPr>
          <p:nvPr/>
        </p:nvSpPr>
        <p:spPr bwMode="auto">
          <a:xfrm>
            <a:off x="3854450" y="2017319"/>
            <a:ext cx="1390650" cy="457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rest</a:t>
            </a:r>
            <a:endParaRPr kumimoji="0" lang="en-US" altLang="zh-CN" sz="2400" i="1"/>
          </a:p>
        </p:txBody>
      </p:sp>
      <p:sp>
        <p:nvSpPr>
          <p:cNvPr id="93197" name="Text Box 80"/>
          <p:cNvSpPr txBox="1">
            <a:spLocks noChangeArrowheads="1"/>
          </p:cNvSpPr>
          <p:nvPr/>
        </p:nvSpPr>
        <p:spPr bwMode="auto">
          <a:xfrm>
            <a:off x="5430838" y="4523849"/>
            <a:ext cx="557213" cy="457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2</a:t>
            </a:r>
            <a:endParaRPr kumimoji="0" lang="en-US" altLang="zh-CN" sz="2400"/>
          </a:p>
        </p:txBody>
      </p:sp>
      <p:sp>
        <p:nvSpPr>
          <p:cNvPr id="93198" name="Text Box 81"/>
          <p:cNvSpPr txBox="1">
            <a:spLocks noChangeArrowheads="1"/>
          </p:cNvSpPr>
          <p:nvPr/>
        </p:nvSpPr>
        <p:spPr bwMode="auto">
          <a:xfrm>
            <a:off x="3113088" y="3613556"/>
            <a:ext cx="5572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5</a:t>
            </a:r>
            <a:endParaRPr kumimoji="0" lang="en-US" altLang="zh-CN" sz="2400"/>
          </a:p>
        </p:txBody>
      </p:sp>
      <p:sp>
        <p:nvSpPr>
          <p:cNvPr id="93199" name="Text Box 82"/>
          <p:cNvSpPr txBox="1">
            <a:spLocks noChangeArrowheads="1"/>
          </p:cNvSpPr>
          <p:nvPr/>
        </p:nvSpPr>
        <p:spPr bwMode="auto">
          <a:xfrm>
            <a:off x="2927350" y="2816727"/>
            <a:ext cx="5572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-</a:t>
            </a:r>
            <a:endParaRPr kumimoji="0" lang="en-US" altLang="zh-CN" sz="2400"/>
          </a:p>
        </p:txBody>
      </p:sp>
      <p:sp>
        <p:nvSpPr>
          <p:cNvPr id="93200" name="Text Box 83"/>
          <p:cNvSpPr txBox="1">
            <a:spLocks noChangeArrowheads="1"/>
          </p:cNvSpPr>
          <p:nvPr/>
        </p:nvSpPr>
        <p:spPr bwMode="auto">
          <a:xfrm>
            <a:off x="609600" y="2928902"/>
            <a:ext cx="555625" cy="457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9</a:t>
            </a:r>
            <a:endParaRPr kumimoji="0" lang="en-US" altLang="zh-CN" sz="2400"/>
          </a:p>
        </p:txBody>
      </p:sp>
      <p:sp>
        <p:nvSpPr>
          <p:cNvPr id="93201" name="Text Box 84"/>
          <p:cNvSpPr txBox="1">
            <a:spLocks noChangeArrowheads="1"/>
          </p:cNvSpPr>
          <p:nvPr/>
        </p:nvSpPr>
        <p:spPr bwMode="auto">
          <a:xfrm>
            <a:off x="5060950" y="3384048"/>
            <a:ext cx="555625" cy="457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+</a:t>
            </a:r>
            <a:endParaRPr kumimoji="0" lang="en-US" altLang="zh-CN" sz="2400"/>
          </a:p>
        </p:txBody>
      </p:sp>
      <p:sp>
        <p:nvSpPr>
          <p:cNvPr id="93202" name="Text Box 85"/>
          <p:cNvSpPr txBox="1">
            <a:spLocks noChangeArrowheads="1"/>
          </p:cNvSpPr>
          <p:nvPr/>
        </p:nvSpPr>
        <p:spPr bwMode="auto">
          <a:xfrm>
            <a:off x="7902575" y="4525139"/>
            <a:ext cx="5556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</a:t>
            </a:r>
            <a:endParaRPr kumimoji="0" lang="en-US" altLang="zh-CN" sz="2400"/>
          </a:p>
        </p:txBody>
      </p:sp>
      <p:sp>
        <p:nvSpPr>
          <p:cNvPr id="93203" name="Line 86"/>
          <p:cNvSpPr>
            <a:spLocks noChangeShapeType="1"/>
          </p:cNvSpPr>
          <p:nvPr/>
        </p:nvSpPr>
        <p:spPr bwMode="auto">
          <a:xfrm>
            <a:off x="8086725" y="3955238"/>
            <a:ext cx="0" cy="6833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04" name="Line 87"/>
          <p:cNvSpPr>
            <a:spLocks noChangeShapeType="1"/>
          </p:cNvSpPr>
          <p:nvPr/>
        </p:nvSpPr>
        <p:spPr bwMode="auto">
          <a:xfrm>
            <a:off x="6543675" y="3043655"/>
            <a:ext cx="1381125" cy="4035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05" name="Line 88"/>
          <p:cNvSpPr>
            <a:spLocks noChangeShapeType="1"/>
          </p:cNvSpPr>
          <p:nvPr/>
        </p:nvSpPr>
        <p:spPr bwMode="auto">
          <a:xfrm>
            <a:off x="6451599" y="3270584"/>
            <a:ext cx="276225" cy="1831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06" name="Line 89"/>
          <p:cNvSpPr>
            <a:spLocks noChangeShapeType="1"/>
          </p:cNvSpPr>
          <p:nvPr/>
        </p:nvSpPr>
        <p:spPr bwMode="auto">
          <a:xfrm flipH="1">
            <a:off x="5616575" y="3840485"/>
            <a:ext cx="185738" cy="6846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07" name="Line 90"/>
          <p:cNvSpPr>
            <a:spLocks noChangeShapeType="1"/>
          </p:cNvSpPr>
          <p:nvPr/>
        </p:nvSpPr>
        <p:spPr bwMode="auto">
          <a:xfrm flipH="1">
            <a:off x="3113088" y="2472465"/>
            <a:ext cx="741363" cy="45643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08" name="Line 91"/>
          <p:cNvSpPr>
            <a:spLocks noChangeShapeType="1"/>
          </p:cNvSpPr>
          <p:nvPr/>
        </p:nvSpPr>
        <p:spPr bwMode="auto">
          <a:xfrm>
            <a:off x="4503738" y="2359001"/>
            <a:ext cx="1762125" cy="5699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09" name="Line 92"/>
          <p:cNvSpPr>
            <a:spLocks noChangeShapeType="1"/>
          </p:cNvSpPr>
          <p:nvPr/>
        </p:nvSpPr>
        <p:spPr bwMode="auto">
          <a:xfrm>
            <a:off x="2741613" y="1675636"/>
            <a:ext cx="1392238" cy="4551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10" name="Line 93"/>
          <p:cNvSpPr>
            <a:spLocks noChangeShapeType="1"/>
          </p:cNvSpPr>
          <p:nvPr/>
        </p:nvSpPr>
        <p:spPr bwMode="auto">
          <a:xfrm flipH="1">
            <a:off x="795338" y="2587219"/>
            <a:ext cx="369888" cy="34168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11" name="Line 94"/>
          <p:cNvSpPr>
            <a:spLocks noChangeShapeType="1"/>
          </p:cNvSpPr>
          <p:nvPr/>
        </p:nvSpPr>
        <p:spPr bwMode="auto">
          <a:xfrm flipH="1">
            <a:off x="1350963" y="1675636"/>
            <a:ext cx="742950" cy="4551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12" name="Line 95"/>
          <p:cNvSpPr>
            <a:spLocks noChangeShapeType="1"/>
          </p:cNvSpPr>
          <p:nvPr/>
        </p:nvSpPr>
        <p:spPr bwMode="auto">
          <a:xfrm flipH="1">
            <a:off x="5894388" y="3270584"/>
            <a:ext cx="279400" cy="22821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13" name="Line 96"/>
          <p:cNvSpPr>
            <a:spLocks noChangeShapeType="1"/>
          </p:cNvSpPr>
          <p:nvPr/>
        </p:nvSpPr>
        <p:spPr bwMode="auto">
          <a:xfrm flipH="1">
            <a:off x="5245100" y="3157120"/>
            <a:ext cx="835025" cy="34168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14" name="Line 97"/>
          <p:cNvSpPr>
            <a:spLocks noChangeShapeType="1"/>
          </p:cNvSpPr>
          <p:nvPr/>
        </p:nvSpPr>
        <p:spPr bwMode="auto">
          <a:xfrm flipH="1">
            <a:off x="3298825" y="3270584"/>
            <a:ext cx="185738" cy="45643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15" name="Line 98"/>
          <p:cNvSpPr>
            <a:spLocks noChangeShapeType="1"/>
          </p:cNvSpPr>
          <p:nvPr/>
        </p:nvSpPr>
        <p:spPr bwMode="auto">
          <a:xfrm flipH="1">
            <a:off x="3670300" y="2587219"/>
            <a:ext cx="277813" cy="34168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16" name="Line 99"/>
          <p:cNvSpPr>
            <a:spLocks noChangeShapeType="1"/>
          </p:cNvSpPr>
          <p:nvPr/>
        </p:nvSpPr>
        <p:spPr bwMode="auto">
          <a:xfrm>
            <a:off x="5988050" y="3840485"/>
            <a:ext cx="555625" cy="684654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17" name="Line 100"/>
          <p:cNvSpPr>
            <a:spLocks noChangeShapeType="1"/>
          </p:cNvSpPr>
          <p:nvPr/>
        </p:nvSpPr>
        <p:spPr bwMode="auto">
          <a:xfrm>
            <a:off x="4225925" y="2472465"/>
            <a:ext cx="277368" cy="453788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18" name="Line 101"/>
          <p:cNvSpPr>
            <a:spLocks noChangeShapeType="1"/>
          </p:cNvSpPr>
          <p:nvPr/>
        </p:nvSpPr>
        <p:spPr bwMode="auto">
          <a:xfrm>
            <a:off x="3762375" y="3270584"/>
            <a:ext cx="371475" cy="456436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19" name="Line 102"/>
          <p:cNvSpPr>
            <a:spLocks noChangeShapeType="1"/>
          </p:cNvSpPr>
          <p:nvPr/>
        </p:nvSpPr>
        <p:spPr bwMode="auto">
          <a:xfrm>
            <a:off x="1444625" y="2472465"/>
            <a:ext cx="369888" cy="57119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948558" y="2810209"/>
            <a:ext cx="15905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zh-CN" sz="2400" dirty="0">
                <a:solidFill>
                  <a:schemeClr val="folHlink"/>
                </a:solidFill>
              </a:rPr>
              <a:t>{</a:t>
            </a:r>
            <a:r>
              <a:rPr kumimoji="0" lang="en-US" altLang="zh-CN" sz="2400" i="1" dirty="0">
                <a:solidFill>
                  <a:schemeClr val="folHlink"/>
                </a:solidFill>
              </a:rPr>
              <a:t>print</a:t>
            </a:r>
            <a:r>
              <a:rPr kumimoji="0" lang="en-US" altLang="zh-CN" sz="2400" dirty="0">
                <a:solidFill>
                  <a:schemeClr val="folHlink"/>
                </a:solidFill>
              </a:rPr>
              <a:t>(‘-’)}</a:t>
            </a:r>
            <a:endParaRPr lang="zh-CN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6142571" y="3372301"/>
            <a:ext cx="16610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zh-CN" sz="2400" dirty="0">
                <a:solidFill>
                  <a:schemeClr val="folHlink"/>
                </a:solidFill>
              </a:rPr>
              <a:t>{</a:t>
            </a:r>
            <a:r>
              <a:rPr kumimoji="0" lang="en-US" altLang="zh-CN" sz="2400" i="1" dirty="0">
                <a:solidFill>
                  <a:schemeClr val="folHlink"/>
                </a:solidFill>
              </a:rPr>
              <a:t>print</a:t>
            </a:r>
            <a:r>
              <a:rPr kumimoji="0" lang="en-US" altLang="zh-CN" sz="2400" dirty="0">
                <a:solidFill>
                  <a:schemeClr val="folHlink"/>
                </a:solidFill>
              </a:rPr>
              <a:t>(‘+’)}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8" grpId="0"/>
      <p:bldP spid="93193" grpId="0"/>
      <p:bldP spid="93194" grpId="0"/>
      <p:bldP spid="93205" grpId="0" animBg="1"/>
      <p:bldP spid="93216" grpId="0" animBg="1"/>
      <p:bldP spid="93217" grpId="0" animBg="1"/>
      <p:bldP spid="93218" grpId="0" animBg="1"/>
      <p:bldP spid="93219" grpId="0" animBg="1"/>
      <p:bldP spid="2" grpId="0"/>
      <p:bldP spid="3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2.5.3  </a:t>
            </a:r>
            <a:r>
              <a:rPr lang="zh-CN" altLang="en-US"/>
              <a:t>非终结符实现代码</a:t>
            </a:r>
            <a:endParaRPr lang="zh-CN" altLang="en-US"/>
          </a:p>
        </p:txBody>
      </p:sp>
      <p:sp>
        <p:nvSpPr>
          <p:cNvPr id="9421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182688" y="1524000"/>
            <a:ext cx="7772400" cy="4572000"/>
          </a:xfrm>
          <a:noFill/>
        </p:spPr>
        <p:txBody>
          <a:bodyPr/>
          <a:lstStyle/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/>
              <a:t>非终结符的分析函数</a:t>
            </a:r>
            <a:r>
              <a:rPr lang="en-US" altLang="zh-CN"/>
              <a:t>——expr</a:t>
            </a:r>
            <a:endParaRPr kumimoji="0" lang="en-US" altLang="zh-CN" b="1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void</a:t>
            </a:r>
            <a:r>
              <a:rPr kumimoji="0" lang="en-US" altLang="zh-CN" sz="2400"/>
              <a:t> expr ()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{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term(); rest();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}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i="1"/>
              <a:t>expr </a:t>
            </a:r>
            <a:r>
              <a:rPr kumimoji="0" lang="en-US" altLang="zh-CN" sz="2800">
                <a:sym typeface="Symbol" panose="05050102010706020507" pitchFamily="18" charset="2"/>
              </a:rPr>
              <a:t> </a:t>
            </a:r>
            <a:r>
              <a:rPr kumimoji="0" lang="en-US" altLang="zh-CN" sz="2800" i="1">
                <a:sym typeface="Symbol" panose="05050102010706020507" pitchFamily="18" charset="2"/>
              </a:rPr>
              <a:t>term rest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4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非终结符的分析函数</a:t>
            </a:r>
            <a:r>
              <a:rPr lang="en-US" altLang="zh-CN"/>
              <a:t>——rest</a:t>
            </a:r>
            <a:endParaRPr lang="en-US" altLang="zh-CN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70513"/>
          </a:xfrm>
          <a:noFill/>
        </p:spPr>
        <p:txBody>
          <a:bodyPr/>
          <a:lstStyle/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void</a:t>
            </a:r>
            <a:r>
              <a:rPr kumimoji="0" lang="en-US" altLang="zh-CN" sz="2400"/>
              <a:t> rest ()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{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</a:t>
            </a:r>
            <a:r>
              <a:rPr kumimoji="0" lang="en-US" altLang="zh-CN" sz="2400" b="1"/>
              <a:t>if</a:t>
            </a:r>
            <a:r>
              <a:rPr kumimoji="0" lang="en-US" altLang="zh-CN" sz="2400"/>
              <a:t> (lookahead == ‘+’) {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	match(‘+’); term(); putchar(‘+’); rest();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}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</a:t>
            </a:r>
            <a:r>
              <a:rPr kumimoji="0" lang="en-US" altLang="zh-CN" sz="2400" b="1"/>
              <a:t>else</a:t>
            </a:r>
            <a:r>
              <a:rPr kumimoji="0" lang="en-US" altLang="zh-CN" sz="2400"/>
              <a:t> </a:t>
            </a:r>
            <a:r>
              <a:rPr kumimoji="0" lang="en-US" altLang="zh-CN" sz="2400" b="1"/>
              <a:t>if</a:t>
            </a:r>
            <a:r>
              <a:rPr kumimoji="0" lang="en-US" altLang="zh-CN" sz="2400"/>
              <a:t> (lookahead == ‘-’) {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	match(‘-’); term(); putchar(‘-’); rest();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}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}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400"/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rest</a:t>
            </a:r>
            <a:r>
              <a:rPr kumimoji="0" lang="en-US" altLang="zh-CN" sz="2400">
                <a:sym typeface="Symbol" panose="05050102010706020507" pitchFamily="18" charset="2"/>
              </a:rPr>
              <a:t>  </a:t>
            </a:r>
            <a:r>
              <a:rPr kumimoji="0" lang="en-US" altLang="zh-CN" sz="2400" i="1">
                <a:sym typeface="Symbol" panose="05050102010706020507" pitchFamily="18" charset="2"/>
              </a:rPr>
              <a:t>+ term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 print</a:t>
            </a:r>
            <a:r>
              <a:rPr kumimoji="0" lang="en-US" altLang="zh-CN" sz="2400">
                <a:sym typeface="Symbol" panose="05050102010706020507" pitchFamily="18" charset="2"/>
              </a:rPr>
              <a:t>(‘+’)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}</a:t>
            </a:r>
            <a:r>
              <a:rPr kumimoji="0" lang="en-US" altLang="zh-CN" sz="2400" i="1">
                <a:sym typeface="Symbol" panose="05050102010706020507" pitchFamily="18" charset="2"/>
              </a:rPr>
              <a:t> rest |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      - </a:t>
            </a:r>
            <a:r>
              <a:rPr kumimoji="0" lang="en-US" altLang="zh-CN" sz="2400" i="1">
                <a:sym typeface="Symbol" panose="05050102010706020507" pitchFamily="18" charset="2"/>
              </a:rPr>
              <a:t>term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 print</a:t>
            </a:r>
            <a:r>
              <a:rPr kumimoji="0" lang="en-US" altLang="zh-CN" sz="2400">
                <a:sym typeface="Symbol" panose="05050102010706020507" pitchFamily="18" charset="2"/>
              </a:rPr>
              <a:t>(‘-’)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}</a:t>
            </a:r>
            <a:r>
              <a:rPr kumimoji="0" lang="en-US" altLang="zh-CN" sz="2400" i="1">
                <a:sym typeface="Symbol" panose="05050102010706020507" pitchFamily="18" charset="2"/>
              </a:rPr>
              <a:t> rest | </a:t>
            </a:r>
            <a:r>
              <a:rPr lang="en-US" altLang="zh-CN" sz="2400">
                <a:sym typeface="Symbol" panose="05050102010706020507" pitchFamily="18" charset="2"/>
              </a:rPr>
              <a:t>ε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4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非终结符的分析函数</a:t>
            </a:r>
            <a:r>
              <a:rPr lang="en-US" altLang="zh-CN"/>
              <a:t>——term</a:t>
            </a:r>
            <a:endParaRPr lang="en-US" altLang="zh-CN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53025"/>
          </a:xfrm>
          <a:noFill/>
        </p:spPr>
        <p:txBody>
          <a:bodyPr/>
          <a:lstStyle/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void</a:t>
            </a:r>
            <a:r>
              <a:rPr kumimoji="0" lang="en-US" altLang="zh-CN" sz="2400"/>
              <a:t> term ()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{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</a:t>
            </a:r>
            <a:r>
              <a:rPr kumimoji="0" lang="en-US" altLang="zh-CN" sz="2400" b="1"/>
              <a:t>if</a:t>
            </a:r>
            <a:r>
              <a:rPr kumimoji="0" lang="en-US" altLang="zh-CN" sz="2400"/>
              <a:t> (isdigit(lookahead)) {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	putchar(lookahead); match(lookahead);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}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</a:t>
            </a:r>
            <a:r>
              <a:rPr kumimoji="0" lang="en-US" altLang="zh-CN" sz="2400" b="1"/>
              <a:t>else</a:t>
            </a:r>
            <a:r>
              <a:rPr kumimoji="0" lang="en-US" altLang="zh-CN" sz="2400"/>
              <a:t> error();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}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400"/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term 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i="1">
                <a:sym typeface="Symbol" panose="05050102010706020507" pitchFamily="18" charset="2"/>
              </a:rPr>
              <a:t>0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print</a:t>
            </a:r>
            <a:r>
              <a:rPr kumimoji="0" lang="en-US" altLang="zh-CN" sz="2400">
                <a:sym typeface="Symbol" panose="05050102010706020507" pitchFamily="18" charset="2"/>
              </a:rPr>
              <a:t>(‘0’)}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term </a:t>
            </a:r>
            <a:r>
              <a:rPr kumimoji="0" lang="en-US" altLang="zh-CN" sz="2400">
                <a:sym typeface="Symbol" panose="05050102010706020507" pitchFamily="18" charset="2"/>
              </a:rPr>
              <a:t> 1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print</a:t>
            </a:r>
            <a:r>
              <a:rPr kumimoji="0" lang="en-US" altLang="zh-CN" sz="2400">
                <a:sym typeface="Symbol" panose="05050102010706020507" pitchFamily="18" charset="2"/>
              </a:rPr>
              <a:t>(‘1’)}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…</a:t>
            </a:r>
            <a:endParaRPr kumimoji="0" lang="en-US" altLang="zh-CN" sz="2400" i="1"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term </a:t>
            </a:r>
            <a:r>
              <a:rPr kumimoji="0" lang="en-US" altLang="zh-CN" sz="2400">
                <a:sym typeface="Symbol" panose="05050102010706020507" pitchFamily="18" charset="2"/>
              </a:rPr>
              <a:t> 9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print</a:t>
            </a:r>
            <a:r>
              <a:rPr kumimoji="0" lang="en-US" altLang="zh-CN" sz="2400">
                <a:sym typeface="Symbol" panose="05050102010706020507" pitchFamily="18" charset="2"/>
              </a:rPr>
              <a:t>(‘9’)}</a:t>
            </a:r>
            <a:endParaRPr kumimoji="0" lang="en-US" altLang="zh-CN" sz="24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2.5.4  </a:t>
            </a:r>
            <a:r>
              <a:rPr lang="zh-CN" altLang="en-US"/>
              <a:t>优化</a:t>
            </a:r>
            <a:r>
              <a:rPr lang="en-US" altLang="zh-CN"/>
              <a:t>——</a:t>
            </a:r>
            <a:r>
              <a:rPr lang="zh-CN" altLang="en-US"/>
              <a:t>消除</a:t>
            </a:r>
            <a:r>
              <a:rPr lang="en-US" altLang="zh-CN"/>
              <a:t>rest</a:t>
            </a:r>
            <a:r>
              <a:rPr lang="zh-CN" altLang="en-US"/>
              <a:t>尾递归</a:t>
            </a:r>
            <a:endParaRPr lang="zh-CN" alt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void</a:t>
            </a:r>
            <a:r>
              <a:rPr kumimoji="0" lang="en-US" altLang="zh-CN" sz="2400"/>
              <a:t> rest ()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{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L:	</a:t>
            </a:r>
            <a:r>
              <a:rPr kumimoji="0" lang="en-US" altLang="zh-CN" sz="2400" b="1"/>
              <a:t>if</a:t>
            </a:r>
            <a:r>
              <a:rPr kumimoji="0" lang="en-US" altLang="zh-CN" sz="2400"/>
              <a:t> (lookahead == ‘+’) {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	match(‘+’); term(); putchar(‘+’); goto L;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}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</a:t>
            </a:r>
            <a:r>
              <a:rPr kumimoji="0" lang="en-US" altLang="zh-CN" sz="2400" b="1"/>
              <a:t>else</a:t>
            </a:r>
            <a:r>
              <a:rPr kumimoji="0" lang="en-US" altLang="zh-CN" sz="2400"/>
              <a:t> </a:t>
            </a:r>
            <a:r>
              <a:rPr kumimoji="0" lang="en-US" altLang="zh-CN" sz="2400" b="1"/>
              <a:t>if</a:t>
            </a:r>
            <a:r>
              <a:rPr kumimoji="0" lang="en-US" altLang="zh-CN" sz="2400"/>
              <a:t> (lookahead == ‘-’) {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	match(‘-’); term(); putchar(‘-’); goto L;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	}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}</a:t>
            </a:r>
            <a:endParaRPr lang="en-US" altLang="zh-CN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优化</a:t>
            </a:r>
            <a:r>
              <a:rPr lang="en-US" altLang="zh-CN"/>
              <a:t>——rest</a:t>
            </a:r>
            <a:r>
              <a:rPr lang="zh-CN" altLang="en-US"/>
              <a:t>并入</a:t>
            </a:r>
            <a:r>
              <a:rPr lang="en-US" altLang="zh-CN"/>
              <a:t>expr</a:t>
            </a:r>
            <a:endParaRPr lang="en-US" altLang="zh-CN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void</a:t>
            </a:r>
            <a:r>
              <a:rPr kumimoji="0" lang="en-US" altLang="zh-CN" sz="2000"/>
              <a:t> expr ()</a:t>
            </a:r>
            <a:endParaRPr kumimoji="0" lang="en-US" altLang="zh-CN" sz="20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{</a:t>
            </a:r>
            <a:endParaRPr kumimoji="0" lang="en-US" altLang="zh-CN" sz="20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term();</a:t>
            </a:r>
            <a:endParaRPr kumimoji="0" lang="en-US" altLang="zh-CN" sz="20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</a:t>
            </a:r>
            <a:r>
              <a:rPr kumimoji="0" lang="en-US" altLang="zh-CN" sz="2000" b="1"/>
              <a:t>while</a:t>
            </a:r>
            <a:r>
              <a:rPr kumimoji="0" lang="en-US" altLang="zh-CN" sz="2000"/>
              <a:t> (1)</a:t>
            </a:r>
            <a:endParaRPr kumimoji="0" lang="en-US" altLang="zh-CN" sz="20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</a:t>
            </a:r>
            <a:r>
              <a:rPr kumimoji="0" lang="en-US" altLang="zh-CN" sz="2000" b="1"/>
              <a:t>if</a:t>
            </a:r>
            <a:r>
              <a:rPr kumimoji="0" lang="en-US" altLang="zh-CN" sz="2000"/>
              <a:t> (lookahead == ‘+’) {</a:t>
            </a:r>
            <a:endParaRPr kumimoji="0" lang="en-US" altLang="zh-CN" sz="20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	match(‘+’); term(); putchar(‘+’);</a:t>
            </a:r>
            <a:endParaRPr kumimoji="0" lang="en-US" altLang="zh-CN" sz="20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}</a:t>
            </a:r>
            <a:endParaRPr kumimoji="0" lang="en-US" altLang="zh-CN" sz="20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</a:t>
            </a:r>
            <a:r>
              <a:rPr kumimoji="0" lang="en-US" altLang="zh-CN" sz="2000" b="1"/>
              <a:t>else</a:t>
            </a:r>
            <a:r>
              <a:rPr kumimoji="0" lang="en-US" altLang="zh-CN" sz="2000"/>
              <a:t> </a:t>
            </a:r>
            <a:r>
              <a:rPr kumimoji="0" lang="en-US" altLang="zh-CN" sz="2000" b="1"/>
              <a:t>if</a:t>
            </a:r>
            <a:r>
              <a:rPr kumimoji="0" lang="en-US" altLang="zh-CN" sz="2000"/>
              <a:t> (lookahead == ‘-’) {</a:t>
            </a:r>
            <a:endParaRPr kumimoji="0" lang="en-US" altLang="zh-CN" sz="20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	match(‘-’); term(); putchar(‘-’);</a:t>
            </a:r>
            <a:endParaRPr kumimoji="0" lang="en-US" altLang="zh-CN" sz="20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}</a:t>
            </a:r>
            <a:endParaRPr kumimoji="0" lang="en-US" altLang="zh-CN" sz="20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</a:t>
            </a:r>
            <a:r>
              <a:rPr kumimoji="0" lang="en-US" altLang="zh-CN" sz="2000" b="1"/>
              <a:t>else</a:t>
            </a:r>
            <a:r>
              <a:rPr kumimoji="0" lang="en-US" altLang="zh-CN" sz="2000"/>
              <a:t> break;</a:t>
            </a:r>
            <a:endParaRPr kumimoji="0" lang="en-US" altLang="zh-CN" sz="20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}</a:t>
            </a:r>
            <a:endParaRPr kumimoji="0" lang="en-US" altLang="zh-CN" sz="20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130175"/>
            <a:ext cx="7793037" cy="1066800"/>
          </a:xfrm>
        </p:spPr>
        <p:txBody>
          <a:bodyPr/>
          <a:lstStyle/>
          <a:p>
            <a:pPr eaLnBrk="1" hangingPunct="1"/>
            <a:r>
              <a:rPr lang="en-US" altLang="zh-CN"/>
              <a:t>2.5.5  </a:t>
            </a:r>
            <a:r>
              <a:rPr lang="zh-CN" altLang="en-US"/>
              <a:t>完整程序</a:t>
            </a:r>
            <a:endParaRPr lang="zh-CN" altLang="en-US"/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295400"/>
            <a:ext cx="7772400" cy="5410200"/>
          </a:xfrm>
        </p:spPr>
        <p:txBody>
          <a:bodyPr/>
          <a:lstStyle/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kumimoji="0" lang="en-US" altLang="zh-CN" sz="2000"/>
              <a:t>#include &lt;ctype.h&gt;</a:t>
            </a:r>
            <a:endParaRPr kumimoji="0" lang="en-US" altLang="zh-CN" sz="2000"/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kumimoji="0" lang="en-US" altLang="zh-CN" sz="2000" b="1"/>
              <a:t>int</a:t>
            </a:r>
            <a:r>
              <a:rPr kumimoji="0" lang="en-US" altLang="zh-CN" sz="2000"/>
              <a:t> lookahead;</a:t>
            </a:r>
            <a:endParaRPr kumimoji="0" lang="en-US" altLang="zh-CN" sz="2000"/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kumimoji="0" lang="en-US" altLang="zh-CN" sz="2000"/>
              <a:t>main()</a:t>
            </a:r>
            <a:endParaRPr kumimoji="0" lang="en-US" altLang="zh-CN" sz="2000"/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kumimoji="0" lang="en-US" altLang="zh-CN" sz="2000"/>
              <a:t>{</a:t>
            </a:r>
            <a:endParaRPr kumimoji="0" lang="en-US" altLang="zh-CN" sz="2000"/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kumimoji="0" lang="en-US" altLang="zh-CN" sz="2000"/>
              <a:t>	lookahead = getchar();</a:t>
            </a:r>
            <a:endParaRPr kumimoji="0" lang="en-US" altLang="zh-CN" sz="2000"/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kumimoji="0" lang="en-US" altLang="zh-CN" sz="2000"/>
              <a:t>	expr();</a:t>
            </a:r>
            <a:endParaRPr kumimoji="0" lang="en-US" altLang="zh-CN" sz="2000"/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kumimoji="0" lang="en-US" altLang="zh-CN" sz="2000"/>
              <a:t>	putchar(‘\n’);</a:t>
            </a:r>
            <a:endParaRPr kumimoji="0" lang="en-US" altLang="zh-CN" sz="2000"/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kumimoji="0" lang="en-US" altLang="zh-CN" sz="2000"/>
              <a:t>}</a:t>
            </a:r>
            <a:endParaRPr kumimoji="0" lang="en-US" altLang="zh-CN" sz="2000"/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kumimoji="0" lang="en-US" altLang="zh-CN" sz="2000" b="1"/>
              <a:t>void</a:t>
            </a:r>
            <a:r>
              <a:rPr kumimoji="0" lang="en-US" altLang="zh-CN" sz="2000"/>
              <a:t> match(int t)</a:t>
            </a:r>
            <a:endParaRPr kumimoji="0" lang="en-US" altLang="zh-CN" sz="2000"/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kumimoji="0" lang="en-US" altLang="zh-CN" sz="2000"/>
              <a:t>{</a:t>
            </a:r>
            <a:endParaRPr kumimoji="0" lang="en-US" altLang="zh-CN" sz="2000"/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kumimoji="0" lang="en-US" altLang="zh-CN" sz="2000"/>
              <a:t>	</a:t>
            </a:r>
            <a:r>
              <a:rPr kumimoji="0" lang="en-US" altLang="zh-CN" sz="2000" b="1"/>
              <a:t>if</a:t>
            </a:r>
            <a:r>
              <a:rPr kumimoji="0" lang="en-US" altLang="zh-CN" sz="2000"/>
              <a:t> (lookahead == t)</a:t>
            </a:r>
            <a:endParaRPr kumimoji="0" lang="en-US" altLang="zh-CN" sz="2000"/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kumimoji="0" lang="en-US" altLang="zh-CN" sz="2000"/>
              <a:t>		lookahead = getchar();</a:t>
            </a:r>
            <a:endParaRPr kumimoji="0" lang="en-US" altLang="zh-CN" sz="2000"/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kumimoji="0" lang="en-US" altLang="zh-CN" sz="2000"/>
              <a:t>	</a:t>
            </a:r>
            <a:r>
              <a:rPr kumimoji="0" lang="en-US" altLang="zh-CN" sz="2000" b="1"/>
              <a:t>else</a:t>
            </a:r>
            <a:r>
              <a:rPr kumimoji="0" lang="en-US" altLang="zh-CN" sz="2000"/>
              <a:t> error();</a:t>
            </a:r>
            <a:endParaRPr kumimoji="0" lang="en-US" altLang="zh-CN" sz="2000"/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kumimoji="0" lang="en-US" altLang="zh-CN" sz="2000"/>
              <a:t>}</a:t>
            </a:r>
            <a:endParaRPr kumimoji="0" lang="en-US" altLang="zh-CN" sz="20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2.6 </a:t>
            </a:r>
            <a:r>
              <a:rPr lang="zh-CN" altLang="en-US"/>
              <a:t>词法分析</a:t>
            </a:r>
            <a:endParaRPr lang="zh-CN" altLang="en-US"/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/>
            <a:r>
              <a:rPr lang="en-US" altLang="zh-CN" sz="2800"/>
              <a:t>2.6.1  </a:t>
            </a:r>
            <a:r>
              <a:rPr lang="zh-CN" altLang="en-US" sz="2800"/>
              <a:t>去除空白符和注释</a:t>
            </a:r>
            <a:endParaRPr lang="zh-CN" altLang="en-US" sz="2800"/>
          </a:p>
          <a:p>
            <a:pPr eaLnBrk="1" hangingPunct="1"/>
            <a:r>
              <a:rPr lang="en-US" altLang="zh-CN" sz="2800"/>
              <a:t>2.6.2  </a:t>
            </a:r>
            <a:r>
              <a:rPr lang="zh-CN" altLang="en-US" sz="2800"/>
              <a:t>常量：</a:t>
            </a:r>
            <a:r>
              <a:rPr lang="en-US" altLang="zh-CN" sz="2800"/>
              <a:t>&lt;num, 31&gt;, &lt;num, 28&gt;, …</a:t>
            </a:r>
            <a:endParaRPr lang="en-US" altLang="zh-CN" sz="2800"/>
          </a:p>
          <a:p>
            <a:pPr eaLnBrk="1" hangingPunct="1"/>
            <a:r>
              <a:rPr lang="en-US" altLang="zh-CN" sz="2800"/>
              <a:t>2.6.3  </a:t>
            </a:r>
            <a:r>
              <a:rPr lang="zh-CN" altLang="en-US" sz="2800"/>
              <a:t>标识符与关键字识别</a:t>
            </a:r>
            <a:endParaRPr lang="zh-CN" altLang="en-US" sz="2800"/>
          </a:p>
          <a:p>
            <a:pPr lvl="1" eaLnBrk="1" hangingPunct="1">
              <a:spcBef>
                <a:spcPct val="0"/>
              </a:spcBef>
            </a:pPr>
            <a:r>
              <a:rPr lang="en-US" altLang="zh-CN" sz="2400"/>
              <a:t>count = count + increment </a:t>
            </a:r>
            <a:r>
              <a:rPr lang="en-US" altLang="zh-CN" sz="2400">
                <a:sym typeface="Wingdings" panose="05000000000000000000" pitchFamily="2" charset="2"/>
              </a:rPr>
              <a:t> id = id + id</a:t>
            </a:r>
            <a:endParaRPr lang="en-US" altLang="zh-CN" sz="240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z="2400">
                <a:sym typeface="Wingdings" panose="05000000000000000000" pitchFamily="2" charset="2"/>
              </a:rPr>
              <a:t>单词</a:t>
            </a:r>
            <a:r>
              <a:rPr lang="en-US" altLang="zh-CN" sz="2400">
                <a:sym typeface="Wingdings" panose="05000000000000000000" pitchFamily="2" charset="2"/>
              </a:rPr>
              <a:t>id</a:t>
            </a:r>
            <a:r>
              <a:rPr lang="zh-CN" altLang="en-US" sz="2400">
                <a:sym typeface="Wingdings" panose="05000000000000000000" pitchFamily="2" charset="2"/>
              </a:rPr>
              <a:t>不同实例</a:t>
            </a:r>
            <a:r>
              <a:rPr lang="en-US" altLang="zh-CN" sz="2400">
                <a:sym typeface="Wingdings" panose="05000000000000000000" pitchFamily="2" charset="2"/>
              </a:rPr>
              <a:t>count, increment</a:t>
            </a:r>
            <a:r>
              <a:rPr lang="zh-CN" altLang="en-US" sz="2400">
                <a:sym typeface="Wingdings" panose="05000000000000000000" pitchFamily="2" charset="2"/>
              </a:rPr>
              <a:t>的区分</a:t>
            </a:r>
            <a:endParaRPr lang="zh-CN" altLang="en-US" sz="2400">
              <a:sym typeface="Wingdings" panose="05000000000000000000" pitchFamily="2" charset="2"/>
            </a:endParaRPr>
          </a:p>
          <a:p>
            <a:pPr lvl="2" eaLnBrk="1" hangingPunct="1"/>
            <a:r>
              <a:rPr lang="en-US" altLang="zh-CN" sz="2000">
                <a:sym typeface="Wingdings" panose="05000000000000000000" pitchFamily="2" charset="2"/>
              </a:rPr>
              <a:t>&lt;id, </a:t>
            </a:r>
            <a:r>
              <a:rPr lang="zh-CN" altLang="en-US" sz="2000">
                <a:sym typeface="Wingdings" panose="05000000000000000000" pitchFamily="2" charset="2"/>
              </a:rPr>
              <a:t>符号表项指针</a:t>
            </a:r>
            <a:r>
              <a:rPr lang="en-US" altLang="zh-CN" sz="2000">
                <a:sym typeface="Wingdings" panose="05000000000000000000" pitchFamily="2" charset="2"/>
              </a:rPr>
              <a:t>&gt;</a:t>
            </a:r>
            <a:endParaRPr lang="en-US" altLang="zh-CN" sz="200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z="2400">
                <a:sym typeface="Wingdings" panose="05000000000000000000" pitchFamily="2" charset="2"/>
              </a:rPr>
              <a:t>关键字（</a:t>
            </a:r>
            <a:r>
              <a:rPr lang="en-US" altLang="zh-CN" sz="2400">
                <a:solidFill>
                  <a:srgbClr val="FF3300"/>
                </a:solidFill>
                <a:sym typeface="Wingdings" panose="05000000000000000000" pitchFamily="2" charset="2"/>
              </a:rPr>
              <a:t>keyword</a:t>
            </a:r>
            <a:r>
              <a:rPr lang="zh-CN" altLang="en-US" sz="2400">
                <a:sym typeface="Wingdings" panose="05000000000000000000" pitchFamily="2" charset="2"/>
              </a:rPr>
              <a:t>），保留字（</a:t>
            </a:r>
            <a:r>
              <a:rPr lang="en-US" altLang="zh-CN" sz="2400">
                <a:solidFill>
                  <a:srgbClr val="FF3300"/>
                </a:solidFill>
                <a:sym typeface="Wingdings" panose="05000000000000000000" pitchFamily="2" charset="2"/>
              </a:rPr>
              <a:t>reserved</a:t>
            </a:r>
            <a:r>
              <a:rPr lang="zh-CN" altLang="en-US" sz="2400">
                <a:sym typeface="Wingdings" panose="05000000000000000000" pitchFamily="2" charset="2"/>
              </a:rPr>
              <a:t>）</a:t>
            </a:r>
            <a:endParaRPr lang="zh-CN" altLang="en-US" sz="240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z="2400">
                <a:sym typeface="Wingdings" panose="05000000000000000000" pitchFamily="2" charset="2"/>
              </a:rPr>
              <a:t>运算符，</a:t>
            </a:r>
            <a:r>
              <a:rPr lang="en-US" altLang="zh-CN" sz="2400">
                <a:sym typeface="Wingdings" panose="05000000000000000000" pitchFamily="2" charset="2"/>
              </a:rPr>
              <a:t>&lt;, &lt;=, &lt;&gt;</a:t>
            </a:r>
            <a:r>
              <a:rPr lang="zh-CN" altLang="en-US" sz="2400">
                <a:sym typeface="Wingdings" panose="05000000000000000000" pitchFamily="2" charset="2"/>
              </a:rPr>
              <a:t>，可以每个运算符作为一类单词</a:t>
            </a:r>
            <a:endParaRPr lang="zh-CN" altLang="en-US" sz="240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2.6.4  </a:t>
            </a:r>
            <a:r>
              <a:rPr lang="zh-CN" altLang="en-US"/>
              <a:t>词法分析器接口</a:t>
            </a:r>
            <a:endParaRPr lang="zh-CN" altLang="en-US"/>
          </a:p>
        </p:txBody>
      </p:sp>
      <p:sp>
        <p:nvSpPr>
          <p:cNvPr id="110595" name="Text Box 4"/>
          <p:cNvSpPr txBox="1">
            <a:spLocks noChangeArrowheads="1"/>
          </p:cNvSpPr>
          <p:nvPr/>
        </p:nvSpPr>
        <p:spPr bwMode="auto">
          <a:xfrm>
            <a:off x="1219200" y="1828800"/>
            <a:ext cx="267493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uses   getchar ( ) to read character</a:t>
            </a:r>
            <a:endParaRPr kumimoji="0" lang="en-US" altLang="zh-CN" sz="2400" b="1"/>
          </a:p>
        </p:txBody>
      </p:sp>
      <p:sp>
        <p:nvSpPr>
          <p:cNvPr id="110596" name="Text Box 5"/>
          <p:cNvSpPr txBox="1">
            <a:spLocks noChangeArrowheads="1"/>
          </p:cNvSpPr>
          <p:nvPr/>
        </p:nvSpPr>
        <p:spPr bwMode="auto">
          <a:xfrm>
            <a:off x="1066800" y="2895600"/>
            <a:ext cx="27733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pushes back c using ungetc (c , stdin)</a:t>
            </a:r>
            <a:endParaRPr kumimoji="0" lang="en-US" altLang="zh-CN" sz="2400" b="1"/>
          </a:p>
        </p:txBody>
      </p:sp>
      <p:sp>
        <p:nvSpPr>
          <p:cNvPr id="110597" name="Text Box 6"/>
          <p:cNvSpPr txBox="1">
            <a:spLocks noChangeArrowheads="1"/>
          </p:cNvSpPr>
          <p:nvPr/>
        </p:nvSpPr>
        <p:spPr bwMode="auto">
          <a:xfrm>
            <a:off x="6172200" y="1600200"/>
            <a:ext cx="1981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returns token to caller</a:t>
            </a:r>
            <a:endParaRPr kumimoji="0" lang="en-US" altLang="zh-CN" sz="2400" b="1"/>
          </a:p>
        </p:txBody>
      </p:sp>
      <p:sp>
        <p:nvSpPr>
          <p:cNvPr id="110598" name="Text Box 7"/>
          <p:cNvSpPr txBox="1">
            <a:spLocks noChangeArrowheads="1"/>
          </p:cNvSpPr>
          <p:nvPr/>
        </p:nvSpPr>
        <p:spPr bwMode="auto">
          <a:xfrm>
            <a:off x="6019800" y="3505200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tokenval</a:t>
            </a:r>
            <a:endParaRPr kumimoji="0" lang="en-US" altLang="zh-CN" sz="1800"/>
          </a:p>
        </p:txBody>
      </p:sp>
      <p:sp>
        <p:nvSpPr>
          <p:cNvPr id="110599" name="Text Box 8"/>
          <p:cNvSpPr txBox="1">
            <a:spLocks noChangeArrowheads="1"/>
          </p:cNvSpPr>
          <p:nvPr/>
        </p:nvSpPr>
        <p:spPr bwMode="auto">
          <a:xfrm>
            <a:off x="5943600" y="4191000"/>
            <a:ext cx="27733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Sets global variable to attribute value</a:t>
            </a:r>
            <a:endParaRPr kumimoji="0" lang="en-US" altLang="zh-CN" sz="2400" b="1"/>
          </a:p>
        </p:txBody>
      </p:sp>
      <p:sp>
        <p:nvSpPr>
          <p:cNvPr id="110600" name="Text Box 9"/>
          <p:cNvSpPr txBox="1">
            <a:spLocks noChangeArrowheads="1"/>
          </p:cNvSpPr>
          <p:nvPr/>
        </p:nvSpPr>
        <p:spPr bwMode="auto">
          <a:xfrm>
            <a:off x="4267200" y="1905000"/>
            <a:ext cx="1447800" cy="12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lexan ( )</a:t>
            </a:r>
            <a:endParaRPr kumimoji="0" lang="en-US" altLang="zh-CN" sz="2400" b="1"/>
          </a:p>
          <a:p>
            <a:pPr algn="ctr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lexical </a:t>
            </a:r>
            <a:endParaRPr kumimoji="0" lang="en-US" altLang="zh-CN" sz="2400" b="1"/>
          </a:p>
          <a:p>
            <a:pPr algn="ctr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analyzer</a:t>
            </a:r>
            <a:endParaRPr kumimoji="0" lang="en-US" altLang="zh-CN" sz="2400" b="1"/>
          </a:p>
        </p:txBody>
      </p:sp>
      <p:sp>
        <p:nvSpPr>
          <p:cNvPr id="110601" name="Line 10"/>
          <p:cNvSpPr>
            <a:spLocks noChangeShapeType="1"/>
          </p:cNvSpPr>
          <p:nvPr/>
        </p:nvSpPr>
        <p:spPr bwMode="auto">
          <a:xfrm>
            <a:off x="3886200" y="22098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02" name="Line 11"/>
          <p:cNvSpPr>
            <a:spLocks noChangeShapeType="1"/>
          </p:cNvSpPr>
          <p:nvPr/>
        </p:nvSpPr>
        <p:spPr bwMode="auto">
          <a:xfrm flipH="1">
            <a:off x="3886200" y="29718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03" name="Line 12"/>
          <p:cNvSpPr>
            <a:spLocks noChangeShapeType="1"/>
          </p:cNvSpPr>
          <p:nvPr/>
        </p:nvSpPr>
        <p:spPr bwMode="auto">
          <a:xfrm>
            <a:off x="5638800" y="21336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110604" name="AutoShape 13"/>
          <p:cNvCxnSpPr>
            <a:cxnSpLocks noChangeShapeType="1"/>
          </p:cNvCxnSpPr>
          <p:nvPr/>
        </p:nvCxnSpPr>
        <p:spPr bwMode="auto">
          <a:xfrm>
            <a:off x="5657850" y="2514600"/>
            <a:ext cx="342900" cy="12954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2.6.5  </a:t>
            </a:r>
            <a:r>
              <a:rPr lang="zh-CN" altLang="en-US"/>
              <a:t>词法分析器程序</a:t>
            </a:r>
            <a:endParaRPr lang="zh-CN" altLang="en-US"/>
          </a:p>
        </p:txBody>
      </p:sp>
      <p:sp>
        <p:nvSpPr>
          <p:cNvPr id="111619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  <a:noFill/>
        </p:spPr>
        <p:txBody>
          <a:bodyPr/>
          <a:lstStyle/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#include &lt;</a:t>
            </a:r>
            <a:r>
              <a:rPr kumimoji="0" lang="en-US" altLang="zh-CN" sz="2000" dirty="0" err="1"/>
              <a:t>stdio.h</a:t>
            </a:r>
            <a:r>
              <a:rPr kumimoji="0" lang="en-US" altLang="zh-CN" sz="2000" dirty="0"/>
              <a:t>&gt;</a:t>
            </a:r>
            <a:endParaRPr kumimoji="0" lang="en-US" altLang="zh-CN" sz="2000" dirty="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#include &lt;</a:t>
            </a:r>
            <a:r>
              <a:rPr kumimoji="0" lang="en-US" altLang="zh-CN" sz="2000" dirty="0" err="1"/>
              <a:t>ctype.h</a:t>
            </a:r>
            <a:r>
              <a:rPr kumimoji="0" lang="en-US" altLang="zh-CN" sz="2000" dirty="0"/>
              <a:t>&gt;</a:t>
            </a:r>
            <a:endParaRPr kumimoji="0" lang="en-US" altLang="zh-CN" sz="2000" dirty="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#define NUM 256</a:t>
            </a:r>
            <a:endParaRPr kumimoji="0" lang="en-US" altLang="zh-CN" sz="2000" dirty="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/>
              <a:t>int</a:t>
            </a:r>
            <a:r>
              <a:rPr kumimoji="0" lang="en-US" altLang="zh-CN" sz="2000" dirty="0"/>
              <a:t> </a:t>
            </a:r>
            <a:r>
              <a:rPr kumimoji="0" lang="en-US" altLang="zh-CN" sz="2000" dirty="0" err="1"/>
              <a:t>lineno</a:t>
            </a:r>
            <a:r>
              <a:rPr kumimoji="0" lang="en-US" altLang="zh-CN" sz="2000" dirty="0"/>
              <a:t> = 1;</a:t>
            </a:r>
            <a:endParaRPr kumimoji="0" lang="en-US" altLang="zh-CN" sz="2000" dirty="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/>
              <a:t>int</a:t>
            </a:r>
            <a:r>
              <a:rPr kumimoji="0" lang="en-US" altLang="zh-CN" sz="2000" dirty="0"/>
              <a:t> </a:t>
            </a:r>
            <a:r>
              <a:rPr kumimoji="0" lang="en-US" altLang="zh-CN" sz="2000" dirty="0" err="1"/>
              <a:t>tokenval</a:t>
            </a:r>
            <a:r>
              <a:rPr kumimoji="0" lang="en-US" altLang="zh-CN" sz="2000" dirty="0"/>
              <a:t> = NONE;</a:t>
            </a:r>
            <a:endParaRPr kumimoji="0" lang="en-US" altLang="zh-CN" sz="2000" dirty="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000" dirty="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/>
              <a:t>int</a:t>
            </a:r>
            <a:r>
              <a:rPr kumimoji="0" lang="en-US" altLang="zh-CN" sz="2000" dirty="0"/>
              <a:t> </a:t>
            </a:r>
            <a:r>
              <a:rPr kumimoji="0" lang="en-US" altLang="zh-CN" sz="2000" dirty="0" err="1"/>
              <a:t>lexan</a:t>
            </a:r>
            <a:r>
              <a:rPr kumimoji="0" lang="en-US" altLang="zh-CN" sz="2000" dirty="0"/>
              <a:t>()</a:t>
            </a:r>
            <a:endParaRPr kumimoji="0" lang="en-US" altLang="zh-CN" sz="2000" dirty="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{</a:t>
            </a:r>
            <a:endParaRPr kumimoji="0" lang="en-US" altLang="zh-CN" sz="2000" dirty="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int t;</a:t>
            </a:r>
            <a:endParaRPr kumimoji="0" lang="en-US" altLang="zh-CN" sz="2000" dirty="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</a:t>
            </a:r>
            <a:r>
              <a:rPr kumimoji="0" lang="en-US" altLang="zh-CN" sz="2000" b="1" dirty="0"/>
              <a:t>while</a:t>
            </a:r>
            <a:r>
              <a:rPr kumimoji="0" lang="en-US" altLang="zh-CN" sz="2000" dirty="0"/>
              <a:t> (1) {</a:t>
            </a:r>
            <a:endParaRPr kumimoji="0" lang="en-US" altLang="zh-CN" sz="2000" dirty="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	t = </a:t>
            </a:r>
            <a:r>
              <a:rPr kumimoji="0" lang="en-US" altLang="zh-CN" sz="2000" dirty="0" err="1"/>
              <a:t>getchar</a:t>
            </a:r>
            <a:r>
              <a:rPr kumimoji="0" lang="en-US" altLang="zh-CN" sz="2000" dirty="0"/>
              <a:t>();</a:t>
            </a:r>
            <a:endParaRPr kumimoji="0" lang="en-US" altLang="zh-CN" sz="2000" dirty="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	</a:t>
            </a:r>
            <a:r>
              <a:rPr kumimoji="0" lang="en-US" altLang="zh-CN" sz="2000" b="1" dirty="0"/>
              <a:t>if</a:t>
            </a:r>
            <a:r>
              <a:rPr kumimoji="0" lang="en-US" altLang="zh-CN" sz="2000" dirty="0"/>
              <a:t> (t == ‘ ’ || t == ‘\t’)</a:t>
            </a:r>
            <a:endParaRPr kumimoji="0" lang="en-US" altLang="zh-CN" sz="2000" dirty="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		;</a:t>
            </a:r>
            <a:endParaRPr kumimoji="0" lang="en-US" altLang="zh-CN" sz="20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词法分析器程序（续）</a:t>
            </a:r>
            <a:endParaRPr lang="zh-CN" altLang="en-US"/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  <a:noFill/>
        </p:spPr>
        <p:txBody>
          <a:bodyPr/>
          <a:lstStyle/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</a:t>
            </a:r>
            <a:r>
              <a:rPr kumimoji="0" lang="en-US" altLang="zh-CN" sz="2000" b="1"/>
              <a:t>else</a:t>
            </a:r>
            <a:r>
              <a:rPr kumimoji="0" lang="en-US" altLang="zh-CN" sz="2000"/>
              <a:t> </a:t>
            </a:r>
            <a:r>
              <a:rPr kumimoji="0" lang="en-US" altLang="zh-CN" sz="2000" b="1"/>
              <a:t>if</a:t>
            </a:r>
            <a:r>
              <a:rPr kumimoji="0" lang="en-US" altLang="zh-CN" sz="2000"/>
              <a:t> (t == ‘\n’)</a:t>
            </a:r>
            <a:endParaRPr kumimoji="0" lang="en-US" altLang="zh-CN" sz="20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	lineno++;</a:t>
            </a:r>
            <a:endParaRPr kumimoji="0" lang="en-US" altLang="zh-CN" sz="20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</a:t>
            </a:r>
            <a:r>
              <a:rPr kumimoji="0" lang="en-US" altLang="zh-CN" sz="2000" b="1"/>
              <a:t>else</a:t>
            </a:r>
            <a:r>
              <a:rPr kumimoji="0" lang="en-US" altLang="zh-CN" sz="2000"/>
              <a:t> </a:t>
            </a:r>
            <a:r>
              <a:rPr kumimoji="0" lang="en-US" altLang="zh-CN" sz="2000" b="1"/>
              <a:t>if</a:t>
            </a:r>
            <a:r>
              <a:rPr kumimoji="0" lang="en-US" altLang="zh-CN" sz="2000"/>
              <a:t> (isdigit(t)) {</a:t>
            </a:r>
            <a:endParaRPr kumimoji="0" lang="en-US" altLang="zh-CN" sz="20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	tokenval = 0;</a:t>
            </a:r>
            <a:endParaRPr kumimoji="0" lang="en-US" altLang="zh-CN" sz="20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	</a:t>
            </a:r>
            <a:r>
              <a:rPr kumimoji="0" lang="en-US" altLang="zh-CN" sz="2000" b="1"/>
              <a:t>while</a:t>
            </a:r>
            <a:r>
              <a:rPr kumimoji="0" lang="en-US" altLang="zh-CN" sz="2000"/>
              <a:t> (isdigit(t)) {</a:t>
            </a:r>
            <a:endParaRPr kumimoji="0" lang="en-US" altLang="zh-CN" sz="20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		tokenval = tokenval * 10 + t – ‘0’;</a:t>
            </a:r>
            <a:endParaRPr kumimoji="0" lang="en-US" altLang="zh-CN" sz="20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		t = getchar();</a:t>
            </a:r>
            <a:endParaRPr kumimoji="0" lang="en-US" altLang="zh-CN" sz="20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	}</a:t>
            </a:r>
            <a:endParaRPr kumimoji="0" lang="en-US" altLang="zh-CN" sz="20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	ungetc(t, stdin);</a:t>
            </a:r>
            <a:endParaRPr kumimoji="0" lang="en-US" altLang="zh-CN" sz="20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	</a:t>
            </a:r>
            <a:r>
              <a:rPr kumimoji="0" lang="en-US" altLang="zh-CN" sz="2000" b="1"/>
              <a:t>return</a:t>
            </a:r>
            <a:r>
              <a:rPr kumimoji="0" lang="en-US" altLang="zh-CN" sz="2000"/>
              <a:t> NUM;</a:t>
            </a:r>
            <a:endParaRPr kumimoji="0" lang="en-US" altLang="zh-CN" sz="20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}</a:t>
            </a:r>
            <a:endParaRPr kumimoji="0" lang="en-US" altLang="zh-CN" sz="20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	</a:t>
            </a:r>
            <a:r>
              <a:rPr kumimoji="0" lang="en-US" altLang="zh-CN" sz="2000" b="1"/>
              <a:t>else</a:t>
            </a:r>
            <a:r>
              <a:rPr kumimoji="0" lang="en-US" altLang="zh-CN" sz="2000"/>
              <a:t> {  tokenval = NONE; return t; }</a:t>
            </a:r>
            <a:endParaRPr kumimoji="0" lang="en-US" altLang="zh-CN" sz="20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	}</a:t>
            </a:r>
            <a:endParaRPr kumimoji="0" lang="en-US" altLang="zh-CN" sz="20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}</a:t>
            </a:r>
            <a:endParaRPr kumimoji="0" lang="en-US" altLang="zh-CN" sz="200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2.7 </a:t>
            </a:r>
            <a:r>
              <a:rPr lang="zh-CN" altLang="en-US"/>
              <a:t>符号表</a:t>
            </a:r>
            <a:endParaRPr lang="zh-CN" altLang="en-US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不同阶段保存（使用）单词的不同信息</a:t>
            </a:r>
            <a:endParaRPr lang="zh-CN" altLang="en-US" sz="2800"/>
          </a:p>
          <a:p>
            <a:pPr eaLnBrk="1" hangingPunct="1"/>
            <a:r>
              <a:rPr lang="en-US" altLang="zh-CN" sz="2800"/>
              <a:t>2.7.1  </a:t>
            </a:r>
            <a:r>
              <a:rPr lang="zh-CN" altLang="en-US" sz="2800"/>
              <a:t>接口</a:t>
            </a:r>
            <a:endParaRPr lang="zh-CN" altLang="en-US" sz="2800"/>
          </a:p>
          <a:p>
            <a:pPr lvl="1" eaLnBrk="1" hangingPunct="1"/>
            <a:r>
              <a:rPr lang="en-US" altLang="zh-CN" sz="2400"/>
              <a:t>insert(s,t)</a:t>
            </a:r>
            <a:r>
              <a:rPr lang="zh-CN" altLang="en-US" sz="2400"/>
              <a:t>：单词</a:t>
            </a:r>
            <a:r>
              <a:rPr lang="en-US" altLang="zh-CN" sz="2400"/>
              <a:t>t</a:t>
            </a:r>
            <a:r>
              <a:rPr lang="zh-CN" altLang="en-US" sz="2400"/>
              <a:t>的实例</a:t>
            </a:r>
            <a:r>
              <a:rPr lang="en-US" altLang="zh-CN" sz="2400"/>
              <a:t>s</a:t>
            </a:r>
            <a:r>
              <a:rPr lang="zh-CN" altLang="en-US" sz="2400"/>
              <a:t>（字符串）插入符号表，返回其索引</a:t>
            </a:r>
            <a:endParaRPr lang="zh-CN" altLang="en-US" sz="2400"/>
          </a:p>
          <a:p>
            <a:pPr lvl="1" eaLnBrk="1" hangingPunct="1"/>
            <a:r>
              <a:rPr lang="en-US" altLang="zh-CN" sz="2400"/>
              <a:t>lookup(s)</a:t>
            </a:r>
            <a:r>
              <a:rPr lang="zh-CN" altLang="en-US" sz="2400"/>
              <a:t>：返回字符串</a:t>
            </a:r>
            <a:r>
              <a:rPr lang="en-US" altLang="zh-CN" sz="2400"/>
              <a:t>s</a:t>
            </a:r>
            <a:r>
              <a:rPr lang="zh-CN" altLang="en-US" sz="2400"/>
              <a:t>对应表项的索引，若未找到，返回</a:t>
            </a:r>
            <a:r>
              <a:rPr lang="en-US" altLang="zh-CN" sz="2400"/>
              <a:t>0</a:t>
            </a:r>
            <a:endParaRPr lang="en-US" altLang="zh-CN" sz="2400"/>
          </a:p>
          <a:p>
            <a:pPr eaLnBrk="1" hangingPunct="1"/>
            <a:r>
              <a:rPr lang="en-US" altLang="zh-CN" sz="2800"/>
              <a:t>2.7.2  </a:t>
            </a:r>
            <a:r>
              <a:rPr lang="zh-CN" altLang="en-US" sz="2800"/>
              <a:t>保留字可存入符号表</a:t>
            </a:r>
            <a:endParaRPr lang="zh-CN" altLang="en-US" sz="280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insert(“div”, </a:t>
            </a:r>
            <a:r>
              <a:rPr lang="en-US" altLang="zh-CN" sz="2400" b="1"/>
              <a:t>div</a:t>
            </a:r>
            <a:r>
              <a:rPr lang="en-US" altLang="zh-CN" sz="2400"/>
              <a:t>)	insert(“mod”, </a:t>
            </a:r>
            <a:r>
              <a:rPr lang="en-US" altLang="zh-CN" sz="2400" b="1"/>
              <a:t>mod</a:t>
            </a:r>
            <a:r>
              <a:rPr lang="en-US" altLang="zh-CN" sz="2400"/>
              <a:t>)</a:t>
            </a:r>
            <a:endParaRPr lang="en-US" altLang="zh-CN" sz="240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2.7.3  </a:t>
            </a:r>
            <a:r>
              <a:rPr lang="zh-CN" altLang="en-US"/>
              <a:t>一种实现方式</a:t>
            </a:r>
            <a:endParaRPr lang="zh-CN" altLang="en-US"/>
          </a:p>
        </p:txBody>
      </p:sp>
      <p:sp>
        <p:nvSpPr>
          <p:cNvPr id="114691" name="Text Box 4"/>
          <p:cNvSpPr txBox="1">
            <a:spLocks noChangeArrowheads="1"/>
          </p:cNvSpPr>
          <p:nvPr/>
        </p:nvSpPr>
        <p:spPr bwMode="auto">
          <a:xfrm>
            <a:off x="4564063" y="1139825"/>
            <a:ext cx="3802062" cy="2851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                     </a:t>
            </a:r>
            <a:r>
              <a:rPr kumimoji="0" lang="en-US" altLang="zh-CN" sz="2400" b="1"/>
              <a:t>ARRAY  symtable</a:t>
            </a:r>
            <a:endParaRPr kumimoji="0" lang="en-US" altLang="zh-CN" sz="2400" b="1"/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lexptr     token  attributes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                 </a:t>
            </a:r>
            <a:r>
              <a:rPr kumimoji="0" lang="en-US" altLang="zh-CN" sz="2400" b="1"/>
              <a:t>div</a:t>
            </a:r>
            <a:endParaRPr kumimoji="0" lang="en-US" altLang="zh-CN" sz="2400" b="1"/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                 mod</a:t>
            </a:r>
            <a:endParaRPr kumimoji="0" lang="en-US" altLang="zh-CN" sz="2400" b="1"/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                   id</a:t>
            </a:r>
            <a:endParaRPr kumimoji="0" lang="en-US" altLang="zh-CN" sz="2400" b="1"/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                   id</a:t>
            </a:r>
            <a:endParaRPr kumimoji="0" lang="en-US" altLang="zh-CN" sz="2400"/>
          </a:p>
        </p:txBody>
      </p:sp>
      <p:sp>
        <p:nvSpPr>
          <p:cNvPr id="114692" name="Rectangle 5"/>
          <p:cNvSpPr>
            <a:spLocks noChangeArrowheads="1"/>
          </p:cNvSpPr>
          <p:nvPr/>
        </p:nvSpPr>
        <p:spPr bwMode="auto">
          <a:xfrm>
            <a:off x="4656138" y="2006600"/>
            <a:ext cx="2039937" cy="19383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>
              <a:ea typeface="隶书" panose="02010509060101010101" pitchFamily="49" charset="-122"/>
            </a:endParaRPr>
          </a:p>
        </p:txBody>
      </p:sp>
      <p:sp>
        <p:nvSpPr>
          <p:cNvPr id="114693" name="Line 6"/>
          <p:cNvSpPr>
            <a:spLocks noChangeShapeType="1"/>
          </p:cNvSpPr>
          <p:nvPr/>
        </p:nvSpPr>
        <p:spPr bwMode="auto">
          <a:xfrm>
            <a:off x="4656138" y="3581400"/>
            <a:ext cx="2039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4" name="Line 7"/>
          <p:cNvSpPr>
            <a:spLocks noChangeShapeType="1"/>
          </p:cNvSpPr>
          <p:nvPr/>
        </p:nvSpPr>
        <p:spPr bwMode="auto">
          <a:xfrm>
            <a:off x="4656138" y="3217863"/>
            <a:ext cx="2039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5" name="Line 8"/>
          <p:cNvSpPr>
            <a:spLocks noChangeShapeType="1"/>
          </p:cNvSpPr>
          <p:nvPr/>
        </p:nvSpPr>
        <p:spPr bwMode="auto">
          <a:xfrm>
            <a:off x="4656138" y="2854325"/>
            <a:ext cx="2039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6" name="Line 9"/>
          <p:cNvSpPr>
            <a:spLocks noChangeShapeType="1"/>
          </p:cNvSpPr>
          <p:nvPr/>
        </p:nvSpPr>
        <p:spPr bwMode="auto">
          <a:xfrm flipV="1">
            <a:off x="5676900" y="2006600"/>
            <a:ext cx="0" cy="2301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7" name="Line 10"/>
          <p:cNvSpPr>
            <a:spLocks noChangeShapeType="1"/>
          </p:cNvSpPr>
          <p:nvPr/>
        </p:nvSpPr>
        <p:spPr bwMode="auto">
          <a:xfrm>
            <a:off x="4656138" y="2370138"/>
            <a:ext cx="2039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8" name="Line 11"/>
          <p:cNvSpPr>
            <a:spLocks noChangeShapeType="1"/>
          </p:cNvSpPr>
          <p:nvPr/>
        </p:nvSpPr>
        <p:spPr bwMode="auto">
          <a:xfrm>
            <a:off x="4656138" y="3944938"/>
            <a:ext cx="0" cy="3635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9" name="Line 12"/>
          <p:cNvSpPr>
            <a:spLocks noChangeShapeType="1"/>
          </p:cNvSpPr>
          <p:nvPr/>
        </p:nvSpPr>
        <p:spPr bwMode="auto">
          <a:xfrm>
            <a:off x="6696075" y="3944938"/>
            <a:ext cx="0" cy="3635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0" name="Line 13"/>
          <p:cNvSpPr>
            <a:spLocks noChangeShapeType="1"/>
          </p:cNvSpPr>
          <p:nvPr/>
        </p:nvSpPr>
        <p:spPr bwMode="auto">
          <a:xfrm>
            <a:off x="6696075" y="2006600"/>
            <a:ext cx="12065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1" name="Line 14"/>
          <p:cNvSpPr>
            <a:spLocks noChangeShapeType="1"/>
          </p:cNvSpPr>
          <p:nvPr/>
        </p:nvSpPr>
        <p:spPr bwMode="auto">
          <a:xfrm>
            <a:off x="6696075" y="2370138"/>
            <a:ext cx="12065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2" name="Line 15"/>
          <p:cNvSpPr>
            <a:spLocks noChangeShapeType="1"/>
          </p:cNvSpPr>
          <p:nvPr/>
        </p:nvSpPr>
        <p:spPr bwMode="auto">
          <a:xfrm>
            <a:off x="6696075" y="2854325"/>
            <a:ext cx="12065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3" name="Line 16"/>
          <p:cNvSpPr>
            <a:spLocks noChangeShapeType="1"/>
          </p:cNvSpPr>
          <p:nvPr/>
        </p:nvSpPr>
        <p:spPr bwMode="auto">
          <a:xfrm>
            <a:off x="6696075" y="3581400"/>
            <a:ext cx="12065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4" name="Line 17"/>
          <p:cNvSpPr>
            <a:spLocks noChangeShapeType="1"/>
          </p:cNvSpPr>
          <p:nvPr/>
        </p:nvSpPr>
        <p:spPr bwMode="auto">
          <a:xfrm>
            <a:off x="6696075" y="3944938"/>
            <a:ext cx="12065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5" name="Line 18"/>
          <p:cNvSpPr>
            <a:spLocks noChangeShapeType="1"/>
          </p:cNvSpPr>
          <p:nvPr/>
        </p:nvSpPr>
        <p:spPr bwMode="auto">
          <a:xfrm>
            <a:off x="7902575" y="2006600"/>
            <a:ext cx="0" cy="2422525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6" name="Line 19"/>
          <p:cNvSpPr>
            <a:spLocks noChangeShapeType="1"/>
          </p:cNvSpPr>
          <p:nvPr/>
        </p:nvSpPr>
        <p:spPr bwMode="auto">
          <a:xfrm>
            <a:off x="6696075" y="3217863"/>
            <a:ext cx="12065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4707" name="Group 20"/>
          <p:cNvGrpSpPr/>
          <p:nvPr/>
        </p:nvGrpSpPr>
        <p:grpSpPr bwMode="auto">
          <a:xfrm>
            <a:off x="7716838" y="4483100"/>
            <a:ext cx="741362" cy="484188"/>
            <a:chOff x="912" y="3600"/>
            <a:chExt cx="384" cy="192"/>
          </a:xfrm>
        </p:grpSpPr>
        <p:sp>
          <p:nvSpPr>
            <p:cNvPr id="114761" name="Text Box 21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EOS</a:t>
              </a:r>
              <a:endParaRPr kumimoji="0" lang="en-US" altLang="zh-CN" sz="1600" b="1"/>
            </a:p>
          </p:txBody>
        </p:sp>
        <p:sp>
          <p:nvSpPr>
            <p:cNvPr id="114762" name="Rectangle 22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08" name="Group 23"/>
          <p:cNvGrpSpPr/>
          <p:nvPr/>
        </p:nvGrpSpPr>
        <p:grpSpPr bwMode="auto">
          <a:xfrm>
            <a:off x="7253288" y="4483100"/>
            <a:ext cx="741362" cy="484188"/>
            <a:chOff x="912" y="3600"/>
            <a:chExt cx="384" cy="192"/>
          </a:xfrm>
        </p:grpSpPr>
        <p:sp>
          <p:nvSpPr>
            <p:cNvPr id="114759" name="Text Box 24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i</a:t>
              </a:r>
              <a:endParaRPr kumimoji="0" lang="en-US" altLang="zh-CN" sz="2000" b="1"/>
            </a:p>
          </p:txBody>
        </p:sp>
        <p:sp>
          <p:nvSpPr>
            <p:cNvPr id="114760" name="Rectangle 25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09" name="Group 26"/>
          <p:cNvGrpSpPr/>
          <p:nvPr/>
        </p:nvGrpSpPr>
        <p:grpSpPr bwMode="auto">
          <a:xfrm>
            <a:off x="6789738" y="4483100"/>
            <a:ext cx="741362" cy="484188"/>
            <a:chOff x="912" y="3600"/>
            <a:chExt cx="384" cy="192"/>
          </a:xfrm>
        </p:grpSpPr>
        <p:sp>
          <p:nvSpPr>
            <p:cNvPr id="114757" name="Text Box 27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EOS</a:t>
              </a:r>
              <a:endParaRPr kumimoji="0" lang="en-US" altLang="zh-CN" sz="1600" b="1"/>
            </a:p>
          </p:txBody>
        </p:sp>
        <p:sp>
          <p:nvSpPr>
            <p:cNvPr id="114758" name="Rectangle 28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10" name="Group 29"/>
          <p:cNvGrpSpPr/>
          <p:nvPr/>
        </p:nvGrpSpPr>
        <p:grpSpPr bwMode="auto">
          <a:xfrm>
            <a:off x="6326188" y="4483100"/>
            <a:ext cx="741362" cy="484188"/>
            <a:chOff x="912" y="3600"/>
            <a:chExt cx="384" cy="192"/>
          </a:xfrm>
        </p:grpSpPr>
        <p:sp>
          <p:nvSpPr>
            <p:cNvPr id="114755" name="Text Box 30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t</a:t>
              </a:r>
              <a:endParaRPr kumimoji="0" lang="en-US" altLang="zh-CN" sz="2000" b="1"/>
            </a:p>
          </p:txBody>
        </p:sp>
        <p:sp>
          <p:nvSpPr>
            <p:cNvPr id="114756" name="Rectangle 31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11" name="Group 32"/>
          <p:cNvGrpSpPr/>
          <p:nvPr/>
        </p:nvGrpSpPr>
        <p:grpSpPr bwMode="auto">
          <a:xfrm>
            <a:off x="5862638" y="4483100"/>
            <a:ext cx="741362" cy="484188"/>
            <a:chOff x="912" y="3600"/>
            <a:chExt cx="384" cy="192"/>
          </a:xfrm>
        </p:grpSpPr>
        <p:sp>
          <p:nvSpPr>
            <p:cNvPr id="114753" name="Text Box 33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n</a:t>
              </a:r>
              <a:endParaRPr kumimoji="0" lang="en-US" altLang="zh-CN" sz="2000" b="1"/>
            </a:p>
          </p:txBody>
        </p:sp>
        <p:sp>
          <p:nvSpPr>
            <p:cNvPr id="114754" name="Rectangle 34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12" name="Group 35"/>
          <p:cNvGrpSpPr/>
          <p:nvPr/>
        </p:nvGrpSpPr>
        <p:grpSpPr bwMode="auto">
          <a:xfrm>
            <a:off x="5397500" y="4483100"/>
            <a:ext cx="742950" cy="484188"/>
            <a:chOff x="912" y="3600"/>
            <a:chExt cx="384" cy="192"/>
          </a:xfrm>
        </p:grpSpPr>
        <p:sp>
          <p:nvSpPr>
            <p:cNvPr id="114751" name="Text Box 36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u</a:t>
              </a:r>
              <a:endParaRPr kumimoji="0" lang="en-US" altLang="zh-CN" sz="2000" b="1"/>
            </a:p>
          </p:txBody>
        </p:sp>
        <p:sp>
          <p:nvSpPr>
            <p:cNvPr id="114752" name="Rectangle 37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13" name="Group 38"/>
          <p:cNvGrpSpPr/>
          <p:nvPr/>
        </p:nvGrpSpPr>
        <p:grpSpPr bwMode="auto">
          <a:xfrm>
            <a:off x="4933950" y="4483100"/>
            <a:ext cx="742950" cy="484188"/>
            <a:chOff x="912" y="3600"/>
            <a:chExt cx="384" cy="192"/>
          </a:xfrm>
        </p:grpSpPr>
        <p:sp>
          <p:nvSpPr>
            <p:cNvPr id="114749" name="Text Box 39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o</a:t>
              </a:r>
              <a:endParaRPr kumimoji="0" lang="en-US" altLang="zh-CN" sz="2000" b="1"/>
            </a:p>
          </p:txBody>
        </p:sp>
        <p:sp>
          <p:nvSpPr>
            <p:cNvPr id="114750" name="Rectangle 40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14" name="Group 41"/>
          <p:cNvGrpSpPr/>
          <p:nvPr/>
        </p:nvGrpSpPr>
        <p:grpSpPr bwMode="auto">
          <a:xfrm>
            <a:off x="4470400" y="4483100"/>
            <a:ext cx="742950" cy="484188"/>
            <a:chOff x="912" y="3600"/>
            <a:chExt cx="384" cy="192"/>
          </a:xfrm>
        </p:grpSpPr>
        <p:sp>
          <p:nvSpPr>
            <p:cNvPr id="114747" name="Text Box 42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c</a:t>
              </a:r>
              <a:endParaRPr kumimoji="0" lang="en-US" altLang="zh-CN" sz="2000" b="1"/>
            </a:p>
          </p:txBody>
        </p:sp>
        <p:sp>
          <p:nvSpPr>
            <p:cNvPr id="114748" name="Rectangle 43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15" name="Group 44"/>
          <p:cNvGrpSpPr/>
          <p:nvPr/>
        </p:nvGrpSpPr>
        <p:grpSpPr bwMode="auto">
          <a:xfrm>
            <a:off x="4006850" y="4483100"/>
            <a:ext cx="742950" cy="484188"/>
            <a:chOff x="912" y="3600"/>
            <a:chExt cx="384" cy="192"/>
          </a:xfrm>
        </p:grpSpPr>
        <p:sp>
          <p:nvSpPr>
            <p:cNvPr id="114745" name="Text Box 45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EOS</a:t>
              </a:r>
              <a:endParaRPr kumimoji="0" lang="en-US" altLang="zh-CN" sz="1600" b="1"/>
            </a:p>
          </p:txBody>
        </p:sp>
        <p:sp>
          <p:nvSpPr>
            <p:cNvPr id="114746" name="Rectangle 46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16" name="Group 47"/>
          <p:cNvGrpSpPr/>
          <p:nvPr/>
        </p:nvGrpSpPr>
        <p:grpSpPr bwMode="auto">
          <a:xfrm>
            <a:off x="3543300" y="4483100"/>
            <a:ext cx="742950" cy="484188"/>
            <a:chOff x="912" y="3600"/>
            <a:chExt cx="384" cy="192"/>
          </a:xfrm>
        </p:grpSpPr>
        <p:sp>
          <p:nvSpPr>
            <p:cNvPr id="114743" name="Text Box 48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d</a:t>
              </a:r>
              <a:endParaRPr kumimoji="0" lang="en-US" altLang="zh-CN" sz="2000" b="1"/>
            </a:p>
          </p:txBody>
        </p:sp>
        <p:sp>
          <p:nvSpPr>
            <p:cNvPr id="114744" name="Rectangle 49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17" name="Group 50"/>
          <p:cNvGrpSpPr/>
          <p:nvPr/>
        </p:nvGrpSpPr>
        <p:grpSpPr bwMode="auto">
          <a:xfrm>
            <a:off x="3079750" y="4483100"/>
            <a:ext cx="742950" cy="484188"/>
            <a:chOff x="912" y="3600"/>
            <a:chExt cx="384" cy="192"/>
          </a:xfrm>
        </p:grpSpPr>
        <p:sp>
          <p:nvSpPr>
            <p:cNvPr id="114741" name="Text Box 51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o</a:t>
              </a:r>
              <a:endParaRPr kumimoji="0" lang="en-US" altLang="zh-CN" sz="2000" b="1"/>
            </a:p>
          </p:txBody>
        </p:sp>
        <p:sp>
          <p:nvSpPr>
            <p:cNvPr id="114742" name="Rectangle 52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18" name="Group 53"/>
          <p:cNvGrpSpPr/>
          <p:nvPr/>
        </p:nvGrpSpPr>
        <p:grpSpPr bwMode="auto">
          <a:xfrm>
            <a:off x="2616200" y="4483100"/>
            <a:ext cx="741363" cy="484188"/>
            <a:chOff x="912" y="3600"/>
            <a:chExt cx="384" cy="192"/>
          </a:xfrm>
        </p:grpSpPr>
        <p:sp>
          <p:nvSpPr>
            <p:cNvPr id="114739" name="Text Box 54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m</a:t>
              </a:r>
              <a:endParaRPr kumimoji="0" lang="en-US" altLang="zh-CN" sz="2000" b="1"/>
            </a:p>
          </p:txBody>
        </p:sp>
        <p:sp>
          <p:nvSpPr>
            <p:cNvPr id="114740" name="Rectangle 55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19" name="Group 56"/>
          <p:cNvGrpSpPr/>
          <p:nvPr/>
        </p:nvGrpSpPr>
        <p:grpSpPr bwMode="auto">
          <a:xfrm>
            <a:off x="2152650" y="4483100"/>
            <a:ext cx="741363" cy="484188"/>
            <a:chOff x="912" y="3600"/>
            <a:chExt cx="384" cy="192"/>
          </a:xfrm>
        </p:grpSpPr>
        <p:sp>
          <p:nvSpPr>
            <p:cNvPr id="114737" name="Text Box 57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600" b="1"/>
                <a:t>EOS</a:t>
              </a:r>
              <a:endParaRPr kumimoji="0" lang="en-US" altLang="zh-CN" sz="1600" b="1"/>
            </a:p>
          </p:txBody>
        </p:sp>
        <p:sp>
          <p:nvSpPr>
            <p:cNvPr id="114738" name="Rectangle 58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20" name="Group 59"/>
          <p:cNvGrpSpPr/>
          <p:nvPr/>
        </p:nvGrpSpPr>
        <p:grpSpPr bwMode="auto">
          <a:xfrm>
            <a:off x="1689100" y="4483100"/>
            <a:ext cx="741363" cy="484188"/>
            <a:chOff x="912" y="3600"/>
            <a:chExt cx="384" cy="192"/>
          </a:xfrm>
        </p:grpSpPr>
        <p:sp>
          <p:nvSpPr>
            <p:cNvPr id="114735" name="Text Box 60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v</a:t>
              </a:r>
              <a:endParaRPr kumimoji="0" lang="en-US" altLang="zh-CN" sz="2000" b="1"/>
            </a:p>
          </p:txBody>
        </p:sp>
        <p:sp>
          <p:nvSpPr>
            <p:cNvPr id="114736" name="Rectangle 61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21" name="Group 62"/>
          <p:cNvGrpSpPr/>
          <p:nvPr/>
        </p:nvGrpSpPr>
        <p:grpSpPr bwMode="auto">
          <a:xfrm>
            <a:off x="1225550" y="4483100"/>
            <a:ext cx="741363" cy="484188"/>
            <a:chOff x="912" y="3600"/>
            <a:chExt cx="384" cy="192"/>
          </a:xfrm>
        </p:grpSpPr>
        <p:sp>
          <p:nvSpPr>
            <p:cNvPr id="114733" name="Text Box 63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i</a:t>
              </a:r>
              <a:endParaRPr kumimoji="0" lang="en-US" altLang="zh-CN" sz="2000" b="1"/>
            </a:p>
          </p:txBody>
        </p:sp>
        <p:sp>
          <p:nvSpPr>
            <p:cNvPr id="114734" name="Rectangle 64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grpSp>
        <p:nvGrpSpPr>
          <p:cNvPr id="114722" name="Group 65"/>
          <p:cNvGrpSpPr/>
          <p:nvPr/>
        </p:nvGrpSpPr>
        <p:grpSpPr bwMode="auto">
          <a:xfrm>
            <a:off x="762000" y="4483100"/>
            <a:ext cx="741363" cy="484188"/>
            <a:chOff x="912" y="3600"/>
            <a:chExt cx="384" cy="192"/>
          </a:xfrm>
        </p:grpSpPr>
        <p:sp>
          <p:nvSpPr>
            <p:cNvPr id="114731" name="Text Box 66"/>
            <p:cNvSpPr txBox="1">
              <a:spLocks noChangeArrowheads="1"/>
            </p:cNvSpPr>
            <p:nvPr/>
          </p:nvSpPr>
          <p:spPr bwMode="auto">
            <a:xfrm>
              <a:off x="912" y="3600"/>
              <a:ext cx="384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d</a:t>
              </a:r>
              <a:endParaRPr kumimoji="0" lang="en-US" altLang="zh-CN" sz="2000" b="1"/>
            </a:p>
          </p:txBody>
        </p:sp>
        <p:sp>
          <p:nvSpPr>
            <p:cNvPr id="114732" name="Rectangle 67"/>
            <p:cNvSpPr>
              <a:spLocks noChangeArrowheads="1"/>
            </p:cNvSpPr>
            <p:nvPr/>
          </p:nvSpPr>
          <p:spPr bwMode="auto">
            <a:xfrm>
              <a:off x="960" y="3600"/>
              <a:ext cx="24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</p:grpSp>
      <p:cxnSp>
        <p:nvCxnSpPr>
          <p:cNvPr id="114723" name="AutoShape 68"/>
          <p:cNvCxnSpPr>
            <a:cxnSpLocks noChangeShapeType="1"/>
          </p:cNvCxnSpPr>
          <p:nvPr/>
        </p:nvCxnSpPr>
        <p:spPr bwMode="auto">
          <a:xfrm>
            <a:off x="5027613" y="3711575"/>
            <a:ext cx="2516187" cy="860425"/>
          </a:xfrm>
          <a:prstGeom prst="curvedConnector3">
            <a:avLst>
              <a:gd name="adj1" fmla="val 94829"/>
            </a:avLst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4724" name="AutoShape 69"/>
          <p:cNvCxnSpPr>
            <a:cxnSpLocks noChangeShapeType="1"/>
          </p:cNvCxnSpPr>
          <p:nvPr/>
        </p:nvCxnSpPr>
        <p:spPr bwMode="auto">
          <a:xfrm rot="10800000" flipV="1">
            <a:off x="2971800" y="3033713"/>
            <a:ext cx="2146300" cy="1538287"/>
          </a:xfrm>
          <a:prstGeom prst="curvedConnector3">
            <a:avLst>
              <a:gd name="adj1" fmla="val 100662"/>
            </a:avLst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4725" name="AutoShape 70"/>
          <p:cNvCxnSpPr>
            <a:cxnSpLocks noChangeShapeType="1"/>
          </p:cNvCxnSpPr>
          <p:nvPr/>
        </p:nvCxnSpPr>
        <p:spPr bwMode="auto">
          <a:xfrm rot="10800000" flipV="1">
            <a:off x="1066800" y="2686050"/>
            <a:ext cx="3960813" cy="1885950"/>
          </a:xfrm>
          <a:prstGeom prst="curvedConnector3">
            <a:avLst>
              <a:gd name="adj1" fmla="val 100116"/>
            </a:avLst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4726" name="AutoShape 71"/>
          <p:cNvCxnSpPr>
            <a:cxnSpLocks noChangeShapeType="1"/>
          </p:cNvCxnSpPr>
          <p:nvPr/>
        </p:nvCxnSpPr>
        <p:spPr bwMode="auto">
          <a:xfrm rot="5400000">
            <a:off x="4366419" y="3706019"/>
            <a:ext cx="1223962" cy="508000"/>
          </a:xfrm>
          <a:prstGeom prst="curvedConnector3">
            <a:avLst>
              <a:gd name="adj1" fmla="val 9079"/>
            </a:avLst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4727" name="Text Box 72"/>
          <p:cNvSpPr txBox="1">
            <a:spLocks noChangeArrowheads="1"/>
          </p:cNvSpPr>
          <p:nvPr/>
        </p:nvSpPr>
        <p:spPr bwMode="auto">
          <a:xfrm>
            <a:off x="762000" y="5089525"/>
            <a:ext cx="2317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ARRAY  lexemes</a:t>
            </a:r>
            <a:endParaRPr kumimoji="0" lang="en-US" altLang="zh-CN" sz="2000" b="1"/>
          </a:p>
        </p:txBody>
      </p:sp>
      <p:sp>
        <p:nvSpPr>
          <p:cNvPr id="114728" name="Line 74"/>
          <p:cNvSpPr>
            <a:spLocks noChangeShapeType="1"/>
          </p:cNvSpPr>
          <p:nvPr/>
        </p:nvSpPr>
        <p:spPr bwMode="auto">
          <a:xfrm>
            <a:off x="8272463" y="4483100"/>
            <a:ext cx="1857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29" name="Line 75"/>
          <p:cNvSpPr>
            <a:spLocks noChangeShapeType="1"/>
          </p:cNvSpPr>
          <p:nvPr/>
        </p:nvSpPr>
        <p:spPr bwMode="auto">
          <a:xfrm>
            <a:off x="8272463" y="4967288"/>
            <a:ext cx="1857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30" name="Text Box 76"/>
          <p:cNvSpPr txBox="1">
            <a:spLocks noChangeArrowheads="1"/>
          </p:cNvSpPr>
          <p:nvPr/>
        </p:nvSpPr>
        <p:spPr bwMode="auto">
          <a:xfrm>
            <a:off x="8086725" y="1949450"/>
            <a:ext cx="371475" cy="2168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0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1</a:t>
            </a:r>
            <a:endParaRPr kumimoji="0" lang="en-US" altLang="zh-CN" sz="2400"/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2</a:t>
            </a:r>
            <a:endParaRPr kumimoji="0" lang="en-US" altLang="zh-CN" sz="240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3</a:t>
            </a:r>
            <a:endParaRPr kumimoji="0" lang="en-US" altLang="zh-CN" sz="2400"/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4</a:t>
            </a:r>
            <a:endParaRPr kumimoji="0" lang="en-US" altLang="zh-CN" sz="240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带有符号表功能的词法分析器</a:t>
            </a:r>
            <a:endParaRPr lang="zh-CN" altLang="en-US"/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b="1" dirty="0"/>
              <a:t>int </a:t>
            </a:r>
            <a:r>
              <a:rPr lang="en-US" altLang="zh-CN" sz="2000" dirty="0" err="1"/>
              <a:t>lexan</a:t>
            </a:r>
            <a:r>
              <a:rPr lang="en-US" altLang="zh-CN" sz="2000" dirty="0"/>
              <a:t>()</a:t>
            </a:r>
            <a:endParaRPr lang="en-US" altLang="zh-CN" sz="20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{</a:t>
            </a:r>
            <a:endParaRPr lang="en-US" altLang="zh-CN" sz="20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char </a:t>
            </a:r>
            <a:r>
              <a:rPr lang="en-US" altLang="zh-CN" sz="2000" dirty="0" err="1"/>
              <a:t>lexbuf</a:t>
            </a:r>
            <a:r>
              <a:rPr lang="en-US" altLang="zh-CN" sz="2000" dirty="0"/>
              <a:t>[100];</a:t>
            </a:r>
            <a:endParaRPr lang="en-US" altLang="zh-CN" sz="20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char c;</a:t>
            </a:r>
            <a:endParaRPr lang="en-US" altLang="zh-CN" sz="20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endParaRPr lang="en-US" altLang="zh-CN" sz="20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while (1) {</a:t>
            </a:r>
            <a:endParaRPr lang="en-US" altLang="zh-CN" sz="20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	</a:t>
            </a:r>
            <a:r>
              <a:rPr lang="zh-CN" altLang="en-US" sz="2000" dirty="0"/>
              <a:t>从输入字符序列读取一个字符，保存到</a:t>
            </a:r>
            <a:r>
              <a:rPr lang="en-US" altLang="zh-CN" sz="2000" dirty="0"/>
              <a:t>c;</a:t>
            </a:r>
            <a:endParaRPr lang="en-US" altLang="zh-CN" sz="20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	</a:t>
            </a:r>
            <a:r>
              <a:rPr lang="en-US" altLang="zh-CN" sz="2000" b="1" dirty="0"/>
              <a:t>if </a:t>
            </a:r>
            <a:r>
              <a:rPr lang="en-US" altLang="zh-CN" sz="2000" dirty="0"/>
              <a:t>(c == ‘ ’ || c == ‘\t’) ;</a:t>
            </a:r>
            <a:endParaRPr lang="en-US" altLang="zh-CN" sz="20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	</a:t>
            </a:r>
            <a:r>
              <a:rPr lang="en-US" altLang="zh-CN" sz="2000" b="1" dirty="0"/>
              <a:t>else if</a:t>
            </a:r>
            <a:r>
              <a:rPr lang="en-US" altLang="zh-CN" sz="2000" dirty="0"/>
              <a:t> (c == ‘\n’) </a:t>
            </a:r>
            <a:r>
              <a:rPr lang="en-US" altLang="zh-CN" sz="2000" dirty="0" err="1"/>
              <a:t>lineno</a:t>
            </a:r>
            <a:r>
              <a:rPr lang="en-US" altLang="zh-CN" sz="2000" dirty="0"/>
              <a:t>++;</a:t>
            </a:r>
            <a:endParaRPr lang="en-US" altLang="zh-CN" sz="20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	</a:t>
            </a:r>
            <a:r>
              <a:rPr lang="en-US" altLang="zh-CN" sz="2000" b="1" dirty="0"/>
              <a:t>else if</a:t>
            </a:r>
            <a:r>
              <a:rPr lang="en-US" altLang="zh-CN" sz="2000" dirty="0"/>
              <a:t> (</a:t>
            </a:r>
            <a:r>
              <a:rPr lang="en-US" altLang="zh-CN" sz="2000" dirty="0" err="1"/>
              <a:t>isdigit</a:t>
            </a:r>
            <a:r>
              <a:rPr lang="en-US" altLang="zh-CN" sz="2000" dirty="0"/>
              <a:t>(c)) {</a:t>
            </a:r>
            <a:endParaRPr lang="en-US" altLang="zh-CN" sz="20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		</a:t>
            </a:r>
            <a:r>
              <a:rPr lang="en-US" altLang="zh-CN" sz="2000" dirty="0" err="1"/>
              <a:t>tokenval</a:t>
            </a:r>
            <a:r>
              <a:rPr lang="en-US" altLang="zh-CN" sz="2000" dirty="0"/>
              <a:t> = c</a:t>
            </a:r>
            <a:r>
              <a:rPr lang="zh-CN" altLang="en-US" sz="2000" dirty="0"/>
              <a:t>及后续数字组成的数值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		return NUM;</a:t>
            </a:r>
            <a:endParaRPr lang="en-US" altLang="zh-CN" sz="20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	}</a:t>
            </a:r>
            <a:endParaRPr lang="en-US" altLang="zh-CN" sz="2000" b="1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带有符号表功能的词法分析器</a:t>
            </a:r>
            <a:endParaRPr lang="zh-CN" altLang="en-US"/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</a:t>
            </a:r>
            <a:r>
              <a:rPr lang="en-US" altLang="zh-CN" sz="2000" b="1"/>
              <a:t>else if</a:t>
            </a:r>
            <a:r>
              <a:rPr lang="en-US" altLang="zh-CN" sz="2000"/>
              <a:t> (isalpha(c)) {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</a:t>
            </a:r>
            <a:r>
              <a:rPr lang="zh-CN" altLang="en-US" sz="2000"/>
              <a:t>将</a:t>
            </a:r>
            <a:r>
              <a:rPr lang="en-US" altLang="zh-CN" sz="2000"/>
              <a:t>c</a:t>
            </a:r>
            <a:r>
              <a:rPr lang="zh-CN" altLang="en-US" sz="2000"/>
              <a:t>及后续字母、数字放入</a:t>
            </a:r>
            <a:r>
              <a:rPr lang="en-US" altLang="zh-CN" sz="2000"/>
              <a:t>lexbuf;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p = lookup(lexbuf);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if (p = 0) 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	p = insert(lexbuf, ID);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tokenval = p;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return </a:t>
            </a:r>
            <a:r>
              <a:rPr lang="zh-CN" altLang="en-US" sz="2000"/>
              <a:t>符号表项</a:t>
            </a:r>
            <a:r>
              <a:rPr lang="en-US" altLang="zh-CN" sz="2000"/>
              <a:t>p</a:t>
            </a:r>
            <a:r>
              <a:rPr lang="zh-CN" altLang="en-US" sz="2000"/>
              <a:t>的</a:t>
            </a:r>
            <a:r>
              <a:rPr lang="en-US" altLang="zh-CN" sz="2000"/>
              <a:t>token</a:t>
            </a:r>
            <a:r>
              <a:rPr lang="zh-CN" altLang="en-US" sz="2000"/>
              <a:t>值</a:t>
            </a:r>
            <a:r>
              <a:rPr lang="en-US" altLang="zh-CN" sz="2000"/>
              <a:t>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} </a:t>
            </a:r>
            <a:r>
              <a:rPr lang="en-US" altLang="zh-CN" sz="2000" b="1"/>
              <a:t>else</a:t>
            </a:r>
            <a:r>
              <a:rPr lang="en-US" altLang="zh-CN" sz="2000"/>
              <a:t> {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tokenval = NONE;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return </a:t>
            </a:r>
            <a:r>
              <a:rPr lang="zh-CN" altLang="en-US" sz="2000"/>
              <a:t>字符</a:t>
            </a:r>
            <a:r>
              <a:rPr lang="en-US" altLang="zh-CN" sz="2000"/>
              <a:t>c</a:t>
            </a:r>
            <a:r>
              <a:rPr lang="zh-CN" altLang="en-US" sz="2000"/>
              <a:t>对应的整数</a:t>
            </a:r>
            <a:r>
              <a:rPr lang="en-US" altLang="zh-CN" sz="2000"/>
              <a:t>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}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}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  <a:endParaRPr lang="en-US" altLang="zh-CN" sz="2000" b="1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Lcc</a:t>
            </a:r>
            <a:r>
              <a:rPr lang="zh-CN" altLang="en-US"/>
              <a:t>的符号表</a:t>
            </a:r>
            <a:endParaRPr lang="zh-CN" altLang="en-US"/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/>
              <a:t>字符串的管理</a:t>
            </a:r>
            <a:endParaRPr lang="zh-CN" altLang="en-US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//string.c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static struct string {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char *str;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int len;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struct string *link;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 *buckets[1024];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char *stringn(const char *str, int len) {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int i;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unsigned int h;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const char *end;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struct string *p;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assert(str);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990000"/>
                </a:solidFill>
                <a:latin typeface="Tahoma" panose="020B0604030504040204" pitchFamily="34" charset="0"/>
              </a:rPr>
              <a:t>	for (h = 0, i = len, end = str; i &gt; 0; i--)	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 Hash</a:t>
            </a:r>
            <a:endParaRPr lang="en-US" altLang="zh-CN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990000"/>
                </a:solidFill>
                <a:latin typeface="Tahoma" panose="020B0604030504040204" pitchFamily="34" charset="0"/>
              </a:rPr>
              <a:t>		h = (h&lt;&lt;1) + scatter[*(unsigned char *)end++];</a:t>
            </a:r>
            <a:endParaRPr lang="en-US" altLang="zh-CN" sz="2000">
              <a:solidFill>
                <a:srgbClr val="990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990000"/>
                </a:solidFill>
                <a:latin typeface="Tahoma" panose="020B0604030504040204" pitchFamily="34" charset="0"/>
              </a:rPr>
              <a:t>	h &amp;= NELEMS(buckets)-1;</a:t>
            </a:r>
            <a:endParaRPr lang="en-US" altLang="zh-CN" sz="2000">
              <a:solidFill>
                <a:srgbClr val="99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字符串管理</a:t>
            </a:r>
            <a:endParaRPr lang="zh-CN" altLang="en-US"/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for (p = buckets[h]; p; p = p-&gt;link)		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搜索</a:t>
            </a:r>
            <a:endParaRPr lang="zh-CN" altLang="en-US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0000FF"/>
                </a:solidFill>
                <a:latin typeface="Tahoma" panose="020B0604030504040204" pitchFamily="34" charset="0"/>
              </a:rPr>
              <a:t>		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if (len == p-&gt;len) {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const char *s1 = str;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char *s2 = p-&gt;str;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do {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	if (s1 == end)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		return p-&gt;str;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} while (*s1++ == *s2++);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{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		static char *next, *strlimit;		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创建</a:t>
            </a:r>
            <a:endParaRPr lang="zh-CN" altLang="en-US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chemeClr val="hlink"/>
                </a:solidFill>
                <a:latin typeface="Tahoma" panose="020B0604030504040204" pitchFamily="34" charset="0"/>
              </a:rPr>
              <a:t>		</a:t>
            </a: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if (len + 1 &gt;= strlimit - next) {		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现有空间不够</a:t>
            </a:r>
            <a:endParaRPr lang="zh-CN" altLang="en-US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chemeClr val="hlink"/>
                </a:solidFill>
                <a:latin typeface="Tahoma" panose="020B0604030504040204" pitchFamily="34" charset="0"/>
              </a:rPr>
              <a:t>			</a:t>
            </a: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int n = len + 4*1024;</a:t>
            </a:r>
            <a:endParaRPr lang="en-US" altLang="zh-CN" sz="2000">
              <a:solidFill>
                <a:schemeClr val="hlink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			next = allocate(n, PERM);	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分配空间</a:t>
            </a:r>
            <a:endParaRPr lang="zh-CN" altLang="en-US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chemeClr val="hlink"/>
                </a:solidFill>
                <a:latin typeface="Tahoma" panose="020B0604030504040204" pitchFamily="34" charset="0"/>
              </a:rPr>
              <a:t>			</a:t>
            </a: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strlimit = next + n;</a:t>
            </a:r>
            <a:endParaRPr lang="en-US" altLang="zh-CN" sz="2000">
              <a:solidFill>
                <a:schemeClr val="hlink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		}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字符串管理</a:t>
            </a:r>
            <a:endParaRPr lang="zh-CN" altLang="en-US"/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		p-&gt;len = len;</a:t>
            </a:r>
            <a:endParaRPr lang="en-US" altLang="zh-CN" sz="2000">
              <a:solidFill>
                <a:schemeClr val="hlink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		for (p-&gt;str = next; str &lt; end; )</a:t>
            </a:r>
            <a:endParaRPr lang="en-US" altLang="zh-CN" sz="2000">
              <a:solidFill>
                <a:schemeClr val="hlink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			*next++ = *str++;		 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复制字符串</a:t>
            </a:r>
            <a:endParaRPr lang="zh-CN" altLang="en-US" sz="1800">
              <a:solidFill>
                <a:schemeClr val="hlink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chemeClr val="hlink"/>
                </a:solidFill>
                <a:latin typeface="Tahoma" panose="020B0604030504040204" pitchFamily="34" charset="0"/>
              </a:rPr>
              <a:t>		*</a:t>
            </a: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next++ = 0;</a:t>
            </a:r>
            <a:endParaRPr lang="en-US" altLang="zh-CN" sz="2000">
              <a:solidFill>
                <a:schemeClr val="hlink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		p-&gt;link = buckets[h];			 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放入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Hash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表</a:t>
            </a:r>
            <a:endParaRPr lang="zh-CN" altLang="en-US" sz="2000">
              <a:solidFill>
                <a:schemeClr val="hlink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chemeClr val="hlink"/>
                </a:solidFill>
                <a:latin typeface="Tahoma" panose="020B0604030504040204" pitchFamily="34" charset="0"/>
              </a:rPr>
              <a:t>		</a:t>
            </a: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buckets[h] = p;</a:t>
            </a:r>
            <a:endParaRPr lang="en-US" altLang="zh-CN" sz="2000">
              <a:solidFill>
                <a:schemeClr val="hlink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		return p-&gt;str;</a:t>
            </a:r>
            <a:endParaRPr lang="en-US" altLang="zh-CN" sz="2000">
              <a:solidFill>
                <a:schemeClr val="hlink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符号表</a:t>
            </a:r>
            <a:endParaRPr lang="zh-CN" altLang="en-US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//sym.c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struct table {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int level;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Table previous;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struct entry {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struct symbol sym;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struct entry *link;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} *buckets[256];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Symbol all;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符号表</a:t>
            </a:r>
            <a:endParaRPr lang="zh-CN" altLang="en-US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Symbol lookup(const char *name, Table tp) {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struct entry *p;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unsigned h = (unsigned long)name&amp;(HASHSIZE-1);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assert(tp);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do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for (p = tp-&gt;buckets[h]; p; p = p-&gt;link)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if (name == p-&gt;sym.name)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	return &amp;p-&gt;sym;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while ((tp = tp-&gt;previous) != NULL);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return NULL;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符号表</a:t>
            </a:r>
            <a:endParaRPr lang="zh-CN" alt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Symbol install(const char *name, Table *tpp, int level, int arena) {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Table tp = *tpp;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struct entry *p;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unsigned h = (unsigned long)name&amp;(HASHSIZE-1);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assert(level == 0 || level &gt;= tp-&gt;level);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if (level &gt; 0 &amp;&amp; tp-&gt;level &lt; level)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tp = *tpp = table(tp, level);	 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新作用域</a:t>
            </a:r>
            <a:endParaRPr lang="zh-CN" altLang="en-US" sz="18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0000FF"/>
                </a:solidFill>
                <a:latin typeface="Tahoma" panose="020B0604030504040204" pitchFamily="34" charset="0"/>
              </a:rPr>
              <a:t>	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NEW0(p, arena);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p-&gt;sym.name = (char *)name;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p-&gt;sym.scope = level;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p-&gt;sym.up = tp-&gt;all;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tp-&gt;all = &amp;p-&gt;sym;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p-&gt;link = tp-&gt;buckets[h];		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//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放入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</a:rPr>
              <a:t>Hash</a:t>
            </a:r>
            <a:r>
              <a:rPr lang="zh-CN" altLang="en-US" sz="2000">
                <a:solidFill>
                  <a:srgbClr val="008000"/>
                </a:solidFill>
                <a:latin typeface="Tahoma" panose="020B0604030504040204" pitchFamily="34" charset="0"/>
              </a:rPr>
              <a:t>表</a:t>
            </a:r>
            <a:endParaRPr lang="zh-CN" altLang="en-US" sz="20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0000FF"/>
                </a:solidFill>
                <a:latin typeface="Tahoma" panose="020B0604030504040204" pitchFamily="34" charset="0"/>
              </a:rPr>
              <a:t>	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tp-&gt;buckets[h] = p;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return &amp;p-&gt;sym;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2.8 </a:t>
            </a:r>
            <a:r>
              <a:rPr lang="zh-CN" altLang="en-US"/>
              <a:t>代码生成</a:t>
            </a:r>
            <a:endParaRPr lang="zh-CN" altLang="en-US"/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67064" y="1864792"/>
            <a:ext cx="4541440" cy="250031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转化为语法制导定义：</a:t>
            </a:r>
            <a:endParaRPr lang="zh-CN" altLang="en-US" sz="2400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i="1" dirty="0"/>
              <a:t>expr</a:t>
            </a:r>
            <a:r>
              <a:rPr kumimoji="0" lang="en-US" altLang="zh-CN" sz="2000" b="1" i="1" dirty="0"/>
              <a:t> </a:t>
            </a:r>
            <a:r>
              <a:rPr kumimoji="0" lang="en-US" altLang="zh-CN" sz="2000" b="1" dirty="0">
                <a:sym typeface="Symbol" panose="05050102010706020507" pitchFamily="18" charset="2"/>
              </a:rPr>
              <a:t> </a:t>
            </a:r>
            <a:r>
              <a:rPr kumimoji="0" lang="en-US" altLang="zh-CN" sz="2000" i="1" dirty="0">
                <a:sym typeface="Symbol" panose="05050102010706020507" pitchFamily="18" charset="2"/>
              </a:rPr>
              <a:t>expr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000" i="1" dirty="0">
                <a:sym typeface="Symbol" panose="05050102010706020507" pitchFamily="18" charset="2"/>
              </a:rPr>
              <a:t> </a:t>
            </a:r>
            <a:r>
              <a:rPr kumimoji="0" lang="en-US" altLang="zh-CN" sz="2000" dirty="0">
                <a:sym typeface="Symbol" panose="05050102010706020507" pitchFamily="18" charset="2"/>
              </a:rPr>
              <a:t>+ </a:t>
            </a:r>
            <a:r>
              <a:rPr kumimoji="0" lang="en-US" altLang="zh-CN" sz="2000" i="1" dirty="0">
                <a:sym typeface="Symbol" panose="05050102010706020507" pitchFamily="18" charset="2"/>
              </a:rPr>
              <a:t>term </a:t>
            </a:r>
            <a:r>
              <a:rPr kumimoji="0" lang="en-US" altLang="zh-CN" sz="2000" dirty="0">
                <a:sym typeface="Symbol" panose="05050102010706020507" pitchFamily="18" charset="2"/>
              </a:rPr>
              <a:t>{</a:t>
            </a:r>
            <a:endParaRPr kumimoji="0"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		</a:t>
            </a:r>
            <a:r>
              <a:rPr kumimoji="0" lang="en-US" altLang="zh-CN" sz="2000" i="1" dirty="0" err="1">
                <a:sym typeface="Symbol" panose="05050102010706020507" pitchFamily="18" charset="2"/>
              </a:rPr>
              <a:t>expr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.</a:t>
            </a:r>
            <a:r>
              <a:rPr kumimoji="0" lang="en-US" altLang="zh-CN" sz="2000" i="1" dirty="0" err="1">
                <a:sym typeface="Symbol" panose="05050102010706020507" pitchFamily="18" charset="2"/>
              </a:rPr>
              <a:t>addr</a:t>
            </a:r>
            <a:r>
              <a:rPr kumimoji="0" lang="en-US" altLang="zh-CN" sz="2000" dirty="0">
                <a:sym typeface="Symbol" panose="05050102010706020507" pitchFamily="18" charset="2"/>
              </a:rPr>
              <a:t>=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newtemp</a:t>
            </a:r>
            <a:r>
              <a:rPr kumimoji="0" lang="en-US" altLang="zh-CN" sz="2000" dirty="0">
                <a:sym typeface="Symbol" panose="05050102010706020507" pitchFamily="18" charset="2"/>
              </a:rPr>
              <a:t>;</a:t>
            </a:r>
            <a:endParaRPr kumimoji="0"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 i="1" dirty="0">
                <a:sym typeface="Symbol" panose="05050102010706020507" pitchFamily="18" charset="2"/>
              </a:rPr>
              <a:t>		</a:t>
            </a:r>
            <a:r>
              <a:rPr kumimoji="0" lang="en-US" altLang="zh-CN" sz="2000" i="1" dirty="0" err="1">
                <a:sym typeface="Symbol" panose="05050102010706020507" pitchFamily="18" charset="2"/>
              </a:rPr>
              <a:t>expr.code</a:t>
            </a:r>
            <a:r>
              <a:rPr kumimoji="0" lang="en-US" altLang="zh-CN" sz="2000" dirty="0">
                <a:sym typeface="Symbol" panose="05050102010706020507" pitchFamily="18" charset="2"/>
              </a:rPr>
              <a:t> = </a:t>
            </a:r>
            <a:endParaRPr kumimoji="0"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 i="1" dirty="0">
                <a:sym typeface="Symbol" panose="05050102010706020507" pitchFamily="18" charset="2"/>
              </a:rPr>
              <a:t>			expr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000" dirty="0">
                <a:sym typeface="Symbol" panose="05050102010706020507" pitchFamily="18" charset="2"/>
              </a:rPr>
              <a:t>.</a:t>
            </a:r>
            <a:r>
              <a:rPr kumimoji="0" lang="en-US" altLang="zh-CN" sz="2000" i="1" dirty="0">
                <a:sym typeface="Symbol" panose="05050102010706020507" pitchFamily="18" charset="2"/>
              </a:rPr>
              <a:t>code</a:t>
            </a:r>
            <a:r>
              <a:rPr kumimoji="0" lang="en-US" altLang="zh-CN" sz="2000" dirty="0">
                <a:sym typeface="Symbol" panose="05050102010706020507" pitchFamily="18" charset="2"/>
              </a:rPr>
              <a:t> || </a:t>
            </a:r>
            <a:r>
              <a:rPr kumimoji="0" lang="en-US" altLang="zh-CN" sz="2000" i="1" dirty="0" err="1">
                <a:sym typeface="Symbol" panose="05050102010706020507" pitchFamily="18" charset="2"/>
              </a:rPr>
              <a:t>term.code</a:t>
            </a:r>
            <a:r>
              <a:rPr kumimoji="0" lang="en-US" altLang="zh-CN" sz="2000" dirty="0">
                <a:sym typeface="Symbol" panose="05050102010706020507" pitchFamily="18" charset="2"/>
              </a:rPr>
              <a:t> || </a:t>
            </a:r>
            <a:endParaRPr kumimoji="0"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		            “MOV EAX, </a:t>
            </a:r>
            <a:r>
              <a:rPr kumimoji="0" lang="en-US" altLang="zh-CN" sz="2000" i="1" dirty="0">
                <a:sym typeface="Symbol" panose="05050102010706020507" pitchFamily="18" charset="2"/>
              </a:rPr>
              <a:t>expr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000" dirty="0">
                <a:sym typeface="Symbol" panose="05050102010706020507" pitchFamily="18" charset="2"/>
              </a:rPr>
              <a:t>.</a:t>
            </a:r>
            <a:r>
              <a:rPr kumimoji="0" lang="en-US" altLang="zh-CN" sz="2000" i="1" dirty="0">
                <a:sym typeface="Symbol" panose="05050102010706020507" pitchFamily="18" charset="2"/>
              </a:rPr>
              <a:t>addr</a:t>
            </a:r>
            <a:br>
              <a:rPr kumimoji="0" lang="en-US" altLang="zh-CN" sz="2000" dirty="0">
                <a:sym typeface="Symbol" panose="05050102010706020507" pitchFamily="18" charset="2"/>
              </a:rPr>
            </a:br>
            <a:r>
              <a:rPr kumimoji="0" lang="en-US" altLang="zh-CN" sz="2000" dirty="0">
                <a:sym typeface="Symbol" panose="05050102010706020507" pitchFamily="18" charset="2"/>
              </a:rPr>
              <a:t>		MOV EBX, </a:t>
            </a:r>
            <a:r>
              <a:rPr kumimoji="0" lang="en-US" altLang="zh-CN" sz="2000" i="1" dirty="0" err="1">
                <a:sym typeface="Symbol" panose="05050102010706020507" pitchFamily="18" charset="2"/>
              </a:rPr>
              <a:t>term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.</a:t>
            </a:r>
            <a:r>
              <a:rPr kumimoji="0" lang="en-US" altLang="zh-CN" sz="2000" i="1" dirty="0" err="1">
                <a:sym typeface="Symbol" panose="05050102010706020507" pitchFamily="18" charset="2"/>
              </a:rPr>
              <a:t>addr</a:t>
            </a:r>
            <a:br>
              <a:rPr kumimoji="0" lang="en-US" altLang="zh-CN" sz="2000" dirty="0">
                <a:sym typeface="Symbol" panose="05050102010706020507" pitchFamily="18" charset="2"/>
              </a:rPr>
            </a:br>
            <a:r>
              <a:rPr kumimoji="0" lang="en-US" altLang="zh-CN" sz="2000" dirty="0">
                <a:sym typeface="Symbol" panose="05050102010706020507" pitchFamily="18" charset="2"/>
              </a:rPr>
              <a:t>		ADD EAX, EBX</a:t>
            </a:r>
            <a:br>
              <a:rPr kumimoji="0" lang="en-US" altLang="zh-CN" sz="2000" dirty="0">
                <a:sym typeface="Symbol" panose="05050102010706020507" pitchFamily="18" charset="2"/>
              </a:rPr>
            </a:br>
            <a:r>
              <a:rPr kumimoji="0" lang="en-US" altLang="zh-CN" sz="2000" dirty="0">
                <a:sym typeface="Symbol" panose="05050102010706020507" pitchFamily="18" charset="2"/>
              </a:rPr>
              <a:t>		MOV </a:t>
            </a:r>
            <a:r>
              <a:rPr kumimoji="0" lang="en-US" altLang="zh-CN" sz="2000" i="1" dirty="0" err="1">
                <a:sym typeface="Symbol" panose="05050102010706020507" pitchFamily="18" charset="2"/>
              </a:rPr>
              <a:t>expr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.</a:t>
            </a:r>
            <a:r>
              <a:rPr kumimoji="0" lang="en-US" altLang="zh-CN" sz="2000" i="1" dirty="0" err="1">
                <a:sym typeface="Symbol" panose="05050102010706020507" pitchFamily="18" charset="2"/>
              </a:rPr>
              <a:t>addr</a:t>
            </a:r>
            <a:r>
              <a:rPr kumimoji="0" lang="en-US" altLang="zh-CN" sz="2000" dirty="0">
                <a:sym typeface="Symbol" panose="05050102010706020507" pitchFamily="18" charset="2"/>
              </a:rPr>
              <a:t>, EAX” }</a:t>
            </a:r>
            <a:endParaRPr lang="en-US" altLang="zh-CN" sz="2400" dirty="0"/>
          </a:p>
        </p:txBody>
      </p:sp>
      <p:sp>
        <p:nvSpPr>
          <p:cNvPr id="111620" name="Rectangle 5"/>
          <p:cNvSpPr>
            <a:spLocks noChangeArrowheads="1"/>
          </p:cNvSpPr>
          <p:nvPr/>
        </p:nvSpPr>
        <p:spPr bwMode="auto">
          <a:xfrm>
            <a:off x="395536" y="1443285"/>
            <a:ext cx="7772400" cy="241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ts val="48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表达式代码生成 </a:t>
            </a:r>
            <a:r>
              <a:rPr lang="en-US" altLang="zh-CN" sz="2400" i="1" dirty="0">
                <a:ea typeface="宋体" panose="02010600030101010101" pitchFamily="2" charset="-122"/>
              </a:rPr>
              <a:t>expr</a:t>
            </a:r>
            <a:r>
              <a:rPr kumimoji="0" lang="en-US" altLang="zh-CN" sz="2400" b="1" i="1" dirty="0">
                <a:ea typeface="宋体" panose="02010600030101010101" pitchFamily="2" charset="-122"/>
              </a:rPr>
              <a:t> </a:t>
            </a:r>
            <a:r>
              <a:rPr kumimoji="0"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kumimoji="0" lang="en-US" altLang="zh-CN" sz="2400" i="1" dirty="0">
                <a:ea typeface="宋体" panose="02010600030101010101" pitchFamily="2" charset="-122"/>
                <a:sym typeface="Symbol" panose="05050102010706020507" pitchFamily="18" charset="2"/>
              </a:rPr>
              <a:t>expr</a:t>
            </a:r>
            <a:r>
              <a:rPr kumimoji="0" lang="en-US" altLang="zh-CN" sz="2400" baseline="-25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kumimoji="0" lang="en-US" altLang="zh-CN" sz="2400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+ </a:t>
            </a:r>
            <a:r>
              <a:rPr kumimoji="0" lang="en-US" altLang="zh-CN" sz="2400" i="1" dirty="0">
                <a:ea typeface="宋体" panose="02010600030101010101" pitchFamily="2" charset="-122"/>
                <a:sym typeface="Symbol" panose="05050102010706020507" pitchFamily="18" charset="2"/>
              </a:rPr>
              <a:t>term</a:t>
            </a:r>
            <a:endParaRPr kumimoji="0" lang="en-US" altLang="zh-CN" sz="24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spcBef>
                <a:spcPts val="480"/>
              </a:spcBef>
              <a:buFont typeface="Wingdings" panose="05000000000000000000" pitchFamily="2" charset="2"/>
              <a:buNone/>
            </a:pPr>
            <a:r>
              <a:rPr kumimoji="0"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expr</a:t>
            </a:r>
            <a:r>
              <a:rPr kumimoji="0" lang="zh-CN" altLang="en-US" sz="2400" dirty="0">
                <a:ea typeface="宋体" panose="02010600030101010101" pitchFamily="2" charset="-122"/>
                <a:sym typeface="Symbol" panose="05050102010706020507" pitchFamily="18" charset="2"/>
              </a:rPr>
              <a:t>对应的汇编码是什么样的？</a:t>
            </a:r>
            <a:endParaRPr kumimoji="0" lang="zh-CN" altLang="en-US" sz="24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spcBef>
                <a:spcPts val="480"/>
              </a:spcBef>
              <a:buFont typeface="Wingdings" panose="05000000000000000000" pitchFamily="2" charset="2"/>
              <a:buNone/>
            </a:pPr>
            <a:r>
              <a:rPr kumimoji="0" lang="zh-CN" altLang="en-US" sz="20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计算</a:t>
            </a:r>
            <a:r>
              <a:rPr kumimoji="0" lang="en-US" altLang="zh-CN" sz="20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expr</a:t>
            </a:r>
            <a:r>
              <a:rPr kumimoji="0" lang="en-US" altLang="zh-CN" sz="2000" baseline="-250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kumimoji="0" lang="zh-CN" altLang="en-US" sz="20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的代码段</a:t>
            </a:r>
            <a:endParaRPr kumimoji="0" lang="zh-CN" altLang="en-US" sz="2000" dirty="0">
              <a:solidFill>
                <a:srgbClr val="3333CC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spcBef>
                <a:spcPts val="480"/>
              </a:spcBef>
              <a:buFont typeface="Wingdings" panose="05000000000000000000" pitchFamily="2" charset="2"/>
              <a:buNone/>
            </a:pPr>
            <a:r>
              <a:rPr kumimoji="0" lang="zh-CN" altLang="en-US" sz="20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计算</a:t>
            </a:r>
            <a:r>
              <a:rPr kumimoji="0" lang="en-US" altLang="zh-CN" sz="20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term</a:t>
            </a:r>
            <a:r>
              <a:rPr kumimoji="0" lang="zh-CN" altLang="en-US" sz="20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的代码段</a:t>
            </a:r>
            <a:endParaRPr kumimoji="0" lang="zh-CN" altLang="en-US" sz="2000" dirty="0">
              <a:solidFill>
                <a:srgbClr val="3333CC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spcBef>
                <a:spcPts val="480"/>
              </a:spcBef>
              <a:buFont typeface="Wingdings" panose="05000000000000000000" pitchFamily="2" charset="2"/>
              <a:buNone/>
            </a:pPr>
            <a:r>
              <a:rPr kumimoji="0" lang="zh-CN" altLang="en-US" sz="20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kumimoji="0" lang="en-US" altLang="zh-CN" sz="20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MOV EAX, expr</a:t>
            </a:r>
            <a:r>
              <a:rPr kumimoji="0" lang="en-US" altLang="zh-CN" sz="2000" baseline="-250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kumimoji="0" lang="en-US" altLang="zh-CN" sz="2000" baseline="-25000" dirty="0">
              <a:solidFill>
                <a:srgbClr val="3333CC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spcBef>
                <a:spcPts val="480"/>
              </a:spcBef>
              <a:buFont typeface="Wingdings" panose="05000000000000000000" pitchFamily="2" charset="2"/>
              <a:buNone/>
            </a:pPr>
            <a:r>
              <a:rPr kumimoji="0" lang="en-US" altLang="zh-CN" sz="2000" baseline="-250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kumimoji="0" lang="en-US" altLang="zh-CN" sz="20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MOV EBX, term</a:t>
            </a:r>
            <a:endParaRPr kumimoji="0" lang="en-US" altLang="zh-CN" sz="2000" dirty="0">
              <a:solidFill>
                <a:srgbClr val="3333CC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spcBef>
                <a:spcPts val="48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ADD EAX, EBX</a:t>
            </a:r>
            <a:endParaRPr kumimoji="0" lang="en-US" altLang="zh-CN" sz="2000" dirty="0">
              <a:solidFill>
                <a:srgbClr val="3333CC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spcBef>
                <a:spcPts val="48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MOV expr, EAX</a:t>
            </a:r>
            <a:endParaRPr kumimoji="0" lang="en-US" altLang="zh-CN" sz="2000" baseline="-25000" dirty="0">
              <a:solidFill>
                <a:srgbClr val="3333CC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827585" y="5112018"/>
            <a:ext cx="8116390" cy="1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kern="0" dirty="0">
                <a:solidFill>
                  <a:srgbClr val="FF0000"/>
                </a:solidFill>
              </a:rPr>
              <a:t>语法符号的属性（</a:t>
            </a:r>
            <a:r>
              <a:rPr lang="en-US" altLang="zh-CN" sz="2400" kern="0" dirty="0">
                <a:solidFill>
                  <a:srgbClr val="FF0000"/>
                </a:solidFill>
              </a:rPr>
              <a:t>code</a:t>
            </a:r>
            <a:r>
              <a:rPr lang="zh-CN" altLang="en-US" sz="2400" kern="0" dirty="0">
                <a:solidFill>
                  <a:srgbClr val="FF0000"/>
                </a:solidFill>
              </a:rPr>
              <a:t>）</a:t>
            </a:r>
            <a:r>
              <a:rPr lang="en-US" altLang="zh-CN" sz="2400" kern="0" dirty="0">
                <a:solidFill>
                  <a:srgbClr val="FF0000"/>
                </a:solidFill>
              </a:rPr>
              <a:t>——</a:t>
            </a:r>
            <a:r>
              <a:rPr lang="zh-CN" altLang="en-US" sz="2400" kern="0" dirty="0">
                <a:solidFill>
                  <a:srgbClr val="FF0000"/>
                </a:solidFill>
              </a:rPr>
              <a:t>对应语法结构的汇编代码</a:t>
            </a:r>
            <a:endParaRPr lang="en-US" altLang="zh-CN" sz="2400" kern="0" dirty="0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kern="0" dirty="0">
                <a:solidFill>
                  <a:srgbClr val="FF0000"/>
                </a:solidFill>
              </a:rPr>
              <a:t>上层语法结构（左部、父节点）的代码</a:t>
            </a:r>
            <a:r>
              <a:rPr lang="en-US" altLang="zh-CN" sz="2400" kern="0" dirty="0">
                <a:solidFill>
                  <a:srgbClr val="FF0000"/>
                </a:solidFill>
              </a:rPr>
              <a:t>=</a:t>
            </a:r>
            <a:r>
              <a:rPr lang="zh-CN" altLang="en-US" sz="2400" kern="0" dirty="0">
                <a:solidFill>
                  <a:srgbClr val="FF0000"/>
                </a:solidFill>
              </a:rPr>
              <a:t>下层语法结构（右部、孩子节点）的代码再拼接一些汇编指令而来</a:t>
            </a:r>
            <a:endParaRPr lang="en-US" altLang="zh-CN" sz="2400" kern="0" dirty="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kern="0" dirty="0">
                <a:solidFill>
                  <a:srgbClr val="FF0000"/>
                </a:solidFill>
                <a:sym typeface="Wingdings" panose="05000000000000000000" pitchFamily="2" charset="2"/>
              </a:rPr>
              <a:t></a:t>
            </a:r>
            <a:r>
              <a:rPr lang="en-US" altLang="zh-CN" sz="2400" kern="0" dirty="0" err="1">
                <a:solidFill>
                  <a:srgbClr val="FF0000"/>
                </a:solidFill>
                <a:sym typeface="Wingdings" panose="05000000000000000000" pitchFamily="2" charset="2"/>
              </a:rPr>
              <a:t>Yacc</a:t>
            </a:r>
            <a:r>
              <a:rPr lang="zh-CN" altLang="en-US" sz="2400" kern="0" dirty="0">
                <a:solidFill>
                  <a:srgbClr val="FF0000"/>
                </a:solidFill>
                <a:sym typeface="Wingdings" panose="05000000000000000000" pitchFamily="2" charset="2"/>
              </a:rPr>
              <a:t>程序</a:t>
            </a:r>
            <a:endParaRPr lang="en-US" altLang="zh-CN" sz="2400" kern="0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9" grpId="0" uiExpand="1" build="p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表达式的代码生成（续）</a:t>
            </a:r>
            <a:endParaRPr lang="zh-CN" altLang="en-US"/>
          </a:p>
        </p:txBody>
      </p:sp>
      <p:sp>
        <p:nvSpPr>
          <p:cNvPr id="108547" name="Rectangle 4"/>
          <p:cNvSpPr>
            <a:spLocks noChangeArrowheads="1"/>
          </p:cNvSpPr>
          <p:nvPr/>
        </p:nvSpPr>
        <p:spPr bwMode="auto">
          <a:xfrm>
            <a:off x="1176338" y="4149725"/>
            <a:ext cx="7772400" cy="213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i="1" dirty="0" err="1">
                <a:ea typeface="宋体" panose="02010600030101010101" pitchFamily="2" charset="-122"/>
              </a:rPr>
              <a:t>stmt</a:t>
            </a:r>
            <a:r>
              <a:rPr kumimoji="0" lang="en-US" altLang="zh-CN" b="1" i="1" dirty="0">
                <a:ea typeface="宋体" panose="02010600030101010101" pitchFamily="2" charset="-122"/>
              </a:rPr>
              <a:t> </a:t>
            </a:r>
            <a:r>
              <a:rPr kumimoji="0"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 id </a:t>
            </a:r>
            <a:r>
              <a:rPr kumimoji="0"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:=</a:t>
            </a:r>
            <a:r>
              <a:rPr kumimoji="0"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expr</a:t>
            </a:r>
            <a:endParaRPr kumimoji="0" lang="en-US" altLang="zh-CN" i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		</a:t>
            </a:r>
            <a:r>
              <a:rPr kumimoji="0"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{</a:t>
            </a:r>
            <a:r>
              <a:rPr kumimoji="0"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stmt.code</a:t>
            </a:r>
            <a:r>
              <a:rPr kumimoji="0"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kumimoji="0"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expr.code</a:t>
            </a:r>
            <a:r>
              <a:rPr kumimoji="0"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||</a:t>
            </a:r>
            <a:endParaRPr kumimoji="0" lang="en-US" altLang="zh-CN" i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kumimoji="0"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				“</a:t>
            </a:r>
            <a:r>
              <a:rPr kumimoji="0"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MOV EAX, </a:t>
            </a:r>
            <a:r>
              <a:rPr kumimoji="0" lang="en-US" altLang="zh-CN" sz="2400" i="1" dirty="0" err="1">
                <a:ea typeface="宋体" panose="02010600030101010101" pitchFamily="2" charset="-122"/>
                <a:sym typeface="Symbol" panose="05050102010706020507" pitchFamily="18" charset="2"/>
              </a:rPr>
              <a:t>expr.addr</a:t>
            </a:r>
            <a:endParaRPr kumimoji="0" lang="en-US" altLang="zh-CN" sz="2400" i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				MOV </a:t>
            </a:r>
            <a:r>
              <a:rPr kumimoji="0" lang="en-US" altLang="zh-CN" sz="2400" b="1" dirty="0" err="1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kumimoji="0" lang="en-US" altLang="zh-CN" sz="2400" dirty="0" err="1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kumimoji="0" lang="en-US" altLang="zh-CN" sz="2400" i="1" dirty="0" err="1">
                <a:ea typeface="宋体" panose="02010600030101010101" pitchFamily="2" charset="-122"/>
                <a:sym typeface="Symbol" panose="05050102010706020507" pitchFamily="18" charset="2"/>
              </a:rPr>
              <a:t>addr</a:t>
            </a:r>
            <a:r>
              <a:rPr kumimoji="0"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, EAX</a:t>
            </a:r>
            <a:r>
              <a:rPr kumimoji="0"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”}</a:t>
            </a:r>
            <a:endParaRPr kumimoji="0"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08548" name="Rectangle 6"/>
          <p:cNvSpPr>
            <a:spLocks noChangeArrowheads="1"/>
          </p:cNvSpPr>
          <p:nvPr/>
        </p:nvSpPr>
        <p:spPr bwMode="auto">
          <a:xfrm>
            <a:off x="1176338" y="1371600"/>
            <a:ext cx="7772400" cy="241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i="1" dirty="0" err="1">
                <a:ea typeface="宋体" panose="02010600030101010101" pitchFamily="2" charset="-122"/>
              </a:rPr>
              <a:t>stmt</a:t>
            </a:r>
            <a:r>
              <a:rPr kumimoji="0" lang="en-US" altLang="zh-CN" b="1" i="1" dirty="0">
                <a:ea typeface="宋体" panose="02010600030101010101" pitchFamily="2" charset="-122"/>
              </a:rPr>
              <a:t> </a:t>
            </a:r>
            <a:r>
              <a:rPr kumimoji="0"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 id </a:t>
            </a:r>
            <a:r>
              <a:rPr kumimoji="0"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:=</a:t>
            </a:r>
            <a:r>
              <a:rPr kumimoji="0"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expr</a:t>
            </a:r>
            <a:endParaRPr kumimoji="0" lang="en-US" altLang="zh-CN" i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赋值语句的汇编码应该是什么样子？</a:t>
            </a:r>
            <a:endParaRPr kumimoji="0" lang="zh-CN" altLang="en-US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kumimoji="0" lang="zh-CN" altLang="en-US" sz="24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计算</a:t>
            </a:r>
            <a:r>
              <a:rPr kumimoji="0" lang="en-US" altLang="zh-CN" sz="24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expr</a:t>
            </a:r>
            <a:r>
              <a:rPr kumimoji="0" lang="zh-CN" altLang="en-US" sz="24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的代码段</a:t>
            </a:r>
            <a:endParaRPr kumimoji="0" lang="zh-CN" altLang="en-US" sz="2400" dirty="0">
              <a:solidFill>
                <a:srgbClr val="3333CC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MOV EAX, expr</a:t>
            </a:r>
            <a:endParaRPr kumimoji="0" lang="en-US" altLang="zh-CN" sz="2400" dirty="0">
              <a:solidFill>
                <a:srgbClr val="3333CC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>
                <a:solidFill>
                  <a:srgbClr val="33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MOV id, EAX</a:t>
            </a:r>
            <a:endParaRPr kumimoji="0" lang="en-US" altLang="zh-CN" sz="2400" dirty="0">
              <a:solidFill>
                <a:srgbClr val="3333CC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控制流的翻译</a:t>
            </a:r>
            <a:endParaRPr lang="zh-CN" altLang="en-US"/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3886200"/>
            <a:ext cx="7772400" cy="1524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i="1" dirty="0" err="1"/>
              <a:t>stmt</a:t>
            </a:r>
            <a:r>
              <a:rPr kumimoji="0" lang="en-US" altLang="zh-CN" sz="2800" b="1" i="1" dirty="0"/>
              <a:t> </a:t>
            </a:r>
            <a:r>
              <a:rPr kumimoji="0" lang="en-US" altLang="zh-CN" sz="2800" b="1" dirty="0">
                <a:sym typeface="Symbol" panose="05050102010706020507" pitchFamily="18" charset="2"/>
              </a:rPr>
              <a:t> if</a:t>
            </a:r>
            <a:r>
              <a:rPr kumimoji="0" lang="en-US" altLang="zh-CN" sz="2800" dirty="0">
                <a:sym typeface="Symbol" panose="05050102010706020507" pitchFamily="18" charset="2"/>
              </a:rPr>
              <a:t> (</a:t>
            </a:r>
            <a:r>
              <a:rPr kumimoji="0" lang="en-US" altLang="zh-CN" sz="2800" i="1" dirty="0">
                <a:sym typeface="Symbol" panose="05050102010706020507" pitchFamily="18" charset="2"/>
              </a:rPr>
              <a:t>expr</a:t>
            </a:r>
            <a:r>
              <a:rPr kumimoji="0" lang="en-US" altLang="zh-CN" sz="2800" dirty="0">
                <a:sym typeface="Symbol" panose="05050102010706020507" pitchFamily="18" charset="2"/>
              </a:rPr>
              <a:t>) </a:t>
            </a:r>
            <a:r>
              <a:rPr kumimoji="0" lang="en-US" altLang="zh-CN" sz="2800" i="1" dirty="0">
                <a:sym typeface="Symbol" panose="05050102010706020507" pitchFamily="18" charset="2"/>
              </a:rPr>
              <a:t>stmt</a:t>
            </a:r>
            <a:r>
              <a:rPr kumimoji="0" lang="en-US" altLang="zh-CN" sz="2800" i="1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800" dirty="0">
                <a:sym typeface="Symbol" panose="05050102010706020507" pitchFamily="18" charset="2"/>
              </a:rPr>
              <a:t> </a:t>
            </a:r>
            <a:endParaRPr kumimoji="0" lang="en-US" altLang="zh-CN" sz="28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 dirty="0">
                <a:sym typeface="Symbol" panose="05050102010706020507" pitchFamily="18" charset="2"/>
              </a:rPr>
              <a:t>		{  </a:t>
            </a:r>
            <a:r>
              <a:rPr kumimoji="0" lang="en-US" altLang="zh-CN" sz="2800" i="1" dirty="0">
                <a:sym typeface="Symbol" panose="05050102010706020507" pitchFamily="18" charset="2"/>
              </a:rPr>
              <a:t>out </a:t>
            </a:r>
            <a:r>
              <a:rPr kumimoji="0" lang="en-US" altLang="zh-CN" sz="2800" dirty="0">
                <a:sym typeface="Symbol" panose="05050102010706020507" pitchFamily="18" charset="2"/>
              </a:rPr>
              <a:t>=</a:t>
            </a:r>
            <a:r>
              <a:rPr kumimoji="0" lang="en-US" altLang="zh-CN" sz="2800" i="1" dirty="0">
                <a:sym typeface="Symbol" panose="05050102010706020507" pitchFamily="18" charset="2"/>
              </a:rPr>
              <a:t> </a:t>
            </a:r>
            <a:r>
              <a:rPr kumimoji="0" lang="en-US" altLang="zh-CN" sz="2800" i="1" dirty="0" err="1">
                <a:sym typeface="Symbol" panose="05050102010706020507" pitchFamily="18" charset="2"/>
              </a:rPr>
              <a:t>newlabel</a:t>
            </a:r>
            <a:r>
              <a:rPr kumimoji="0" lang="en-US" altLang="zh-CN" sz="2800" i="1" dirty="0">
                <a:sym typeface="Symbol" panose="05050102010706020507" pitchFamily="18" charset="2"/>
              </a:rPr>
              <a:t>;</a:t>
            </a:r>
            <a:br>
              <a:rPr kumimoji="0" lang="en-US" altLang="zh-CN" sz="2800" i="1" dirty="0">
                <a:sym typeface="Symbol" panose="05050102010706020507" pitchFamily="18" charset="2"/>
              </a:rPr>
            </a:br>
            <a:r>
              <a:rPr kumimoji="0" lang="en-US" altLang="zh-CN" sz="2800" i="1" dirty="0">
                <a:sym typeface="Symbol" panose="05050102010706020507" pitchFamily="18" charset="2"/>
              </a:rPr>
              <a:t>          </a:t>
            </a:r>
            <a:r>
              <a:rPr kumimoji="0" lang="en-US" altLang="zh-CN" sz="2800" i="1" dirty="0" err="1">
                <a:sym typeface="Symbol" panose="05050102010706020507" pitchFamily="18" charset="2"/>
              </a:rPr>
              <a:t>stmt.code</a:t>
            </a:r>
            <a:r>
              <a:rPr kumimoji="0" lang="en-US" altLang="zh-CN" sz="2800" i="1" dirty="0">
                <a:sym typeface="Symbol" panose="05050102010706020507" pitchFamily="18" charset="2"/>
              </a:rPr>
              <a:t> </a:t>
            </a:r>
            <a:r>
              <a:rPr kumimoji="0" lang="en-US" altLang="zh-CN" sz="2800" dirty="0">
                <a:sym typeface="Symbol" panose="05050102010706020507" pitchFamily="18" charset="2"/>
              </a:rPr>
              <a:t>=</a:t>
            </a:r>
            <a:r>
              <a:rPr kumimoji="0" lang="en-US" altLang="zh-CN" sz="2800" i="1" dirty="0">
                <a:sym typeface="Symbol" panose="05050102010706020507" pitchFamily="18" charset="2"/>
              </a:rPr>
              <a:t> </a:t>
            </a:r>
            <a:r>
              <a:rPr kumimoji="0" lang="en-US" altLang="zh-CN" sz="2800" i="1" dirty="0" err="1">
                <a:sym typeface="Symbol" panose="05050102010706020507" pitchFamily="18" charset="2"/>
              </a:rPr>
              <a:t>expr.code</a:t>
            </a:r>
            <a:r>
              <a:rPr kumimoji="0" lang="en-US" altLang="zh-CN" sz="2800" i="1" dirty="0">
                <a:sym typeface="Symbol" panose="05050102010706020507" pitchFamily="18" charset="2"/>
              </a:rPr>
              <a:t> || </a:t>
            </a:r>
            <a:r>
              <a:rPr kumimoji="0" lang="en-US" altLang="zh-CN" sz="2800" dirty="0">
                <a:sym typeface="Symbol" panose="05050102010706020507" pitchFamily="18" charset="2"/>
              </a:rPr>
              <a:t>‘</a:t>
            </a:r>
            <a:r>
              <a:rPr kumimoji="0" lang="en-US" altLang="zh-CN" sz="2800" dirty="0" err="1">
                <a:latin typeface="Tahoma" panose="020B0604030504040204" pitchFamily="34" charset="0"/>
                <a:sym typeface="Symbol" panose="05050102010706020507" pitchFamily="18" charset="2"/>
              </a:rPr>
              <a:t>jz</a:t>
            </a:r>
            <a:r>
              <a:rPr kumimoji="0" lang="en-US" altLang="zh-CN" sz="2800" dirty="0">
                <a:sym typeface="Symbol" panose="05050102010706020507" pitchFamily="18" charset="2"/>
              </a:rPr>
              <a:t>’</a:t>
            </a:r>
            <a:r>
              <a:rPr kumimoji="0" lang="en-US" altLang="zh-CN" sz="2800" i="1" dirty="0">
                <a:sym typeface="Symbol" panose="05050102010706020507" pitchFamily="18" charset="2"/>
              </a:rPr>
              <a:t> out || </a:t>
            </a:r>
            <a:br>
              <a:rPr kumimoji="0" lang="en-US" altLang="zh-CN" sz="2800" i="1" dirty="0">
                <a:sym typeface="Symbol" panose="05050102010706020507" pitchFamily="18" charset="2"/>
              </a:rPr>
            </a:br>
            <a:r>
              <a:rPr kumimoji="0" lang="en-US" altLang="zh-CN" sz="2800" i="1" dirty="0">
                <a:sym typeface="Symbol" panose="05050102010706020507" pitchFamily="18" charset="2"/>
              </a:rPr>
              <a:t>                                stmt</a:t>
            </a:r>
            <a:r>
              <a:rPr kumimoji="0" lang="en-US" altLang="zh-CN" sz="2800" i="1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800" i="1" dirty="0">
                <a:sym typeface="Symbol" panose="05050102010706020507" pitchFamily="18" charset="2"/>
              </a:rPr>
              <a:t>.code || out }</a:t>
            </a:r>
            <a:endParaRPr kumimoji="0" lang="en-US" altLang="zh-CN" sz="2800" i="1" dirty="0">
              <a:sym typeface="Symbol" panose="05050102010706020507" pitchFamily="18" charset="2"/>
            </a:endParaRPr>
          </a:p>
        </p:txBody>
      </p:sp>
      <p:sp>
        <p:nvSpPr>
          <p:cNvPr id="109573" name="Text Box 19"/>
          <p:cNvSpPr txBox="1">
            <a:spLocks noChangeArrowheads="1"/>
          </p:cNvSpPr>
          <p:nvPr/>
        </p:nvSpPr>
        <p:spPr bwMode="auto">
          <a:xfrm>
            <a:off x="3429000" y="1371600"/>
            <a:ext cx="182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ea typeface="宋体" panose="02010600030101010101" pitchFamily="2" charset="-122"/>
              </a:rPr>
              <a:t>IF (expr) stmt</a:t>
            </a:r>
            <a:endParaRPr kumimoji="0" lang="en-US" altLang="zh-CN" sz="2000" b="1"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29000" y="1905000"/>
            <a:ext cx="1828800" cy="1997075"/>
            <a:chOff x="3429000" y="1905000"/>
            <a:chExt cx="1828800" cy="1997075"/>
          </a:xfrm>
        </p:grpSpPr>
        <p:sp>
          <p:nvSpPr>
            <p:cNvPr id="109572" name="Rectangle 18"/>
            <p:cNvSpPr>
              <a:spLocks noChangeArrowheads="1"/>
            </p:cNvSpPr>
            <p:nvPr/>
          </p:nvSpPr>
          <p:spPr bwMode="auto">
            <a:xfrm>
              <a:off x="3429000" y="1905000"/>
              <a:ext cx="1828800" cy="1981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9574" name="Text Box 20"/>
            <p:cNvSpPr txBox="1">
              <a:spLocks noChangeArrowheads="1"/>
            </p:cNvSpPr>
            <p:nvPr/>
          </p:nvSpPr>
          <p:spPr bwMode="auto">
            <a:xfrm>
              <a:off x="3429000" y="1905000"/>
              <a:ext cx="18288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ea typeface="宋体" panose="02010600030101010101" pitchFamily="2" charset="-122"/>
                </a:rPr>
                <a:t>code for expr</a:t>
              </a:r>
              <a:endParaRPr kumimoji="0" lang="en-US" altLang="zh-CN" sz="2000" b="1">
                <a:ea typeface="宋体" panose="02010600030101010101" pitchFamily="2" charset="-122"/>
              </a:endParaRPr>
            </a:p>
          </p:txBody>
        </p:sp>
        <p:sp>
          <p:nvSpPr>
            <p:cNvPr id="109575" name="Text Box 21"/>
            <p:cNvSpPr txBox="1">
              <a:spLocks noChangeArrowheads="1"/>
            </p:cNvSpPr>
            <p:nvPr/>
          </p:nvSpPr>
          <p:spPr bwMode="auto">
            <a:xfrm>
              <a:off x="3657600" y="2438400"/>
              <a:ext cx="16002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ea typeface="宋体" panose="02010600030101010101" pitchFamily="2" charset="-122"/>
                </a:rPr>
                <a:t>jz out</a:t>
              </a:r>
              <a:endParaRPr kumimoji="0" lang="en-US" altLang="zh-CN" sz="2000" b="1">
                <a:ea typeface="宋体" panose="02010600030101010101" pitchFamily="2" charset="-122"/>
              </a:endParaRPr>
            </a:p>
          </p:txBody>
        </p:sp>
        <p:sp>
          <p:nvSpPr>
            <p:cNvPr id="109576" name="Text Box 22"/>
            <p:cNvSpPr txBox="1">
              <a:spLocks noChangeArrowheads="1"/>
            </p:cNvSpPr>
            <p:nvPr/>
          </p:nvSpPr>
          <p:spPr bwMode="auto">
            <a:xfrm>
              <a:off x="3429000" y="2971800"/>
              <a:ext cx="18288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>
                  <a:ea typeface="宋体" panose="02010600030101010101" pitchFamily="2" charset="-122"/>
                </a:rPr>
                <a:t>code for </a:t>
              </a:r>
              <a:r>
                <a:rPr kumimoji="0" lang="en-US" altLang="zh-CN" sz="2000" b="1" dirty="0" err="1">
                  <a:ea typeface="宋体" panose="02010600030101010101" pitchFamily="2" charset="-122"/>
                </a:rPr>
                <a:t>stmt</a:t>
              </a:r>
              <a:endParaRPr kumimoji="0" lang="en-US" altLang="zh-CN" sz="2000" b="1" dirty="0">
                <a:ea typeface="宋体" panose="02010600030101010101" pitchFamily="2" charset="-122"/>
              </a:endParaRPr>
            </a:p>
          </p:txBody>
        </p:sp>
        <p:sp>
          <p:nvSpPr>
            <p:cNvPr id="109577" name="Text Box 23"/>
            <p:cNvSpPr txBox="1">
              <a:spLocks noChangeArrowheads="1"/>
            </p:cNvSpPr>
            <p:nvPr/>
          </p:nvSpPr>
          <p:spPr bwMode="auto">
            <a:xfrm>
              <a:off x="3657600" y="3505200"/>
              <a:ext cx="16002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ea typeface="宋体" panose="02010600030101010101" pitchFamily="2" charset="-122"/>
                </a:rPr>
                <a:t>out: </a:t>
              </a:r>
              <a:endParaRPr kumimoji="0" lang="en-US" altLang="zh-CN" sz="2000" b="1">
                <a:ea typeface="宋体" panose="02010600030101010101" pitchFamily="2" charset="-122"/>
              </a:endParaRPr>
            </a:p>
          </p:txBody>
        </p:sp>
        <p:sp>
          <p:nvSpPr>
            <p:cNvPr id="109578" name="Line 24"/>
            <p:cNvSpPr>
              <a:spLocks noChangeShapeType="1"/>
            </p:cNvSpPr>
            <p:nvPr/>
          </p:nvSpPr>
          <p:spPr bwMode="auto">
            <a:xfrm>
              <a:off x="3429000" y="2362200"/>
              <a:ext cx="1828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79" name="Line 25"/>
            <p:cNvSpPr>
              <a:spLocks noChangeShapeType="1"/>
            </p:cNvSpPr>
            <p:nvPr/>
          </p:nvSpPr>
          <p:spPr bwMode="auto">
            <a:xfrm>
              <a:off x="3429000" y="2971800"/>
              <a:ext cx="1828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80" name="Line 26"/>
            <p:cNvSpPr>
              <a:spLocks noChangeShapeType="1"/>
            </p:cNvSpPr>
            <p:nvPr/>
          </p:nvSpPr>
          <p:spPr bwMode="auto">
            <a:xfrm>
              <a:off x="3429000" y="3429000"/>
              <a:ext cx="1828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控制流语句的翻译</a:t>
            </a:r>
            <a:endParaRPr lang="zh-CN" altLang="en-US"/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3733800"/>
            <a:ext cx="7772400" cy="2286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i="1"/>
              <a:t>stmt</a:t>
            </a:r>
            <a:r>
              <a:rPr kumimoji="0" lang="en-US" altLang="zh-CN" sz="2400" b="1" i="1"/>
              <a:t> </a:t>
            </a:r>
            <a:r>
              <a:rPr kumimoji="0" lang="en-US" altLang="zh-CN" sz="2400" b="1">
                <a:sym typeface="Symbol" panose="05050102010706020507" pitchFamily="18" charset="2"/>
              </a:rPr>
              <a:t> while</a:t>
            </a:r>
            <a:r>
              <a:rPr kumimoji="0" lang="en-US" altLang="zh-CN" sz="2400">
                <a:sym typeface="Symbol" panose="05050102010706020507" pitchFamily="18" charset="2"/>
              </a:rPr>
              <a:t> (</a:t>
            </a:r>
            <a:r>
              <a:rPr kumimoji="0" lang="en-US" altLang="zh-CN" sz="2400" i="1">
                <a:sym typeface="Symbol" panose="05050102010706020507" pitchFamily="18" charset="2"/>
              </a:rPr>
              <a:t>expr</a:t>
            </a:r>
            <a:r>
              <a:rPr kumimoji="0" lang="en-US" altLang="zh-CN" sz="2400">
                <a:sym typeface="Symbol" panose="05050102010706020507" pitchFamily="18" charset="2"/>
              </a:rPr>
              <a:t>) </a:t>
            </a:r>
            <a:r>
              <a:rPr kumimoji="0" lang="en-US" altLang="zh-CN" sz="2400" i="1">
                <a:sym typeface="Symbol" panose="05050102010706020507" pitchFamily="18" charset="2"/>
              </a:rPr>
              <a:t>stmt</a:t>
            </a:r>
            <a:r>
              <a:rPr kumimoji="0" lang="en-US" altLang="zh-CN" sz="2400" i="1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 {  </a:t>
            </a:r>
            <a:br>
              <a:rPr kumimoji="0" lang="en-US" altLang="zh-CN" sz="2400">
                <a:sym typeface="Symbol" panose="05050102010706020507" pitchFamily="18" charset="2"/>
              </a:rPr>
            </a:br>
            <a:r>
              <a:rPr kumimoji="0" lang="en-US" altLang="zh-CN" sz="2400">
                <a:sym typeface="Symbol" panose="05050102010706020507" pitchFamily="18" charset="2"/>
              </a:rPr>
              <a:t>	</a:t>
            </a:r>
            <a:r>
              <a:rPr kumimoji="0" lang="en-US" altLang="zh-CN" sz="2400" i="1">
                <a:sym typeface="Symbol" panose="05050102010706020507" pitchFamily="18" charset="2"/>
              </a:rPr>
              <a:t>test </a:t>
            </a:r>
            <a:r>
              <a:rPr kumimoji="0" lang="en-US" altLang="zh-CN" sz="2400">
                <a:sym typeface="Symbol" panose="05050102010706020507" pitchFamily="18" charset="2"/>
              </a:rPr>
              <a:t>= </a:t>
            </a:r>
            <a:r>
              <a:rPr kumimoji="0" lang="en-US" altLang="zh-CN" sz="2400" i="1">
                <a:sym typeface="Symbol" panose="05050102010706020507" pitchFamily="18" charset="2"/>
              </a:rPr>
              <a:t>newlabel</a:t>
            </a:r>
            <a:r>
              <a:rPr kumimoji="0" lang="en-US" altLang="zh-CN" sz="2400">
                <a:sym typeface="Symbol" panose="05050102010706020507" pitchFamily="18" charset="2"/>
              </a:rPr>
              <a:t>;</a:t>
            </a:r>
            <a:r>
              <a:rPr kumimoji="0" lang="en-US" altLang="zh-CN" sz="2400" i="1">
                <a:sym typeface="Symbol" panose="05050102010706020507" pitchFamily="18" charset="2"/>
              </a:rPr>
              <a:t> out </a:t>
            </a:r>
            <a:r>
              <a:rPr kumimoji="0" lang="en-US" altLang="zh-CN" sz="2400">
                <a:sym typeface="Symbol" panose="05050102010706020507" pitchFamily="18" charset="2"/>
              </a:rPr>
              <a:t>=</a:t>
            </a:r>
            <a:r>
              <a:rPr kumimoji="0" lang="en-US" altLang="zh-CN" sz="2400" i="1">
                <a:sym typeface="Symbol" panose="05050102010706020507" pitchFamily="18" charset="2"/>
              </a:rPr>
              <a:t> newlabel;</a:t>
            </a:r>
            <a:br>
              <a:rPr kumimoji="0" lang="en-US" altLang="zh-CN" sz="2400" i="1">
                <a:sym typeface="Symbol" panose="05050102010706020507" pitchFamily="18" charset="2"/>
              </a:rPr>
            </a:br>
            <a:r>
              <a:rPr kumimoji="0" lang="en-US" altLang="zh-CN" sz="2400" i="1">
                <a:sym typeface="Symbol" panose="05050102010706020507" pitchFamily="18" charset="2"/>
              </a:rPr>
              <a:t>	stmt.code </a:t>
            </a:r>
            <a:r>
              <a:rPr kumimoji="0" lang="en-US" altLang="zh-CN" sz="2400">
                <a:sym typeface="Symbol" panose="05050102010706020507" pitchFamily="18" charset="2"/>
              </a:rPr>
              <a:t>:=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test || </a:t>
            </a:r>
            <a:r>
              <a:rPr kumimoji="0" lang="en-US" altLang="zh-CN" sz="2400" i="1">
                <a:sym typeface="Symbol" panose="05050102010706020507" pitchFamily="18" charset="2"/>
              </a:rPr>
              <a:t>expr.code || </a:t>
            </a:r>
            <a:r>
              <a:rPr kumimoji="0" lang="en-US" altLang="zh-CN" sz="2400">
                <a:sym typeface="Symbol" panose="05050102010706020507" pitchFamily="18" charset="2"/>
              </a:rPr>
              <a:t>‘</a:t>
            </a:r>
            <a:r>
              <a:rPr kumimoji="0" lang="en-US" altLang="zh-CN" sz="2400">
                <a:latin typeface="Tahoma" panose="020B0604030504040204" pitchFamily="34" charset="0"/>
                <a:sym typeface="Symbol" panose="05050102010706020507" pitchFamily="18" charset="2"/>
              </a:rPr>
              <a:t>jz</a:t>
            </a:r>
            <a:r>
              <a:rPr kumimoji="0" lang="en-US" altLang="zh-CN" sz="2400">
                <a:sym typeface="Symbol" panose="05050102010706020507" pitchFamily="18" charset="2"/>
              </a:rPr>
              <a:t>’</a:t>
            </a:r>
            <a:r>
              <a:rPr kumimoji="0" lang="en-US" altLang="zh-CN" sz="2400" i="1">
                <a:sym typeface="Symbol" panose="05050102010706020507" pitchFamily="18" charset="2"/>
              </a:rPr>
              <a:t> out || </a:t>
            </a:r>
            <a:br>
              <a:rPr kumimoji="0" lang="en-US" altLang="zh-CN" sz="2400" i="1">
                <a:sym typeface="Symbol" panose="05050102010706020507" pitchFamily="18" charset="2"/>
              </a:rPr>
            </a:br>
            <a:r>
              <a:rPr kumimoji="0" lang="en-US" altLang="zh-CN" sz="2400" i="1">
                <a:sym typeface="Symbol" panose="05050102010706020507" pitchFamily="18" charset="2"/>
              </a:rPr>
              <a:t>		stmt</a:t>
            </a:r>
            <a:r>
              <a:rPr kumimoji="0" lang="en-US" altLang="zh-CN" sz="2400" i="1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 i="1">
                <a:sym typeface="Symbol" panose="05050102010706020507" pitchFamily="18" charset="2"/>
              </a:rPr>
              <a:t>.code || </a:t>
            </a:r>
            <a:r>
              <a:rPr kumimoji="0" lang="en-US" altLang="zh-CN" sz="2400">
                <a:sym typeface="Symbol" panose="05050102010706020507" pitchFamily="18" charset="2"/>
              </a:rPr>
              <a:t>‘</a:t>
            </a:r>
            <a:r>
              <a:rPr kumimoji="0" lang="en-US" altLang="zh-CN" sz="2400">
                <a:latin typeface="Tahoma" panose="020B0604030504040204" pitchFamily="34" charset="0"/>
                <a:sym typeface="Symbol" panose="05050102010706020507" pitchFamily="18" charset="2"/>
              </a:rPr>
              <a:t>jmp</a:t>
            </a:r>
            <a:r>
              <a:rPr kumimoji="0" lang="en-US" altLang="zh-CN" sz="2400">
                <a:sym typeface="Symbol" panose="05050102010706020507" pitchFamily="18" charset="2"/>
              </a:rPr>
              <a:t>’ </a:t>
            </a:r>
            <a:r>
              <a:rPr kumimoji="0" lang="en-US" altLang="zh-CN" sz="2400" i="1">
                <a:sym typeface="Symbol" panose="05050102010706020507" pitchFamily="18" charset="2"/>
              </a:rPr>
              <a:t>test</a:t>
            </a:r>
            <a:r>
              <a:rPr kumimoji="0" lang="en-US" altLang="zh-CN" sz="2400">
                <a:sym typeface="Symbol" panose="05050102010706020507" pitchFamily="18" charset="2"/>
              </a:rPr>
              <a:t> || </a:t>
            </a:r>
            <a:r>
              <a:rPr kumimoji="0" lang="en-US" altLang="zh-CN" sz="2400" i="1">
                <a:sym typeface="Symbol" panose="05050102010706020507" pitchFamily="18" charset="2"/>
              </a:rPr>
              <a:t>out </a:t>
            </a:r>
            <a:r>
              <a:rPr kumimoji="0" lang="en-US" altLang="zh-CN" sz="2400">
                <a:sym typeface="Symbol" panose="05050102010706020507" pitchFamily="18" charset="2"/>
              </a:rPr>
              <a:t>}</a:t>
            </a:r>
            <a:endParaRPr kumimoji="0" lang="en-US" altLang="zh-CN" sz="2400">
              <a:sym typeface="Symbol" panose="05050102010706020507" pitchFamily="18" charset="2"/>
            </a:endParaRPr>
          </a:p>
        </p:txBody>
      </p:sp>
      <p:sp>
        <p:nvSpPr>
          <p:cNvPr id="110596" name="Text Box 14"/>
          <p:cNvSpPr txBox="1">
            <a:spLocks noChangeArrowheads="1"/>
          </p:cNvSpPr>
          <p:nvPr/>
        </p:nvSpPr>
        <p:spPr bwMode="auto">
          <a:xfrm>
            <a:off x="3124200" y="1203325"/>
            <a:ext cx="236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ea typeface="宋体" panose="02010600030101010101" pitchFamily="2" charset="-122"/>
              </a:rPr>
              <a:t>WHILE (expr) stmt</a:t>
            </a:r>
            <a:endParaRPr kumimoji="0" lang="en-US" altLang="zh-CN" sz="2000" b="1">
              <a:ea typeface="宋体" panose="02010600030101010101" pitchFamily="2" charset="-122"/>
            </a:endParaRPr>
          </a:p>
        </p:txBody>
      </p:sp>
      <p:grpSp>
        <p:nvGrpSpPr>
          <p:cNvPr id="110597" name="Group 26"/>
          <p:cNvGrpSpPr/>
          <p:nvPr/>
        </p:nvGrpSpPr>
        <p:grpSpPr bwMode="auto">
          <a:xfrm>
            <a:off x="3276600" y="1584325"/>
            <a:ext cx="1981200" cy="2166938"/>
            <a:chOff x="2064" y="998"/>
            <a:chExt cx="1248" cy="1821"/>
          </a:xfrm>
        </p:grpSpPr>
        <p:sp>
          <p:nvSpPr>
            <p:cNvPr id="110598" name="Rectangle 13"/>
            <p:cNvSpPr>
              <a:spLocks noChangeArrowheads="1"/>
            </p:cNvSpPr>
            <p:nvPr/>
          </p:nvSpPr>
          <p:spPr bwMode="auto">
            <a:xfrm>
              <a:off x="2064" y="998"/>
              <a:ext cx="1248" cy="17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0599" name="Text Box 15"/>
            <p:cNvSpPr txBox="1">
              <a:spLocks noChangeArrowheads="1"/>
            </p:cNvSpPr>
            <p:nvPr/>
          </p:nvSpPr>
          <p:spPr bwMode="auto">
            <a:xfrm>
              <a:off x="2064" y="998"/>
              <a:ext cx="1248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ea typeface="宋体" panose="02010600030101010101" pitchFamily="2" charset="-122"/>
                </a:rPr>
                <a:t>L1:</a:t>
              </a:r>
              <a:endParaRPr kumimoji="0" lang="en-US" altLang="zh-CN" sz="2000" b="1">
                <a:ea typeface="宋体" panose="02010600030101010101" pitchFamily="2" charset="-122"/>
              </a:endParaRPr>
            </a:p>
          </p:txBody>
        </p:sp>
        <p:sp>
          <p:nvSpPr>
            <p:cNvPr id="110600" name="Text Box 16"/>
            <p:cNvSpPr txBox="1">
              <a:spLocks noChangeArrowheads="1"/>
            </p:cNvSpPr>
            <p:nvPr/>
          </p:nvSpPr>
          <p:spPr bwMode="auto">
            <a:xfrm>
              <a:off x="2064" y="1286"/>
              <a:ext cx="1248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ea typeface="宋体" panose="02010600030101010101" pitchFamily="2" charset="-122"/>
                </a:rPr>
                <a:t>code for expr</a:t>
              </a:r>
              <a:endParaRPr kumimoji="0" lang="en-US" altLang="zh-CN" sz="2000" b="1">
                <a:ea typeface="宋体" panose="02010600030101010101" pitchFamily="2" charset="-122"/>
              </a:endParaRPr>
            </a:p>
          </p:txBody>
        </p:sp>
        <p:sp>
          <p:nvSpPr>
            <p:cNvPr id="110601" name="Text Box 17"/>
            <p:cNvSpPr txBox="1">
              <a:spLocks noChangeArrowheads="1"/>
            </p:cNvSpPr>
            <p:nvPr/>
          </p:nvSpPr>
          <p:spPr bwMode="auto">
            <a:xfrm>
              <a:off x="2064" y="1574"/>
              <a:ext cx="1248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ea typeface="宋体" panose="02010600030101010101" pitchFamily="2" charset="-122"/>
                </a:rPr>
                <a:t>jz out</a:t>
              </a:r>
              <a:endParaRPr kumimoji="0" lang="en-US" altLang="zh-CN" sz="2000" b="1">
                <a:ea typeface="宋体" panose="02010600030101010101" pitchFamily="2" charset="-122"/>
              </a:endParaRPr>
            </a:p>
          </p:txBody>
        </p:sp>
        <p:sp>
          <p:nvSpPr>
            <p:cNvPr id="110602" name="Text Box 18"/>
            <p:cNvSpPr txBox="1">
              <a:spLocks noChangeArrowheads="1"/>
            </p:cNvSpPr>
            <p:nvPr/>
          </p:nvSpPr>
          <p:spPr bwMode="auto">
            <a:xfrm>
              <a:off x="2064" y="1911"/>
              <a:ext cx="1248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ea typeface="宋体" panose="02010600030101010101" pitchFamily="2" charset="-122"/>
                </a:rPr>
                <a:t>code for stmt</a:t>
              </a:r>
              <a:endParaRPr kumimoji="0" lang="en-US" altLang="zh-CN" sz="2000" b="1">
                <a:ea typeface="宋体" panose="02010600030101010101" pitchFamily="2" charset="-122"/>
              </a:endParaRPr>
            </a:p>
          </p:txBody>
        </p:sp>
        <p:sp>
          <p:nvSpPr>
            <p:cNvPr id="110603" name="Text Box 19"/>
            <p:cNvSpPr txBox="1">
              <a:spLocks noChangeArrowheads="1"/>
            </p:cNvSpPr>
            <p:nvPr/>
          </p:nvSpPr>
          <p:spPr bwMode="auto">
            <a:xfrm>
              <a:off x="2064" y="2199"/>
              <a:ext cx="1248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ea typeface="宋体" panose="02010600030101010101" pitchFamily="2" charset="-122"/>
                </a:rPr>
                <a:t>jmp L1</a:t>
              </a:r>
              <a:endParaRPr kumimoji="0" lang="en-US" altLang="zh-CN" sz="2000" b="1">
                <a:ea typeface="宋体" panose="02010600030101010101" pitchFamily="2" charset="-122"/>
              </a:endParaRPr>
            </a:p>
          </p:txBody>
        </p:sp>
        <p:sp>
          <p:nvSpPr>
            <p:cNvPr id="110604" name="Text Box 20"/>
            <p:cNvSpPr txBox="1">
              <a:spLocks noChangeArrowheads="1"/>
            </p:cNvSpPr>
            <p:nvPr/>
          </p:nvSpPr>
          <p:spPr bwMode="auto">
            <a:xfrm>
              <a:off x="2064" y="2485"/>
              <a:ext cx="1248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ea typeface="宋体" panose="02010600030101010101" pitchFamily="2" charset="-122"/>
                </a:rPr>
                <a:t>out</a:t>
              </a:r>
              <a:endParaRPr kumimoji="0" lang="en-US" altLang="zh-CN" sz="2000" b="1">
                <a:ea typeface="宋体" panose="02010600030101010101" pitchFamily="2" charset="-122"/>
              </a:endParaRPr>
            </a:p>
          </p:txBody>
        </p:sp>
        <p:sp>
          <p:nvSpPr>
            <p:cNvPr id="110605" name="Line 21"/>
            <p:cNvSpPr>
              <a:spLocks noChangeShapeType="1"/>
            </p:cNvSpPr>
            <p:nvPr/>
          </p:nvSpPr>
          <p:spPr bwMode="auto">
            <a:xfrm>
              <a:off x="2064" y="1238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06" name="Line 22"/>
            <p:cNvSpPr>
              <a:spLocks noChangeShapeType="1"/>
            </p:cNvSpPr>
            <p:nvPr/>
          </p:nvSpPr>
          <p:spPr bwMode="auto">
            <a:xfrm>
              <a:off x="2064" y="1574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07" name="Line 23"/>
            <p:cNvSpPr>
              <a:spLocks noChangeShapeType="1"/>
            </p:cNvSpPr>
            <p:nvPr/>
          </p:nvSpPr>
          <p:spPr bwMode="auto">
            <a:xfrm>
              <a:off x="2064" y="1862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08" name="Line 24"/>
            <p:cNvSpPr>
              <a:spLocks noChangeShapeType="1"/>
            </p:cNvSpPr>
            <p:nvPr/>
          </p:nvSpPr>
          <p:spPr bwMode="auto">
            <a:xfrm>
              <a:off x="2064" y="2198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609" name="Line 25"/>
            <p:cNvSpPr>
              <a:spLocks noChangeShapeType="1"/>
            </p:cNvSpPr>
            <p:nvPr/>
          </p:nvSpPr>
          <p:spPr bwMode="auto">
            <a:xfrm>
              <a:off x="2064" y="2486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 autoUpdateAnimBg="0" build="p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2.8.7  </a:t>
            </a:r>
            <a:r>
              <a:rPr lang="zh-CN" altLang="en-US"/>
              <a:t>翻译模式</a:t>
            </a:r>
            <a:endParaRPr lang="zh-CN" altLang="en-US"/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i="1" dirty="0" err="1"/>
              <a:t>stmt</a:t>
            </a:r>
            <a:r>
              <a:rPr kumimoji="0" lang="en-US" altLang="zh-CN" sz="2400" b="1" i="1" dirty="0"/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 if</a:t>
            </a:r>
            <a:br>
              <a:rPr kumimoji="0" lang="en-US" altLang="zh-CN" sz="2400" b="1" dirty="0">
                <a:sym typeface="Symbol" panose="05050102010706020507" pitchFamily="18" charset="2"/>
              </a:rPr>
            </a:br>
            <a:r>
              <a:rPr kumimoji="0" lang="en-US" altLang="zh-CN" sz="2400" b="1" dirty="0">
                <a:sym typeface="Symbol" panose="05050102010706020507" pitchFamily="18" charset="2"/>
              </a:rPr>
              <a:t>         </a:t>
            </a:r>
            <a:r>
              <a:rPr kumimoji="0" lang="en-US" altLang="zh-CN" sz="2400" i="1" dirty="0">
                <a:sym typeface="Symbol" panose="05050102010706020507" pitchFamily="18" charset="2"/>
              </a:rPr>
              <a:t>expr</a:t>
            </a:r>
            <a:r>
              <a:rPr kumimoji="0" lang="en-US" altLang="zh-CN" sz="2400" dirty="0">
                <a:sym typeface="Symbol" panose="05050102010706020507" pitchFamily="18" charset="2"/>
              </a:rPr>
              <a:t> {</a:t>
            </a:r>
            <a:r>
              <a:rPr kumimoji="0" lang="en-US" altLang="zh-CN" sz="2400" i="1" dirty="0">
                <a:sym typeface="Symbol" panose="05050102010706020507" pitchFamily="18" charset="2"/>
              </a:rPr>
              <a:t>out </a:t>
            </a:r>
            <a:r>
              <a:rPr kumimoji="0" lang="en-US" altLang="zh-CN" sz="2400" dirty="0">
                <a:sym typeface="Symbol" panose="05050102010706020507" pitchFamily="18" charset="2"/>
              </a:rPr>
              <a:t>:=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newlabel</a:t>
            </a:r>
            <a:r>
              <a:rPr kumimoji="0" lang="en-US" altLang="zh-CN" sz="2400" i="1" dirty="0">
                <a:sym typeface="Symbol" panose="05050102010706020507" pitchFamily="18" charset="2"/>
              </a:rPr>
              <a:t>; print</a:t>
            </a:r>
            <a:r>
              <a:rPr kumimoji="0" lang="en-US" altLang="zh-CN" sz="2400" dirty="0">
                <a:sym typeface="Symbol" panose="05050102010706020507" pitchFamily="18" charset="2"/>
              </a:rPr>
              <a:t>(‘</a:t>
            </a:r>
            <a:r>
              <a:rPr kumimoji="0" lang="en-US" altLang="zh-CN" sz="2400" dirty="0" err="1">
                <a:latin typeface="Tahoma" panose="020B0604030504040204" pitchFamily="34" charset="0"/>
                <a:sym typeface="Symbol" panose="05050102010706020507" pitchFamily="18" charset="2"/>
              </a:rPr>
              <a:t>jz</a:t>
            </a:r>
            <a:r>
              <a:rPr kumimoji="0" lang="en-US" altLang="zh-CN" sz="2400" dirty="0">
                <a:sym typeface="Symbol" panose="05050102010706020507" pitchFamily="18" charset="2"/>
              </a:rPr>
              <a:t>’, </a:t>
            </a:r>
            <a:r>
              <a:rPr kumimoji="0" lang="en-US" altLang="zh-CN" sz="2400" i="1" dirty="0">
                <a:sym typeface="Symbol" panose="05050102010706020507" pitchFamily="18" charset="2"/>
              </a:rPr>
              <a:t>out</a:t>
            </a:r>
            <a:r>
              <a:rPr kumimoji="0" lang="en-US" altLang="zh-CN" sz="2400" dirty="0">
                <a:sym typeface="Symbol" panose="05050102010706020507" pitchFamily="18" charset="2"/>
              </a:rPr>
              <a:t>);}</a:t>
            </a:r>
            <a:br>
              <a:rPr kumimoji="0" lang="en-US" altLang="zh-CN" sz="2400" i="1" dirty="0">
                <a:sym typeface="Symbol" panose="05050102010706020507" pitchFamily="18" charset="2"/>
              </a:rPr>
            </a:br>
            <a:r>
              <a:rPr kumimoji="0" lang="en-US" altLang="zh-CN" sz="2400" i="1" dirty="0">
                <a:sym typeface="Symbol" panose="05050102010706020507" pitchFamily="18" charset="2"/>
              </a:rPr>
              <a:t>         </a:t>
            </a:r>
            <a:r>
              <a:rPr kumimoji="0" lang="en-US" altLang="zh-CN" sz="2400" b="1" dirty="0">
                <a:sym typeface="Symbol" panose="05050102010706020507" pitchFamily="18" charset="2"/>
              </a:rPr>
              <a:t>then</a:t>
            </a:r>
            <a:br>
              <a:rPr kumimoji="0" lang="en-US" altLang="zh-CN" sz="2400" dirty="0">
                <a:sym typeface="Symbol" panose="05050102010706020507" pitchFamily="18" charset="2"/>
              </a:rPr>
            </a:br>
            <a:r>
              <a:rPr kumimoji="0" lang="en-US" altLang="zh-CN" sz="2400" dirty="0">
                <a:sym typeface="Symbol" panose="05050102010706020507" pitchFamily="18" charset="2"/>
              </a:rPr>
              <a:t>         </a:t>
            </a:r>
            <a:r>
              <a:rPr kumimoji="0" lang="en-US" altLang="zh-CN" sz="2400" i="1" dirty="0">
                <a:sym typeface="Symbol" panose="05050102010706020507" pitchFamily="18" charset="2"/>
              </a:rPr>
              <a:t>stmt</a:t>
            </a:r>
            <a:r>
              <a:rPr kumimoji="0" lang="en-US" altLang="zh-CN" sz="2400" i="1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{ </a:t>
            </a:r>
            <a:r>
              <a:rPr kumimoji="0" lang="en-US" altLang="zh-CN" sz="2400" i="1" dirty="0">
                <a:sym typeface="Symbol" panose="05050102010706020507" pitchFamily="18" charset="2"/>
              </a:rPr>
              <a:t>print</a:t>
            </a:r>
            <a:r>
              <a:rPr kumimoji="0" lang="en-US" altLang="zh-CN" sz="2400" dirty="0">
                <a:sym typeface="Symbol" panose="05050102010706020507" pitchFamily="18" charset="2"/>
              </a:rPr>
              <a:t>(</a:t>
            </a:r>
            <a:r>
              <a:rPr kumimoji="0" lang="en-US" altLang="zh-CN" sz="2400" i="1" dirty="0">
                <a:sym typeface="Symbol" panose="05050102010706020507" pitchFamily="18" charset="2"/>
              </a:rPr>
              <a:t>out</a:t>
            </a:r>
            <a:r>
              <a:rPr kumimoji="0" lang="en-US" altLang="zh-CN" sz="2400" dirty="0">
                <a:sym typeface="Symbol" panose="05050102010706020507" pitchFamily="18" charset="2"/>
              </a:rPr>
              <a:t>); }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kumimoji="0" lang="en-US" altLang="zh-CN" sz="24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i="1" dirty="0" err="1"/>
              <a:t>stmt</a:t>
            </a:r>
            <a:r>
              <a:rPr kumimoji="0" lang="en-US" altLang="zh-CN" sz="2400" b="1" i="1" dirty="0"/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 while </a:t>
            </a:r>
            <a:r>
              <a:rPr kumimoji="0" lang="en-US" altLang="zh-CN" sz="2400" dirty="0">
                <a:sym typeface="Symbol" panose="05050102010706020507" pitchFamily="18" charset="2"/>
              </a:rPr>
              <a:t>{</a:t>
            </a:r>
            <a:r>
              <a:rPr kumimoji="0" lang="en-US" altLang="zh-CN" sz="2400" i="1" dirty="0">
                <a:sym typeface="Symbol" panose="05050102010706020507" pitchFamily="18" charset="2"/>
              </a:rPr>
              <a:t>test </a:t>
            </a:r>
            <a:r>
              <a:rPr kumimoji="0" lang="en-US" altLang="zh-CN" sz="2400" dirty="0">
                <a:sym typeface="Symbol" panose="05050102010706020507" pitchFamily="18" charset="2"/>
              </a:rPr>
              <a:t>:=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newlabel</a:t>
            </a:r>
            <a:r>
              <a:rPr kumimoji="0" lang="en-US" altLang="zh-CN" sz="2400" i="1" dirty="0">
                <a:sym typeface="Symbol" panose="05050102010706020507" pitchFamily="18" charset="2"/>
              </a:rPr>
              <a:t>; print</a:t>
            </a:r>
            <a:r>
              <a:rPr kumimoji="0" lang="en-US" altLang="zh-CN" sz="2400" dirty="0">
                <a:sym typeface="Symbol" panose="05050102010706020507" pitchFamily="18" charset="2"/>
              </a:rPr>
              <a:t>(</a:t>
            </a:r>
            <a:r>
              <a:rPr kumimoji="0" lang="en-US" altLang="zh-CN" sz="2400" i="1" dirty="0">
                <a:sym typeface="Symbol" panose="05050102010706020507" pitchFamily="18" charset="2"/>
              </a:rPr>
              <a:t>test</a:t>
            </a:r>
            <a:r>
              <a:rPr kumimoji="0" lang="en-US" altLang="zh-CN" sz="2400" dirty="0">
                <a:sym typeface="Symbol" panose="05050102010706020507" pitchFamily="18" charset="2"/>
              </a:rPr>
              <a:t>);}</a:t>
            </a: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br>
              <a:rPr kumimoji="0" lang="en-US" altLang="zh-CN" sz="2400" b="1" dirty="0">
                <a:sym typeface="Symbol" panose="05050102010706020507" pitchFamily="18" charset="2"/>
              </a:rPr>
            </a:br>
            <a:r>
              <a:rPr kumimoji="0" lang="en-US" altLang="zh-CN" sz="2400" b="1" dirty="0">
                <a:sym typeface="Symbol" panose="05050102010706020507" pitchFamily="18" charset="2"/>
              </a:rPr>
              <a:t>         </a:t>
            </a:r>
            <a:r>
              <a:rPr kumimoji="0" lang="en-US" altLang="zh-CN" sz="2400" i="1" dirty="0">
                <a:sym typeface="Symbol" panose="05050102010706020507" pitchFamily="18" charset="2"/>
              </a:rPr>
              <a:t>expr </a:t>
            </a:r>
            <a:r>
              <a:rPr kumimoji="0" lang="en-US" altLang="zh-CN" sz="2400" dirty="0">
                <a:sym typeface="Symbol" panose="05050102010706020507" pitchFamily="18" charset="2"/>
              </a:rPr>
              <a:t>{</a:t>
            </a:r>
            <a:r>
              <a:rPr kumimoji="0" lang="en-US" altLang="zh-CN" sz="2400" i="1" dirty="0">
                <a:sym typeface="Symbol" panose="05050102010706020507" pitchFamily="18" charset="2"/>
              </a:rPr>
              <a:t>out </a:t>
            </a:r>
            <a:r>
              <a:rPr kumimoji="0" lang="en-US" altLang="zh-CN" sz="2400" dirty="0">
                <a:sym typeface="Symbol" panose="05050102010706020507" pitchFamily="18" charset="2"/>
              </a:rPr>
              <a:t>:=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newlabel</a:t>
            </a:r>
            <a:r>
              <a:rPr kumimoji="0" lang="en-US" altLang="zh-CN" sz="2400" i="1" dirty="0">
                <a:sym typeface="Symbol" panose="05050102010706020507" pitchFamily="18" charset="2"/>
              </a:rPr>
              <a:t>; print</a:t>
            </a:r>
            <a:r>
              <a:rPr kumimoji="0" lang="en-US" altLang="zh-CN" sz="2400" dirty="0">
                <a:sym typeface="Symbol" panose="05050102010706020507" pitchFamily="18" charset="2"/>
              </a:rPr>
              <a:t>(‘</a:t>
            </a:r>
            <a:r>
              <a:rPr kumimoji="0" lang="en-US" altLang="zh-CN" sz="2400" dirty="0" err="1">
                <a:latin typeface="Tahoma" panose="020B0604030504040204" pitchFamily="34" charset="0"/>
                <a:sym typeface="Symbol" panose="05050102010706020507" pitchFamily="18" charset="2"/>
              </a:rPr>
              <a:t>jz</a:t>
            </a:r>
            <a:r>
              <a:rPr kumimoji="0" lang="en-US" altLang="zh-CN" sz="2400" dirty="0">
                <a:sym typeface="Symbol" panose="05050102010706020507" pitchFamily="18" charset="2"/>
              </a:rPr>
              <a:t>’, </a:t>
            </a:r>
            <a:r>
              <a:rPr kumimoji="0" lang="en-US" altLang="zh-CN" sz="2400" i="1" dirty="0">
                <a:sym typeface="Symbol" panose="05050102010706020507" pitchFamily="18" charset="2"/>
              </a:rPr>
              <a:t>out</a:t>
            </a:r>
            <a:r>
              <a:rPr kumimoji="0" lang="en-US" altLang="zh-CN" sz="2400" dirty="0">
                <a:sym typeface="Symbol" panose="05050102010706020507" pitchFamily="18" charset="2"/>
              </a:rPr>
              <a:t>);} </a:t>
            </a:r>
            <a:br>
              <a:rPr kumimoji="0" lang="en-US" altLang="zh-CN" sz="2400" i="1" dirty="0">
                <a:sym typeface="Symbol" panose="05050102010706020507" pitchFamily="18" charset="2"/>
              </a:rPr>
            </a:br>
            <a:r>
              <a:rPr kumimoji="0" lang="en-US" altLang="zh-CN" sz="2400" i="1" dirty="0">
                <a:sym typeface="Symbol" panose="05050102010706020507" pitchFamily="18" charset="2"/>
              </a:rPr>
              <a:t>         </a:t>
            </a:r>
            <a:r>
              <a:rPr kumimoji="0" lang="en-US" altLang="zh-CN" sz="2400" b="1" dirty="0">
                <a:sym typeface="Symbol" panose="05050102010706020507" pitchFamily="18" charset="2"/>
              </a:rPr>
              <a:t>then</a:t>
            </a:r>
            <a:br>
              <a:rPr kumimoji="0" lang="en-US" altLang="zh-CN" sz="2400" dirty="0">
                <a:sym typeface="Symbol" panose="05050102010706020507" pitchFamily="18" charset="2"/>
              </a:rPr>
            </a:br>
            <a:r>
              <a:rPr kumimoji="0" lang="en-US" altLang="zh-CN" sz="2400" dirty="0">
                <a:sym typeface="Symbol" panose="05050102010706020507" pitchFamily="18" charset="2"/>
              </a:rPr>
              <a:t>         </a:t>
            </a:r>
            <a:r>
              <a:rPr kumimoji="0" lang="en-US" altLang="zh-CN" sz="2400" i="1" dirty="0">
                <a:sym typeface="Symbol" panose="05050102010706020507" pitchFamily="18" charset="2"/>
              </a:rPr>
              <a:t>stmt</a:t>
            </a:r>
            <a:r>
              <a:rPr kumimoji="0" lang="en-US" altLang="zh-CN" sz="2400" i="1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{ </a:t>
            </a:r>
            <a:r>
              <a:rPr kumimoji="0" lang="en-US" altLang="zh-CN" sz="2400" i="1" dirty="0">
                <a:sym typeface="Symbol" panose="05050102010706020507" pitchFamily="18" charset="2"/>
              </a:rPr>
              <a:t>print</a:t>
            </a:r>
            <a:r>
              <a:rPr kumimoji="0" lang="en-US" altLang="zh-CN" sz="2400" dirty="0">
                <a:sym typeface="Symbol" panose="05050102010706020507" pitchFamily="18" charset="2"/>
              </a:rPr>
              <a:t>(‘</a:t>
            </a:r>
            <a:r>
              <a:rPr kumimoji="0" lang="en-US" altLang="zh-CN" sz="2400" dirty="0" err="1">
                <a:latin typeface="Tahoma" panose="020B0604030504040204" pitchFamily="34" charset="0"/>
                <a:sym typeface="Symbol" panose="05050102010706020507" pitchFamily="18" charset="2"/>
              </a:rPr>
              <a:t>jmp</a:t>
            </a:r>
            <a:r>
              <a:rPr kumimoji="0" lang="en-US" altLang="zh-CN" sz="2400" dirty="0">
                <a:sym typeface="Symbol" panose="05050102010706020507" pitchFamily="18" charset="2"/>
              </a:rPr>
              <a:t>’, </a:t>
            </a:r>
            <a:r>
              <a:rPr kumimoji="0" lang="en-US" altLang="zh-CN" sz="2400" i="1" dirty="0">
                <a:sym typeface="Symbol" panose="05050102010706020507" pitchFamily="18" charset="2"/>
              </a:rPr>
              <a:t>test</a:t>
            </a:r>
            <a:r>
              <a:rPr kumimoji="0" lang="en-US" altLang="zh-CN" sz="2400" dirty="0">
                <a:sym typeface="Symbol" panose="05050102010706020507" pitchFamily="18" charset="2"/>
              </a:rPr>
              <a:t>); </a:t>
            </a:r>
            <a:r>
              <a:rPr kumimoji="0" lang="en-US" altLang="zh-CN" sz="2400" i="1" dirty="0">
                <a:sym typeface="Symbol" panose="05050102010706020507" pitchFamily="18" charset="2"/>
              </a:rPr>
              <a:t>print</a:t>
            </a:r>
            <a:r>
              <a:rPr kumimoji="0" lang="en-US" altLang="zh-CN" sz="2400" dirty="0">
                <a:sym typeface="Symbol" panose="05050102010706020507" pitchFamily="18" charset="2"/>
              </a:rPr>
              <a:t>(</a:t>
            </a:r>
            <a:r>
              <a:rPr kumimoji="0" lang="en-US" altLang="zh-CN" sz="2400" i="1" dirty="0">
                <a:sym typeface="Symbol" panose="05050102010706020507" pitchFamily="18" charset="2"/>
              </a:rPr>
              <a:t>out</a:t>
            </a:r>
            <a:r>
              <a:rPr kumimoji="0" lang="en-US" altLang="zh-CN" sz="2400" dirty="0">
                <a:sym typeface="Symbol" panose="05050102010706020507" pitchFamily="18" charset="2"/>
              </a:rPr>
              <a:t>);}</a:t>
            </a:r>
            <a:endParaRPr kumimoji="0" lang="en-US" altLang="zh-CN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stmt</a:t>
            </a:r>
            <a:r>
              <a:rPr lang="zh-CN" altLang="en-US"/>
              <a:t>分析函数</a:t>
            </a:r>
            <a:endParaRPr lang="zh-CN" altLang="en-US"/>
          </a:p>
        </p:txBody>
      </p:sp>
      <p:sp>
        <p:nvSpPr>
          <p:cNvPr id="11264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/>
              <a:t>void</a:t>
            </a:r>
            <a:r>
              <a:rPr kumimoji="0" lang="en-US" altLang="zh-CN" sz="2000" dirty="0"/>
              <a:t> </a:t>
            </a:r>
            <a:r>
              <a:rPr kumimoji="0" lang="en-US" altLang="zh-CN" sz="2000" dirty="0" err="1"/>
              <a:t>stmt</a:t>
            </a:r>
            <a:r>
              <a:rPr kumimoji="0" lang="en-US" altLang="zh-CN" sz="2000" dirty="0"/>
              <a:t>()</a:t>
            </a:r>
            <a:endParaRPr kumimoji="0" lang="en-US" altLang="zh-CN" sz="2000" dirty="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{</a:t>
            </a:r>
            <a:endParaRPr kumimoji="0" lang="en-US" altLang="zh-CN" sz="2000" dirty="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</a:t>
            </a:r>
            <a:r>
              <a:rPr kumimoji="0" lang="en-US" altLang="zh-CN" sz="2000" b="1" dirty="0"/>
              <a:t>int</a:t>
            </a:r>
            <a:r>
              <a:rPr kumimoji="0" lang="en-US" altLang="zh-CN" sz="2000" dirty="0"/>
              <a:t> test, out;</a:t>
            </a:r>
            <a:endParaRPr kumimoji="0" lang="en-US" altLang="zh-CN" sz="2000" dirty="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</a:t>
            </a:r>
            <a:r>
              <a:rPr kumimoji="0" lang="en-US" altLang="zh-CN" sz="2000" b="1" dirty="0"/>
              <a:t>if</a:t>
            </a:r>
            <a:r>
              <a:rPr kumimoji="0" lang="en-US" altLang="zh-CN" sz="2000" dirty="0"/>
              <a:t> (lookahead == id) {</a:t>
            </a:r>
            <a:endParaRPr kumimoji="0" lang="en-US" altLang="zh-CN" sz="2000" dirty="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	int left = </a:t>
            </a:r>
            <a:r>
              <a:rPr kumimoji="0" lang="en-US" altLang="zh-CN" sz="2000" dirty="0" err="1"/>
              <a:t>lval</a:t>
            </a:r>
            <a:r>
              <a:rPr kumimoji="0" lang="en-US" altLang="zh-CN" sz="2000" dirty="0"/>
              <a:t>, right;</a:t>
            </a:r>
            <a:endParaRPr kumimoji="0" lang="en-US" altLang="zh-CN" sz="2000" dirty="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	match(id); match(‘:=’); right = expr();</a:t>
            </a:r>
            <a:endParaRPr kumimoji="0" lang="en-US" altLang="zh-CN" sz="2000" dirty="0"/>
          </a:p>
          <a:p>
            <a:pPr marL="342900" lvl="1" indent="-342900">
              <a:lnSpc>
                <a:spcPct val="6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2000" dirty="0"/>
              <a:t>		</a:t>
            </a:r>
            <a:r>
              <a:rPr kumimoji="0" lang="en-US" altLang="zh-CN" sz="2000" dirty="0">
                <a:solidFill>
                  <a:schemeClr val="tx1"/>
                </a:solidFill>
              </a:rPr>
              <a:t>print(‘MOV EAX, ’, right, ‘\n MOV ’, right, ‘,EAX’);</a:t>
            </a:r>
            <a:endParaRPr kumimoji="0" lang="en-US" altLang="zh-CN" sz="2000" dirty="0">
              <a:solidFill>
                <a:schemeClr val="tx1"/>
              </a:solidFill>
            </a:endParaRP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}</a:t>
            </a:r>
            <a:endParaRPr kumimoji="0" lang="en-US" altLang="zh-CN" sz="2000" dirty="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</a:t>
            </a:r>
            <a:r>
              <a:rPr kumimoji="0" lang="en-US" altLang="zh-CN" sz="2000" b="1" dirty="0"/>
              <a:t>else</a:t>
            </a:r>
            <a:r>
              <a:rPr kumimoji="0" lang="en-US" altLang="zh-CN" sz="2000" dirty="0"/>
              <a:t> </a:t>
            </a:r>
            <a:r>
              <a:rPr kumimoji="0" lang="en-US" altLang="zh-CN" sz="2000" b="1" dirty="0"/>
              <a:t>if</a:t>
            </a:r>
            <a:r>
              <a:rPr kumimoji="0" lang="en-US" altLang="zh-CN" sz="2000" dirty="0"/>
              <a:t> (lookahead == ‘if’) {</a:t>
            </a:r>
            <a:endParaRPr kumimoji="0" lang="en-US" altLang="zh-CN" sz="2000" dirty="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	match(‘if’); expr();</a:t>
            </a:r>
            <a:endParaRPr kumimoji="0" lang="en-US" altLang="zh-CN" sz="2000" dirty="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	out=</a:t>
            </a:r>
            <a:r>
              <a:rPr kumimoji="0" lang="en-US" altLang="zh-CN" sz="2000" dirty="0" err="1"/>
              <a:t>newlabel</a:t>
            </a:r>
            <a:r>
              <a:rPr kumimoji="0" lang="en-US" altLang="zh-CN" sz="2000" dirty="0"/>
              <a:t>; print(‘</a:t>
            </a:r>
            <a:r>
              <a:rPr kumimoji="0" lang="en-US" altLang="zh-CN" sz="2000" dirty="0" err="1"/>
              <a:t>jz</a:t>
            </a:r>
            <a:r>
              <a:rPr kumimoji="0" lang="en-US" altLang="zh-CN" sz="2000" dirty="0"/>
              <a:t>’, out);</a:t>
            </a:r>
            <a:endParaRPr kumimoji="0" lang="en-US" altLang="zh-CN" sz="2000" dirty="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	match(‘then’); </a:t>
            </a:r>
            <a:r>
              <a:rPr kumimoji="0" lang="en-US" altLang="zh-CN" sz="2000" dirty="0" err="1"/>
              <a:t>stmt</a:t>
            </a:r>
            <a:r>
              <a:rPr kumimoji="0" lang="en-US" altLang="zh-CN" sz="2000" dirty="0"/>
              <a:t>(); print(out);</a:t>
            </a:r>
            <a:endParaRPr kumimoji="0" lang="en-US" altLang="zh-CN" sz="2000" dirty="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}</a:t>
            </a:r>
            <a:endParaRPr kumimoji="0" lang="en-US" altLang="zh-CN" sz="2000" dirty="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	</a:t>
            </a:r>
            <a:r>
              <a:rPr kumimoji="0" lang="en-US" altLang="zh-CN" sz="2000" b="1" dirty="0"/>
              <a:t>else</a:t>
            </a:r>
            <a:r>
              <a:rPr kumimoji="0" lang="en-US" altLang="zh-CN" sz="2000" dirty="0"/>
              <a:t> error();</a:t>
            </a:r>
            <a:endParaRPr kumimoji="0" lang="en-US" altLang="zh-CN" sz="2000" dirty="0"/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}</a:t>
            </a:r>
            <a:endParaRPr kumimoji="0" lang="en-US" altLang="zh-CN" sz="20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2.9 </a:t>
            </a:r>
            <a:r>
              <a:rPr lang="zh-CN" altLang="en-US"/>
              <a:t>完整的编译器</a:t>
            </a:r>
            <a:endParaRPr lang="zh-CN" altLang="en-US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609600"/>
          </a:xfrm>
        </p:spPr>
        <p:txBody>
          <a:bodyPr/>
          <a:lstStyle/>
          <a:p>
            <a:pPr eaLnBrk="1" hangingPunct="1"/>
            <a:r>
              <a:rPr lang="zh-CN" altLang="en-US"/>
              <a:t>结合前几节介绍的技术</a:t>
            </a:r>
            <a:endParaRPr lang="zh-CN" altLang="en-US"/>
          </a:p>
        </p:txBody>
      </p:sp>
      <p:pic>
        <p:nvPicPr>
          <p:cNvPr id="123908" name="Picture 4" descr="compile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688" y="1905000"/>
            <a:ext cx="4278312" cy="353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完整的文法</a:t>
            </a:r>
            <a:endParaRPr lang="zh-CN" alt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 i="1"/>
              <a:t>start 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400" i="1"/>
              <a:t> list </a:t>
            </a:r>
            <a:r>
              <a:rPr kumimoji="0" lang="en-US" altLang="zh-CN" sz="2400" b="1"/>
              <a:t>eof</a:t>
            </a:r>
            <a:endParaRPr kumimoji="0" lang="en-US" altLang="zh-CN" sz="2400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 i="1"/>
              <a:t>list 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i="1">
                <a:sym typeface="Symbol" panose="05050102010706020507" pitchFamily="18" charset="2"/>
              </a:rPr>
              <a:t>expr ; list |</a:t>
            </a:r>
            <a:r>
              <a:rPr lang="en-US" altLang="zh-CN" sz="2400">
                <a:sym typeface="Symbol" panose="05050102010706020507" pitchFamily="18" charset="2"/>
              </a:rPr>
              <a:t>ε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 i="1"/>
              <a:t>expr 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i="1">
                <a:sym typeface="Symbol" panose="05050102010706020507" pitchFamily="18" charset="2"/>
              </a:rPr>
              <a:t>term moreterms</a:t>
            </a:r>
            <a:endParaRPr kumimoji="0" lang="en-US" altLang="zh-CN" sz="2400" i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moreterms 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+</a:t>
            </a:r>
            <a:r>
              <a:rPr kumimoji="0" lang="en-US" altLang="zh-CN" sz="2400" i="1">
                <a:sym typeface="Symbol" panose="05050102010706020507" pitchFamily="18" charset="2"/>
              </a:rPr>
              <a:t> term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 print</a:t>
            </a:r>
            <a:r>
              <a:rPr kumimoji="0" lang="en-US" altLang="zh-CN" sz="2400">
                <a:sym typeface="Symbol" panose="05050102010706020507" pitchFamily="18" charset="2"/>
              </a:rPr>
              <a:t>(‘+’) }</a:t>
            </a:r>
            <a:r>
              <a:rPr kumimoji="0" lang="en-US" altLang="zh-CN" sz="2400" i="1">
                <a:sym typeface="Symbol" panose="05050102010706020507" pitchFamily="18" charset="2"/>
              </a:rPr>
              <a:t> moreterms</a:t>
            </a:r>
            <a:br>
              <a:rPr kumimoji="0" lang="en-US" altLang="zh-CN" sz="2400" i="1">
                <a:sym typeface="Symbol" panose="05050102010706020507" pitchFamily="18" charset="2"/>
              </a:rPr>
            </a:br>
            <a:r>
              <a:rPr kumimoji="0" lang="en-US" altLang="zh-CN" sz="2400" i="1">
                <a:sym typeface="Symbol" panose="05050102010706020507" pitchFamily="18" charset="2"/>
              </a:rPr>
              <a:t>		|  - term </a:t>
            </a:r>
            <a:r>
              <a:rPr kumimoji="0" lang="en-US" altLang="zh-CN" sz="2400">
                <a:sym typeface="Symbol" panose="05050102010706020507" pitchFamily="18" charset="2"/>
              </a:rPr>
              <a:t>{ </a:t>
            </a:r>
            <a:r>
              <a:rPr kumimoji="0" lang="en-US" altLang="zh-CN" sz="2400" i="1">
                <a:sym typeface="Symbol" panose="05050102010706020507" pitchFamily="18" charset="2"/>
              </a:rPr>
              <a:t>print</a:t>
            </a:r>
            <a:r>
              <a:rPr kumimoji="0" lang="en-US" altLang="zh-CN" sz="2400">
                <a:sym typeface="Symbol" panose="05050102010706020507" pitchFamily="18" charset="2"/>
              </a:rPr>
              <a:t>(‘-’) } </a:t>
            </a:r>
            <a:r>
              <a:rPr kumimoji="0" lang="en-US" altLang="zh-CN" sz="2400" i="1">
                <a:sym typeface="Symbol" panose="05050102010706020507" pitchFamily="18" charset="2"/>
              </a:rPr>
              <a:t>moreterms |</a:t>
            </a:r>
            <a:r>
              <a:rPr lang="en-US" altLang="zh-CN" sz="2400">
                <a:sym typeface="Symbol" panose="05050102010706020507" pitchFamily="18" charset="2"/>
              </a:rPr>
              <a:t>ε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i="1">
                <a:sym typeface="Symbol" panose="05050102010706020507" pitchFamily="18" charset="2"/>
              </a:rPr>
              <a:t>term 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400" i="1">
                <a:sym typeface="Symbol" panose="05050102010706020507" pitchFamily="18" charset="2"/>
              </a:rPr>
              <a:t> factor morefactors</a:t>
            </a:r>
            <a:endParaRPr kumimoji="0" lang="en-US" altLang="zh-CN" sz="2400" i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morefactors 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400" i="1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* </a:t>
            </a:r>
            <a:r>
              <a:rPr kumimoji="0" lang="en-US" altLang="zh-CN" sz="2400" i="1">
                <a:sym typeface="Symbol" panose="05050102010706020507" pitchFamily="18" charset="2"/>
              </a:rPr>
              <a:t>factor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 print</a:t>
            </a:r>
            <a:r>
              <a:rPr kumimoji="0" lang="en-US" altLang="zh-CN" sz="2400">
                <a:sym typeface="Symbol" panose="05050102010706020507" pitchFamily="18" charset="2"/>
              </a:rPr>
              <a:t>(‘*’) } </a:t>
            </a:r>
            <a:r>
              <a:rPr kumimoji="0" lang="en-US" altLang="zh-CN" sz="2400" i="1">
                <a:sym typeface="Symbol" panose="05050102010706020507" pitchFamily="18" charset="2"/>
              </a:rPr>
              <a:t>morefactors</a:t>
            </a:r>
            <a:br>
              <a:rPr kumimoji="0" lang="en-US" altLang="zh-CN" sz="2400" i="1">
                <a:sym typeface="Symbol" panose="05050102010706020507" pitchFamily="18" charset="2"/>
              </a:rPr>
            </a:br>
            <a:r>
              <a:rPr kumimoji="0" lang="en-US" altLang="zh-CN" sz="2400" i="1">
                <a:sym typeface="Symbol" panose="05050102010706020507" pitchFamily="18" charset="2"/>
              </a:rPr>
              <a:t>	           | /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ym typeface="Symbol" panose="05050102010706020507" pitchFamily="18" charset="2"/>
              </a:rPr>
              <a:t>factor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 print</a:t>
            </a:r>
            <a:r>
              <a:rPr kumimoji="0" lang="en-US" altLang="zh-CN" sz="2400">
                <a:sym typeface="Symbol" panose="05050102010706020507" pitchFamily="18" charset="2"/>
              </a:rPr>
              <a:t>(‘/’) } </a:t>
            </a:r>
            <a:r>
              <a:rPr kumimoji="0" lang="en-US" altLang="zh-CN" sz="2400" i="1">
                <a:sym typeface="Symbol" panose="05050102010706020507" pitchFamily="18" charset="2"/>
              </a:rPr>
              <a:t>morefactors</a:t>
            </a:r>
            <a:br>
              <a:rPr kumimoji="0" lang="en-US" altLang="zh-CN" sz="2400" i="1">
                <a:sym typeface="Symbol" panose="05050102010706020507" pitchFamily="18" charset="2"/>
              </a:rPr>
            </a:br>
            <a:r>
              <a:rPr kumimoji="0" lang="en-US" altLang="zh-CN" sz="2400" i="1">
                <a:sym typeface="Symbol" panose="05050102010706020507" pitchFamily="18" charset="2"/>
              </a:rPr>
              <a:t>	           | </a:t>
            </a:r>
            <a:r>
              <a:rPr kumimoji="0" lang="en-US" altLang="zh-CN" sz="2400" b="1">
                <a:sym typeface="Symbol" panose="05050102010706020507" pitchFamily="18" charset="2"/>
              </a:rPr>
              <a:t>div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ym typeface="Symbol" panose="05050102010706020507" pitchFamily="18" charset="2"/>
              </a:rPr>
              <a:t>factor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 print</a:t>
            </a:r>
            <a:r>
              <a:rPr kumimoji="0" lang="en-US" altLang="zh-CN" sz="2400">
                <a:sym typeface="Symbol" panose="05050102010706020507" pitchFamily="18" charset="2"/>
              </a:rPr>
              <a:t>(‘DIV’) } </a:t>
            </a:r>
            <a:r>
              <a:rPr kumimoji="0" lang="en-US" altLang="zh-CN" sz="2400" i="1">
                <a:sym typeface="Symbol" panose="05050102010706020507" pitchFamily="18" charset="2"/>
              </a:rPr>
              <a:t>morefactors</a:t>
            </a:r>
            <a:br>
              <a:rPr kumimoji="0" lang="en-US" altLang="zh-CN" sz="2400" i="1">
                <a:sym typeface="Symbol" panose="05050102010706020507" pitchFamily="18" charset="2"/>
              </a:rPr>
            </a:br>
            <a:r>
              <a:rPr kumimoji="0" lang="en-US" altLang="zh-CN" sz="2400" i="1">
                <a:sym typeface="Symbol" panose="05050102010706020507" pitchFamily="18" charset="2"/>
              </a:rPr>
              <a:t>	           | </a:t>
            </a:r>
            <a:r>
              <a:rPr kumimoji="0" lang="en-US" altLang="zh-CN" sz="2400" b="1">
                <a:sym typeface="Symbol" panose="05050102010706020507" pitchFamily="18" charset="2"/>
              </a:rPr>
              <a:t>mod </a:t>
            </a:r>
            <a:r>
              <a:rPr kumimoji="0" lang="en-US" altLang="zh-CN" sz="2400" i="1">
                <a:sym typeface="Symbol" panose="05050102010706020507" pitchFamily="18" charset="2"/>
              </a:rPr>
              <a:t>factor </a:t>
            </a: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r>
              <a:rPr kumimoji="0" lang="en-US" altLang="zh-CN" sz="2400" i="1">
                <a:sym typeface="Symbol" panose="05050102010706020507" pitchFamily="18" charset="2"/>
              </a:rPr>
              <a:t> print</a:t>
            </a:r>
            <a:r>
              <a:rPr kumimoji="0" lang="en-US" altLang="zh-CN" sz="2400">
                <a:sym typeface="Symbol" panose="05050102010706020507" pitchFamily="18" charset="2"/>
              </a:rPr>
              <a:t>(‘MOD’) } </a:t>
            </a:r>
            <a:r>
              <a:rPr kumimoji="0" lang="en-US" altLang="zh-CN" sz="2400" i="1">
                <a:sym typeface="Symbol" panose="05050102010706020507" pitchFamily="18" charset="2"/>
              </a:rPr>
              <a:t>morefactors |</a:t>
            </a:r>
            <a:r>
              <a:rPr lang="en-US" altLang="zh-CN" sz="2400">
                <a:sym typeface="Symbol" panose="05050102010706020507" pitchFamily="18" charset="2"/>
              </a:rPr>
              <a:t>ε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factor </a:t>
            </a:r>
            <a:r>
              <a:rPr kumimoji="0" lang="en-US" altLang="zh-CN" sz="2400">
                <a:sym typeface="Symbol" panose="05050102010706020507" pitchFamily="18" charset="2"/>
              </a:rPr>
              <a:t> ( </a:t>
            </a:r>
            <a:r>
              <a:rPr kumimoji="0" lang="en-US" altLang="zh-CN" sz="2400" i="1">
                <a:sym typeface="Symbol" panose="05050102010706020507" pitchFamily="18" charset="2"/>
              </a:rPr>
              <a:t>expr 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br>
              <a:rPr kumimoji="0" lang="en-US" altLang="zh-CN" sz="2400">
                <a:sym typeface="Symbol" panose="05050102010706020507" pitchFamily="18" charset="2"/>
              </a:rPr>
            </a:br>
            <a:r>
              <a:rPr kumimoji="0" lang="en-US" altLang="zh-CN" sz="2400">
                <a:sym typeface="Symbol" panose="05050102010706020507" pitchFamily="18" charset="2"/>
              </a:rPr>
              <a:t>	| </a:t>
            </a:r>
            <a:r>
              <a:rPr kumimoji="0" lang="en-US" altLang="zh-CN" sz="2400" b="1">
                <a:sym typeface="Symbol" panose="05050102010706020507" pitchFamily="18" charset="2"/>
              </a:rPr>
              <a:t>id </a:t>
            </a:r>
            <a:r>
              <a:rPr kumimoji="0" lang="en-US" altLang="zh-CN" sz="2400">
                <a:sym typeface="Symbol" panose="05050102010706020507" pitchFamily="18" charset="2"/>
              </a:rPr>
              <a:t>{ </a:t>
            </a:r>
            <a:r>
              <a:rPr kumimoji="0" lang="en-US" altLang="zh-CN" sz="2400" i="1">
                <a:sym typeface="Symbol" panose="05050102010706020507" pitchFamily="18" charset="2"/>
              </a:rPr>
              <a:t>print</a:t>
            </a:r>
            <a:r>
              <a:rPr kumimoji="0" lang="en-US" altLang="zh-CN" sz="2400"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.lexeme) }</a:t>
            </a:r>
            <a:br>
              <a:rPr kumimoji="0" lang="en-US" altLang="zh-CN" sz="2400">
                <a:sym typeface="Symbol" panose="05050102010706020507" pitchFamily="18" charset="2"/>
              </a:rPr>
            </a:br>
            <a:r>
              <a:rPr kumimoji="0" lang="en-US" altLang="zh-CN" sz="2400">
                <a:sym typeface="Symbol" panose="05050102010706020507" pitchFamily="18" charset="2"/>
              </a:rPr>
              <a:t>	| </a:t>
            </a:r>
            <a:r>
              <a:rPr kumimoji="0" lang="en-US" altLang="zh-CN" sz="2400" b="1">
                <a:sym typeface="Symbol" panose="05050102010706020507" pitchFamily="18" charset="2"/>
              </a:rPr>
              <a:t>num </a:t>
            </a:r>
            <a:r>
              <a:rPr kumimoji="0" lang="en-US" altLang="zh-CN" sz="2400">
                <a:sym typeface="Symbol" panose="05050102010706020507" pitchFamily="18" charset="2"/>
              </a:rPr>
              <a:t>{ </a:t>
            </a:r>
            <a:r>
              <a:rPr kumimoji="0" lang="en-US" altLang="zh-CN" sz="2400" i="1">
                <a:sym typeface="Symbol" panose="05050102010706020507" pitchFamily="18" charset="2"/>
              </a:rPr>
              <a:t>print</a:t>
            </a:r>
            <a:r>
              <a:rPr kumimoji="0" lang="en-US" altLang="zh-CN" sz="2400"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ym typeface="Symbol" panose="05050102010706020507" pitchFamily="18" charset="2"/>
              </a:rPr>
              <a:t>.value) }</a:t>
            </a:r>
            <a:endParaRPr kumimoji="0" lang="en-US" altLang="zh-CN" sz="24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本章概览了整个编译过程</a:t>
            </a:r>
            <a:endParaRPr lang="zh-CN" altLang="en-US"/>
          </a:p>
          <a:p>
            <a:pPr eaLnBrk="1" hangingPunct="1"/>
            <a:r>
              <a:rPr lang="zh-CN" altLang="en-US"/>
              <a:t>介绍了</a:t>
            </a:r>
            <a:r>
              <a:rPr lang="zh-CN" altLang="en-US">
                <a:solidFill>
                  <a:srgbClr val="FF3300"/>
                </a:solidFill>
              </a:rPr>
              <a:t>上下文无关文法</a:t>
            </a:r>
            <a:r>
              <a:rPr lang="zh-CN" altLang="en-US"/>
              <a:t>（</a:t>
            </a:r>
            <a:r>
              <a:rPr lang="en-US" altLang="zh-CN"/>
              <a:t>CFG</a:t>
            </a:r>
            <a:r>
              <a:rPr lang="zh-CN" altLang="en-US"/>
              <a:t>），展示了它与编译理论的关系</a:t>
            </a:r>
            <a:endParaRPr lang="zh-CN" altLang="en-US"/>
          </a:p>
          <a:p>
            <a:pPr eaLnBrk="1" hangingPunct="1"/>
            <a:r>
              <a:rPr lang="zh-CN" altLang="en-US"/>
              <a:t>介绍了如何利用语法分析树，辅助</a:t>
            </a:r>
            <a:r>
              <a:rPr lang="zh-CN" altLang="en-US">
                <a:solidFill>
                  <a:srgbClr val="FF3300"/>
                </a:solidFill>
              </a:rPr>
              <a:t>分析</a:t>
            </a:r>
            <a:r>
              <a:rPr lang="zh-CN" altLang="en-US"/>
              <a:t>和</a:t>
            </a:r>
            <a:r>
              <a:rPr lang="zh-CN" altLang="en-US">
                <a:solidFill>
                  <a:srgbClr val="3333CC"/>
                </a:solidFill>
              </a:rPr>
              <a:t>翻译</a:t>
            </a:r>
            <a:endParaRPr lang="zh-CN" altLang="en-US">
              <a:solidFill>
                <a:srgbClr val="3333CC"/>
              </a:solidFill>
            </a:endParaRPr>
          </a:p>
          <a:p>
            <a:pPr eaLnBrk="1" hangingPunct="1"/>
            <a:r>
              <a:rPr lang="zh-CN" altLang="en-US"/>
              <a:t>后续章节依次介绍编译各个阶段涉及的原理、技术</a:t>
            </a:r>
            <a:endParaRPr lang="zh-CN" altLang="en-US"/>
          </a:p>
          <a:p>
            <a:pPr eaLnBrk="1" hangingPunct="1"/>
            <a:r>
              <a:rPr lang="zh-CN" altLang="en-US"/>
              <a:t>首先是</a:t>
            </a:r>
            <a:r>
              <a:rPr lang="zh-CN" altLang="en-US">
                <a:solidFill>
                  <a:srgbClr val="3333CC"/>
                </a:solidFill>
              </a:rPr>
              <a:t>词法分析</a:t>
            </a:r>
            <a:r>
              <a:rPr lang="zh-CN" altLang="en-US"/>
              <a:t>：</a:t>
            </a:r>
            <a:r>
              <a:rPr lang="zh-CN" altLang="en-US">
                <a:solidFill>
                  <a:srgbClr val="FF3300"/>
                </a:solidFill>
              </a:rPr>
              <a:t>正规式</a:t>
            </a:r>
            <a:r>
              <a:rPr lang="zh-CN" altLang="en-US"/>
              <a:t>、</a:t>
            </a:r>
            <a:r>
              <a:rPr lang="zh-CN" altLang="en-US">
                <a:solidFill>
                  <a:srgbClr val="FF3300"/>
                </a:solidFill>
              </a:rPr>
              <a:t>有限自动机</a:t>
            </a:r>
            <a:endParaRPr lang="zh-CN" altLang="en-US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文本框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ea typeface="隶书" panose="02010509060101010101" pitchFamily="49" charset="-122"/>
              </a:rPr>
              <a:t>C++</a:t>
            </a:r>
            <a:r>
              <a:rPr lang="zh-CN" altLang="zh-CN" sz="2800">
                <a:ea typeface="隶书" panose="02010509060101010101" pitchFamily="49" charset="-122"/>
              </a:rPr>
              <a:t>编译器检查相容类型计算是否合规是在</a:t>
            </a:r>
            <a:br>
              <a:rPr lang="en-US" altLang="zh-CN" sz="2800">
                <a:ea typeface="隶书" panose="02010509060101010101" pitchFamily="49" charset="-122"/>
              </a:rPr>
            </a:br>
            <a:r>
              <a:rPr lang="en-US" altLang="zh-CN" sz="2800" u="sng">
                <a:ea typeface="隶书" panose="02010509060101010101" pitchFamily="49" charset="-122"/>
              </a:rPr>
              <a:t>          </a:t>
            </a:r>
            <a:r>
              <a:rPr lang="zh-CN" altLang="zh-CN" sz="2800">
                <a:ea typeface="隶书" panose="02010509060101010101" pitchFamily="49" charset="-122"/>
              </a:rPr>
              <a:t>阶段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0355" name="文本框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>
                <a:ea typeface="隶书" panose="02010509060101010101" pitchFamily="49" charset="-122"/>
              </a:rPr>
              <a:t>词法分析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0356" name="文本框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>
                <a:ea typeface="隶书" panose="02010509060101010101" pitchFamily="49" charset="-122"/>
              </a:rPr>
              <a:t>语法分析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0357" name="文本框 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>
                <a:ea typeface="隶书" panose="02010509060101010101" pitchFamily="49" charset="-122"/>
              </a:rPr>
              <a:t>语义分析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0358" name="文本框 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>
                <a:ea typeface="隶书" panose="02010509060101010101" pitchFamily="49" charset="-122"/>
              </a:rPr>
              <a:t>代码生成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0359" name="椭圆 10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0360" name="椭圆 11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0361" name="椭圆 12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0362" name="椭圆 13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0363" name="矩形: 圆角 14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00364" name="组合 19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00366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0367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0368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00369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00365" name="图片 4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文本框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>
                <a:ea typeface="隶书" panose="02010509060101010101" pitchFamily="49" charset="-122"/>
              </a:rPr>
              <a:t>编译器识别出标识符是在</a:t>
            </a:r>
            <a:r>
              <a:rPr lang="en-US" altLang="zh-CN" sz="2800" u="sng">
                <a:ea typeface="隶书" panose="02010509060101010101" pitchFamily="49" charset="-122"/>
              </a:rPr>
              <a:t>          </a:t>
            </a:r>
            <a:r>
              <a:rPr lang="zh-CN" altLang="zh-CN" sz="2800">
                <a:ea typeface="隶书" panose="02010509060101010101" pitchFamily="49" charset="-122"/>
              </a:rPr>
              <a:t>阶段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2403" name="文本框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词法分析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2404" name="文本框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语法分析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2405" name="文本框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语义分析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2406" name="文本框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代码生成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2407" name="椭圆 8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2408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2409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2410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2411" name="矩形: 圆角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02412" name="组合 17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02414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2415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2416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02417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02413" name="图片 2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文本框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ea typeface="隶书" panose="02010509060101010101" pitchFamily="49" charset="-122"/>
              </a:rPr>
              <a:t>C++</a:t>
            </a:r>
            <a:r>
              <a:rPr lang="zh-CN" altLang="zh-CN" sz="2800">
                <a:ea typeface="隶书" panose="02010509060101010101" pitchFamily="49" charset="-122"/>
              </a:rPr>
              <a:t>编译器过滤注释是在</a:t>
            </a:r>
            <a:r>
              <a:rPr lang="en-US" altLang="zh-CN" sz="2800" u="sng">
                <a:ea typeface="隶书" panose="02010509060101010101" pitchFamily="49" charset="-122"/>
              </a:rPr>
              <a:t>          </a:t>
            </a:r>
            <a:r>
              <a:rPr lang="zh-CN" altLang="zh-CN" sz="2800">
                <a:ea typeface="隶书" panose="02010509060101010101" pitchFamily="49" charset="-122"/>
              </a:rPr>
              <a:t>阶段。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3427" name="文本框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词法分析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3428" name="文本框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语法分析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3429" name="文本框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代码生成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3430" name="文本框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以上皆错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3431" name="椭圆 8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3432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3433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3434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3435" name="矩形: 圆角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03436" name="组合 17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03438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3439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3440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03441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03437" name="图片 2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文本框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ea typeface="隶书" panose="02010509060101010101" pitchFamily="49" charset="-122"/>
              </a:rPr>
              <a:t>C++</a:t>
            </a:r>
            <a:r>
              <a:rPr lang="zh-CN" altLang="zh-CN" sz="2800">
                <a:ea typeface="隶书" panose="02010509060101010101" pitchFamily="49" charset="-122"/>
              </a:rPr>
              <a:t>编译器检查数组下标越界是在</a:t>
            </a:r>
            <a:r>
              <a:rPr lang="en-US" altLang="zh-CN" sz="2800" u="sng">
                <a:ea typeface="隶书" panose="02010509060101010101" pitchFamily="49" charset="-122"/>
              </a:rPr>
              <a:t>          </a:t>
            </a:r>
            <a:r>
              <a:rPr lang="zh-CN" altLang="zh-CN" sz="2800">
                <a:ea typeface="隶书" panose="02010509060101010101" pitchFamily="49" charset="-122"/>
              </a:rPr>
              <a:t>阶段。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4451" name="文本框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词法分析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4452" name="文本框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语法分析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4453" name="文本框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代码生成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4454" name="文本框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以上皆错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4455" name="椭圆 8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4456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4457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4458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4459" name="矩形: 圆角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04460" name="组合 17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04462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4463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4464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04465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04461" name="图片 2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文本框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925513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400">
                <a:ea typeface="隶书" panose="02010509060101010101" pitchFamily="49" charset="-122"/>
              </a:rPr>
              <a:t>Intel</a:t>
            </a:r>
            <a:r>
              <a:rPr lang="zh-CN" altLang="en-US" sz="2400">
                <a:ea typeface="隶书" panose="02010509060101010101" pitchFamily="49" charset="-122"/>
              </a:rPr>
              <a:t>的</a:t>
            </a:r>
            <a:r>
              <a:rPr lang="zh-CN" altLang="zh-CN" sz="2400">
                <a:ea typeface="隶书" panose="02010509060101010101" pitchFamily="49" charset="-122"/>
              </a:rPr>
              <a:t>深度学习编译器</a:t>
            </a:r>
            <a:r>
              <a:rPr lang="pt-BR" altLang="zh-CN" sz="2400">
                <a:ea typeface="隶书" panose="02010509060101010101" pitchFamily="49" charset="-122"/>
              </a:rPr>
              <a:t>nGraph</a:t>
            </a:r>
            <a:r>
              <a:rPr lang="zh-CN" altLang="zh-CN" sz="2400">
                <a:ea typeface="隶书" panose="02010509060101010101" pitchFamily="49" charset="-122"/>
              </a:rPr>
              <a:t>支持</a:t>
            </a:r>
            <a:r>
              <a:rPr lang="pt-BR" altLang="zh-CN" sz="2400">
                <a:ea typeface="隶书" panose="02010509060101010101" pitchFamily="49" charset="-122"/>
              </a:rPr>
              <a:t>TensorFlow</a:t>
            </a:r>
            <a:r>
              <a:rPr lang="zh-CN" altLang="zh-CN" sz="2400">
                <a:ea typeface="隶书" panose="02010509060101010101" pitchFamily="49" charset="-122"/>
              </a:rPr>
              <a:t>、</a:t>
            </a:r>
            <a:r>
              <a:rPr lang="pt-BR" altLang="zh-CN" sz="2400">
                <a:ea typeface="隶书" panose="02010509060101010101" pitchFamily="49" charset="-122"/>
              </a:rPr>
              <a:t>MXNet</a:t>
            </a:r>
            <a:r>
              <a:rPr lang="zh-CN" altLang="zh-CN" sz="2400">
                <a:ea typeface="隶书" panose="02010509060101010101" pitchFamily="49" charset="-122"/>
              </a:rPr>
              <a:t>等深度学习框架，令用户可在</a:t>
            </a:r>
            <a:r>
              <a:rPr lang="pt-BR" altLang="zh-CN" sz="2400">
                <a:ea typeface="隶书" panose="02010509060101010101" pitchFamily="49" charset="-122"/>
              </a:rPr>
              <a:t>Intel CPU</a:t>
            </a:r>
            <a:r>
              <a:rPr lang="zh-CN" altLang="zh-CN" sz="2400">
                <a:ea typeface="隶书" panose="02010509060101010101" pitchFamily="49" charset="-122"/>
              </a:rPr>
              <a:t>、</a:t>
            </a:r>
            <a:r>
              <a:rPr lang="pt-BR" altLang="zh-CN" sz="2400">
                <a:ea typeface="隶书" panose="02010509060101010101" pitchFamily="49" charset="-122"/>
              </a:rPr>
              <a:t>GPU</a:t>
            </a:r>
            <a:r>
              <a:rPr lang="zh-CN" altLang="zh-CN" sz="2400">
                <a:ea typeface="隶书" panose="02010509060101010101" pitchFamily="49" charset="-122"/>
              </a:rPr>
              <a:t>等不同硬件平台上高效运行这些框架编写的程序，它的实现是一种</a:t>
            </a:r>
            <a:r>
              <a:rPr lang="pt-BR" altLang="zh-CN" sz="2400">
                <a:ea typeface="隶书" panose="02010509060101010101" pitchFamily="49" charset="-122"/>
              </a:rPr>
              <a:t>__________</a:t>
            </a:r>
            <a:r>
              <a:rPr lang="zh-CN" altLang="zh-CN" sz="2400">
                <a:ea typeface="隶书" panose="02010509060101010101" pitchFamily="49" charset="-122"/>
              </a:rPr>
              <a:t>方式。</a:t>
            </a:r>
            <a:endParaRPr lang="zh-CN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5475" name="文本框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>
                <a:ea typeface="隶书" panose="02010509060101010101" pitchFamily="49" charset="-122"/>
              </a:rPr>
              <a:t>单前端单后端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5476" name="文本框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>
                <a:ea typeface="隶书" panose="02010509060101010101" pitchFamily="49" charset="-122"/>
              </a:rPr>
              <a:t>单前端多后端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5477" name="文本框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>
                <a:ea typeface="隶书" panose="02010509060101010101" pitchFamily="49" charset="-122"/>
              </a:rPr>
              <a:t>多前端单后端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5478" name="文本框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>
                <a:ea typeface="隶书" panose="02010509060101010101" pitchFamily="49" charset="-122"/>
              </a:rPr>
              <a:t>多前端多后端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5479" name="椭圆 8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548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548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548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5483" name="矩形: 圆角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05484" name="组合 17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05486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5487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5488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05489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05485" name="图片 2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文本框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854075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ea typeface="隶书" panose="02010509060101010101" pitchFamily="49" charset="-122"/>
              </a:rPr>
              <a:t>LaTex</a:t>
            </a:r>
            <a:r>
              <a:rPr lang="zh-CN" altLang="en-US" sz="2800">
                <a:ea typeface="隶书" panose="02010509060101010101" pitchFamily="49" charset="-122"/>
              </a:rPr>
              <a:t>工具将</a:t>
            </a:r>
            <a:r>
              <a:rPr lang="en-US" altLang="zh-CN" sz="2800">
                <a:ea typeface="隶书" panose="02010509060101010101" pitchFamily="49" charset="-122"/>
              </a:rPr>
              <a:t>.tex</a:t>
            </a:r>
            <a:r>
              <a:rPr lang="zh-CN" altLang="en-US" sz="2800">
                <a:ea typeface="隶书" panose="02010509060101010101" pitchFamily="49" charset="-122"/>
              </a:rPr>
              <a:t>文件转换为</a:t>
            </a:r>
            <a:r>
              <a:rPr lang="en-US" altLang="zh-CN" sz="2800">
                <a:ea typeface="隶书" panose="02010509060101010101" pitchFamily="49" charset="-122"/>
              </a:rPr>
              <a:t>PDF</a:t>
            </a:r>
            <a:r>
              <a:rPr lang="zh-CN" altLang="en-US" sz="2800">
                <a:ea typeface="隶书" panose="02010509060101010101" pitchFamily="49" charset="-122"/>
              </a:rPr>
              <a:t>文件，因此它也是一种广义的编译器。这种说法是</a:t>
            </a:r>
            <a:r>
              <a:rPr lang="pt-BR" altLang="zh-CN" sz="2800">
                <a:ea typeface="隶书" panose="02010509060101010101" pitchFamily="49" charset="-122"/>
              </a:rPr>
              <a:t>__________</a:t>
            </a:r>
            <a:r>
              <a:rPr lang="zh-CN" altLang="zh-CN" sz="2800">
                <a:ea typeface="隶书" panose="02010509060101010101" pitchFamily="49" charset="-122"/>
              </a:rPr>
              <a:t>。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6499" name="文本框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正确的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6500" name="文本框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错误的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6501" name="椭圆 8"/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6502" name="椭圆 9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6503" name="矩形: 圆角 1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06504" name="组合 17"/>
          <p:cNvGrpSpPr/>
          <p:nvPr>
            <p:custDataLst>
              <p:tags r:id="rId7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06506" name="TitleBackground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6507" name="ColorBlock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6508" name="TypeText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06509" name="TipText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06505" name="图片 2"/>
          <p:cNvPicPr>
            <a:picLocks noChangeArrowheads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4"/>
    </p:custData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文本框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ea typeface="隶书" panose="02010509060101010101" pitchFamily="49" charset="-122"/>
              </a:rPr>
              <a:t>浏览器渲染过程相当于编译器的</a:t>
            </a:r>
            <a:r>
              <a:rPr lang="pt-BR" altLang="zh-CN" sz="2800">
                <a:ea typeface="隶书" panose="02010509060101010101" pitchFamily="49" charset="-122"/>
              </a:rPr>
              <a:t>__________</a:t>
            </a:r>
            <a:r>
              <a:rPr lang="zh-CN" altLang="en-US" sz="2800">
                <a:ea typeface="隶书" panose="02010509060101010101" pitchFamily="49" charset="-122"/>
              </a:rPr>
              <a:t>阶段</a:t>
            </a:r>
            <a:r>
              <a:rPr lang="zh-CN" altLang="zh-CN" sz="2800">
                <a:ea typeface="隶书" panose="02010509060101010101" pitchFamily="49" charset="-122"/>
              </a:rPr>
              <a:t>。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7523" name="文本框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分析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7524" name="文本框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综合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7525" name="文本框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前端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7526" name="文本框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后端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7527" name="椭圆 8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7528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7529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7530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7531" name="矩形: 圆角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07532" name="组合 17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07534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7535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7536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07537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07533" name="图片 2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文本框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ea typeface="隶书" panose="02010509060101010101" pitchFamily="49" charset="-122"/>
              </a:rPr>
              <a:t>符号表</a:t>
            </a:r>
            <a:r>
              <a:rPr lang="zh-CN" altLang="zh-CN" sz="2800">
                <a:ea typeface="隶书" panose="02010509060101010101" pitchFamily="49" charset="-122"/>
              </a:rPr>
              <a:t>是</a:t>
            </a:r>
            <a:r>
              <a:rPr lang="zh-CN" altLang="en-US" sz="2800">
                <a:ea typeface="隶书" panose="02010509060101010101" pitchFamily="49" charset="-122"/>
              </a:rPr>
              <a:t>在</a:t>
            </a:r>
            <a:r>
              <a:rPr lang="pt-BR" altLang="zh-CN" sz="2800">
                <a:ea typeface="隶书" panose="02010509060101010101" pitchFamily="49" charset="-122"/>
              </a:rPr>
              <a:t>__________</a:t>
            </a:r>
            <a:r>
              <a:rPr lang="zh-CN" altLang="en-US" sz="2800">
                <a:ea typeface="隶书" panose="02010509060101010101" pitchFamily="49" charset="-122"/>
              </a:rPr>
              <a:t>阶段创建的</a:t>
            </a:r>
            <a:r>
              <a:rPr lang="zh-CN" altLang="zh-CN" sz="2800">
                <a:ea typeface="隶书" panose="02010509060101010101" pitchFamily="49" charset="-122"/>
              </a:rPr>
              <a:t>。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47" name="文本框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词法分析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48" name="文本框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语法分析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49" name="文本框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语义分析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0" name="文本框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代码生成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1" name="椭圆 8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2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3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4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5" name="矩形: 圆角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08556" name="组合 17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08558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8559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8560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08561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08557" name="图片 2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文本框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Symbol" panose="05050102010706020507" pitchFamily="18" charset="2"/>
                <a:ea typeface="隶书" panose="02010509060101010101" pitchFamily="49" charset="-122"/>
              </a:rPr>
              <a:t>e</a:t>
            </a:r>
            <a:r>
              <a:rPr lang="zh-CN" altLang="zh-CN" sz="2800" dirty="0">
                <a:ea typeface="隶书" panose="02010509060101010101" pitchFamily="49" charset="-122"/>
              </a:rPr>
              <a:t>是</a:t>
            </a:r>
            <a:r>
              <a:rPr lang="zh-CN" altLang="en-US" sz="2800" dirty="0">
                <a:ea typeface="隶书" panose="02010509060101010101" pitchFamily="49" charset="-122"/>
              </a:rPr>
              <a:t>一个</a:t>
            </a:r>
            <a:r>
              <a:rPr lang="pt-BR" altLang="zh-CN" sz="2800" dirty="0">
                <a:ea typeface="隶书" panose="02010509060101010101" pitchFamily="49" charset="-122"/>
              </a:rPr>
              <a:t>__________</a:t>
            </a:r>
            <a:r>
              <a:rPr lang="zh-CN" altLang="zh-CN" sz="2800" dirty="0">
                <a:ea typeface="隶书" panose="02010509060101010101" pitchFamily="49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47" name="文本框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符号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48" name="文本框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符号串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49" name="文本框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符号串集合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0" name="文本框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以上皆错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1" name="椭圆 8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2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3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4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5" name="矩形: 圆角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08556" name="组合 17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08558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8559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8560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08561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08557" name="图片 2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文本框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800" dirty="0">
                <a:ea typeface="隶书" panose="02010509060101010101" pitchFamily="49" charset="-122"/>
              </a:rPr>
              <a:t>以下关于</a:t>
            </a:r>
            <a:r>
              <a:rPr lang="en-US" altLang="zh-CN" sz="2800" dirty="0">
                <a:ea typeface="隶书" panose="02010509060101010101" pitchFamily="49" charset="-122"/>
              </a:rPr>
              <a:t>CFG</a:t>
            </a:r>
            <a:r>
              <a:rPr lang="zh-CN" altLang="en-US" sz="2800" dirty="0">
                <a:ea typeface="隶书" panose="02010509060101010101" pitchFamily="49" charset="-122"/>
              </a:rPr>
              <a:t>的四元式</a:t>
            </a:r>
            <a:r>
              <a:rPr lang="en-US" altLang="zh-CN" sz="2800" dirty="0"/>
              <a:t>(V</a:t>
            </a:r>
            <a:r>
              <a:rPr lang="en-US" altLang="zh-CN" sz="2800" baseline="-25000" dirty="0"/>
              <a:t>T</a:t>
            </a:r>
            <a:r>
              <a:rPr lang="en-US" altLang="zh-CN" sz="2800" dirty="0"/>
              <a:t>, V</a:t>
            </a:r>
            <a:r>
              <a:rPr lang="en-US" altLang="zh-CN" sz="2800" baseline="-25000" dirty="0"/>
              <a:t>N</a:t>
            </a:r>
            <a:r>
              <a:rPr lang="en-US" altLang="zh-CN" sz="2800" dirty="0"/>
              <a:t>, S, </a:t>
            </a:r>
            <a:r>
              <a:rPr lang="en-US" altLang="zh-CN" sz="2800" dirty="0">
                <a:latin typeface="Monotype Corsiva" panose="03010101010201010101" pitchFamily="66" charset="0"/>
                <a:ea typeface="Batang" panose="02030600000101010101" pitchFamily="18" charset="-127"/>
              </a:rPr>
              <a:t>P</a:t>
            </a:r>
            <a:r>
              <a:rPr lang="en-US" altLang="zh-CN" sz="2800" dirty="0"/>
              <a:t>)</a:t>
            </a:r>
            <a:r>
              <a:rPr lang="zh-CN" altLang="en-US" sz="2800" dirty="0">
                <a:ea typeface="隶书" panose="02010509060101010101" pitchFamily="49" charset="-122"/>
              </a:rPr>
              <a:t>，说法正确的是</a:t>
            </a:r>
            <a:r>
              <a:rPr lang="pt-BR" altLang="zh-CN" sz="2800" dirty="0">
                <a:ea typeface="隶书" panose="02010509060101010101" pitchFamily="49" charset="-122"/>
              </a:rPr>
              <a:t>__________</a:t>
            </a:r>
            <a:r>
              <a:rPr lang="zh-CN" altLang="zh-CN" sz="2800" dirty="0">
                <a:ea typeface="隶书" panose="02010509060101010101" pitchFamily="49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47" name="文本框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S∈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T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48" name="文本框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S∈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N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49" name="文本框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S∈</a:t>
            </a:r>
            <a:r>
              <a:rPr lang="en-US" altLang="zh-CN" sz="2400" dirty="0">
                <a:latin typeface="Monotype Corsiva" panose="03010101010201010101" pitchFamily="66" charset="0"/>
                <a:ea typeface="Batang" panose="02030600000101010101" pitchFamily="18" charset="-127"/>
              </a:rPr>
              <a:t>P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0" name="文本框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以上皆错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1" name="椭圆 8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2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3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4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5" name="矩形: 圆角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08556" name="组合 17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08558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8559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8560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08561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08557" name="图片 2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文本框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800" dirty="0">
                <a:ea typeface="隶书" panose="02010509060101010101" pitchFamily="49" charset="-122"/>
              </a:rPr>
              <a:t>关于一个文法</a:t>
            </a:r>
            <a:r>
              <a:rPr lang="en-US" altLang="zh-CN" sz="2800" dirty="0">
                <a:ea typeface="隶书" panose="02010509060101010101" pitchFamily="49" charset="-122"/>
              </a:rPr>
              <a:t>G</a:t>
            </a:r>
            <a:r>
              <a:rPr lang="zh-CN" altLang="en-US" sz="2800" dirty="0">
                <a:ea typeface="隶书" panose="02010509060101010101" pitchFamily="49" charset="-122"/>
              </a:rPr>
              <a:t>具有二义性的判定，下面错误的是</a:t>
            </a:r>
            <a:r>
              <a:rPr lang="pt-BR" altLang="zh-CN" sz="2800" dirty="0">
                <a:ea typeface="隶书" panose="02010509060101010101" pitchFamily="49" charset="-122"/>
              </a:rPr>
              <a:t>__________</a:t>
            </a:r>
            <a:r>
              <a:rPr lang="zh-CN" altLang="zh-CN" sz="2800" dirty="0">
                <a:ea typeface="隶书" panose="02010509060101010101" pitchFamily="49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47" name="文本框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对一个单词串，有两棵语法树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48" name="文本框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对一个单词串，有两个推导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49" name="文本框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对一个单词串，有两个最左推导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0" name="文本框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对一个单词串，有两个最右推导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1" name="椭圆 8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2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3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4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5" name="矩形: 圆角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08556" name="组合 17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08558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8559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8560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08561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08557" name="图片 2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文本框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800" dirty="0">
                <a:ea typeface="隶书" panose="02010509060101010101" pitchFamily="49" charset="-122"/>
              </a:rPr>
              <a:t>关于语法制导定义中的综合属性，下面说法正确的是</a:t>
            </a:r>
            <a:r>
              <a:rPr lang="pt-BR" altLang="zh-CN" sz="2800" dirty="0">
                <a:ea typeface="隶书" panose="02010509060101010101" pitchFamily="49" charset="-122"/>
              </a:rPr>
              <a:t>__________</a:t>
            </a:r>
            <a:r>
              <a:rPr lang="zh-CN" altLang="zh-CN" sz="2800" dirty="0">
                <a:ea typeface="隶书" panose="02010509060101010101" pitchFamily="49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47" name="文本框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父节点属性值依赖孩子节点属性值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48" name="文本框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孩子节点属性值依赖父节点属性值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49" name="文本框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孩子节点属性值依赖兄弟节点属性值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0" name="文本框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以上皆错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1" name="椭圆 8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2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3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4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555" name="矩形: 圆角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08556" name="组合 17"/>
          <p:cNvGrpSpPr/>
          <p:nvPr>
            <p:custDataLst>
              <p:tags r:id="rId11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08558" name="TitleBackground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8559" name="ColorBlock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ea typeface="隶书" panose="02010509060101010101" pitchFamily="49" charset="-122"/>
              </a:endParaRPr>
            </a:p>
          </p:txBody>
        </p:sp>
        <p:sp>
          <p:nvSpPr>
            <p:cNvPr id="108560" name="Type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08561" name="TipText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08557" name="图片 2"/>
          <p:cNvPicPr>
            <a:picLocks noChangeArrowheads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8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p="http://schemas.openxmlformats.org/presentationml/2006/main">
  <p:tag name="RAINPROBLEM" val="ProblemSubmit"/>
  <p:tag name="RAINPROBLEMTYPE" val="MultipleChoice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" val="ProblemSetting"/>
  <p:tag name="RAINPROBLEMTYPE" val="MultipleChoice"/>
</p:tagLst>
</file>

<file path=ppt/tags/tag17.xml><?xml version="1.0" encoding="utf-8"?>
<p:tagLst xmlns:p="http://schemas.openxmlformats.org/presentationml/2006/main">
  <p:tag name="RAINPROBLEM" val="MultipleChoice"/>
  <p:tag name="PROBLEMSCORE" val="1.0"/>
</p:tagLst>
</file>

<file path=ppt/tags/tag18.xml><?xml version="1.0" encoding="utf-8"?>
<p:tagLst xmlns:p="http://schemas.openxmlformats.org/presentationml/2006/main">
  <p:tag name="RAINPROBLEM" val="ProblemBody"/>
</p:tagLst>
</file>

<file path=ppt/tags/tag19.xml><?xml version="1.0" encoding="utf-8"?>
<p:tagLst xmlns:p="http://schemas.openxmlformats.org/presentationml/2006/main">
  <p:tag name="RAINPROBLEM" val="ProblemItem"/>
</p:tagLst>
</file>

<file path=ppt/tags/tag20.xml><?xml version="1.0" encoding="utf-8"?>
<p:tagLst xmlns:p="http://schemas.openxmlformats.org/presentationml/2006/main">
  <p:tag name="RAINPROBLEM" val="ProblemItem"/>
</p:tagLst>
</file>

<file path=ppt/tags/tag21.xml><?xml version="1.0" encoding="utf-8"?>
<p:tagLst xmlns:p="http://schemas.openxmlformats.org/presentationml/2006/main">
  <p:tag name="RAINPROBLEM" val="ProblemItem"/>
</p:tagLst>
</file>

<file path=ppt/tags/tag22.xml><?xml version="1.0" encoding="utf-8"?>
<p:tagLst xmlns:p="http://schemas.openxmlformats.org/presentationml/2006/main">
  <p:tag name="RAINPROBLEM" val="ProblemItem"/>
</p:tagLst>
</file>

<file path=ppt/tags/tag2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p="http://schemas.openxmlformats.org/presentationml/2006/main">
  <p:tag name="RAINPROBLEM" val="ProblemSubmit"/>
  <p:tag name="RAINPROBLEMTYPE" val="MultipleChoice"/>
</p:tagLst>
</file>

<file path=ppt/tags/tag28.xml><?xml version="1.0" encoding="utf-8"?>
<p:tagLst xmlns:p="http://schemas.openxmlformats.org/presentationml/2006/main">
  <p:tag name="RAINPROBLEMTYPE" val="ProblemTypeMarker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" val="ProblemSetting"/>
  <p:tag name="RAINPROBLEMTYPE" val="MultipleChoice"/>
</p:tagLst>
</file>

<file path=ppt/tags/tag34.xml><?xml version="1.0" encoding="utf-8"?>
<p:tagLst xmlns:p="http://schemas.openxmlformats.org/presentationml/2006/main">
  <p:tag name="RAINPROBLEM" val="MultipleChoice"/>
  <p:tag name="PROBLEMSCORE" val="1.0"/>
</p:tagLst>
</file>

<file path=ppt/tags/tag35.xml><?xml version="1.0" encoding="utf-8"?>
<p:tagLst xmlns:p="http://schemas.openxmlformats.org/presentationml/2006/main">
  <p:tag name="RAINPROBLEM" val="ProblemBody"/>
</p:tagLst>
</file>

<file path=ppt/tags/tag36.xml><?xml version="1.0" encoding="utf-8"?>
<p:tagLst xmlns:p="http://schemas.openxmlformats.org/presentationml/2006/main">
  <p:tag name="RAINPROBLEM" val="ProblemItem"/>
</p:tagLst>
</file>

<file path=ppt/tags/tag37.xml><?xml version="1.0" encoding="utf-8"?>
<p:tagLst xmlns:p="http://schemas.openxmlformats.org/presentationml/2006/main">
  <p:tag name="RAINPROBLEM" val="ProblemItem"/>
</p:tagLst>
</file>

<file path=ppt/tags/tag38.xml><?xml version="1.0" encoding="utf-8"?>
<p:tagLst xmlns:p="http://schemas.openxmlformats.org/presentationml/2006/main">
  <p:tag name="RAINPROBLEM" val="ProblemItem"/>
</p:tagLst>
</file>

<file path=ppt/tags/tag39.xml><?xml version="1.0" encoding="utf-8"?>
<p:tagLst xmlns:p="http://schemas.openxmlformats.org/presentationml/2006/main">
  <p:tag name="RAINPROBLEM" val="ProblemItem"/>
</p:tagLst>
</file>

<file path=ppt/tags/tag40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p="http://schemas.openxmlformats.org/presentationml/2006/main">
  <p:tag name="RAINPROBLEM" val="ProblemSubmit"/>
  <p:tag name="RAINPROBLEMTYPE" val="MultipleChoice"/>
</p:tagLst>
</file>

<file path=ppt/tags/tag45.xml><?xml version="1.0" encoding="utf-8"?>
<p:tagLst xmlns:p="http://schemas.openxmlformats.org/presentationml/2006/main">
  <p:tag name="RAINPROBLEMTYPE" val="ProblemTypeMarker"/>
</p:tagLst>
</file>

<file path=ppt/tags/tag46.xml><?xml version="1.0" encoding="utf-8"?>
<p:tagLst xmlns:p="http://schemas.openxmlformats.org/presentationml/2006/main">
  <p:tag name="RAINPROBLEMTYPE" val="ProblemTypeMarker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" val="ProblemSetting"/>
  <p:tag name="RAINPROBLEMTYPE" val="MultipleChoice"/>
</p:tagLst>
</file>

<file path=ppt/tags/tag51.xml><?xml version="1.0" encoding="utf-8"?>
<p:tagLst xmlns:p="http://schemas.openxmlformats.org/presentationml/2006/main">
  <p:tag name="RAINPROBLEM" val="MultipleChoice"/>
  <p:tag name="PROBLEMSCORE" val="1.0"/>
</p:tagLst>
</file>

<file path=ppt/tags/tag52.xml><?xml version="1.0" encoding="utf-8"?>
<p:tagLst xmlns:p="http://schemas.openxmlformats.org/presentationml/2006/main">
  <p:tag name="RAINPROBLEM" val="ProblemBody"/>
</p:tagLst>
</file>

<file path=ppt/tags/tag53.xml><?xml version="1.0" encoding="utf-8"?>
<p:tagLst xmlns:p="http://schemas.openxmlformats.org/presentationml/2006/main">
  <p:tag name="RAINPROBLEM" val="ProblemItem"/>
</p:tagLst>
</file>

<file path=ppt/tags/tag54.xml><?xml version="1.0" encoding="utf-8"?>
<p:tagLst xmlns:p="http://schemas.openxmlformats.org/presentationml/2006/main">
  <p:tag name="RAINPROBLEM" val="ProblemItem"/>
</p:tagLst>
</file>

<file path=ppt/tags/tag55.xml><?xml version="1.0" encoding="utf-8"?>
<p:tagLst xmlns:p="http://schemas.openxmlformats.org/presentationml/2006/main">
  <p:tag name="RAINPROBLEM" val="ProblemItem"/>
</p:tagLst>
</file>

<file path=ppt/tags/tag56.xml><?xml version="1.0" encoding="utf-8"?>
<p:tagLst xmlns:p="http://schemas.openxmlformats.org/presentationml/2006/main">
  <p:tag name="RAINPROBLEM" val="ProblemItem"/>
</p:tagLst>
</file>

<file path=ppt/tags/tag5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61.xml><?xml version="1.0" encoding="utf-8"?>
<p:tagLst xmlns:p="http://schemas.openxmlformats.org/presentationml/2006/main">
  <p:tag name="RAINPROBLEM" val="ProblemSubmit"/>
  <p:tag name="RAINPROBLEMTYPE" val="MultipleChoice"/>
</p:tagLst>
</file>

<file path=ppt/tags/tag62.xml><?xml version="1.0" encoding="utf-8"?>
<p:tagLst xmlns:p="http://schemas.openxmlformats.org/presentationml/2006/main">
  <p:tag name="RAINPROBLEMTYPE" val="ProblemTypeMarker"/>
</p:tagLst>
</file>

<file path=ppt/tags/tag63.xml><?xml version="1.0" encoding="utf-8"?>
<p:tagLst xmlns:p="http://schemas.openxmlformats.org/presentationml/2006/main">
  <p:tag name="RAINPROBLEMTYPE" val="ProblemTypeMarker"/>
</p:tagLst>
</file>

<file path=ppt/tags/tag64.xml><?xml version="1.0" encoding="utf-8"?>
<p:tagLst xmlns:p="http://schemas.openxmlformats.org/presentationml/2006/main">
  <p:tag name="RAINPROBLEMTYPE" val="ProblemTypeMarker"/>
</p:tagLst>
</file>

<file path=ppt/tags/tag65.xml><?xml version="1.0" encoding="utf-8"?>
<p:tagLst xmlns:p="http://schemas.openxmlformats.org/presentationml/2006/main">
  <p:tag name="RAINPROBLEMTYPE" val="ProblemTypeMarker"/>
</p:tagLst>
</file>

<file path=ppt/tags/tag66.xml><?xml version="1.0" encoding="utf-8"?>
<p:tagLst xmlns:p="http://schemas.openxmlformats.org/presentationml/2006/main">
  <p:tag name="RAINPROBLEMTYPE" val="ProblemTypeMarker"/>
</p:tagLst>
</file>

<file path=ppt/tags/tag67.xml><?xml version="1.0" encoding="utf-8"?>
<p:tagLst xmlns:p="http://schemas.openxmlformats.org/presentationml/2006/main">
  <p:tag name="RAINPROBLEM" val="ProblemSetting"/>
  <p:tag name="RAINPROBLEMTYPE" val="MultipleChoice"/>
</p:tagLst>
</file>

<file path=ppt/tags/tag68.xml><?xml version="1.0" encoding="utf-8"?>
<p:tagLst xmlns:p="http://schemas.openxmlformats.org/presentationml/2006/main">
  <p:tag name="RAINPROBLEM" val="MultipleChoice"/>
  <p:tag name="PROBLEMSCORE" val="1.0"/>
</p:tagLst>
</file>

<file path=ppt/tags/tag69.xml><?xml version="1.0" encoding="utf-8"?>
<p:tagLst xmlns:p="http://schemas.openxmlformats.org/presentationml/2006/main">
  <p:tag name="RAINPROBLEM" val="ProblemBody"/>
</p:tagLst>
</file>

<file path=ppt/tags/tag70.xml><?xml version="1.0" encoding="utf-8"?>
<p:tagLst xmlns:p="http://schemas.openxmlformats.org/presentationml/2006/main">
  <p:tag name="RAINPROBLEM" val="ProblemItem"/>
</p:tagLst>
</file>

<file path=ppt/tags/tag71.xml><?xml version="1.0" encoding="utf-8"?>
<p:tagLst xmlns:p="http://schemas.openxmlformats.org/presentationml/2006/main">
  <p:tag name="RAINPROBLEM" val="ProblemItem"/>
</p:tagLst>
</file>

<file path=ppt/tags/tag72.xml><?xml version="1.0" encoding="utf-8"?>
<p:tagLst xmlns:p="http://schemas.openxmlformats.org/presentationml/2006/main">
  <p:tag name="RAINPROBLEM" val="ProblemItem"/>
</p:tagLst>
</file>

<file path=ppt/tags/tag73.xml><?xml version="1.0" encoding="utf-8"?>
<p:tagLst xmlns:p="http://schemas.openxmlformats.org/presentationml/2006/main">
  <p:tag name="RAINPROBLEM" val="ProblemItem"/>
</p:tagLst>
</file>

<file path=ppt/tags/tag7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78.xml><?xml version="1.0" encoding="utf-8"?>
<p:tagLst xmlns:p="http://schemas.openxmlformats.org/presentationml/2006/main">
  <p:tag name="RAINPROBLEM" val="ProblemSubmit"/>
  <p:tag name="RAINPROBLEMTYPE" val="MultipleChoice"/>
</p:tagLst>
</file>

<file path=ppt/tags/tag79.xml><?xml version="1.0" encoding="utf-8"?>
<p:tagLst xmlns:p="http://schemas.openxmlformats.org/presentationml/2006/main">
  <p:tag name="RAINPROBLEMTYPE" val="ProblemTypeMarker"/>
</p:tagLst>
</file>

<file path=ppt/tags/tag80.xml><?xml version="1.0" encoding="utf-8"?>
<p:tagLst xmlns:p="http://schemas.openxmlformats.org/presentationml/2006/main">
  <p:tag name="RAINPROBLEMTYPE" val="ProblemTypeMarker"/>
</p:tagLst>
</file>

<file path=ppt/tags/tag81.xml><?xml version="1.0" encoding="utf-8"?>
<p:tagLst xmlns:p="http://schemas.openxmlformats.org/presentationml/2006/main">
  <p:tag name="RAINPROBLEMTYPE" val="ProblemTypeMarker"/>
</p:tagLst>
</file>

<file path=ppt/tags/tag82.xml><?xml version="1.0" encoding="utf-8"?>
<p:tagLst xmlns:p="http://schemas.openxmlformats.org/presentationml/2006/main">
  <p:tag name="RAINPROBLEMTYPE" val="ProblemTypeMarker"/>
</p:tagLst>
</file>

<file path=ppt/tags/tag83.xml><?xml version="1.0" encoding="utf-8"?>
<p:tagLst xmlns:p="http://schemas.openxmlformats.org/presentationml/2006/main">
  <p:tag name="RAINPROBLEMTYPE" val="ProblemTypeMarker"/>
</p:tagLst>
</file>

<file path=ppt/tags/tag84.xml><?xml version="1.0" encoding="utf-8"?>
<p:tagLst xmlns:p="http://schemas.openxmlformats.org/presentationml/2006/main">
  <p:tag name="RAINPROBLEM" val="ProblemSetting"/>
  <p:tag name="RAINPROBLEMTYPE" val="MultipleChoice"/>
</p:tagLst>
</file>

<file path=ppt/tags/tag85.xml><?xml version="1.0" encoding="utf-8"?>
<p:tagLst xmlns:p="http://schemas.openxmlformats.org/presentationml/2006/main">
  <p:tag name="RAINPROBLEM" val="MultipleChoice"/>
  <p:tag name="PROBLEMSCORE" val="1.0"/>
</p:tagLst>
</file>

<file path=ppt/tags/tag86.xml><?xml version="1.0" encoding="utf-8"?>
<p:tagLst xmlns:p="http://schemas.openxmlformats.org/presentationml/2006/main">
  <p:tag name="RAINPROBLEM" val="ProblemBody"/>
</p:tagLst>
</file>

<file path=ppt/tags/tag87.xml><?xml version="1.0" encoding="utf-8"?>
<p:tagLst xmlns:p="http://schemas.openxmlformats.org/presentationml/2006/main">
  <p:tag name="RAINPROBLEM" val="ProblemItem"/>
</p:tagLst>
</file>

<file path=ppt/tags/tag88.xml><?xml version="1.0" encoding="utf-8"?>
<p:tagLst xmlns:p="http://schemas.openxmlformats.org/presentationml/2006/main">
  <p:tag name="RAINPROBLEM" val="ProblemItem"/>
</p:tagLst>
</file>

<file path=ppt/tags/tag8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9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1.xml><?xml version="1.0" encoding="utf-8"?>
<p:tagLst xmlns:p="http://schemas.openxmlformats.org/presentationml/2006/main">
  <p:tag name="RAINPROBLEM" val="ProblemSubmit"/>
  <p:tag name="RAINPROBLEMTYPE" val="MultipleChoice"/>
</p:tagLst>
</file>

<file path=ppt/tags/tag92.xml><?xml version="1.0" encoding="utf-8"?>
<p:tagLst xmlns:p="http://schemas.openxmlformats.org/presentationml/2006/main">
  <p:tag name="RAINPROBLEMTYPE" val="ProblemTypeMarker"/>
</p:tagLst>
</file>

<file path=ppt/tags/tag93.xml><?xml version="1.0" encoding="utf-8"?>
<p:tagLst xmlns:p="http://schemas.openxmlformats.org/presentationml/2006/main">
  <p:tag name="RAINPROBLEMTYPE" val="ProblemTypeMarker"/>
</p:tagLst>
</file>

<file path=ppt/tags/tag94.xml><?xml version="1.0" encoding="utf-8"?>
<p:tagLst xmlns:p="http://schemas.openxmlformats.org/presentationml/2006/main">
  <p:tag name="RAINPROBLEMTYPE" val="ProblemTypeMarker"/>
</p:tagLst>
</file>

<file path=ppt/tags/tag95.xml><?xml version="1.0" encoding="utf-8"?>
<p:tagLst xmlns:p="http://schemas.openxmlformats.org/presentationml/2006/main">
  <p:tag name="RAINPROBLEMTYPE" val="ProblemTypeMarker"/>
</p:tagLst>
</file>

<file path=ppt/tags/tag96.xml><?xml version="1.0" encoding="utf-8"?>
<p:tagLst xmlns:p="http://schemas.openxmlformats.org/presentationml/2006/main">
  <p:tag name="RAINPROBLEMTYPE" val="ProblemTypeMarker"/>
</p:tagLst>
</file>

<file path=ppt/tags/tag97.xml><?xml version="1.0" encoding="utf-8"?>
<p:tagLst xmlns:p="http://schemas.openxmlformats.org/presentationml/2006/main">
  <p:tag name="RAINPROBLEM" val="ProblemSetting"/>
  <p:tag name="RAINPROBLEMTYPE" val="MultipleChoice"/>
</p:tagLst>
</file>

<file path=ppt/tags/tag98.xml><?xml version="1.0" encoding="utf-8"?>
<p:tagLst xmlns:p="http://schemas.openxmlformats.org/presentationml/2006/main">
  <p:tag name="RAINPROBLEM" val="MultipleChoice"/>
  <p:tag name="PROBLEMSCORE" val="1.0"/>
</p:tagLst>
</file>

<file path=ppt/tags/tag99.xml><?xml version="1.0" encoding="utf-8"?>
<p:tagLst xmlns:p="http://schemas.openxmlformats.org/presentationml/2006/main">
  <p:tag name="RAINPROBLEM" val="ProblemBody"/>
</p:tagLst>
</file>

<file path=ppt/tags/tag100.xml><?xml version="1.0" encoding="utf-8"?>
<p:tagLst xmlns:p="http://schemas.openxmlformats.org/presentationml/2006/main">
  <p:tag name="RAINPROBLEM" val="ProblemItem"/>
</p:tagLst>
</file>

<file path=ppt/tags/tag101.xml><?xml version="1.0" encoding="utf-8"?>
<p:tagLst xmlns:p="http://schemas.openxmlformats.org/presentationml/2006/main">
  <p:tag name="RAINPROBLEM" val="ProblemItem"/>
</p:tagLst>
</file>

<file path=ppt/tags/tag102.xml><?xml version="1.0" encoding="utf-8"?>
<p:tagLst xmlns:p="http://schemas.openxmlformats.org/presentationml/2006/main">
  <p:tag name="RAINPROBLEM" val="ProblemItem"/>
</p:tagLst>
</file>

<file path=ppt/tags/tag103.xml><?xml version="1.0" encoding="utf-8"?>
<p:tagLst xmlns:p="http://schemas.openxmlformats.org/presentationml/2006/main">
  <p:tag name="RAINPROBLEM" val="ProblemItem"/>
</p:tagLst>
</file>

<file path=ppt/tags/tag10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5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0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8.xml><?xml version="1.0" encoding="utf-8"?>
<p:tagLst xmlns:p="http://schemas.openxmlformats.org/presentationml/2006/main">
  <p:tag name="RAINPROBLEM" val="ProblemSubmit"/>
  <p:tag name="RAINPROBLEMTYPE" val="MultipleChoice"/>
</p:tagLst>
</file>

<file path=ppt/tags/tag109.xml><?xml version="1.0" encoding="utf-8"?>
<p:tagLst xmlns:p="http://schemas.openxmlformats.org/presentationml/2006/main">
  <p:tag name="RAINPROBLEMTYPE" val="ProblemTypeMarker"/>
</p:tagLst>
</file>

<file path=ppt/tags/tag110.xml><?xml version="1.0" encoding="utf-8"?>
<p:tagLst xmlns:p="http://schemas.openxmlformats.org/presentationml/2006/main">
  <p:tag name="RAINPROBLEMTYPE" val="ProblemTypeMarker"/>
</p:tagLst>
</file>

<file path=ppt/tags/tag111.xml><?xml version="1.0" encoding="utf-8"?>
<p:tagLst xmlns:p="http://schemas.openxmlformats.org/presentationml/2006/main">
  <p:tag name="RAINPROBLEMTYPE" val="ProblemTypeMarker"/>
</p:tagLst>
</file>

<file path=ppt/tags/tag112.xml><?xml version="1.0" encoding="utf-8"?>
<p:tagLst xmlns:p="http://schemas.openxmlformats.org/presentationml/2006/main">
  <p:tag name="RAINPROBLEMTYPE" val="ProblemTypeMarker"/>
</p:tagLst>
</file>

<file path=ppt/tags/tag113.xml><?xml version="1.0" encoding="utf-8"?>
<p:tagLst xmlns:p="http://schemas.openxmlformats.org/presentationml/2006/main">
  <p:tag name="RAINPROBLEMTYPE" val="ProblemTypeMarker"/>
</p:tagLst>
</file>

<file path=ppt/tags/tag114.xml><?xml version="1.0" encoding="utf-8"?>
<p:tagLst xmlns:p="http://schemas.openxmlformats.org/presentationml/2006/main">
  <p:tag name="RAINPROBLEM" val="ProblemSetting"/>
  <p:tag name="RAINPROBLEMTYPE" val="MultipleChoice"/>
</p:tagLst>
</file>

<file path=ppt/tags/tag115.xml><?xml version="1.0" encoding="utf-8"?>
<p:tagLst xmlns:p="http://schemas.openxmlformats.org/presentationml/2006/main">
  <p:tag name="RAINPROBLEM" val="MultipleChoice"/>
  <p:tag name="PROBLEMSCORE" val="1.0"/>
</p:tagLst>
</file>

<file path=ppt/tags/tag116.xml><?xml version="1.0" encoding="utf-8"?>
<p:tagLst xmlns:p="http://schemas.openxmlformats.org/presentationml/2006/main">
  <p:tag name="RAINPROBLEM" val="ProblemBody"/>
</p:tagLst>
</file>

<file path=ppt/tags/tag117.xml><?xml version="1.0" encoding="utf-8"?>
<p:tagLst xmlns:p="http://schemas.openxmlformats.org/presentationml/2006/main">
  <p:tag name="RAINPROBLEM" val="ProblemItem"/>
</p:tagLst>
</file>

<file path=ppt/tags/tag118.xml><?xml version="1.0" encoding="utf-8"?>
<p:tagLst xmlns:p="http://schemas.openxmlformats.org/presentationml/2006/main">
  <p:tag name="RAINPROBLEM" val="ProblemItem"/>
</p:tagLst>
</file>

<file path=ppt/tags/tag119.xml><?xml version="1.0" encoding="utf-8"?>
<p:tagLst xmlns:p="http://schemas.openxmlformats.org/presentationml/2006/main">
  <p:tag name="RAINPROBLEM" val="ProblemItem"/>
</p:tagLst>
</file>

<file path=ppt/tags/tag120.xml><?xml version="1.0" encoding="utf-8"?>
<p:tagLst xmlns:p="http://schemas.openxmlformats.org/presentationml/2006/main">
  <p:tag name="RAINPROBLEM" val="ProblemItem"/>
</p:tagLst>
</file>

<file path=ppt/tags/tag12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2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5.xml><?xml version="1.0" encoding="utf-8"?>
<p:tagLst xmlns:p="http://schemas.openxmlformats.org/presentationml/2006/main">
  <p:tag name="RAINPROBLEM" val="ProblemSubmit"/>
  <p:tag name="RAINPROBLEMTYPE" val="MultipleChoice"/>
</p:tagLst>
</file>

<file path=ppt/tags/tag126.xml><?xml version="1.0" encoding="utf-8"?>
<p:tagLst xmlns:p="http://schemas.openxmlformats.org/presentationml/2006/main">
  <p:tag name="RAINPROBLEMTYPE" val="ProblemTypeMarker"/>
</p:tagLst>
</file>

<file path=ppt/tags/tag127.xml><?xml version="1.0" encoding="utf-8"?>
<p:tagLst xmlns:p="http://schemas.openxmlformats.org/presentationml/2006/main">
  <p:tag name="RAINPROBLEMTYPE" val="ProblemTypeMarker"/>
</p:tagLst>
</file>

<file path=ppt/tags/tag128.xml><?xml version="1.0" encoding="utf-8"?>
<p:tagLst xmlns:p="http://schemas.openxmlformats.org/presentationml/2006/main">
  <p:tag name="RAINPROBLEMTYPE" val="ProblemTypeMarker"/>
</p:tagLst>
</file>

<file path=ppt/tags/tag129.xml><?xml version="1.0" encoding="utf-8"?>
<p:tagLst xmlns:p="http://schemas.openxmlformats.org/presentationml/2006/main">
  <p:tag name="RAINPROBLEMTYPE" val="ProblemTypeMarker"/>
</p:tagLst>
</file>

<file path=ppt/tags/tag130.xml><?xml version="1.0" encoding="utf-8"?>
<p:tagLst xmlns:p="http://schemas.openxmlformats.org/presentationml/2006/main">
  <p:tag name="RAINPROBLEMTYPE" val="ProblemTypeMarker"/>
</p:tagLst>
</file>

<file path=ppt/tags/tag131.xml><?xml version="1.0" encoding="utf-8"?>
<p:tagLst xmlns:p="http://schemas.openxmlformats.org/presentationml/2006/main">
  <p:tag name="RAINPROBLEM" val="ProblemSetting"/>
  <p:tag name="RAINPROBLEMTYPE" val="MultipleChoice"/>
</p:tagLst>
</file>

<file path=ppt/tags/tag132.xml><?xml version="1.0" encoding="utf-8"?>
<p:tagLst xmlns:p="http://schemas.openxmlformats.org/presentationml/2006/main">
  <p:tag name="RAINPROBLEM" val="MultipleChoice"/>
  <p:tag name="PROBLEMSCORE" val="1.0"/>
</p:tagLst>
</file>

<file path=ppt/tags/tag133.xml><?xml version="1.0" encoding="utf-8"?>
<p:tagLst xmlns:p="http://schemas.openxmlformats.org/presentationml/2006/main">
  <p:tag name="RAINPROBLEM" val="ProblemBody"/>
</p:tagLst>
</file>

<file path=ppt/tags/tag134.xml><?xml version="1.0" encoding="utf-8"?>
<p:tagLst xmlns:p="http://schemas.openxmlformats.org/presentationml/2006/main">
  <p:tag name="RAINPROBLEM" val="ProblemItem"/>
</p:tagLst>
</file>

<file path=ppt/tags/tag135.xml><?xml version="1.0" encoding="utf-8"?>
<p:tagLst xmlns:p="http://schemas.openxmlformats.org/presentationml/2006/main">
  <p:tag name="RAINPROBLEM" val="ProblemItem"/>
</p:tagLst>
</file>

<file path=ppt/tags/tag136.xml><?xml version="1.0" encoding="utf-8"?>
<p:tagLst xmlns:p="http://schemas.openxmlformats.org/presentationml/2006/main">
  <p:tag name="RAINPROBLEM" val="ProblemItem"/>
</p:tagLst>
</file>

<file path=ppt/tags/tag137.xml><?xml version="1.0" encoding="utf-8"?>
<p:tagLst xmlns:p="http://schemas.openxmlformats.org/presentationml/2006/main">
  <p:tag name="RAINPROBLEM" val="ProblemItem"/>
</p:tagLst>
</file>

<file path=ppt/tags/tag13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4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2.xml><?xml version="1.0" encoding="utf-8"?>
<p:tagLst xmlns:p="http://schemas.openxmlformats.org/presentationml/2006/main">
  <p:tag name="RAINPROBLEM" val="ProblemSubmit"/>
  <p:tag name="RAINPROBLEMTYPE" val="MultipleChoice"/>
</p:tagLst>
</file>

<file path=ppt/tags/tag143.xml><?xml version="1.0" encoding="utf-8"?>
<p:tagLst xmlns:p="http://schemas.openxmlformats.org/presentationml/2006/main">
  <p:tag name="RAINPROBLEMTYPE" val="ProblemTypeMarker"/>
</p:tagLst>
</file>

<file path=ppt/tags/tag144.xml><?xml version="1.0" encoding="utf-8"?>
<p:tagLst xmlns:p="http://schemas.openxmlformats.org/presentationml/2006/main">
  <p:tag name="RAINPROBLEMTYPE" val="ProblemTypeMarker"/>
</p:tagLst>
</file>

<file path=ppt/tags/tag145.xml><?xml version="1.0" encoding="utf-8"?>
<p:tagLst xmlns:p="http://schemas.openxmlformats.org/presentationml/2006/main">
  <p:tag name="RAINPROBLEMTYPE" val="ProblemTypeMarker"/>
</p:tagLst>
</file>

<file path=ppt/tags/tag146.xml><?xml version="1.0" encoding="utf-8"?>
<p:tagLst xmlns:p="http://schemas.openxmlformats.org/presentationml/2006/main">
  <p:tag name="RAINPROBLEMTYPE" val="ProblemTypeMarker"/>
</p:tagLst>
</file>

<file path=ppt/tags/tag147.xml><?xml version="1.0" encoding="utf-8"?>
<p:tagLst xmlns:p="http://schemas.openxmlformats.org/presentationml/2006/main">
  <p:tag name="RAINPROBLEMTYPE" val="ProblemTypeMarker"/>
</p:tagLst>
</file>

<file path=ppt/tags/tag148.xml><?xml version="1.0" encoding="utf-8"?>
<p:tagLst xmlns:p="http://schemas.openxmlformats.org/presentationml/2006/main">
  <p:tag name="RAINPROBLEM" val="ProblemSetting"/>
  <p:tag name="RAINPROBLEMTYPE" val="MultipleChoice"/>
</p:tagLst>
</file>

<file path=ppt/tags/tag149.xml><?xml version="1.0" encoding="utf-8"?>
<p:tagLst xmlns:p="http://schemas.openxmlformats.org/presentationml/2006/main">
  <p:tag name="RAINPROBLEM" val="MultipleChoice"/>
  <p:tag name="PROBLEMSCORE" val="1.0"/>
</p:tagLst>
</file>

<file path=ppt/tags/tag150.xml><?xml version="1.0" encoding="utf-8"?>
<p:tagLst xmlns:p="http://schemas.openxmlformats.org/presentationml/2006/main">
  <p:tag name="RAINPROBLEM" val="ProblemBody"/>
</p:tagLst>
</file>

<file path=ppt/tags/tag151.xml><?xml version="1.0" encoding="utf-8"?>
<p:tagLst xmlns:p="http://schemas.openxmlformats.org/presentationml/2006/main">
  <p:tag name="RAINPROBLEM" val="ProblemItem"/>
</p:tagLst>
</file>

<file path=ppt/tags/tag152.xml><?xml version="1.0" encoding="utf-8"?>
<p:tagLst xmlns:p="http://schemas.openxmlformats.org/presentationml/2006/main">
  <p:tag name="RAINPROBLEM" val="ProblemItem"/>
</p:tagLst>
</file>

<file path=ppt/tags/tag153.xml><?xml version="1.0" encoding="utf-8"?>
<p:tagLst xmlns:p="http://schemas.openxmlformats.org/presentationml/2006/main">
  <p:tag name="RAINPROBLEM" val="ProblemItem"/>
</p:tagLst>
</file>

<file path=ppt/tags/tag154.xml><?xml version="1.0" encoding="utf-8"?>
<p:tagLst xmlns:p="http://schemas.openxmlformats.org/presentationml/2006/main">
  <p:tag name="RAINPROBLEM" val="ProblemItem"/>
</p:tagLst>
</file>

<file path=ppt/tags/tag15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5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9.xml><?xml version="1.0" encoding="utf-8"?>
<p:tagLst xmlns:p="http://schemas.openxmlformats.org/presentationml/2006/main">
  <p:tag name="RAINPROBLEM" val="ProblemSubmit"/>
  <p:tag name="RAINPROBLEMTYPE" val="MultipleChoice"/>
</p:tagLst>
</file>

<file path=ppt/tags/tag160.xml><?xml version="1.0" encoding="utf-8"?>
<p:tagLst xmlns:p="http://schemas.openxmlformats.org/presentationml/2006/main">
  <p:tag name="RAINPROBLEMTYPE" val="ProblemTypeMarker"/>
</p:tagLst>
</file>

<file path=ppt/tags/tag161.xml><?xml version="1.0" encoding="utf-8"?>
<p:tagLst xmlns:p="http://schemas.openxmlformats.org/presentationml/2006/main">
  <p:tag name="RAINPROBLEMTYPE" val="ProblemTypeMarker"/>
</p:tagLst>
</file>

<file path=ppt/tags/tag162.xml><?xml version="1.0" encoding="utf-8"?>
<p:tagLst xmlns:p="http://schemas.openxmlformats.org/presentationml/2006/main">
  <p:tag name="RAINPROBLEMTYPE" val="ProblemTypeMarker"/>
</p:tagLst>
</file>

<file path=ppt/tags/tag163.xml><?xml version="1.0" encoding="utf-8"?>
<p:tagLst xmlns:p="http://schemas.openxmlformats.org/presentationml/2006/main">
  <p:tag name="RAINPROBLEMTYPE" val="ProblemTypeMarker"/>
</p:tagLst>
</file>

<file path=ppt/tags/tag164.xml><?xml version="1.0" encoding="utf-8"?>
<p:tagLst xmlns:p="http://schemas.openxmlformats.org/presentationml/2006/main">
  <p:tag name="RAINPROBLEMTYPE" val="ProblemTypeMarker"/>
</p:tagLst>
</file>

<file path=ppt/tags/tag165.xml><?xml version="1.0" encoding="utf-8"?>
<p:tagLst xmlns:p="http://schemas.openxmlformats.org/presentationml/2006/main">
  <p:tag name="RAINPROBLEM" val="ProblemSetting"/>
  <p:tag name="RAINPROBLEMTYPE" val="MultipleChoice"/>
</p:tagLst>
</file>

<file path=ppt/tags/tag166.xml><?xml version="1.0" encoding="utf-8"?>
<p:tagLst xmlns:p="http://schemas.openxmlformats.org/presentationml/2006/main">
  <p:tag name="RAINPROBLEM" val="MultipleChoice"/>
  <p:tag name="PROBLEMSCORE" val="1.0"/>
</p:tagLst>
</file>

<file path=ppt/tags/tag167.xml><?xml version="1.0" encoding="utf-8"?>
<p:tagLst xmlns:p="http://schemas.openxmlformats.org/presentationml/2006/main">
  <p:tag name="RAINPROBLEM" val="ProblemBody"/>
</p:tagLst>
</file>

<file path=ppt/tags/tag168.xml><?xml version="1.0" encoding="utf-8"?>
<p:tagLst xmlns:p="http://schemas.openxmlformats.org/presentationml/2006/main">
  <p:tag name="RAINPROBLEM" val="ProblemItem"/>
</p:tagLst>
</file>

<file path=ppt/tags/tag169.xml><?xml version="1.0" encoding="utf-8"?>
<p:tagLst xmlns:p="http://schemas.openxmlformats.org/presentationml/2006/main">
  <p:tag name="RAINPROBLEM" val="ProblemItem"/>
</p:tagLst>
</file>

<file path=ppt/tags/tag170.xml><?xml version="1.0" encoding="utf-8"?>
<p:tagLst xmlns:p="http://schemas.openxmlformats.org/presentationml/2006/main">
  <p:tag name="RAINPROBLEM" val="ProblemItem"/>
</p:tagLst>
</file>

<file path=ppt/tags/tag171.xml><?xml version="1.0" encoding="utf-8"?>
<p:tagLst xmlns:p="http://schemas.openxmlformats.org/presentationml/2006/main">
  <p:tag name="RAINPROBLEM" val="ProblemItem"/>
</p:tagLst>
</file>

<file path=ppt/tags/tag17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7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6.xml><?xml version="1.0" encoding="utf-8"?>
<p:tagLst xmlns:p="http://schemas.openxmlformats.org/presentationml/2006/main">
  <p:tag name="RAINPROBLEM" val="ProblemSubmit"/>
  <p:tag name="RAINPROBLEMTYPE" val="MultipleChoice"/>
</p:tagLst>
</file>

<file path=ppt/tags/tag177.xml><?xml version="1.0" encoding="utf-8"?>
<p:tagLst xmlns:p="http://schemas.openxmlformats.org/presentationml/2006/main">
  <p:tag name="RAINPROBLEMTYPE" val="ProblemTypeMarker"/>
</p:tagLst>
</file>

<file path=ppt/tags/tag178.xml><?xml version="1.0" encoding="utf-8"?>
<p:tagLst xmlns:p="http://schemas.openxmlformats.org/presentationml/2006/main">
  <p:tag name="RAINPROBLEMTYPE" val="ProblemTypeMarker"/>
</p:tagLst>
</file>

<file path=ppt/tags/tag179.xml><?xml version="1.0" encoding="utf-8"?>
<p:tagLst xmlns:p="http://schemas.openxmlformats.org/presentationml/2006/main">
  <p:tag name="RAINPROBLEMTYPE" val="ProblemTypeMarker"/>
</p:tagLst>
</file>

<file path=ppt/tags/tag180.xml><?xml version="1.0" encoding="utf-8"?>
<p:tagLst xmlns:p="http://schemas.openxmlformats.org/presentationml/2006/main">
  <p:tag name="RAINPROBLEMTYPE" val="ProblemTypeMarker"/>
</p:tagLst>
</file>

<file path=ppt/tags/tag181.xml><?xml version="1.0" encoding="utf-8"?>
<p:tagLst xmlns:p="http://schemas.openxmlformats.org/presentationml/2006/main">
  <p:tag name="RAINPROBLEMTYPE" val="ProblemTypeMarker"/>
</p:tagLst>
</file>

<file path=ppt/tags/tag182.xml><?xml version="1.0" encoding="utf-8"?>
<p:tagLst xmlns:p="http://schemas.openxmlformats.org/presentationml/2006/main">
  <p:tag name="RAINPROBLEM" val="ProblemSetting"/>
  <p:tag name="RAINPROBLEMTYPE" val="MultipleChoice"/>
</p:tagLst>
</file>

<file path=ppt/tags/tag183.xml><?xml version="1.0" encoding="utf-8"?>
<p:tagLst xmlns:p="http://schemas.openxmlformats.org/presentationml/2006/main">
  <p:tag name="RAINPROBLEM" val="MultipleChoice"/>
  <p:tag name="PROBLEMSCORE" val="1.0"/>
</p:tagLst>
</file>

<file path=ppt/tags/tag184.xml><?xml version="1.0" encoding="utf-8"?>
<p:tagLst xmlns:p="http://schemas.openxmlformats.org/presentationml/2006/main">
  <p:tag name="RAINPROBLEM" val="ProblemBody"/>
</p:tagLst>
</file>

<file path=ppt/tags/tag185.xml><?xml version="1.0" encoding="utf-8"?>
<p:tagLst xmlns:p="http://schemas.openxmlformats.org/presentationml/2006/main">
  <p:tag name="RAINPROBLEM" val="ProblemItem"/>
</p:tagLst>
</file>

<file path=ppt/tags/tag186.xml><?xml version="1.0" encoding="utf-8"?>
<p:tagLst xmlns:p="http://schemas.openxmlformats.org/presentationml/2006/main">
  <p:tag name="RAINPROBLEM" val="ProblemItem"/>
</p:tagLst>
</file>

<file path=ppt/tags/tag187.xml><?xml version="1.0" encoding="utf-8"?>
<p:tagLst xmlns:p="http://schemas.openxmlformats.org/presentationml/2006/main">
  <p:tag name="RAINPROBLEM" val="ProblemItem"/>
</p:tagLst>
</file>

<file path=ppt/tags/tag188.xml><?xml version="1.0" encoding="utf-8"?>
<p:tagLst xmlns:p="http://schemas.openxmlformats.org/presentationml/2006/main">
  <p:tag name="RAINPROBLEM" val="ProblemItem"/>
</p:tagLst>
</file>

<file path=ppt/tags/tag18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9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3.xml><?xml version="1.0" encoding="utf-8"?>
<p:tagLst xmlns:p="http://schemas.openxmlformats.org/presentationml/2006/main">
  <p:tag name="RAINPROBLEM" val="ProblemSubmit"/>
  <p:tag name="RAINPROBLEMTYPE" val="MultipleChoice"/>
</p:tagLst>
</file>

<file path=ppt/tags/tag194.xml><?xml version="1.0" encoding="utf-8"?>
<p:tagLst xmlns:p="http://schemas.openxmlformats.org/presentationml/2006/main">
  <p:tag name="RAINPROBLEMTYPE" val="ProblemTypeMarker"/>
</p:tagLst>
</file>

<file path=ppt/tags/tag195.xml><?xml version="1.0" encoding="utf-8"?>
<p:tagLst xmlns:p="http://schemas.openxmlformats.org/presentationml/2006/main">
  <p:tag name="RAINPROBLEMTYPE" val="ProblemTypeMarker"/>
</p:tagLst>
</file>

<file path=ppt/tags/tag196.xml><?xml version="1.0" encoding="utf-8"?>
<p:tagLst xmlns:p="http://schemas.openxmlformats.org/presentationml/2006/main">
  <p:tag name="RAINPROBLEMTYPE" val="ProblemTypeMarker"/>
</p:tagLst>
</file>

<file path=ppt/tags/tag197.xml><?xml version="1.0" encoding="utf-8"?>
<p:tagLst xmlns:p="http://schemas.openxmlformats.org/presentationml/2006/main">
  <p:tag name="RAINPROBLEMTYPE" val="ProblemTypeMarker"/>
</p:tagLst>
</file>

<file path=ppt/tags/tag198.xml><?xml version="1.0" encoding="utf-8"?>
<p:tagLst xmlns:p="http://schemas.openxmlformats.org/presentationml/2006/main">
  <p:tag name="RAINPROBLEMTYPE" val="ProblemTypeMarker"/>
</p:tagLst>
</file>

<file path=ppt/tags/tag199.xml><?xml version="1.0" encoding="utf-8"?>
<p:tagLst xmlns:p="http://schemas.openxmlformats.org/presentationml/2006/main">
  <p:tag name="RAINPROBLEM" val="ProblemSetting"/>
  <p:tag name="RAINPROBLEMTYPE" val="MultipleChoice"/>
</p:tagLst>
</file>

<file path=ppt/tags/tag200.xml><?xml version="1.0" encoding="utf-8"?>
<p:tagLst xmlns:p="http://schemas.openxmlformats.org/presentationml/2006/main">
  <p:tag name="RAINPROBLEM" val="MultipleChoice"/>
  <p:tag name="PROBLEMSCORE" val="1.0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FF3300"/>
          </a:buClr>
          <a:buSzPct val="75000"/>
          <a:buFont typeface="Wingdings" panose="05000000000000000000" pitchFamily="2" charset="2"/>
          <a:buChar char="m"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隶书" panose="020105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FF3300"/>
          </a:buClr>
          <a:buSzPct val="75000"/>
          <a:buFont typeface="Wingdings" panose="05000000000000000000" pitchFamily="2" charset="2"/>
          <a:buChar char="m"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隶书" panose="02010509060101010101" pitchFamily="49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0</TotalTime>
  <Words>21687</Words>
  <Application>WPS 演示</Application>
  <PresentationFormat>全屏显示(4:3)</PresentationFormat>
  <Paragraphs>2025</Paragraphs>
  <Slides>126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126</vt:i4>
      </vt:variant>
    </vt:vector>
  </HeadingPairs>
  <TitlesOfParts>
    <vt:vector size="148" baseType="lpstr">
      <vt:lpstr>Arial</vt:lpstr>
      <vt:lpstr>宋体</vt:lpstr>
      <vt:lpstr>Wingdings</vt:lpstr>
      <vt:lpstr>Times New Roman</vt:lpstr>
      <vt:lpstr>隶书</vt:lpstr>
      <vt:lpstr>Tahoma</vt:lpstr>
      <vt:lpstr>黑体</vt:lpstr>
      <vt:lpstr>Symbol</vt:lpstr>
      <vt:lpstr>Times New Roman</vt:lpstr>
      <vt:lpstr>Monotype Corsiva</vt:lpstr>
      <vt:lpstr>Batang</vt:lpstr>
      <vt:lpstr>Constantia</vt:lpstr>
      <vt:lpstr>Math1</vt:lpstr>
      <vt:lpstr>Segoe Print</vt:lpstr>
      <vt:lpstr>微软雅黑</vt:lpstr>
      <vt:lpstr>Arial Unicode MS</vt:lpstr>
      <vt:lpstr>Courier New</vt:lpstr>
      <vt:lpstr>等线</vt:lpstr>
      <vt:lpstr>Blends</vt:lpstr>
      <vt:lpstr>Equation.3</vt:lpstr>
      <vt:lpstr>Equation.3</vt:lpstr>
      <vt:lpstr>Equation.3</vt:lpstr>
      <vt:lpstr>第二章  一个简单的编译器</vt:lpstr>
      <vt:lpstr>学习内容</vt:lpstr>
      <vt:lpstr>2.1  概述</vt:lpstr>
      <vt:lpstr>构造一个简单的编译器</vt:lpstr>
      <vt:lpstr>2.2  语法定义</vt:lpstr>
      <vt:lpstr>上下文无关文法</vt:lpstr>
      <vt:lpstr>形式化定义</vt:lpstr>
      <vt:lpstr>几个概念（续）</vt:lpstr>
      <vt:lpstr>四元式定义上下文无法文法</vt:lpstr>
      <vt:lpstr>例2.1  符号约定</vt:lpstr>
      <vt:lpstr>PowerPoint 演示文稿</vt:lpstr>
      <vt:lpstr>PowerPoint 演示文稿</vt:lpstr>
      <vt:lpstr>PowerPoint 演示文稿</vt:lpstr>
      <vt:lpstr>PowerPoint 演示文稿</vt:lpstr>
      <vt:lpstr>推导</vt:lpstr>
      <vt:lpstr>例2.2</vt:lpstr>
      <vt:lpstr>2.2.1  语法分析树（parse tree）</vt:lpstr>
      <vt:lpstr>例2.4</vt:lpstr>
      <vt:lpstr>2.2.2  二义性（ambiguity）</vt:lpstr>
      <vt:lpstr>例2.5</vt:lpstr>
      <vt:lpstr>2.2.3  运算符的结合率</vt:lpstr>
      <vt:lpstr>右结合例</vt:lpstr>
      <vt:lpstr>2.2.4  运算符优先级</vt:lpstr>
      <vt:lpstr>设计非二义性的表达式文法</vt:lpstr>
      <vt:lpstr>推导练习</vt:lpstr>
      <vt:lpstr>推导练习</vt:lpstr>
      <vt:lpstr>Grammar-based compression</vt:lpstr>
      <vt:lpstr>2.3  语法制导翻译</vt:lpstr>
      <vt:lpstr>怎么设计语法制导翻译程序</vt:lpstr>
      <vt:lpstr>2.3.1  表达式的后缀表示法</vt:lpstr>
      <vt:lpstr>2.3.2  语法制导定义</vt:lpstr>
      <vt:lpstr>语法制导翻译的基本过程</vt:lpstr>
      <vt:lpstr>2.3.3  综合属性</vt:lpstr>
      <vt:lpstr>例2.6</vt:lpstr>
      <vt:lpstr>翻译方法语义规则</vt:lpstr>
      <vt:lpstr>例2.6（续）</vt:lpstr>
      <vt:lpstr>例2.6（续）注释语法分析树</vt:lpstr>
      <vt:lpstr>2.3.4  语法制导定义的实现</vt:lpstr>
      <vt:lpstr>2.3.5  翻译模式</vt:lpstr>
      <vt:lpstr>2.3.6  执行翻译模式</vt:lpstr>
      <vt:lpstr>如何设计翻译模式？</vt:lpstr>
      <vt:lpstr>如何设计翻译模式（续）</vt:lpstr>
      <vt:lpstr>例2.8</vt:lpstr>
      <vt:lpstr>翻译模式设计练习</vt:lpstr>
      <vt:lpstr>Yacc</vt:lpstr>
      <vt:lpstr>Yacc程序结构</vt:lpstr>
      <vt:lpstr>例：简单表达式计算</vt:lpstr>
      <vt:lpstr>例：简单表达式计算（续）</vt:lpstr>
      <vt:lpstr>例：简单表达式计算（续）</vt:lpstr>
      <vt:lpstr>例：简单表达式计算（续）</vt:lpstr>
      <vt:lpstr>例：简单表达式计算（续）</vt:lpstr>
      <vt:lpstr>C++版本</vt:lpstr>
      <vt:lpstr>C++版本（续）</vt:lpstr>
      <vt:lpstr>C++版本（续）</vt:lpstr>
      <vt:lpstr>C++版本（续）</vt:lpstr>
      <vt:lpstr>C++版本（续）</vt:lpstr>
      <vt:lpstr>C++版本（续）</vt:lpstr>
      <vt:lpstr>2.4  语法分析</vt:lpstr>
      <vt:lpstr>2.4.1  自顶向下分析方法</vt:lpstr>
      <vt:lpstr>例：Pascal的类型</vt:lpstr>
      <vt:lpstr>语法分析树构造过程</vt:lpstr>
      <vt:lpstr>语法分析树构造过程</vt:lpstr>
      <vt:lpstr>语法分析树构造过程（续）</vt:lpstr>
      <vt:lpstr>语法分析树构造过程（续）</vt:lpstr>
      <vt:lpstr>平凡算法</vt:lpstr>
      <vt:lpstr>扫描输入分析过程</vt:lpstr>
      <vt:lpstr>扫描输入分析过程（续）</vt:lpstr>
      <vt:lpstr>扫描输入分析过程（续）</vt:lpstr>
      <vt:lpstr>扫描输入分析过程（续）</vt:lpstr>
      <vt:lpstr>扫描输入分析过程（续）</vt:lpstr>
      <vt:lpstr>2.4.2  预测分析</vt:lpstr>
      <vt:lpstr>预测分析程序</vt:lpstr>
      <vt:lpstr>预测分析程序（续）</vt:lpstr>
      <vt:lpstr>预测分析程序（续）</vt:lpstr>
      <vt:lpstr>2.4.4  设计预测分析器</vt:lpstr>
      <vt:lpstr>预测分析器算法</vt:lpstr>
      <vt:lpstr>预测分析器算法</vt:lpstr>
      <vt:lpstr>结合翻译模式</vt:lpstr>
      <vt:lpstr>2.4.5  左递归</vt:lpstr>
      <vt:lpstr>左递归的另一个问题</vt:lpstr>
      <vt:lpstr>消除左递归</vt:lpstr>
      <vt:lpstr>左递归 vs. 右递归语法树差异</vt:lpstr>
      <vt:lpstr>2.5  构造表达式转换的编译器</vt:lpstr>
      <vt:lpstr>消除左递归、加入翻译模式</vt:lpstr>
      <vt:lpstr>9-5+2翻译为95-2+</vt:lpstr>
      <vt:lpstr>2.5.3  非终结符实现代码</vt:lpstr>
      <vt:lpstr>非终结符的分析函数——rest</vt:lpstr>
      <vt:lpstr>非终结符的分析函数——term</vt:lpstr>
      <vt:lpstr>2.5.4  优化——消除rest尾递归</vt:lpstr>
      <vt:lpstr>优化——rest并入expr</vt:lpstr>
      <vt:lpstr>2.5.5  完整程序</vt:lpstr>
      <vt:lpstr>2.6 词法分析</vt:lpstr>
      <vt:lpstr>2.6.4  词法分析器接口</vt:lpstr>
      <vt:lpstr>2.6.5  词法分析器程序</vt:lpstr>
      <vt:lpstr>词法分析器程序（续）</vt:lpstr>
      <vt:lpstr>2.7 符号表</vt:lpstr>
      <vt:lpstr>2.7.3  一种实现方式</vt:lpstr>
      <vt:lpstr>带有符号表功能的词法分析器</vt:lpstr>
      <vt:lpstr>带有符号表功能的词法分析器</vt:lpstr>
      <vt:lpstr>Lcc的符号表</vt:lpstr>
      <vt:lpstr>字符串管理</vt:lpstr>
      <vt:lpstr>字符串管理</vt:lpstr>
      <vt:lpstr>符号表</vt:lpstr>
      <vt:lpstr>符号表</vt:lpstr>
      <vt:lpstr>符号表</vt:lpstr>
      <vt:lpstr>2.8 代码生成</vt:lpstr>
      <vt:lpstr>表达式的代码生成（续）</vt:lpstr>
      <vt:lpstr>控制流的翻译</vt:lpstr>
      <vt:lpstr>控制流语句的翻译</vt:lpstr>
      <vt:lpstr>2.8.7  翻译模式</vt:lpstr>
      <vt:lpstr>stmt分析函数</vt:lpstr>
      <vt:lpstr>2.9 完整的编译器</vt:lpstr>
      <vt:lpstr>完整的文法</vt:lpstr>
      <vt:lpstr>总结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南开大学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介绍</dc:title>
  <dc:creator>王刚</dc:creator>
  <cp:lastModifiedBy>蒋枘言</cp:lastModifiedBy>
  <cp:revision>895</cp:revision>
  <dcterms:created xsi:type="dcterms:W3CDTF">2003-06-05T11:51:00Z</dcterms:created>
  <dcterms:modified xsi:type="dcterms:W3CDTF">2025-09-24T09:01:31Z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0916CB4C4FEF4D26A294CF118F84958B_12</vt:lpwstr>
  </property>
  <property fmtid="{D5CDD505-2E9C-101B-9397-08002B2CF9AE}" pid="3" name="KSOProductBuildVer">
    <vt:lpwstr>2052-12.1.0.20305</vt:lpwstr>
  </property>
</Properties>
</file>