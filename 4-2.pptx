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57"/>
  </p:handoutMasterIdLst>
  <p:sldIdLst>
    <p:sldId id="256" r:id="rId3"/>
    <p:sldId id="257" r:id="rId4"/>
    <p:sldId id="258" r:id="rId5"/>
    <p:sldId id="261" r:id="rId6"/>
    <p:sldId id="259" r:id="rId7"/>
    <p:sldId id="260" r:id="rId8"/>
    <p:sldId id="262" r:id="rId9"/>
    <p:sldId id="263" r:id="rId10"/>
    <p:sldId id="264" r:id="rId11"/>
    <p:sldId id="399" r:id="rId12"/>
    <p:sldId id="265" r:id="rId13"/>
    <p:sldId id="267" r:id="rId14"/>
    <p:sldId id="268" r:id="rId16"/>
    <p:sldId id="269" r:id="rId17"/>
    <p:sldId id="270" r:id="rId18"/>
    <p:sldId id="40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401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410" r:id="rId41"/>
    <p:sldId id="291" r:id="rId42"/>
    <p:sldId id="292" r:id="rId43"/>
    <p:sldId id="293" r:id="rId44"/>
    <p:sldId id="418" r:id="rId45"/>
    <p:sldId id="294" r:id="rId46"/>
    <p:sldId id="295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402" r:id="rId61"/>
    <p:sldId id="310" r:id="rId62"/>
    <p:sldId id="419" r:id="rId63"/>
    <p:sldId id="412" r:id="rId64"/>
    <p:sldId id="421" r:id="rId65"/>
    <p:sldId id="42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403" r:id="rId74"/>
    <p:sldId id="318" r:id="rId75"/>
    <p:sldId id="319" r:id="rId76"/>
    <p:sldId id="321" r:id="rId77"/>
    <p:sldId id="411" r:id="rId78"/>
    <p:sldId id="322" r:id="rId79"/>
    <p:sldId id="323" r:id="rId80"/>
    <p:sldId id="324" r:id="rId81"/>
    <p:sldId id="325" r:id="rId82"/>
    <p:sldId id="326" r:id="rId83"/>
    <p:sldId id="405" r:id="rId84"/>
    <p:sldId id="327" r:id="rId85"/>
    <p:sldId id="404" r:id="rId86"/>
    <p:sldId id="328" r:id="rId87"/>
    <p:sldId id="329" r:id="rId88"/>
    <p:sldId id="330" r:id="rId89"/>
    <p:sldId id="331" r:id="rId90"/>
    <p:sldId id="332" r:id="rId91"/>
    <p:sldId id="333" r:id="rId92"/>
    <p:sldId id="334" r:id="rId93"/>
    <p:sldId id="335" r:id="rId94"/>
    <p:sldId id="406" r:id="rId95"/>
    <p:sldId id="336" r:id="rId96"/>
    <p:sldId id="337" r:id="rId97"/>
    <p:sldId id="338" r:id="rId98"/>
    <p:sldId id="339" r:id="rId99"/>
    <p:sldId id="340" r:id="rId100"/>
    <p:sldId id="341" r:id="rId101"/>
    <p:sldId id="342" r:id="rId102"/>
    <p:sldId id="416" r:id="rId103"/>
    <p:sldId id="343" r:id="rId104"/>
    <p:sldId id="344" r:id="rId105"/>
    <p:sldId id="345" r:id="rId106"/>
    <p:sldId id="346" r:id="rId107"/>
    <p:sldId id="407" r:id="rId108"/>
    <p:sldId id="347" r:id="rId109"/>
    <p:sldId id="348" r:id="rId110"/>
    <p:sldId id="349" r:id="rId111"/>
    <p:sldId id="350" r:id="rId112"/>
    <p:sldId id="351" r:id="rId113"/>
    <p:sldId id="352" r:id="rId114"/>
    <p:sldId id="353" r:id="rId115"/>
    <p:sldId id="354" r:id="rId116"/>
    <p:sldId id="355" r:id="rId117"/>
    <p:sldId id="356" r:id="rId118"/>
    <p:sldId id="398" r:id="rId119"/>
    <p:sldId id="357" r:id="rId120"/>
    <p:sldId id="358" r:id="rId121"/>
    <p:sldId id="359" r:id="rId122"/>
    <p:sldId id="360" r:id="rId123"/>
    <p:sldId id="361" r:id="rId124"/>
    <p:sldId id="414" r:id="rId125"/>
    <p:sldId id="363" r:id="rId126"/>
    <p:sldId id="364" r:id="rId127"/>
    <p:sldId id="365" r:id="rId128"/>
    <p:sldId id="366" r:id="rId129"/>
    <p:sldId id="408" r:id="rId130"/>
    <p:sldId id="367" r:id="rId131"/>
    <p:sldId id="368" r:id="rId132"/>
    <p:sldId id="369" r:id="rId133"/>
    <p:sldId id="409" r:id="rId134"/>
    <p:sldId id="370" r:id="rId135"/>
    <p:sldId id="371" r:id="rId136"/>
    <p:sldId id="372" r:id="rId137"/>
    <p:sldId id="374" r:id="rId138"/>
    <p:sldId id="417" r:id="rId139"/>
    <p:sldId id="373" r:id="rId140"/>
    <p:sldId id="375" r:id="rId141"/>
    <p:sldId id="376" r:id="rId142"/>
    <p:sldId id="377" r:id="rId143"/>
    <p:sldId id="378" r:id="rId144"/>
    <p:sldId id="379" r:id="rId145"/>
    <p:sldId id="380" r:id="rId146"/>
    <p:sldId id="381" r:id="rId147"/>
    <p:sldId id="382" r:id="rId148"/>
    <p:sldId id="384" r:id="rId149"/>
    <p:sldId id="383" r:id="rId150"/>
    <p:sldId id="385" r:id="rId151"/>
    <p:sldId id="386" r:id="rId152"/>
    <p:sldId id="387" r:id="rId153"/>
    <p:sldId id="388" r:id="rId154"/>
    <p:sldId id="389" r:id="rId155"/>
    <p:sldId id="390" r:id="rId15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00FF"/>
    <a:srgbClr val="FFCF01"/>
    <a:srgbClr val="0000FF"/>
    <a:srgbClr val="3333CC"/>
    <a:srgbClr val="800000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 autoAdjust="0"/>
    <p:restoredTop sz="94715" autoAdjust="0"/>
  </p:normalViewPr>
  <p:slideViewPr>
    <p:cSldViewPr showGuides="1">
      <p:cViewPr varScale="1">
        <p:scale>
          <a:sx n="120" d="100"/>
          <a:sy n="120" d="100"/>
        </p:scale>
        <p:origin x="79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0" Type="http://schemas.openxmlformats.org/officeDocument/2006/relationships/tableStyles" Target="tableStyles.xml"/><Relationship Id="rId16" Type="http://schemas.openxmlformats.org/officeDocument/2006/relationships/slide" Target="slides/slide13.xml"/><Relationship Id="rId159" Type="http://schemas.openxmlformats.org/officeDocument/2006/relationships/viewProps" Target="viewProps.xml"/><Relationship Id="rId158" Type="http://schemas.openxmlformats.org/officeDocument/2006/relationships/presProps" Target="presProps.xml"/><Relationship Id="rId157" Type="http://schemas.openxmlformats.org/officeDocument/2006/relationships/handoutMaster" Target="handoutMasters/handoutMaster1.xml"/><Relationship Id="rId156" Type="http://schemas.openxmlformats.org/officeDocument/2006/relationships/slide" Target="slides/slide153.xml"/><Relationship Id="rId155" Type="http://schemas.openxmlformats.org/officeDocument/2006/relationships/slide" Target="slides/slide152.xml"/><Relationship Id="rId154" Type="http://schemas.openxmlformats.org/officeDocument/2006/relationships/slide" Target="slides/slide151.xml"/><Relationship Id="rId153" Type="http://schemas.openxmlformats.org/officeDocument/2006/relationships/slide" Target="slides/slide150.xml"/><Relationship Id="rId152" Type="http://schemas.openxmlformats.org/officeDocument/2006/relationships/slide" Target="slides/slide149.xml"/><Relationship Id="rId151" Type="http://schemas.openxmlformats.org/officeDocument/2006/relationships/slide" Target="slides/slide148.xml"/><Relationship Id="rId150" Type="http://schemas.openxmlformats.org/officeDocument/2006/relationships/slide" Target="slides/slide147.xml"/><Relationship Id="rId15" Type="http://schemas.openxmlformats.org/officeDocument/2006/relationships/notesMaster" Target="notesMasters/notesMaster1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2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1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10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96227D1-EFF3-4D3D-8151-447ED79E416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5592E4B-FCEA-41D5-956D-3C4E7F765EA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592E4B-FCEA-41D5-956D-3C4E7F765EA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2C3AA6-9C26-458A-9F43-34B90FB839AF}" type="slidenum">
              <a:rPr lang="en-US" altLang="zh-CN" sz="1200" smtClean="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B5A2563-4B1B-4EC3-9B5A-56E9FB8A33E2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2A4BA-5683-4239-8BE4-29C90EA64B3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AD58F-1278-45FD-AC4A-6B54BA341A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1A009-62B1-4FFB-A0F7-3158A42924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3E6D7-C0D9-419E-BE12-56982EECC5A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8DE-82EE-4139-8610-E22439A42C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157DF-1746-4F4F-8346-EE53276F38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B9291-19F8-499C-A529-32769F80414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CCD65-EEE8-4AEE-8263-87792F7E86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79C54-C25C-4E96-AFBF-498756E4CD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22F0F-EADC-4FC4-8D5F-1712EF4962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5F3E7464-A17F-4E62-9C2C-B49D51495F8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 </a:t>
            </a:r>
            <a:r>
              <a:rPr lang="zh-CN" altLang="en-US"/>
              <a:t>自底向上语法分析</a:t>
            </a: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“移进－归约”分析方法，</a:t>
            </a:r>
            <a:r>
              <a:rPr lang="en-US" altLang="zh-CN" dirty="0">
                <a:solidFill>
                  <a:srgbClr val="FF3300"/>
                </a:solidFill>
              </a:rPr>
              <a:t>shift-reduce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/>
              <a:t>从单词串开始逐步</a:t>
            </a:r>
            <a:r>
              <a:rPr lang="zh-CN" altLang="en-US" dirty="0">
                <a:solidFill>
                  <a:schemeClr val="accent2"/>
                </a:solidFill>
                <a:ea typeface="黑体" panose="02010609060101010101" pitchFamily="49" charset="-122"/>
              </a:rPr>
              <a:t>归约</a:t>
            </a:r>
            <a:r>
              <a:rPr lang="zh-CN" altLang="en-US" dirty="0"/>
              <a:t>为文法开始符号</a:t>
            </a:r>
            <a:endParaRPr lang="zh-CN" altLang="en-US" dirty="0"/>
          </a:p>
          <a:p>
            <a:pPr eaLnBrk="1" hangingPunct="1"/>
            <a:r>
              <a:rPr lang="zh-CN" altLang="en-US" dirty="0"/>
              <a:t>算法优先分析法、</a:t>
            </a:r>
            <a:r>
              <a:rPr lang="en-US" altLang="zh-CN" dirty="0"/>
              <a:t>LR</a:t>
            </a:r>
            <a:r>
              <a:rPr lang="zh-CN" altLang="en-US" dirty="0"/>
              <a:t>分析法</a:t>
            </a:r>
            <a:endParaRPr lang="zh-CN" altLang="en-US" dirty="0"/>
          </a:p>
          <a:p>
            <a:pPr eaLnBrk="1" hangingPunct="1"/>
            <a:r>
              <a:rPr lang="zh-CN" altLang="en-US" dirty="0"/>
              <a:t>每个归约步骤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一个子串匹配某个产生式的右部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将这个子串替换为产生式左部的</a:t>
            </a:r>
            <a:r>
              <a:rPr lang="en-US" altLang="zh-CN" dirty="0"/>
              <a:t>NT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4.21</a:t>
            </a: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文法	</a:t>
            </a:r>
            <a:r>
              <a:rPr kumimoji="0" lang="en-US" altLang="zh-CN" sz="2400" b="1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AB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b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   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             A 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bc</a:t>
            </a:r>
            <a:r>
              <a:rPr kumimoji="0" lang="en-US" altLang="zh-CN" sz="2400" b="1" dirty="0">
                <a:sym typeface="Symbol" panose="05050102010706020507" pitchFamily="18" charset="2"/>
              </a:rPr>
              <a:t> |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b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            	B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endParaRPr kumimoji="0" lang="en-US" altLang="zh-CN" sz="24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归约	</a:t>
            </a:r>
            <a:r>
              <a:rPr kumimoji="0" lang="en-US" altLang="zh-CN" sz="2400" dirty="0" err="1"/>
              <a:t>a</a:t>
            </a:r>
            <a:r>
              <a:rPr kumimoji="0" lang="en-US" altLang="zh-CN" sz="2400" dirty="0" err="1">
                <a:solidFill>
                  <a:srgbClr val="FF3300"/>
                </a:solidFill>
              </a:rPr>
              <a:t>b</a:t>
            </a:r>
            <a:r>
              <a:rPr kumimoji="0" lang="en-US" altLang="zh-CN" sz="2400" dirty="0" err="1"/>
              <a:t>bcde</a:t>
            </a:r>
            <a:br>
              <a:rPr kumimoji="0" lang="en-US" altLang="zh-CN" sz="2400" dirty="0"/>
            </a:br>
            <a:r>
              <a:rPr kumimoji="0" lang="en-US" altLang="zh-CN" sz="2400" dirty="0"/>
              <a:t>		</a:t>
            </a:r>
            <a:r>
              <a:rPr kumimoji="0" lang="en-US" altLang="zh-CN" sz="2400" dirty="0" err="1"/>
              <a:t>a</a:t>
            </a:r>
            <a:r>
              <a:rPr kumimoji="0" lang="en-US" altLang="zh-CN" sz="2400" dirty="0" err="1">
                <a:solidFill>
                  <a:srgbClr val="FF3300"/>
                </a:solidFill>
              </a:rPr>
              <a:t>Abc</a:t>
            </a:r>
            <a:r>
              <a:rPr kumimoji="0" lang="en-US" altLang="zh-CN" sz="2400" dirty="0" err="1"/>
              <a:t>de</a:t>
            </a:r>
            <a:br>
              <a:rPr kumimoji="0" lang="en-US" altLang="zh-CN" sz="2400" dirty="0"/>
            </a:br>
            <a:r>
              <a:rPr kumimoji="0" lang="en-US" altLang="zh-CN" sz="2400" dirty="0"/>
              <a:t>		</a:t>
            </a:r>
            <a:r>
              <a:rPr kumimoji="0" lang="en-US" altLang="zh-CN" sz="2400" dirty="0" err="1"/>
              <a:t>aA</a:t>
            </a:r>
            <a:r>
              <a:rPr kumimoji="0" lang="en-US" altLang="zh-CN" sz="2400" dirty="0" err="1">
                <a:solidFill>
                  <a:srgbClr val="FF3300"/>
                </a:solidFill>
              </a:rPr>
              <a:t>d</a:t>
            </a:r>
            <a:r>
              <a:rPr kumimoji="0" lang="en-US" altLang="zh-CN" sz="2400" dirty="0" err="1"/>
              <a:t>e</a:t>
            </a:r>
            <a:br>
              <a:rPr kumimoji="0" lang="en-US" altLang="zh-CN" sz="2400" dirty="0"/>
            </a:br>
            <a:r>
              <a:rPr kumimoji="0" lang="en-US" altLang="zh-CN" sz="2400" dirty="0"/>
              <a:t>		</a:t>
            </a:r>
            <a:r>
              <a:rPr kumimoji="0" lang="en-US" altLang="zh-CN" sz="2400" dirty="0" err="1">
                <a:solidFill>
                  <a:srgbClr val="FF3300"/>
                </a:solidFill>
              </a:rPr>
              <a:t>aABe</a:t>
            </a:r>
            <a:br>
              <a:rPr kumimoji="0" lang="en-US" altLang="zh-CN" sz="2400" dirty="0"/>
            </a:br>
            <a:r>
              <a:rPr kumimoji="0" lang="en-US" altLang="zh-CN" sz="2400" dirty="0"/>
              <a:t>		S</a:t>
            </a:r>
            <a:endParaRPr kumimoji="0" lang="en-US" altLang="zh-CN" sz="2400" dirty="0"/>
          </a:p>
          <a:p>
            <a:pPr eaLnBrk="1" hangingPunct="1"/>
            <a:r>
              <a:rPr kumimoji="0" lang="zh-CN" altLang="en-US" sz="2800" dirty="0"/>
              <a:t>对应最右推导（逆过程）</a:t>
            </a:r>
            <a:br>
              <a:rPr kumimoji="0" lang="zh-CN" altLang="en-US" sz="2800" dirty="0"/>
            </a:br>
            <a:r>
              <a:rPr kumimoji="0" lang="en-US" altLang="zh-CN" sz="2400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 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aABe</a:t>
            </a:r>
            <a:r>
              <a:rPr kumimoji="0" lang="en-US" altLang="zh-CN" sz="2400" b="1" dirty="0">
                <a:sym typeface="Symbol" panose="05050102010706020507" pitchFamily="18" charset="2"/>
              </a:rPr>
              <a:t>  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aAde</a:t>
            </a:r>
            <a:r>
              <a:rPr kumimoji="0" lang="en-US" altLang="zh-CN" sz="2400" b="1" dirty="0">
                <a:sym typeface="Symbol" panose="05050102010706020507" pitchFamily="18" charset="2"/>
              </a:rPr>
              <a:t>  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aAbcde</a:t>
            </a:r>
            <a:r>
              <a:rPr kumimoji="0" lang="en-US" altLang="zh-CN" sz="2400" b="1" dirty="0">
                <a:sym typeface="Symbol" panose="05050102010706020507" pitchFamily="18" charset="2"/>
              </a:rPr>
              <a:t>  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abbcde</a:t>
            </a: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828800" y="518477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3048000" y="51816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267200" y="51816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5791200" y="51816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4.5.1  </a:t>
            </a:r>
            <a:r>
              <a:rPr lang="zh-CN" altLang="en-US"/>
              <a:t>句柄（</a:t>
            </a:r>
            <a:r>
              <a:rPr lang="en-US" altLang="zh-CN">
                <a:solidFill>
                  <a:schemeClr val="hlink"/>
                </a:solidFill>
              </a:rPr>
              <a:t>Handle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归约过程中符号串中的“句柄”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子串，与某个产生式右部匹配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将其归约为产生式左部，</a:t>
            </a:r>
            <a:r>
              <a:rPr lang="zh-CN" altLang="en-US" sz="2400" dirty="0">
                <a:sym typeface="Wingdings" panose="05000000000000000000" pitchFamily="2" charset="2"/>
              </a:rPr>
              <a:t>对应单步</a:t>
            </a:r>
            <a:r>
              <a:rPr lang="zh-CN" altLang="en-US" sz="2400" dirty="0"/>
              <a:t>最右推导逆过程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形式化定义：一个最右句型</a:t>
            </a:r>
            <a:r>
              <a:rPr lang="en-US" altLang="zh-CN" sz="2800" dirty="0">
                <a:latin typeface="Symbol" panose="05050102010706020507" pitchFamily="18" charset="2"/>
              </a:rPr>
              <a:t>g</a:t>
            </a:r>
            <a:r>
              <a:rPr lang="zh-CN" altLang="en-US" sz="2800" dirty="0"/>
              <a:t>的句柄</a:t>
            </a:r>
            <a:endParaRPr lang="zh-CN" altLang="en-US" sz="2800" dirty="0"/>
          </a:p>
          <a:p>
            <a:pPr lvl="1" eaLnBrk="1" hangingPunct="1"/>
            <a:r>
              <a:rPr lang="en-US" altLang="zh-CN" sz="2400" dirty="0"/>
              <a:t>&lt;</a:t>
            </a:r>
            <a:r>
              <a:rPr lang="en-US" altLang="zh-CN" sz="2400" dirty="0"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ym typeface="Symbol" panose="05050102010706020507" pitchFamily="18" charset="2"/>
              </a:rPr>
              <a:t>, </a:t>
            </a:r>
            <a:r>
              <a:rPr lang="zh-CN" altLang="en-US" sz="2400" dirty="0">
                <a:sym typeface="Symbol" panose="05050102010706020507" pitchFamily="18" charset="2"/>
              </a:rPr>
              <a:t>中的位置</a:t>
            </a:r>
            <a:r>
              <a:rPr lang="en-US" altLang="zh-CN" sz="2400" dirty="0">
                <a:sym typeface="Symbol" panose="05050102010706020507" pitchFamily="18" charset="2"/>
              </a:rPr>
              <a:t>&gt;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S =&gt;Aw =&gt; w</a:t>
            </a:r>
            <a:r>
              <a:rPr lang="zh-CN" altLang="en-US" sz="2400" dirty="0">
                <a:sym typeface="Symbol" panose="05050102010706020507" pitchFamily="18" charset="2"/>
              </a:rPr>
              <a:t>，中之后即为句柄位置，</a:t>
            </a:r>
            <a:r>
              <a:rPr lang="en-US" altLang="zh-CN" sz="2400" dirty="0">
                <a:sym typeface="Symbol" panose="05050102010706020507" pitchFamily="18" charset="2"/>
              </a:rPr>
              <a:t>w</a:t>
            </a:r>
            <a:r>
              <a:rPr lang="zh-CN" altLang="en-US" sz="2400" dirty="0">
                <a:sym typeface="Symbol" panose="05050102010706020507" pitchFamily="18" charset="2"/>
              </a:rPr>
              <a:t>只包含终结符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一个句型可有多个不同句柄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非二义性文法的最右句型有唯一句柄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2195513" y="3657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2117725" y="382905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rm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3203848" y="382905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3333CC"/>
                </a:solidFill>
              </a:rPr>
              <a:t>rm</a:t>
            </a:r>
            <a:endParaRPr kumimoji="0" lang="en-US" altLang="zh-CN" sz="20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/>
      <p:bldP spid="61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4.22</a:t>
            </a:r>
            <a:endParaRPr lang="en-US" altLang="zh-CN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590800"/>
            <a:ext cx="3541712" cy="3200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/>
              <a:t>E </a:t>
            </a:r>
            <a:r>
              <a:rPr kumimoji="0" lang="en-US" altLang="zh-CN" b="1">
                <a:sym typeface="Symbol" panose="05050102010706020507" pitchFamily="18" charset="2"/>
              </a:rPr>
              <a:t> </a:t>
            </a:r>
            <a:r>
              <a:rPr kumimoji="0" lang="en-US" altLang="zh-CN" u="sng">
                <a:sym typeface="Symbol" panose="05050102010706020507" pitchFamily="18" charset="2"/>
              </a:rPr>
              <a:t>E + E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   </a:t>
            </a:r>
            <a:r>
              <a:rPr kumimoji="0" lang="en-US" altLang="zh-CN">
                <a:sym typeface="Symbol" panose="05050102010706020507" pitchFamily="18" charset="2"/>
              </a:rPr>
              <a:t> E + </a:t>
            </a:r>
            <a:r>
              <a:rPr kumimoji="0" lang="en-US" altLang="zh-CN" u="sng">
                <a:sym typeface="Symbol" panose="05050102010706020507" pitchFamily="18" charset="2"/>
              </a:rPr>
              <a:t>E * E</a:t>
            </a:r>
            <a:endParaRPr kumimoji="0" lang="en-US" altLang="zh-CN" u="sng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E + E *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E +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2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r>
              <a:rPr kumimoji="0" lang="en-US" altLang="zh-CN">
                <a:sym typeface="Symbol" panose="05050102010706020507" pitchFamily="18" charset="2"/>
              </a:rPr>
              <a:t>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 b="1" baseline="-25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+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2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r>
              <a:rPr kumimoji="0" lang="en-US" altLang="zh-CN">
                <a:sym typeface="Symbol" panose="05050102010706020507" pitchFamily="18" charset="2"/>
              </a:rPr>
              <a:t>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1524000" y="28194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197" name="Rectangle 6"/>
          <p:cNvSpPr>
            <a:spLocks noChangeArrowheads="1"/>
          </p:cNvSpPr>
          <p:nvPr/>
        </p:nvSpPr>
        <p:spPr bwMode="auto">
          <a:xfrm>
            <a:off x="1516063" y="34131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198" name="Rectangle 7"/>
          <p:cNvSpPr>
            <a:spLocks noChangeArrowheads="1"/>
          </p:cNvSpPr>
          <p:nvPr/>
        </p:nvSpPr>
        <p:spPr bwMode="auto">
          <a:xfrm>
            <a:off x="1524000" y="40227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199" name="Rectangle 8"/>
          <p:cNvSpPr>
            <a:spLocks noChangeArrowheads="1"/>
          </p:cNvSpPr>
          <p:nvPr/>
        </p:nvSpPr>
        <p:spPr bwMode="auto">
          <a:xfrm>
            <a:off x="1524000" y="460375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200" name="Rectangle 9"/>
          <p:cNvSpPr>
            <a:spLocks noChangeArrowheads="1"/>
          </p:cNvSpPr>
          <p:nvPr/>
        </p:nvSpPr>
        <p:spPr bwMode="auto">
          <a:xfrm>
            <a:off x="1524000" y="51657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201" name="Rectangle 10"/>
          <p:cNvSpPr>
            <a:spLocks noChangeArrowheads="1"/>
          </p:cNvSpPr>
          <p:nvPr/>
        </p:nvSpPr>
        <p:spPr bwMode="auto">
          <a:xfrm>
            <a:off x="4876800" y="2590800"/>
            <a:ext cx="354171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/>
              <a:t>E </a:t>
            </a:r>
            <a:r>
              <a:rPr kumimoji="0" lang="en-US" altLang="zh-CN" b="1">
                <a:sym typeface="Symbol" panose="05050102010706020507" pitchFamily="18" charset="2"/>
              </a:rPr>
              <a:t> </a:t>
            </a:r>
            <a:r>
              <a:rPr kumimoji="0" lang="en-US" altLang="zh-CN" u="sng">
                <a:sym typeface="Symbol" panose="05050102010706020507" pitchFamily="18" charset="2"/>
              </a:rPr>
              <a:t>E * E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   </a:t>
            </a:r>
            <a:r>
              <a:rPr kumimoji="0" lang="en-US" altLang="zh-CN">
                <a:sym typeface="Symbol" panose="05050102010706020507" pitchFamily="18" charset="2"/>
              </a:rPr>
              <a:t> E +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 u="sng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</a:t>
            </a:r>
            <a:r>
              <a:rPr kumimoji="0" lang="en-US" altLang="zh-CN" u="sng">
                <a:sym typeface="Symbol" panose="05050102010706020507" pitchFamily="18" charset="2"/>
              </a:rPr>
              <a:t>E + E</a:t>
            </a:r>
            <a:r>
              <a:rPr kumimoji="0" lang="en-US" altLang="zh-CN">
                <a:sym typeface="Symbol" panose="05050102010706020507" pitchFamily="18" charset="2"/>
              </a:rPr>
              <a:t> 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E +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2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r>
              <a:rPr kumimoji="0" lang="en-US" altLang="zh-CN">
                <a:sym typeface="Symbol" panose="05050102010706020507" pitchFamily="18" charset="2"/>
              </a:rPr>
              <a:t>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 b="1" baseline="-25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+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2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r>
              <a:rPr kumimoji="0" lang="en-US" altLang="zh-CN">
                <a:sym typeface="Symbol" panose="05050102010706020507" pitchFamily="18" charset="2"/>
              </a:rPr>
              <a:t>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sp>
        <p:nvSpPr>
          <p:cNvPr id="8202" name="Rectangle 11"/>
          <p:cNvSpPr>
            <a:spLocks noChangeArrowheads="1"/>
          </p:cNvSpPr>
          <p:nvPr/>
        </p:nvSpPr>
        <p:spPr bwMode="auto">
          <a:xfrm>
            <a:off x="5218113" y="2819400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203" name="Rectangle 12"/>
          <p:cNvSpPr>
            <a:spLocks noChangeArrowheads="1"/>
          </p:cNvSpPr>
          <p:nvPr/>
        </p:nvSpPr>
        <p:spPr bwMode="auto">
          <a:xfrm>
            <a:off x="5210175" y="34131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204" name="Rectangle 13"/>
          <p:cNvSpPr>
            <a:spLocks noChangeArrowheads="1"/>
          </p:cNvSpPr>
          <p:nvPr/>
        </p:nvSpPr>
        <p:spPr bwMode="auto">
          <a:xfrm>
            <a:off x="5218113" y="40227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205" name="Rectangle 14"/>
          <p:cNvSpPr>
            <a:spLocks noChangeArrowheads="1"/>
          </p:cNvSpPr>
          <p:nvPr/>
        </p:nvSpPr>
        <p:spPr bwMode="auto">
          <a:xfrm>
            <a:off x="5218113" y="4603750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206" name="Rectangle 15"/>
          <p:cNvSpPr>
            <a:spLocks noChangeArrowheads="1"/>
          </p:cNvSpPr>
          <p:nvPr/>
        </p:nvSpPr>
        <p:spPr bwMode="auto">
          <a:xfrm>
            <a:off x="5218113" y="51657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8207" name="Rectangle 16"/>
          <p:cNvSpPr>
            <a:spLocks noChangeArrowheads="1"/>
          </p:cNvSpPr>
          <p:nvPr/>
        </p:nvSpPr>
        <p:spPr bwMode="auto">
          <a:xfrm>
            <a:off x="1182688" y="1371600"/>
            <a:ext cx="66659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/>
              <a:t>(1) E </a:t>
            </a:r>
            <a:r>
              <a:rPr kumimoji="0" lang="en-US" altLang="zh-CN">
                <a:sym typeface="Symbol" panose="05050102010706020507" pitchFamily="18" charset="2"/>
              </a:rPr>
              <a:t> E + E		(3) E</a:t>
            </a:r>
            <a:r>
              <a:rPr kumimoji="0" lang="en-US" altLang="zh-CN"/>
              <a:t> </a:t>
            </a:r>
            <a:r>
              <a:rPr kumimoji="0" lang="en-US" altLang="zh-CN">
                <a:sym typeface="Symbol" panose="05050102010706020507" pitchFamily="18" charset="2"/>
              </a:rPr>
              <a:t> (E)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(2) E</a:t>
            </a:r>
            <a:r>
              <a:rPr kumimoji="0" lang="en-US" altLang="zh-CN"/>
              <a:t> </a:t>
            </a:r>
            <a:r>
              <a:rPr kumimoji="0" lang="en-US" altLang="zh-CN">
                <a:sym typeface="Symbol" panose="05050102010706020507" pitchFamily="18" charset="2"/>
              </a:rPr>
              <a:t> E * E		(4) E 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4.5.2 </a:t>
            </a:r>
            <a:r>
              <a:rPr lang="zh-CN" altLang="en-US"/>
              <a:t>句柄剪枝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Handle Pruning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106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子串</a:t>
            </a:r>
            <a:r>
              <a:rPr lang="zh-CN" altLang="en-US" dirty="0">
                <a:sym typeface="Wingdings" panose="05000000000000000000" pitchFamily="2" charset="2"/>
              </a:rPr>
              <a:t>归约为产生式左部</a:t>
            </a:r>
            <a:r>
              <a:rPr lang="en-US" altLang="zh-CN" dirty="0"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语法树剪枝</a:t>
            </a:r>
            <a:endParaRPr lang="zh-CN" altLang="en-US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ym typeface="Wingdings" panose="05000000000000000000" pitchFamily="2" charset="2"/>
              </a:rPr>
              <a:t>不断剪枝最右推导的逆过程</a:t>
            </a:r>
            <a:r>
              <a:rPr lang="en-US" altLang="zh-CN" dirty="0"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归约</a:t>
            </a:r>
            <a:endParaRPr lang="zh-CN" altLang="en-US" dirty="0"/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4572000" y="2514600"/>
            <a:ext cx="1588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4419600" y="2133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  <a:endParaRPr kumimoji="0" lang="en-US" altLang="zh-CN" sz="2400" b="1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4419600" y="382905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  <a:endParaRPr kumimoji="0" lang="en-US" altLang="zh-CN" sz="2400" b="1"/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4191000" y="4210050"/>
            <a:ext cx="838200" cy="685800"/>
          </a:xfrm>
          <a:prstGeom prst="triangle">
            <a:avLst>
              <a:gd name="adj" fmla="val 50000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224" name="AutoShape 8"/>
          <p:cNvSpPr>
            <a:spLocks noChangeArrowheads="1"/>
          </p:cNvSpPr>
          <p:nvPr/>
        </p:nvSpPr>
        <p:spPr bwMode="auto">
          <a:xfrm>
            <a:off x="5181600" y="2667000"/>
            <a:ext cx="2590800" cy="2228850"/>
          </a:xfrm>
          <a:prstGeom prst="triangle">
            <a:avLst>
              <a:gd name="adj" fmla="val 0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225" name="AutoShape 9"/>
          <p:cNvSpPr>
            <a:spLocks noChangeArrowheads="1"/>
          </p:cNvSpPr>
          <p:nvPr/>
        </p:nvSpPr>
        <p:spPr bwMode="auto">
          <a:xfrm flipH="1">
            <a:off x="2133600" y="2743200"/>
            <a:ext cx="1981200" cy="2171700"/>
          </a:xfrm>
          <a:prstGeom prst="triangle">
            <a:avLst>
              <a:gd name="adj" fmla="val 0"/>
            </a:avLst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2163763" y="4876800"/>
            <a:ext cx="5913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Left part	 Handle  (only terminals here)</a:t>
            </a:r>
            <a:endParaRPr kumimoji="0" lang="en-US" altLang="zh-CN" sz="2400" b="1"/>
          </a:p>
        </p:txBody>
      </p:sp>
      <p:sp>
        <p:nvSpPr>
          <p:cNvPr id="9227" name="AutoShape 11"/>
          <p:cNvSpPr/>
          <p:nvPr/>
        </p:nvSpPr>
        <p:spPr bwMode="auto">
          <a:xfrm rot="5400000">
            <a:off x="3459163" y="3810000"/>
            <a:ext cx="304800" cy="3048000"/>
          </a:xfrm>
          <a:prstGeom prst="rightBrace">
            <a:avLst>
              <a:gd name="adj1" fmla="val 9963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2697163" y="5410200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Viable prefix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4.23</a:t>
            </a:r>
            <a:endParaRPr lang="en-US" altLang="zh-CN"/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2703512" cy="4114800"/>
          </a:xfrm>
          <a:noFill/>
        </p:spPr>
        <p:txBody>
          <a:bodyPr/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最右句型</a:t>
            </a:r>
            <a:endParaRPr kumimoji="0" lang="zh-CN" altLang="en-US" sz="2800" b="1">
              <a:sym typeface="Symbol" panose="05050102010706020507" pitchFamily="18" charset="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+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*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3</a:t>
            </a:r>
            <a:endParaRPr kumimoji="0" lang="en-US" altLang="zh-CN" sz="2800" b="1" baseline="-25000">
              <a:sym typeface="Symbol" panose="05050102010706020507" pitchFamily="18" charset="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*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3</a:t>
            </a:r>
            <a:endParaRPr kumimoji="0" lang="en-US" altLang="zh-CN" sz="2800" b="1" baseline="-25000">
              <a:sym typeface="Symbol" panose="05050102010706020507" pitchFamily="18" charset="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E *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3</a:t>
            </a:r>
            <a:endParaRPr kumimoji="0" lang="en-US" altLang="zh-CN" sz="2800" b="1" baseline="-25000">
              <a:sym typeface="Symbol" panose="05050102010706020507" pitchFamily="18" charset="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E * E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E</a:t>
            </a: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</a:t>
            </a:r>
            <a:endParaRPr kumimoji="0" lang="en-US" altLang="zh-CN" sz="2800"/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4230688" y="1371600"/>
            <a:ext cx="15605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句柄</a:t>
            </a:r>
            <a:endParaRPr kumimoji="0" lang="zh-CN" altLang="en-US" sz="2800" b="1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1</a:t>
            </a:r>
            <a:endParaRPr kumimoji="0" lang="en-US" altLang="zh-CN" sz="2800" b="1" baseline="-2500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2</a:t>
            </a:r>
            <a:endParaRPr kumimoji="0" lang="en-US" altLang="zh-CN" sz="2800" b="1" baseline="-2500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3</a:t>
            </a:r>
            <a:endParaRPr kumimoji="0" lang="en-US" altLang="zh-CN" sz="2800" b="1" baseline="-2500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* E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E</a:t>
            </a:r>
            <a:endParaRPr kumimoji="0" lang="en-US" altLang="zh-CN" sz="2800"/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5983288" y="1371600"/>
            <a:ext cx="27035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归约产生式</a:t>
            </a:r>
            <a:endParaRPr kumimoji="0" lang="zh-CN" altLang="en-US" sz="28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E * E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 E + E	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4.5.3  </a:t>
            </a:r>
            <a:r>
              <a:rPr lang="zh-CN" altLang="en-US"/>
              <a:t>移进－归约分析的实现</a:t>
            </a:r>
            <a:endParaRPr lang="zh-CN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基于栈实现移进</a:t>
            </a:r>
            <a:r>
              <a:rPr lang="en-US" altLang="zh-CN" sz="2800" dirty="0"/>
              <a:t>—</a:t>
            </a:r>
            <a:r>
              <a:rPr lang="zh-CN" altLang="en-US" sz="2800" dirty="0"/>
              <a:t>归约过程</a:t>
            </a:r>
            <a:endParaRPr lang="zh-CN" altLang="en-US" sz="28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将输入符号“移进”栈中，直至在栈顶形成一个句柄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将句柄“归约”为相应的非终结符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不断重复，直至栈中只剩开始符号，输入缓冲区为空</a:t>
            </a:r>
            <a:r>
              <a:rPr lang="en-US" altLang="zh-CN" sz="2400" dirty="0"/>
              <a:t>——</a:t>
            </a:r>
            <a:r>
              <a:rPr lang="zh-CN" altLang="en-US" sz="2400" dirty="0"/>
              <a:t>接受输入串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错误处理</a:t>
            </a:r>
            <a:endParaRPr lang="zh-CN" altLang="en-US" sz="2400" dirty="0"/>
          </a:p>
          <a:p>
            <a:pPr marL="609600" indent="-609600" eaLnBrk="1" hangingPunct="1"/>
            <a:r>
              <a:rPr lang="zh-CN" altLang="en-US" sz="2800" dirty="0"/>
              <a:t>两个问题</a:t>
            </a:r>
            <a:endParaRPr lang="zh-CN" altLang="en-US" sz="2800" dirty="0"/>
          </a:p>
          <a:p>
            <a:pPr marL="990600" lvl="1" indent="-533400" eaLnBrk="1" hangingPunct="1"/>
            <a:r>
              <a:rPr lang="zh-CN" altLang="en-US" sz="2400" dirty="0"/>
              <a:t>定位句柄</a:t>
            </a:r>
            <a:endParaRPr lang="zh-CN" altLang="en-US" sz="2400" dirty="0"/>
          </a:p>
          <a:p>
            <a:pPr marL="990600" lvl="1" indent="-533400" eaLnBrk="1" hangingPunct="1"/>
            <a:r>
              <a:rPr lang="zh-CN" altLang="en-US" sz="2400" dirty="0"/>
              <a:t>确定用哪个产生式进行归约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4.24</a:t>
            </a:r>
            <a:endParaRPr lang="en-US" altLang="zh-CN"/>
          </a:p>
        </p:txBody>
      </p:sp>
      <p:grpSp>
        <p:nvGrpSpPr>
          <p:cNvPr id="12291" name="Group 21"/>
          <p:cNvGrpSpPr/>
          <p:nvPr/>
        </p:nvGrpSpPr>
        <p:grpSpPr bwMode="auto">
          <a:xfrm>
            <a:off x="1524000" y="1371600"/>
            <a:ext cx="6400800" cy="4267200"/>
            <a:chOff x="960" y="864"/>
            <a:chExt cx="4032" cy="3216"/>
          </a:xfrm>
        </p:grpSpPr>
        <p:sp>
          <p:nvSpPr>
            <p:cNvPr id="12292" name="Line 5"/>
            <p:cNvSpPr>
              <a:spLocks noChangeShapeType="1"/>
            </p:cNvSpPr>
            <p:nvPr/>
          </p:nvSpPr>
          <p:spPr bwMode="auto">
            <a:xfrm>
              <a:off x="1008" y="864"/>
              <a:ext cx="38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3" name="Line 6"/>
            <p:cNvSpPr>
              <a:spLocks noChangeShapeType="1"/>
            </p:cNvSpPr>
            <p:nvPr/>
          </p:nvSpPr>
          <p:spPr bwMode="auto">
            <a:xfrm>
              <a:off x="1008" y="912"/>
              <a:ext cx="38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4" name="Line 7"/>
            <p:cNvSpPr>
              <a:spLocks noChangeShapeType="1"/>
            </p:cNvSpPr>
            <p:nvPr/>
          </p:nvSpPr>
          <p:spPr bwMode="auto">
            <a:xfrm>
              <a:off x="1008" y="1200"/>
              <a:ext cx="38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5" name="Line 8"/>
            <p:cNvSpPr>
              <a:spLocks noChangeShapeType="1"/>
            </p:cNvSpPr>
            <p:nvPr/>
          </p:nvSpPr>
          <p:spPr bwMode="auto">
            <a:xfrm>
              <a:off x="1008" y="4080"/>
              <a:ext cx="3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6" name="Line 9"/>
            <p:cNvSpPr>
              <a:spLocks noChangeShapeType="1"/>
            </p:cNvSpPr>
            <p:nvPr/>
          </p:nvSpPr>
          <p:spPr bwMode="auto">
            <a:xfrm>
              <a:off x="3600" y="912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7" name="Line 10"/>
            <p:cNvSpPr>
              <a:spLocks noChangeShapeType="1"/>
            </p:cNvSpPr>
            <p:nvPr/>
          </p:nvSpPr>
          <p:spPr bwMode="auto">
            <a:xfrm>
              <a:off x="2160" y="912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8" name="Text Box 11"/>
            <p:cNvSpPr txBox="1">
              <a:spLocks noChangeArrowheads="1"/>
            </p:cNvSpPr>
            <p:nvPr/>
          </p:nvSpPr>
          <p:spPr bwMode="auto">
            <a:xfrm>
              <a:off x="960" y="1152"/>
              <a:ext cx="1152" cy="2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</a:t>
              </a:r>
              <a:endParaRPr kumimoji="0" lang="en-US" altLang="zh-CN" sz="2000" b="1"/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 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1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</a:t>
              </a:r>
              <a:r>
                <a:rPr kumimoji="0" lang="en-US" altLang="zh-CN" sz="2000" b="1">
                  <a:solidFill>
                    <a:srgbClr val="3333CC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rgbClr val="3333CC"/>
                  </a:solidFill>
                </a:rPr>
                <a:t>2</a:t>
              </a:r>
              <a:endParaRPr kumimoji="0" lang="en-US" altLang="zh-CN" sz="2000" b="1">
                <a:solidFill>
                  <a:srgbClr val="3333CC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 *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 * </a:t>
              </a:r>
              <a:r>
                <a:rPr kumimoji="0" lang="en-US" altLang="zh-CN" sz="2000" b="1">
                  <a:solidFill>
                    <a:srgbClr val="3333CC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rgbClr val="3333CC"/>
                  </a:solidFill>
                </a:rPr>
                <a:t>3</a:t>
              </a:r>
              <a:endParaRPr kumimoji="0" lang="en-US" altLang="zh-CN" sz="2000" b="1">
                <a:solidFill>
                  <a:srgbClr val="3333CC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 * E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</a:t>
              </a:r>
              <a:endParaRPr kumimoji="0" lang="en-US" altLang="zh-CN" sz="2000" b="1"/>
            </a:p>
          </p:txBody>
        </p:sp>
        <p:sp>
          <p:nvSpPr>
            <p:cNvPr id="12299" name="Text Box 12"/>
            <p:cNvSpPr txBox="1">
              <a:spLocks noChangeArrowheads="1"/>
            </p:cNvSpPr>
            <p:nvPr/>
          </p:nvSpPr>
          <p:spPr bwMode="auto">
            <a:xfrm>
              <a:off x="2304" y="1152"/>
              <a:ext cx="1296" cy="2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1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+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2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 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+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2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+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2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2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</p:txBody>
        </p:sp>
        <p:sp>
          <p:nvSpPr>
            <p:cNvPr id="12300" name="Text Box 13"/>
            <p:cNvSpPr txBox="1">
              <a:spLocks noChangeArrowheads="1"/>
            </p:cNvSpPr>
            <p:nvPr/>
          </p:nvSpPr>
          <p:spPr bwMode="auto">
            <a:xfrm>
              <a:off x="3696" y="1152"/>
              <a:ext cx="960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000" b="1"/>
            </a:p>
          </p:txBody>
        </p:sp>
        <p:sp>
          <p:nvSpPr>
            <p:cNvPr id="12301" name="Text Box 14"/>
            <p:cNvSpPr txBox="1">
              <a:spLocks noChangeArrowheads="1"/>
            </p:cNvSpPr>
            <p:nvPr/>
          </p:nvSpPr>
          <p:spPr bwMode="auto">
            <a:xfrm>
              <a:off x="960" y="912"/>
              <a:ext cx="864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栈</a:t>
              </a:r>
              <a:endParaRPr kumimoji="0" lang="zh-CN" altLang="en-US" sz="2000" b="1"/>
            </a:p>
          </p:txBody>
        </p:sp>
        <p:sp>
          <p:nvSpPr>
            <p:cNvPr id="12302" name="Text Box 15"/>
            <p:cNvSpPr txBox="1">
              <a:spLocks noChangeArrowheads="1"/>
            </p:cNvSpPr>
            <p:nvPr/>
          </p:nvSpPr>
          <p:spPr bwMode="auto">
            <a:xfrm>
              <a:off x="2400" y="912"/>
              <a:ext cx="7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输入</a:t>
              </a:r>
              <a:endParaRPr kumimoji="0" lang="zh-CN" altLang="en-US" sz="2000" b="1"/>
            </a:p>
          </p:txBody>
        </p:sp>
        <p:sp>
          <p:nvSpPr>
            <p:cNvPr id="12303" name="Text Box 16"/>
            <p:cNvSpPr txBox="1">
              <a:spLocks noChangeArrowheads="1"/>
            </p:cNvSpPr>
            <p:nvPr/>
          </p:nvSpPr>
          <p:spPr bwMode="auto">
            <a:xfrm>
              <a:off x="3744" y="912"/>
              <a:ext cx="864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动作</a:t>
              </a:r>
              <a:endParaRPr kumimoji="0" lang="zh-CN" altLang="en-US" sz="2000" b="1"/>
            </a:p>
          </p:txBody>
        </p:sp>
        <p:sp>
          <p:nvSpPr>
            <p:cNvPr id="12304" name="Text Box 20"/>
            <p:cNvSpPr txBox="1">
              <a:spLocks noChangeArrowheads="1"/>
            </p:cNvSpPr>
            <p:nvPr/>
          </p:nvSpPr>
          <p:spPr bwMode="auto">
            <a:xfrm>
              <a:off x="3600" y="1152"/>
              <a:ext cx="1392" cy="2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  <a:endParaRPr kumimoji="0" lang="zh-CN" altLang="en-US" sz="20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endParaRPr kumimoji="0" lang="en-US" altLang="zh-CN" sz="20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  <a:endParaRPr kumimoji="0" lang="zh-CN" altLang="en-US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  <a:endParaRPr kumimoji="0" lang="zh-CN" altLang="en-US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  <a:endParaRPr kumimoji="0" lang="zh-CN" altLang="en-US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  <a:endParaRPr kumimoji="0" lang="zh-CN" altLang="en-US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E * E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E + E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接受</a:t>
              </a:r>
              <a:endParaRPr kumimoji="0" lang="zh-CN" altLang="en-US" sz="2000" b="1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基本操作</a:t>
            </a: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移进（</a:t>
            </a:r>
            <a:r>
              <a:rPr lang="en-US" altLang="zh-CN">
                <a:solidFill>
                  <a:srgbClr val="FF3300"/>
                </a:solidFill>
              </a:rPr>
              <a:t>shift</a:t>
            </a:r>
            <a:r>
              <a:rPr lang="zh-CN" altLang="en-US"/>
              <a:t>）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下个输入符号移到栈顶</a:t>
            </a:r>
            <a:endParaRPr lang="zh-CN" altLang="en-US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归约（</a:t>
            </a:r>
            <a:r>
              <a:rPr lang="en-US" altLang="zh-CN">
                <a:solidFill>
                  <a:srgbClr val="FF3300"/>
                </a:solidFill>
              </a:rPr>
              <a:t>reduce</a:t>
            </a:r>
            <a:r>
              <a:rPr lang="zh-CN" altLang="en-US"/>
              <a:t>）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句柄的右端恰在栈顶，定位句柄左端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确定选用的产生式，用产生式左部非终结符替换栈中的句柄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基本操作</a:t>
            </a: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/>
              <a:t>接受（</a:t>
            </a:r>
            <a:r>
              <a:rPr lang="en-US" altLang="zh-CN" dirty="0">
                <a:solidFill>
                  <a:srgbClr val="FF3300"/>
                </a:solidFill>
              </a:rPr>
              <a:t>accept</a:t>
            </a:r>
            <a:r>
              <a:rPr lang="zh-CN" altLang="en-US" dirty="0"/>
              <a:t>）</a:t>
            </a:r>
            <a:endParaRPr lang="zh-CN" altLang="en-US" dirty="0"/>
          </a:p>
          <a:p>
            <a:pPr marL="990600" lvl="1" indent="-533400" eaLnBrk="1" hangingPunct="1"/>
            <a:r>
              <a:rPr lang="zh-CN" altLang="en-US" dirty="0"/>
              <a:t>宣布分析成功结束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/>
              <a:t>错误（</a:t>
            </a:r>
            <a:r>
              <a:rPr lang="en-US" altLang="zh-CN" dirty="0">
                <a:solidFill>
                  <a:srgbClr val="FF3300"/>
                </a:solidFill>
              </a:rPr>
              <a:t>error</a:t>
            </a:r>
            <a:r>
              <a:rPr lang="zh-CN" altLang="en-US" dirty="0"/>
              <a:t>）</a:t>
            </a:r>
            <a:endParaRPr lang="zh-CN" altLang="en-US" dirty="0"/>
          </a:p>
          <a:p>
            <a:pPr marL="990600" lvl="1" indent="-533400" eaLnBrk="1" hangingPunct="1"/>
            <a:r>
              <a:rPr lang="zh-CN" altLang="en-US" dirty="0"/>
              <a:t>发现语法错误，调用错误恢复函数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句柄必然在栈顶？</a:t>
            </a: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65688"/>
          </a:xfrm>
        </p:spPr>
        <p:txBody>
          <a:bodyPr/>
          <a:lstStyle/>
          <a:p>
            <a:pPr marL="609600" indent="-609600" eaLnBrk="1" hangingPunct="1"/>
            <a:r>
              <a:rPr kumimoji="0" lang="zh-CN" altLang="en-US" sz="2800">
                <a:sym typeface="Symbol" panose="05050102010706020507" pitchFamily="18" charset="2"/>
              </a:rPr>
              <a:t>移进动作在栈内形成句柄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zh-CN" altLang="en-US" sz="2400">
                <a:sym typeface="Symbol" panose="05050102010706020507" pitchFamily="18" charset="2"/>
              </a:rPr>
              <a:t>这显然不可能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若形成</a:t>
            </a:r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400">
                <a:sym typeface="Symbol" panose="05050102010706020507" pitchFamily="18" charset="2"/>
              </a:rPr>
              <a:t>y,   z$)</a:t>
            </a:r>
            <a:r>
              <a:rPr kumimoji="0" lang="zh-CN" altLang="en-US" sz="2400">
                <a:latin typeface="Tahoma" panose="020B0604030504040204" pitchFamily="34" charset="0"/>
                <a:sym typeface="Symbol" panose="05050102010706020507" pitchFamily="18" charset="2"/>
              </a:rPr>
              <a:t>局面时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400">
                <a:latin typeface="Tahoma" panose="020B0604030504040204" pitchFamily="34" charset="0"/>
                <a:sym typeface="Symbol" panose="05050102010706020507" pitchFamily="18" charset="2"/>
              </a:rPr>
              <a:t>成为句柄</a:t>
            </a:r>
            <a:br>
              <a:rPr kumimoji="0" lang="zh-CN" altLang="en-US" sz="2400">
                <a:latin typeface="Tahoma" panose="020B0604030504040204" pitchFamily="34" charset="0"/>
                <a:sym typeface="Symbol" panose="05050102010706020507" pitchFamily="18" charset="2"/>
              </a:rPr>
            </a:br>
            <a:r>
              <a:rPr kumimoji="0" lang="zh-CN" altLang="en-US" sz="2400">
                <a:latin typeface="Tahoma" panose="020B0604030504040204" pitchFamily="34" charset="0"/>
                <a:sym typeface="Symbol" panose="05050102010706020507" pitchFamily="18" charset="2"/>
              </a:rPr>
              <a:t>则形成</a:t>
            </a:r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400">
                <a:sym typeface="Symbol" panose="05050102010706020507" pitchFamily="18" charset="2"/>
              </a:rPr>
              <a:t>,   yz$)</a:t>
            </a:r>
            <a:r>
              <a:rPr kumimoji="0" lang="zh-CN" altLang="en-US" sz="2400">
                <a:sym typeface="Symbol" panose="05050102010706020507" pitchFamily="18" charset="2"/>
              </a:rPr>
              <a:t>局面时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400">
                <a:sym typeface="Symbol" panose="05050102010706020507" pitchFamily="18" charset="2"/>
              </a:rPr>
              <a:t>已可成为句柄</a:t>
            </a:r>
            <a:endParaRPr kumimoji="0" lang="zh-CN" altLang="en-US" sz="2400"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kumimoji="0" lang="zh-CN" altLang="en-US" sz="2800">
                <a:sym typeface="Symbol" panose="05050102010706020507" pitchFamily="18" charset="2"/>
              </a:rPr>
              <a:t>归约动作在栈内形成句柄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abgd</a:t>
            </a:r>
            <a:r>
              <a:rPr kumimoji="0" lang="en-US" altLang="zh-CN" sz="2400">
                <a:sym typeface="Symbol" panose="05050102010706020507" pitchFamily="18" charset="2"/>
              </a:rPr>
              <a:t>,   y$)</a:t>
            </a:r>
            <a:r>
              <a:rPr kumimoji="0" lang="zh-CN" altLang="en-US" sz="2400">
                <a:sym typeface="Symbol" panose="05050102010706020507" pitchFamily="18" charset="2"/>
              </a:rPr>
              <a:t>归约为</a:t>
            </a:r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abg</a:t>
            </a:r>
            <a:r>
              <a:rPr kumimoji="0" lang="en-US" altLang="zh-CN" sz="2400">
                <a:sym typeface="Symbol" panose="05050102010706020507" pitchFamily="18" charset="2"/>
              </a:rPr>
              <a:t>B,   y$)</a:t>
            </a:r>
            <a:r>
              <a:rPr kumimoji="0" lang="zh-CN" altLang="en-US" sz="2400">
                <a:sym typeface="Symbol" panose="05050102010706020507" pitchFamily="18" charset="2"/>
              </a:rPr>
              <a:t>后形成句柄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400">
                <a:sym typeface="Symbol" panose="05050102010706020507" pitchFamily="18" charset="2"/>
              </a:rPr>
              <a:t>，再归约为</a:t>
            </a:r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aAg</a:t>
            </a:r>
            <a:r>
              <a:rPr kumimoji="0" lang="en-US" altLang="zh-CN" sz="2400">
                <a:sym typeface="Symbol" panose="05050102010706020507" pitchFamily="18" charset="2"/>
              </a:rPr>
              <a:t>B,   y$)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则存在对应推导</a:t>
            </a:r>
            <a:r>
              <a:rPr kumimoji="0" lang="en-US" altLang="zh-CN" sz="2400">
                <a:sym typeface="Symbol" panose="05050102010706020507" pitchFamily="18" charset="2"/>
              </a:rPr>
              <a:t>S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aAg</a:t>
            </a:r>
            <a:r>
              <a:rPr kumimoji="0" lang="en-US" altLang="zh-CN" sz="2400">
                <a:sym typeface="Symbol" panose="05050102010706020507" pitchFamily="18" charset="2"/>
              </a:rPr>
              <a:t>By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abg</a:t>
            </a:r>
            <a:r>
              <a:rPr kumimoji="0" lang="en-US" altLang="zh-CN" sz="2400">
                <a:sym typeface="Symbol" panose="05050102010706020507" pitchFamily="18" charset="2"/>
              </a:rPr>
              <a:t>By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abgd</a:t>
            </a:r>
            <a:r>
              <a:rPr kumimoji="0" lang="en-US" altLang="zh-CN" sz="2400">
                <a:sym typeface="Symbol" panose="05050102010706020507" pitchFamily="18" charset="2"/>
              </a:rPr>
              <a:t>y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这显然不是一个最右推导，矛盾！</a:t>
            </a:r>
            <a:endParaRPr kumimoji="0" lang="zh-CN" altLang="en-US" sz="2400">
              <a:sym typeface="Symbol" panose="05050102010706020507" pitchFamily="18" charset="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4572000" y="42560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7235825" y="42560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5940425" y="42560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4.5.4  </a:t>
            </a:r>
            <a:r>
              <a:rPr lang="zh-CN" altLang="en-US"/>
              <a:t>活前缀</a:t>
            </a:r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</a:rPr>
              <a:t>Viable Prefix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/>
              <a:t>最右句型的前缀，且满足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其右端不会在最右句柄的右端之后</a:t>
            </a:r>
            <a:endParaRPr lang="zh-CN" altLang="en-US" dirty="0"/>
          </a:p>
          <a:p>
            <a:pPr eaLnBrk="1" hangingPunct="1"/>
            <a:r>
              <a:rPr lang="zh-CN" altLang="en-US" dirty="0"/>
              <a:t>另一种定义：移进－归约分析过程中可出现在栈中的串</a:t>
            </a:r>
            <a:r>
              <a:rPr lang="en-US" altLang="zh-CN" dirty="0"/>
              <a:t>——</a:t>
            </a:r>
            <a:r>
              <a:rPr lang="zh-CN" altLang="en-US" dirty="0"/>
              <a:t>活前缀末端即栈顶</a:t>
            </a:r>
            <a:endParaRPr lang="zh-CN" altLang="en-US" dirty="0"/>
          </a:p>
          <a:p>
            <a:pPr eaLnBrk="1" hangingPunct="1"/>
            <a:r>
              <a:rPr lang="zh-CN" altLang="en-US" dirty="0"/>
              <a:t>总是可能通过向其末端添加若干终结符，形成最右句型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4.5.5  </a:t>
            </a:r>
            <a:r>
              <a:rPr lang="zh-CN" altLang="en-US"/>
              <a:t>冲突（例</a:t>
            </a:r>
            <a:r>
              <a:rPr lang="en-US" altLang="zh-CN"/>
              <a:t>4.25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z="2800"/>
              <a:t>移进</a:t>
            </a:r>
            <a:r>
              <a:rPr lang="en-US" altLang="zh-CN" sz="2800"/>
              <a:t>/</a:t>
            </a:r>
            <a:r>
              <a:rPr lang="zh-CN" altLang="en-US" sz="2800"/>
              <a:t>归约冲突，归约</a:t>
            </a:r>
            <a:r>
              <a:rPr lang="en-US" altLang="zh-CN" sz="2800"/>
              <a:t>/</a:t>
            </a:r>
            <a:r>
              <a:rPr lang="zh-CN" altLang="en-US" sz="2800"/>
              <a:t>归约冲突</a:t>
            </a:r>
            <a:endParaRPr lang="zh-CN" altLang="en-US" sz="2800"/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stmt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if </a:t>
            </a:r>
            <a:r>
              <a:rPr kumimoji="0" lang="en-US" altLang="zh-CN" sz="2400" b="1" i="1">
                <a:sym typeface="Symbol" panose="05050102010706020507" pitchFamily="18" charset="2"/>
              </a:rPr>
              <a:t>expr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then </a:t>
            </a:r>
            <a:r>
              <a:rPr kumimoji="0" lang="en-US" altLang="zh-CN" sz="2400" b="1" i="1">
                <a:sym typeface="Symbol" panose="05050102010706020507" pitchFamily="18" charset="2"/>
              </a:rPr>
              <a:t>stmt</a:t>
            </a:r>
            <a:endParaRPr kumimoji="0" lang="en-US" altLang="zh-CN" sz="2400" b="1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if </a:t>
            </a:r>
            <a:r>
              <a:rPr kumimoji="0" lang="en-US" altLang="zh-CN" sz="2400" b="1" i="1">
                <a:sym typeface="Symbol" panose="05050102010706020507" pitchFamily="18" charset="2"/>
              </a:rPr>
              <a:t>expr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then </a:t>
            </a:r>
            <a:r>
              <a:rPr kumimoji="0" lang="en-US" altLang="zh-CN" sz="2400" b="1" i="1">
                <a:sym typeface="Symbol" panose="05050102010706020507" pitchFamily="18" charset="2"/>
              </a:rPr>
              <a:t>stmt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else </a:t>
            </a:r>
            <a:r>
              <a:rPr kumimoji="0" lang="en-US" altLang="zh-CN" sz="2400" b="1" i="1">
                <a:sym typeface="Symbol" panose="05050102010706020507" pitchFamily="18" charset="2"/>
              </a:rPr>
              <a:t>stmt</a:t>
            </a:r>
            <a:endParaRPr kumimoji="0" lang="en-US" altLang="zh-CN" sz="2400" b="1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other  (any other statement)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Stack				Input</a:t>
            </a:r>
            <a:endParaRPr kumimoji="0" lang="en-US" altLang="zh-CN" sz="2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$…</a:t>
            </a:r>
            <a:r>
              <a:rPr kumimoji="0" lang="en-US" altLang="zh-CN" sz="2000">
                <a:solidFill>
                  <a:schemeClr val="accent2"/>
                </a:solidFill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</a:rPr>
              <a:t>if</a:t>
            </a:r>
            <a:r>
              <a:rPr kumimoji="0" lang="en-US" altLang="zh-CN" sz="2000"/>
              <a:t> expr </a:t>
            </a:r>
            <a:r>
              <a:rPr kumimoji="0" lang="en-US" altLang="zh-CN" sz="2000" b="1">
                <a:solidFill>
                  <a:schemeClr val="accent2"/>
                </a:solidFill>
              </a:rPr>
              <a:t>then </a:t>
            </a:r>
            <a:r>
              <a:rPr kumimoji="0" lang="en-US" altLang="zh-CN" sz="2000"/>
              <a:t>stmt		</a:t>
            </a:r>
            <a:r>
              <a:rPr kumimoji="0" lang="en-US" altLang="zh-CN" sz="2000" b="1">
                <a:solidFill>
                  <a:schemeClr val="accent2"/>
                </a:solidFill>
              </a:rPr>
              <a:t>else</a:t>
            </a:r>
            <a:r>
              <a:rPr kumimoji="0" lang="en-US" altLang="zh-CN" sz="2000"/>
              <a:t> …$</a:t>
            </a:r>
            <a:endParaRPr lang="en-US" altLang="zh-CN" sz="2800"/>
          </a:p>
          <a:p>
            <a:pPr eaLnBrk="1" hangingPunct="1"/>
            <a:r>
              <a:rPr lang="zh-CN" altLang="en-US" sz="2800"/>
              <a:t>归约</a:t>
            </a:r>
            <a:r>
              <a:rPr lang="en-US" altLang="zh-CN" sz="2800" b="1"/>
              <a:t>if</a:t>
            </a:r>
            <a:r>
              <a:rPr lang="en-US" altLang="zh-CN" sz="2800"/>
              <a:t> expr </a:t>
            </a:r>
            <a:r>
              <a:rPr lang="en-US" altLang="zh-CN" sz="2800" b="1"/>
              <a:t>then</a:t>
            </a:r>
            <a:r>
              <a:rPr lang="en-US" altLang="zh-CN" sz="2800"/>
              <a:t> stmt</a:t>
            </a:r>
            <a:r>
              <a:rPr lang="zh-CN" altLang="en-US" sz="2800">
                <a:sym typeface="Wingdings" panose="05000000000000000000" pitchFamily="2" charset="2"/>
              </a:rPr>
              <a:t>归约为</a:t>
            </a:r>
            <a:r>
              <a:rPr lang="en-US" altLang="zh-CN" sz="2800">
                <a:sym typeface="Wingdings" panose="05000000000000000000" pitchFamily="2" charset="2"/>
              </a:rPr>
              <a:t>stmt</a:t>
            </a:r>
            <a:r>
              <a:rPr lang="zh-CN" altLang="en-US" sz="2800">
                <a:sym typeface="Wingdings" panose="05000000000000000000" pitchFamily="2" charset="2"/>
              </a:rPr>
              <a:t>？或是</a:t>
            </a:r>
            <a:br>
              <a:rPr lang="zh-CN" altLang="en-US" sz="2800">
                <a:sym typeface="Wingdings" panose="05000000000000000000" pitchFamily="2" charset="2"/>
              </a:rPr>
            </a:br>
            <a:r>
              <a:rPr lang="zh-CN" altLang="en-US" sz="2800">
                <a:sym typeface="Wingdings" panose="05000000000000000000" pitchFamily="2" charset="2"/>
              </a:rPr>
              <a:t>移进</a:t>
            </a:r>
            <a:r>
              <a:rPr lang="en-US" altLang="zh-CN" sz="2800" b="1">
                <a:sym typeface="Wingdings" panose="05000000000000000000" pitchFamily="2" charset="2"/>
              </a:rPr>
              <a:t>else</a:t>
            </a:r>
            <a:r>
              <a:rPr lang="zh-CN" altLang="en-US" sz="2800">
                <a:sym typeface="Wingdings" panose="05000000000000000000" pitchFamily="2" charset="2"/>
              </a:rPr>
              <a:t>，归约</a:t>
            </a:r>
            <a:r>
              <a:rPr lang="en-US" altLang="zh-CN" sz="2800" b="1"/>
              <a:t>if</a:t>
            </a:r>
            <a:r>
              <a:rPr lang="en-US" altLang="zh-CN" sz="2800"/>
              <a:t> expr </a:t>
            </a:r>
            <a:r>
              <a:rPr lang="en-US" altLang="zh-CN" sz="2800" b="1"/>
              <a:t>then</a:t>
            </a:r>
            <a:r>
              <a:rPr lang="en-US" altLang="zh-CN" sz="2800"/>
              <a:t> stmt </a:t>
            </a:r>
            <a:r>
              <a:rPr lang="en-US" altLang="zh-CN" sz="2800" b="1"/>
              <a:t>else</a:t>
            </a:r>
            <a:r>
              <a:rPr lang="en-US" altLang="zh-CN" sz="2800"/>
              <a:t> stmt</a:t>
            </a:r>
            <a:r>
              <a:rPr lang="zh-CN" altLang="en-US" sz="2800"/>
              <a:t>？</a:t>
            </a:r>
            <a:br>
              <a:rPr lang="zh-CN" altLang="en-US" sz="2800"/>
            </a:br>
            <a:r>
              <a:rPr lang="zh-CN" altLang="en-US" sz="2800"/>
              <a:t>移进</a:t>
            </a:r>
            <a:r>
              <a:rPr lang="en-US" altLang="zh-CN" sz="2800"/>
              <a:t>/</a:t>
            </a:r>
            <a:r>
              <a:rPr lang="zh-CN" altLang="en-US" sz="2800"/>
              <a:t>归约冲突</a:t>
            </a:r>
            <a:endParaRPr lang="zh-CN" altLang="en-US" sz="2800"/>
          </a:p>
          <a:p>
            <a:pPr eaLnBrk="1" hangingPunct="1"/>
            <a:r>
              <a:rPr lang="zh-CN" altLang="en-US" sz="2800"/>
              <a:t>解决方法</a:t>
            </a:r>
            <a:r>
              <a:rPr lang="en-US" altLang="zh-CN" sz="2800"/>
              <a:t>——</a:t>
            </a:r>
            <a:r>
              <a:rPr lang="zh-CN" altLang="en-US" sz="2800"/>
              <a:t>强制一种动作</a:t>
            </a:r>
            <a:endParaRPr lang="zh-CN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4.26</a:t>
            </a:r>
            <a:endParaRPr lang="en-US" altLang="zh-CN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ClrTx/>
              <a:buSzTx/>
              <a:buFontTx/>
              <a:buNone/>
            </a:pPr>
            <a:r>
              <a:rPr lang="en-US" altLang="zh-CN" sz="2000" dirty="0"/>
              <a:t>(1)</a:t>
            </a:r>
            <a:r>
              <a:rPr lang="en-US" altLang="zh-CN" sz="2000" b="1" i="1" dirty="0" err="1"/>
              <a:t>stmt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( </a:t>
            </a:r>
            <a:r>
              <a:rPr lang="en-US" altLang="zh-CN" sz="2000" b="1" i="1" dirty="0">
                <a:sym typeface="Symbol" panose="05050102010706020507" pitchFamily="18" charset="2"/>
              </a:rPr>
              <a:t>parameter-list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b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sz="2000" dirty="0"/>
              <a:t>(2)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i="1" dirty="0" err="1"/>
              <a:t>stmt</a:t>
            </a:r>
            <a:r>
              <a:rPr lang="en-US" altLang="zh-CN" sz="2000" b="1" i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expr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:=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expr</a:t>
            </a:r>
            <a:br>
              <a:rPr lang="en-US" altLang="zh-CN" sz="2000" b="1" i="1" dirty="0">
                <a:sym typeface="Symbol" panose="05050102010706020507" pitchFamily="18" charset="2"/>
              </a:rPr>
            </a:br>
            <a:r>
              <a:rPr lang="en-US" altLang="zh-CN" sz="2000" dirty="0"/>
              <a:t>(3)</a:t>
            </a:r>
            <a:r>
              <a:rPr lang="en-US" altLang="zh-CN" sz="2000" b="1" i="1" dirty="0">
                <a:sym typeface="Symbol" panose="05050102010706020507" pitchFamily="18" charset="2"/>
              </a:rPr>
              <a:t> parameter-list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parameter-list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parameter</a:t>
            </a:r>
            <a:br>
              <a:rPr lang="en-US" altLang="zh-CN" sz="2000" b="1" i="1" dirty="0">
                <a:sym typeface="Symbol" panose="05050102010706020507" pitchFamily="18" charset="2"/>
              </a:rPr>
            </a:br>
            <a:r>
              <a:rPr lang="en-US" altLang="zh-CN" sz="2000" dirty="0"/>
              <a:t>(4,5)</a:t>
            </a:r>
            <a:r>
              <a:rPr lang="en-US" altLang="zh-CN" sz="2000" b="1" i="1" dirty="0">
                <a:sym typeface="Symbol" panose="05050102010706020507" pitchFamily="18" charset="2"/>
              </a:rPr>
              <a:t> parameter-list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parameter |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b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sz="2000" dirty="0"/>
              <a:t>(6,7)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i="1" dirty="0"/>
              <a:t>expr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( </a:t>
            </a:r>
            <a:r>
              <a:rPr lang="en-US" altLang="zh-CN" sz="2000" b="1" i="1" dirty="0">
                <a:sym typeface="Symbol" panose="05050102010706020507" pitchFamily="18" charset="2"/>
              </a:rPr>
              <a:t>expr-list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lang="en-US" altLang="zh-CN" sz="2000" b="1" dirty="0">
                <a:sym typeface="Symbol" panose="05050102010706020507" pitchFamily="18" charset="2"/>
              </a:rPr>
              <a:t>|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 id </a:t>
            </a:r>
            <a:b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sz="2000" dirty="0"/>
              <a:t>(8)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expr-list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expr-list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expr | expr</a:t>
            </a:r>
            <a:endParaRPr lang="en-US" altLang="zh-CN" sz="2000" dirty="0"/>
          </a:p>
          <a:p>
            <a:pPr marL="0" indent="0" eaLnBrk="1" hangingPunct="1"/>
            <a:r>
              <a:rPr lang="zh-CN" altLang="en-US" sz="2800" dirty="0"/>
              <a:t>符号串“</a:t>
            </a:r>
            <a:r>
              <a:rPr lang="en-US" altLang="zh-CN" sz="2800" dirty="0"/>
              <a:t>A(I, J)</a:t>
            </a:r>
            <a:r>
              <a:rPr lang="zh-CN" altLang="en-US" sz="2800"/>
              <a:t>”，</a:t>
            </a:r>
            <a:r>
              <a:rPr lang="zh-CN" altLang="en-US" sz="2800" dirty="0"/>
              <a:t>单词流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id(id, id)</a:t>
            </a:r>
            <a:endParaRPr lang="en-US" altLang="zh-CN" sz="28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Stack				Input</a:t>
            </a:r>
            <a:endParaRPr kumimoji="0" lang="en-US" altLang="zh-CN" sz="2000" dirty="0"/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$…</a:t>
            </a:r>
            <a:r>
              <a:rPr kumimoji="0" lang="en-US" altLang="zh-CN" sz="2000" dirty="0">
                <a:solidFill>
                  <a:schemeClr val="accent2"/>
                </a:solidFill>
              </a:rPr>
              <a:t> </a:t>
            </a:r>
            <a:r>
              <a:rPr kumimoji="0" lang="en-US" altLang="zh-CN" sz="2000" b="1" dirty="0">
                <a:solidFill>
                  <a:schemeClr val="accent2"/>
                </a:solidFill>
              </a:rPr>
              <a:t>id ( id</a:t>
            </a:r>
            <a:r>
              <a:rPr kumimoji="0" lang="en-US" altLang="zh-CN" sz="2000" dirty="0"/>
              <a:t>			</a:t>
            </a:r>
            <a:r>
              <a:rPr kumimoji="0" lang="en-US" altLang="zh-CN" sz="2000" b="1" dirty="0">
                <a:solidFill>
                  <a:schemeClr val="accent2"/>
                </a:solidFill>
              </a:rPr>
              <a:t>, id )</a:t>
            </a:r>
            <a:r>
              <a:rPr kumimoji="0" lang="en-US" altLang="zh-CN" sz="2000" dirty="0"/>
              <a:t> …$</a:t>
            </a:r>
            <a:endParaRPr lang="en-US" altLang="zh-CN" sz="28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sz="2400" dirty="0"/>
              <a:t>归约</a:t>
            </a:r>
            <a:r>
              <a:rPr lang="en-US" altLang="zh-CN" sz="2400" dirty="0"/>
              <a:t>(5)—</a:t>
            </a:r>
            <a:r>
              <a:rPr lang="zh-CN" altLang="en-US" sz="2400" dirty="0"/>
              <a:t>过程参数？归约</a:t>
            </a:r>
            <a:r>
              <a:rPr lang="en-US" altLang="zh-CN" sz="2400" dirty="0"/>
              <a:t>(7)—</a:t>
            </a:r>
            <a:r>
              <a:rPr lang="zh-CN" altLang="en-US" sz="2400" dirty="0"/>
              <a:t>数组下标？</a:t>
            </a:r>
            <a:br>
              <a:rPr lang="zh-CN" altLang="en-US" sz="2400" dirty="0"/>
            </a:br>
            <a:r>
              <a:rPr lang="zh-CN" altLang="en-US" sz="2400" dirty="0"/>
              <a:t>   归约</a:t>
            </a:r>
            <a:r>
              <a:rPr lang="en-US" altLang="zh-CN" sz="2400" dirty="0"/>
              <a:t>/</a:t>
            </a:r>
            <a:r>
              <a:rPr lang="zh-CN" altLang="en-US" sz="2400" dirty="0"/>
              <a:t>归约冲突</a:t>
            </a:r>
            <a:endParaRPr lang="zh-CN" altLang="en-US" sz="2400" dirty="0"/>
          </a:p>
          <a:p>
            <a:pPr marL="0" indent="0" eaLnBrk="1" hangingPunct="1"/>
            <a:r>
              <a:rPr lang="zh-CN" altLang="en-US" sz="2400" dirty="0"/>
              <a:t>解决：</a:t>
            </a:r>
            <a:r>
              <a:rPr lang="en-US" altLang="zh-CN" sz="2400" dirty="0"/>
              <a:t>(1) </a:t>
            </a:r>
            <a:r>
              <a:rPr kumimoji="0" lang="en-US" altLang="zh-CN" sz="2400" b="1" dirty="0" err="1">
                <a:solidFill>
                  <a:schemeClr val="accent2"/>
                </a:solidFill>
              </a:rPr>
              <a:t>id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Wingdings" panose="05000000000000000000" pitchFamily="2" charset="2"/>
              </a:rPr>
              <a:t>procid</a:t>
            </a:r>
            <a:r>
              <a:rPr kumimoji="0" lang="zh-CN" altLang="en-US" sz="2400" dirty="0">
                <a:sym typeface="Wingdings" panose="05000000000000000000" pitchFamily="2" charset="2"/>
              </a:rPr>
              <a:t>，区分过程</a:t>
            </a:r>
            <a:r>
              <a:rPr kumimoji="0" lang="en-US" altLang="zh-CN" sz="2400" dirty="0">
                <a:sym typeface="Wingdings" panose="05000000000000000000" pitchFamily="2" charset="2"/>
              </a:rPr>
              <a:t>/</a:t>
            </a:r>
            <a:r>
              <a:rPr kumimoji="0" lang="zh-CN" altLang="en-US" sz="2400" dirty="0">
                <a:sym typeface="Wingdings" panose="05000000000000000000" pitchFamily="2" charset="2"/>
              </a:rPr>
              <a:t>数组</a:t>
            </a:r>
            <a:endParaRPr kumimoji="0"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  </a:t>
            </a:r>
            <a:r>
              <a:rPr lang="zh-CN" altLang="en-US"/>
              <a:t>算符优先分析方法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5626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CN">
                <a:solidFill>
                  <a:srgbClr val="FF3300"/>
                </a:solidFill>
              </a:rPr>
              <a:t>operator-precedence parsing</a:t>
            </a:r>
            <a:endParaRPr lang="en-US" altLang="zh-CN">
              <a:solidFill>
                <a:srgbClr val="FF3300"/>
              </a:solidFill>
            </a:endParaRPr>
          </a:p>
          <a:p>
            <a:pPr eaLnBrk="1" hangingPunct="1">
              <a:spcBef>
                <a:spcPct val="10000"/>
              </a:spcBef>
            </a:pPr>
            <a:r>
              <a:rPr lang="zh-CN" altLang="en-US"/>
              <a:t>算符文法</a:t>
            </a:r>
            <a:endParaRPr lang="zh-CN" altLang="en-US"/>
          </a:p>
          <a:p>
            <a:pPr lvl="1" eaLnBrk="1" hangingPunct="1">
              <a:spcBef>
                <a:spcPct val="10000"/>
              </a:spcBef>
            </a:pPr>
            <a:r>
              <a:rPr lang="zh-CN" altLang="en-US"/>
              <a:t>无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产生式</a:t>
            </a:r>
            <a:endParaRPr lang="zh-CN" altLang="en-US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zh-CN" altLang="en-US">
                <a:sym typeface="Symbol" panose="05050102010706020507" pitchFamily="18" charset="2"/>
              </a:rPr>
              <a:t>产生式右部不含连续</a:t>
            </a:r>
            <a:r>
              <a:rPr lang="en-US" altLang="zh-CN">
                <a:sym typeface="Symbol" panose="05050102010706020507" pitchFamily="18" charset="2"/>
              </a:rPr>
              <a:t>NT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</a:pPr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4.27</a:t>
            </a:r>
            <a:br>
              <a:rPr lang="en-US" altLang="zh-CN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EAE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 b="1">
                <a:sym typeface="Symbol" panose="05050102010706020507" pitchFamily="18" charset="2"/>
              </a:rPr>
              <a:t> E 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b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kumimoji="0" lang="en-US" altLang="zh-CN" sz="2400" b="1"/>
              <a:t>A </a:t>
            </a:r>
            <a:r>
              <a:rPr kumimoji="0" lang="en-US" altLang="zh-CN" sz="2400" b="1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- </a:t>
            </a:r>
            <a:r>
              <a:rPr kumimoji="0" lang="en-US" altLang="zh-CN" sz="2400" b="1">
                <a:sym typeface="Symbol" panose="05050102010706020507" pitchFamily="18" charset="2"/>
              </a:rPr>
              <a:t>|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+ </a:t>
            </a:r>
            <a:r>
              <a:rPr kumimoji="0" lang="en-US" altLang="zh-CN" sz="2400" b="1">
                <a:sym typeface="Symbol" panose="05050102010706020507" pitchFamily="18" charset="2"/>
              </a:rPr>
              <a:t>|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* </a:t>
            </a:r>
            <a:r>
              <a:rPr kumimoji="0" lang="en-US" altLang="zh-CN" sz="2400" b="1">
                <a:sym typeface="Symbol" panose="05050102010706020507" pitchFamily="18" charset="2"/>
              </a:rPr>
              <a:t>|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/ </a:t>
            </a:r>
            <a:r>
              <a:rPr kumimoji="0" lang="en-US" altLang="zh-CN" sz="2400" b="1">
                <a:sym typeface="Symbol" panose="05050102010706020507" pitchFamily="18" charset="2"/>
              </a:rPr>
              <a:t>|</a:t>
            </a:r>
            <a:r>
              <a:rPr kumimoji="0" lang="en-US" altLang="zh-CN" sz="2400" b="1">
                <a:solidFill>
                  <a:srgbClr val="3333CC"/>
                </a:solidFill>
                <a:latin typeface="宋体" panose="02010600030101010101" pitchFamily="2" charset="-122"/>
              </a:rPr>
              <a:t>↑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	    </a:t>
            </a:r>
            <a:r>
              <a:rPr kumimoji="0" lang="en-US" altLang="zh-CN" sz="2400" b="1">
                <a:sym typeface="Wingdings" panose="05000000000000000000" pitchFamily="2" charset="2"/>
              </a:rPr>
              <a:t></a:t>
            </a:r>
            <a:br>
              <a:rPr kumimoji="0" lang="en-US" altLang="zh-CN" sz="2400" b="1">
                <a:sym typeface="Wingdings" panose="05000000000000000000" pitchFamily="2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E 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 b="1">
                <a:sym typeface="Symbol" panose="05050102010706020507" pitchFamily="18" charset="2"/>
              </a:rPr>
              <a:t> E |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E |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E | E</a:t>
            </a:r>
            <a:r>
              <a:rPr kumimoji="0" lang="en-US" altLang="zh-CN" sz="2400" b="1">
                <a:solidFill>
                  <a:srgbClr val="3333CC"/>
                </a:solidFill>
                <a:latin typeface="宋体" panose="02010600030101010101" pitchFamily="2" charset="-122"/>
              </a:rPr>
              <a:t>↑</a:t>
            </a:r>
            <a:r>
              <a:rPr kumimoji="0" lang="en-US" altLang="zh-CN" sz="2400" b="1">
                <a:sym typeface="Symbol" panose="05050102010706020507" pitchFamily="18" charset="2"/>
              </a:rPr>
              <a:t>E |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^</a:t>
            </a:r>
            <a:r>
              <a:rPr kumimoji="0" lang="en-US" altLang="zh-CN" sz="2400" b="1">
                <a:sym typeface="Symbol" panose="05050102010706020507" pitchFamily="18" charset="2"/>
              </a:rPr>
              <a:t> E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 b="1">
                <a:sym typeface="Symbol" panose="05050102010706020507" pitchFamily="18" charset="2"/>
              </a:rPr>
              <a:t> E 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算符优先分析方法的特点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229225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缺点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多优先级算符例如</a:t>
            </a:r>
            <a:r>
              <a:rPr lang="en-US" altLang="zh-CN" dirty="0">
                <a:sym typeface="Symbol" panose="05050102010706020507" pitchFamily="18" charset="2"/>
              </a:rPr>
              <a:t>‘-’</a:t>
            </a:r>
            <a:r>
              <a:rPr lang="zh-CN" altLang="en-US" dirty="0">
                <a:sym typeface="Symbol" panose="05050102010706020507" pitchFamily="18" charset="2"/>
              </a:rPr>
              <a:t>难以处理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文法</a:t>
            </a:r>
            <a:r>
              <a:rPr lang="en-US" altLang="zh-CN" dirty="0">
                <a:sym typeface="Symbol" panose="05050102010706020507" pitchFamily="18" charset="2"/>
              </a:rPr>
              <a:t>——</a:t>
            </a:r>
            <a:r>
              <a:rPr lang="zh-CN" altLang="en-US" dirty="0">
                <a:sym typeface="Symbol" panose="05050102010706020507" pitchFamily="18" charset="2"/>
              </a:rPr>
              <a:t>分析器关系不紧密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仅适用少数文法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优点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简单</a:t>
            </a:r>
            <a:endParaRPr lang="zh-CN" altLang="en-US" dirty="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适合表达式分析</a:t>
            </a:r>
            <a:endParaRPr lang="zh-CN" altLang="en-US" dirty="0">
              <a:solidFill>
                <a:schemeClr val="folHlink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优先级</a:t>
            </a:r>
            <a:endParaRPr lang="zh-CN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/>
              <a:t>不相交的三种优先级关系</a:t>
            </a:r>
            <a:r>
              <a:rPr lang="en-US" altLang="zh-CN" sz="2800"/>
              <a:t>—</a:t>
            </a:r>
            <a:r>
              <a:rPr lang="zh-CN" altLang="en-US" sz="2800"/>
              <a:t>终结符之间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a⋖b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的优先级低于</a:t>
            </a:r>
            <a:r>
              <a:rPr lang="en-US" altLang="zh-CN" sz="2400"/>
              <a:t>b</a:t>
            </a:r>
            <a:endParaRPr lang="en-US" altLang="zh-CN" sz="2400"/>
          </a:p>
          <a:p>
            <a:pPr lvl="1" eaLnBrk="1" hangingPunct="1"/>
            <a:r>
              <a:rPr lang="en-US" altLang="zh-CN" sz="2400"/>
              <a:t>a≐b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的优先级等于</a:t>
            </a:r>
            <a:r>
              <a:rPr lang="en-US" altLang="zh-CN" sz="2400"/>
              <a:t>b</a:t>
            </a:r>
            <a:endParaRPr lang="en-US" altLang="zh-CN" sz="2400"/>
          </a:p>
          <a:p>
            <a:pPr lvl="1" eaLnBrk="1" hangingPunct="1"/>
            <a:r>
              <a:rPr lang="en-US" altLang="zh-CN" sz="2400"/>
              <a:t>a⋗b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的优先级高于</a:t>
            </a:r>
            <a:r>
              <a:rPr lang="en-US" altLang="zh-CN" sz="2400"/>
              <a:t>b</a:t>
            </a:r>
            <a:endParaRPr lang="en-US" altLang="zh-CN" sz="2400"/>
          </a:p>
          <a:p>
            <a:pPr eaLnBrk="1" hangingPunct="1"/>
            <a:r>
              <a:rPr lang="zh-CN" altLang="en-US" sz="2800"/>
              <a:t>不同于算术关系</a:t>
            </a:r>
            <a:r>
              <a:rPr lang="en-US" altLang="zh-CN" sz="2800"/>
              <a:t>&lt;</a:t>
            </a:r>
            <a:r>
              <a:rPr lang="zh-CN" altLang="en-US" sz="2800"/>
              <a:t>、</a:t>
            </a:r>
            <a:r>
              <a:rPr lang="en-US" altLang="zh-CN" sz="2800"/>
              <a:t>=</a:t>
            </a:r>
            <a:r>
              <a:rPr lang="zh-CN" altLang="en-US" sz="2800"/>
              <a:t>、 </a:t>
            </a:r>
            <a:r>
              <a:rPr lang="en-US" altLang="zh-CN" sz="2800"/>
              <a:t>&gt;</a:t>
            </a:r>
            <a:endParaRPr lang="en-US" altLang="zh-CN" sz="2800"/>
          </a:p>
          <a:p>
            <a:pPr lvl="1" eaLnBrk="1" hangingPunct="1"/>
            <a:r>
              <a:rPr lang="en-US" altLang="zh-CN" sz="2400"/>
              <a:t>a⋖b</a:t>
            </a:r>
            <a:r>
              <a:rPr lang="zh-CN" altLang="en-US" sz="2400"/>
              <a:t>，</a:t>
            </a:r>
            <a:r>
              <a:rPr lang="en-US" altLang="zh-CN" sz="2400"/>
              <a:t>a⋗b</a:t>
            </a:r>
            <a:r>
              <a:rPr lang="zh-CN" altLang="en-US" sz="2400"/>
              <a:t>可能同时成立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三种关系可能均不成立</a:t>
            </a:r>
            <a:endParaRPr lang="zh-CN" altLang="en-US" sz="2400"/>
          </a:p>
          <a:p>
            <a:pPr eaLnBrk="1" hangingPunct="1"/>
            <a:r>
              <a:rPr lang="zh-CN" altLang="en-US" sz="2800"/>
              <a:t>确定优先关系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传统意义运算符的优先级：</a:t>
            </a:r>
            <a:r>
              <a:rPr lang="en-US" altLang="zh-CN" sz="2400"/>
              <a:t>+⋖*</a:t>
            </a:r>
            <a:r>
              <a:rPr lang="zh-CN" altLang="en-US" sz="2400"/>
              <a:t>，*⋗</a:t>
            </a:r>
            <a:r>
              <a:rPr lang="en-US" altLang="zh-CN" sz="2400"/>
              <a:t>+</a:t>
            </a:r>
            <a:endParaRPr lang="en-US" altLang="zh-CN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使用算符计算优先关系</a:t>
            </a:r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非二义性文法，语法树反映优先关系</a:t>
            </a:r>
            <a:endParaRPr lang="zh-CN" altLang="en-US" sz="2800" dirty="0"/>
          </a:p>
          <a:p>
            <a:pPr marL="609600" indent="-609600" eaLnBrk="1" hangingPunct="1"/>
            <a:r>
              <a:rPr lang="zh-CN" altLang="en-US" sz="2800" dirty="0"/>
              <a:t>不含</a:t>
            </a:r>
            <a:r>
              <a:rPr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 sz="2800" dirty="0">
                <a:sym typeface="Symbol" panose="05050102010706020507" pitchFamily="18" charset="2"/>
              </a:rPr>
              <a:t>产生式文法，对任一对终结符</a:t>
            </a:r>
            <a:r>
              <a:rPr lang="en-US" altLang="zh-CN" sz="2800" dirty="0">
                <a:sym typeface="Symbol" panose="05050102010706020507" pitchFamily="18" charset="2"/>
              </a:rPr>
              <a:t>a, b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 err="1"/>
              <a:t>a≐b</a:t>
            </a:r>
            <a:r>
              <a:rPr lang="zh-CN" altLang="en-US" sz="2400" dirty="0"/>
              <a:t>，当且仅当</a:t>
            </a:r>
            <a:r>
              <a:rPr kumimoji="0" lang="en-US" altLang="zh-CN" sz="2400" dirty="0"/>
              <a:t>P</a:t>
            </a:r>
            <a:r>
              <a:rPr kumimoji="0" lang="en-US" altLang="zh-CN" sz="2400" dirty="0">
                <a:sym typeface="Symbol" panose="05050102010706020507" pitchFamily="18" charset="2"/>
              </a:rPr>
              <a:t>…ab…</a:t>
            </a:r>
            <a:r>
              <a:rPr kumimoji="0" lang="zh-CN" altLang="en-US" sz="2400" dirty="0">
                <a:sym typeface="Symbol" panose="05050102010706020507" pitchFamily="18" charset="2"/>
              </a:rPr>
              <a:t>或</a:t>
            </a:r>
            <a:r>
              <a:rPr kumimoji="0" lang="en-US" altLang="zh-CN" sz="2400" dirty="0"/>
              <a:t>P</a:t>
            </a:r>
            <a:r>
              <a:rPr kumimoji="0" lang="en-US" altLang="zh-CN" sz="2400" dirty="0">
                <a:sym typeface="Symbol" panose="05050102010706020507" pitchFamily="18" charset="2"/>
              </a:rPr>
              <a:t>…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aQb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zh-CN" altLang="en-US" sz="2400" dirty="0">
                <a:sym typeface="Symbol" panose="05050102010706020507" pitchFamily="18" charset="2"/>
              </a:rPr>
              <a:t>（同时归约意味着同时计算</a:t>
            </a:r>
            <a:r>
              <a:rPr kumimoji="0" lang="en-US" altLang="zh-CN" sz="2400" dirty="0">
                <a:sym typeface="Wingdings" panose="05000000000000000000" pitchFamily="2" charset="2"/>
              </a:rPr>
              <a:t></a:t>
            </a:r>
            <a:r>
              <a:rPr kumimoji="0" lang="zh-CN" altLang="en-US" sz="2400" dirty="0">
                <a:sym typeface="Wingdings" panose="05000000000000000000" pitchFamily="2" charset="2"/>
              </a:rPr>
              <a:t>优先级相同）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 err="1"/>
              <a:t>a⋖b</a:t>
            </a:r>
            <a:r>
              <a:rPr lang="zh-CN" altLang="en-US" sz="2400" dirty="0"/>
              <a:t>，当且仅当</a:t>
            </a:r>
            <a:r>
              <a:rPr kumimoji="0" lang="en-US" altLang="zh-CN" sz="2400" dirty="0"/>
              <a:t>P</a:t>
            </a:r>
            <a:r>
              <a:rPr kumimoji="0" lang="en-US" altLang="zh-CN" sz="2400" dirty="0">
                <a:sym typeface="Symbol" panose="05050102010706020507" pitchFamily="18" charset="2"/>
              </a:rPr>
              <a:t>…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aR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zh-CN" altLang="en-US" sz="2400" dirty="0">
                <a:sym typeface="Symbol" panose="05050102010706020507" pitchFamily="18" charset="2"/>
              </a:rPr>
              <a:t>，且</a:t>
            </a:r>
            <a:r>
              <a:rPr kumimoji="0" lang="en-US" altLang="zh-CN" sz="2400" dirty="0" err="1"/>
              <a:t>R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b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zh-CN" altLang="en-US" sz="2400" dirty="0">
                <a:sym typeface="Symbol" panose="05050102010706020507" pitchFamily="18" charset="2"/>
              </a:rPr>
              <a:t>或</a:t>
            </a:r>
            <a:r>
              <a:rPr kumimoji="0" lang="en-US" altLang="zh-CN" sz="2400" dirty="0" err="1"/>
              <a:t>R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Qb</a:t>
            </a:r>
            <a:r>
              <a:rPr kumimoji="0" lang="en-US" altLang="zh-CN" sz="2400" dirty="0">
                <a:sym typeface="Symbol" panose="05050102010706020507" pitchFamily="18" charset="2"/>
              </a:rPr>
              <a:t>… </a:t>
            </a:r>
            <a:r>
              <a:rPr kumimoji="0" lang="zh-CN" altLang="en-US" sz="2400" dirty="0">
                <a:sym typeface="Symbol" panose="05050102010706020507" pitchFamily="18" charset="2"/>
              </a:rPr>
              <a:t>（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的运算结果</a:t>
            </a:r>
            <a:r>
              <a:rPr kumimoji="0" lang="en-US" altLang="zh-CN" sz="2400" dirty="0">
                <a:sym typeface="Symbol" panose="05050102010706020507" pitchFamily="18" charset="2"/>
              </a:rPr>
              <a:t>R</a:t>
            </a:r>
            <a:r>
              <a:rPr kumimoji="0" lang="zh-CN" altLang="en-US" sz="2400" dirty="0">
                <a:sym typeface="Symbol" panose="05050102010706020507" pitchFamily="18" charset="2"/>
              </a:rPr>
              <a:t>是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的运算对象</a:t>
            </a:r>
            <a:r>
              <a:rPr kumimoji="0" lang="en-US" altLang="zh-CN" sz="2400" dirty="0">
                <a:sym typeface="Wingdings" panose="05000000000000000000" pitchFamily="2" charset="2"/>
              </a:rPr>
              <a:t>a</a:t>
            </a:r>
            <a:r>
              <a:rPr kumimoji="0" lang="zh-CN" altLang="en-US" sz="2400" dirty="0">
                <a:sym typeface="Wingdings" panose="05000000000000000000" pitchFamily="2" charset="2"/>
              </a:rPr>
              <a:t>优先级低）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 err="1"/>
              <a:t>a⋗b</a:t>
            </a:r>
            <a:r>
              <a:rPr lang="zh-CN" altLang="en-US" sz="2400" dirty="0"/>
              <a:t>，当且仅当</a:t>
            </a:r>
            <a:r>
              <a:rPr kumimoji="0" lang="en-US" altLang="zh-CN" sz="2400" dirty="0"/>
              <a:t>P</a:t>
            </a:r>
            <a:r>
              <a:rPr kumimoji="0" lang="en-US" altLang="zh-CN" sz="2400" dirty="0">
                <a:sym typeface="Symbol" panose="05050102010706020507" pitchFamily="18" charset="2"/>
              </a:rPr>
              <a:t>…Rb…</a:t>
            </a:r>
            <a:r>
              <a:rPr kumimoji="0" lang="zh-CN" altLang="en-US" sz="2400" dirty="0">
                <a:sym typeface="Symbol" panose="05050102010706020507" pitchFamily="18" charset="2"/>
              </a:rPr>
              <a:t>，且</a:t>
            </a:r>
            <a:r>
              <a:rPr kumimoji="0" lang="en-US" altLang="zh-CN" sz="2400" dirty="0"/>
              <a:t>R</a:t>
            </a:r>
            <a:r>
              <a:rPr kumimoji="0" lang="en-US" altLang="zh-CN" sz="2400" dirty="0">
                <a:sym typeface="Symbol" panose="05050102010706020507" pitchFamily="18" charset="2"/>
              </a:rPr>
              <a:t>…a</a:t>
            </a:r>
            <a:r>
              <a:rPr kumimoji="0" lang="zh-CN" altLang="en-US" sz="2400" dirty="0">
                <a:sym typeface="Symbol" panose="05050102010706020507" pitchFamily="18" charset="2"/>
              </a:rPr>
              <a:t>或</a:t>
            </a:r>
            <a:r>
              <a:rPr kumimoji="0" lang="en-US" altLang="zh-CN" sz="2400" dirty="0"/>
              <a:t>R</a:t>
            </a:r>
            <a:r>
              <a:rPr kumimoji="0" lang="en-US" altLang="zh-CN" sz="2400" dirty="0">
                <a:sym typeface="Symbol" panose="05050102010706020507" pitchFamily="18" charset="2"/>
              </a:rPr>
              <a:t>…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aQ</a:t>
            </a:r>
            <a:r>
              <a:rPr kumimoji="0" lang="zh-CN" altLang="en-US" sz="2400" dirty="0">
                <a:sym typeface="Symbol" panose="05050102010706020507" pitchFamily="18" charset="2"/>
              </a:rPr>
              <a:t>（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的运算结果</a:t>
            </a:r>
            <a:r>
              <a:rPr kumimoji="0" lang="en-US" altLang="zh-CN" sz="2400" dirty="0">
                <a:sym typeface="Symbol" panose="05050102010706020507" pitchFamily="18" charset="2"/>
              </a:rPr>
              <a:t>R</a:t>
            </a:r>
            <a:r>
              <a:rPr kumimoji="0" lang="zh-CN" altLang="en-US" sz="2400" dirty="0">
                <a:sym typeface="Symbol" panose="05050102010706020507" pitchFamily="18" charset="2"/>
              </a:rPr>
              <a:t>是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的运算对象</a:t>
            </a:r>
            <a:r>
              <a:rPr kumimoji="0" lang="en-US" altLang="zh-CN" sz="2400" dirty="0">
                <a:sym typeface="Wingdings" panose="05000000000000000000" pitchFamily="2" charset="2"/>
              </a:rPr>
              <a:t>a</a:t>
            </a:r>
            <a:r>
              <a:rPr kumimoji="0" lang="zh-CN" altLang="en-US" sz="2400" dirty="0">
                <a:sym typeface="Wingdings" panose="05000000000000000000" pitchFamily="2" charset="2"/>
              </a:rPr>
              <a:t>优先级高）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>
                <a:sym typeface="Symbol" panose="05050102010706020507" pitchFamily="18" charset="2"/>
              </a:rPr>
              <a:t>若算符文法</a:t>
            </a:r>
            <a:r>
              <a:rPr kumimoji="0" lang="en-US" altLang="zh-CN" sz="2400" dirty="0">
                <a:sym typeface="Symbol" panose="05050102010706020507" pitchFamily="18" charset="2"/>
              </a:rPr>
              <a:t>G</a:t>
            </a:r>
            <a:r>
              <a:rPr kumimoji="0" lang="zh-CN" altLang="en-US" sz="2400" dirty="0">
                <a:sym typeface="Symbol" panose="05050102010706020507" pitchFamily="18" charset="2"/>
              </a:rPr>
              <a:t>任何终结符对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a,b</a:t>
            </a:r>
            <a:r>
              <a:rPr kumimoji="0" lang="en-US" altLang="zh-CN" sz="2400" dirty="0">
                <a:sym typeface="Symbol" panose="05050102010706020507" pitchFamily="18" charset="2"/>
              </a:rPr>
              <a:t>)</a:t>
            </a:r>
            <a:r>
              <a:rPr kumimoji="0" lang="zh-CN" altLang="en-US" sz="2400" dirty="0">
                <a:sym typeface="Symbol" panose="05050102010706020507" pitchFamily="18" charset="2"/>
              </a:rPr>
              <a:t>至多只满足</a:t>
            </a:r>
            <a:endParaRPr kumimoji="0" lang="zh-CN" altLang="en-US" sz="24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		</a:t>
            </a:r>
            <a:r>
              <a:rPr lang="en-US" altLang="zh-CN" sz="2400" dirty="0" err="1"/>
              <a:t>a⋖b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a≐b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a⋗b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之一，则称之为算符优先文法</a:t>
            </a:r>
            <a:endParaRPr kumimoji="0" lang="zh-CN" altLang="en-US" sz="2400" dirty="0">
              <a:sym typeface="Symbol" panose="05050102010706020507" pitchFamily="18" charset="2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444629" y="308483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7740029" y="306896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6493842" y="389622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7740352" y="3880346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3333CC"/>
                </a:solidFill>
              </a:rPr>
              <a:t>+</a:t>
            </a:r>
            <a:endParaRPr kumimoji="0" lang="en-US" altLang="zh-CN" sz="20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(1) E </a:t>
            </a:r>
            <a:r>
              <a:rPr kumimoji="0" lang="en-US" altLang="zh-CN" sz="2400" b="1">
                <a:sym typeface="Symbol" panose="05050102010706020507" pitchFamily="18" charset="2"/>
              </a:rPr>
              <a:t> E + T  |  T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(2) T  T * F  |  F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(3) F   ( E )  | id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sz="2800"/>
              <a:t>传统意义：</a:t>
            </a:r>
            <a:r>
              <a:rPr lang="en-US" altLang="zh-CN" sz="2800"/>
              <a:t>+⋖*</a:t>
            </a:r>
            <a:r>
              <a:rPr lang="zh-CN" altLang="en-US" sz="2800"/>
              <a:t>；</a:t>
            </a:r>
            <a:r>
              <a:rPr lang="en-US" altLang="zh-CN" sz="2800"/>
              <a:t>+ ⋗+</a:t>
            </a:r>
            <a:r>
              <a:rPr lang="zh-CN" altLang="en-US" sz="2800"/>
              <a:t>；</a:t>
            </a:r>
            <a:r>
              <a:rPr lang="en-US" altLang="zh-CN" sz="2800"/>
              <a:t>( ⋖ +,*</a:t>
            </a:r>
            <a:r>
              <a:rPr lang="zh-CN" altLang="en-US" sz="2800"/>
              <a:t>；</a:t>
            </a:r>
            <a:r>
              <a:rPr lang="en-US" altLang="zh-CN" sz="2800"/>
              <a:t>) ⋗ +,*</a:t>
            </a:r>
            <a:endParaRPr lang="en-US" altLang="zh-CN" sz="2800"/>
          </a:p>
          <a:p>
            <a:pPr marL="0" indent="0" eaLnBrk="1" hangingPunct="1"/>
            <a:r>
              <a:rPr lang="zh-CN" altLang="en-US" sz="2800"/>
              <a:t>算法计算</a:t>
            </a:r>
            <a:endParaRPr lang="zh-CN" altLang="en-US" sz="2800"/>
          </a:p>
          <a:p>
            <a:pPr marL="857250" lvl="1" eaLnBrk="1" hangingPunct="1"/>
            <a:r>
              <a:rPr lang="zh-CN" altLang="en-US" sz="2400"/>
              <a:t>由</a:t>
            </a:r>
            <a:r>
              <a:rPr lang="en-US" altLang="zh-CN" sz="2400"/>
              <a:t>(3)</a:t>
            </a:r>
            <a:r>
              <a:rPr lang="zh-CN" altLang="en-US" sz="2400"/>
              <a:t>，</a:t>
            </a:r>
            <a:r>
              <a:rPr lang="en-US" altLang="zh-CN" sz="2400"/>
              <a:t>(≐)</a:t>
            </a:r>
            <a:r>
              <a:rPr lang="zh-CN" altLang="en-US" sz="2400"/>
              <a:t>（规则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endParaRPr lang="zh-CN" altLang="en-US" sz="2400"/>
          </a:p>
          <a:p>
            <a:pPr marL="857250" lvl="1" eaLnBrk="1" hangingPunct="1"/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E 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rgbClr val="009900"/>
                </a:solidFill>
                <a:sym typeface="Symbol" panose="05050102010706020507" pitchFamily="18" charset="2"/>
              </a:rPr>
              <a:t>T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olidFill>
                  <a:srgbClr val="009900"/>
                </a:solidFill>
                <a:sym typeface="Symbol" panose="05050102010706020507" pitchFamily="18" charset="2"/>
              </a:rPr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  T </a:t>
            </a:r>
            <a:r>
              <a:rPr kumimoji="0" lang="en-US" altLang="zh-CN" sz="2400">
                <a:solidFill>
                  <a:srgbClr val="800000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>
                <a:sym typeface="Symbol" panose="05050102010706020507" pitchFamily="18" charset="2"/>
              </a:rPr>
              <a:t> F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lang="en-US" altLang="zh-CN" sz="2400">
                <a:solidFill>
                  <a:schemeClr val="hlink"/>
                </a:solidFill>
              </a:rPr>
              <a:t>+</a:t>
            </a:r>
            <a:r>
              <a:rPr lang="en-US" altLang="zh-CN" sz="2400"/>
              <a:t> ⋖ </a:t>
            </a:r>
            <a:r>
              <a:rPr lang="en-US" altLang="zh-CN" sz="2400">
                <a:solidFill>
                  <a:srgbClr val="800000"/>
                </a:solidFill>
              </a:rPr>
              <a:t>*</a:t>
            </a:r>
            <a:r>
              <a:rPr lang="zh-CN" altLang="en-US" sz="2400"/>
              <a:t>（规则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endParaRPr lang="zh-CN" altLang="en-US" sz="2400"/>
          </a:p>
          <a:p>
            <a:pPr marL="857250" lvl="1" eaLnBrk="1" hangingPunct="1"/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solidFill>
                  <a:srgbClr val="009900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rgbClr val="800000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olidFill>
                  <a:srgbClr val="009900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 E 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lang="en-US" altLang="zh-CN" sz="2400">
                <a:solidFill>
                  <a:schemeClr val="hlink"/>
                </a:solidFill>
              </a:rPr>
              <a:t>+</a:t>
            </a:r>
            <a:r>
              <a:rPr lang="en-US" altLang="zh-CN" sz="2400"/>
              <a:t> ⋗ </a:t>
            </a:r>
            <a:r>
              <a:rPr lang="en-US" altLang="zh-CN" sz="2400">
                <a:solidFill>
                  <a:srgbClr val="800000"/>
                </a:solidFill>
              </a:rPr>
              <a:t>+</a:t>
            </a:r>
            <a:r>
              <a:rPr lang="zh-CN" altLang="en-US" sz="2400"/>
              <a:t>（规则</a:t>
            </a:r>
            <a:r>
              <a:rPr lang="en-US" altLang="zh-CN" sz="2400"/>
              <a:t>3</a:t>
            </a:r>
            <a:r>
              <a:rPr lang="zh-CN" altLang="en-US" sz="2400"/>
              <a:t>）</a:t>
            </a:r>
            <a:endParaRPr lang="zh-CN" altLang="en-US" sz="2400"/>
          </a:p>
          <a:p>
            <a:pPr marL="857250" lvl="1" eaLnBrk="1" hangingPunct="1"/>
            <a:r>
              <a:rPr lang="en-US" altLang="zh-CN" sz="2400"/>
              <a:t>F</a:t>
            </a:r>
            <a:r>
              <a:rPr kumimoji="0" lang="en-US" altLang="zh-CN" sz="2400">
                <a:sym typeface="Symbol" panose="05050102010706020507" pitchFamily="18" charset="2"/>
              </a:rPr>
              <a:t>(E)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ym typeface="Symbol" panose="05050102010706020507" pitchFamily="18" charset="2"/>
              </a:rPr>
              <a:t>E  E + T</a:t>
            </a:r>
            <a:r>
              <a:rPr kumimoji="0" lang="zh-CN" altLang="en-US" sz="2400">
                <a:sym typeface="Symbol" panose="05050102010706020507" pitchFamily="18" charset="2"/>
              </a:rPr>
              <a:t>， </a:t>
            </a:r>
            <a:r>
              <a:rPr lang="en-US" altLang="zh-CN" sz="2400"/>
              <a:t>+ ⋗ )</a:t>
            </a:r>
            <a:endParaRPr lang="en-US" altLang="zh-CN" sz="2400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810000" y="38703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3810000" y="42672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3505200" y="47244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  <a:endParaRPr kumimoji="0" lang="en-US" altLang="zh-CN" sz="200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4.6.1  </a:t>
            </a:r>
            <a:r>
              <a:rPr lang="zh-CN" altLang="en-US"/>
              <a:t>使用算符优先关系</a:t>
            </a:r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目的：确定最右句型的句柄的边界</a:t>
            </a:r>
            <a:endParaRPr lang="zh-CN" altLang="en-US"/>
          </a:p>
          <a:p>
            <a:pPr eaLnBrk="1" hangingPunct="1"/>
            <a:r>
              <a:rPr lang="zh-CN" altLang="en-US"/>
              <a:t>⋖</a:t>
            </a:r>
            <a:r>
              <a:rPr lang="en-US" altLang="zh-CN"/>
              <a:t>——</a:t>
            </a:r>
            <a:r>
              <a:rPr lang="zh-CN" altLang="en-US"/>
              <a:t>开始，≐</a:t>
            </a:r>
            <a:r>
              <a:rPr lang="en-US" altLang="zh-CN"/>
              <a:t>——</a:t>
            </a:r>
            <a:r>
              <a:rPr lang="zh-CN" altLang="en-US"/>
              <a:t>内部，⋗</a:t>
            </a:r>
            <a:r>
              <a:rPr lang="en-US" altLang="zh-CN"/>
              <a:t>——</a:t>
            </a:r>
            <a:r>
              <a:rPr lang="zh-CN" altLang="en-US"/>
              <a:t>结束</a:t>
            </a:r>
            <a:endParaRPr lang="zh-CN" altLang="en-US"/>
          </a:p>
          <a:p>
            <a:pPr eaLnBrk="1" hangingPunct="1"/>
            <a:r>
              <a:rPr lang="zh-CN" altLang="en-US"/>
              <a:t>产生式右部无连续</a:t>
            </a:r>
            <a:r>
              <a:rPr lang="en-US" altLang="zh-CN"/>
              <a:t>NT——</a:t>
            </a:r>
            <a:r>
              <a:rPr lang="zh-CN" altLang="en-US"/>
              <a:t>句型同样</a:t>
            </a:r>
            <a:endParaRPr lang="zh-CN" altLang="en-US"/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sym typeface="Symbol" panose="05050102010706020507" pitchFamily="18" charset="2"/>
              </a:rPr>
              <a:t>0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 … </a:t>
            </a:r>
            <a:r>
              <a:rPr lang="en-US" altLang="zh-CN"/>
              <a:t>a</a:t>
            </a:r>
            <a:r>
              <a:rPr lang="en-US" altLang="zh-CN" baseline="-25000"/>
              <a:t>n</a:t>
            </a:r>
            <a:r>
              <a:rPr lang="en-US" altLang="zh-CN"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：</a:t>
            </a:r>
            <a:r>
              <a:rPr lang="en-US" altLang="zh-CN" baseline="-25000">
                <a:sym typeface="Symbol" panose="05050102010706020507" pitchFamily="18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或单个非终结符，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zh-CN" altLang="en-US"/>
              <a:t>为单个终结符</a:t>
            </a:r>
            <a:endParaRPr lang="zh-CN" altLang="en-US"/>
          </a:p>
          <a:p>
            <a:pPr eaLnBrk="1" hangingPunct="1"/>
            <a:r>
              <a:rPr lang="zh-CN" altLang="en-US"/>
              <a:t>去掉所有</a:t>
            </a:r>
            <a:r>
              <a:rPr lang="en-US" altLang="zh-CN"/>
              <a:t>NT</a:t>
            </a:r>
            <a:r>
              <a:rPr lang="zh-CN" altLang="en-US"/>
              <a:t>，在相邻</a:t>
            </a:r>
            <a:r>
              <a:rPr lang="en-US" altLang="zh-CN"/>
              <a:t>T</a:t>
            </a:r>
            <a:r>
              <a:rPr lang="zh-CN" altLang="en-US"/>
              <a:t>之间（包括</a:t>
            </a:r>
            <a:r>
              <a:rPr lang="en-US" altLang="zh-CN"/>
              <a:t>$</a:t>
            </a:r>
            <a:r>
              <a:rPr lang="zh-CN" altLang="en-US"/>
              <a:t>）填写算符优先关系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使用算符优先关系（续）</a:t>
            </a: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581400"/>
            <a:ext cx="7772400" cy="1981200"/>
          </a:xfrm>
        </p:spPr>
        <p:txBody>
          <a:bodyPr/>
          <a:lstStyle/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>
                <a:sym typeface="Symbol" panose="05050102010706020507" pitchFamily="18" charset="2"/>
              </a:rPr>
              <a:t>*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/>
              <a:t>⋖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/>
              <a:t>⋗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/>
              <a:t>⋖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/>
              <a:t>⋗</a:t>
            </a:r>
            <a:r>
              <a:rPr lang="en-US" altLang="zh-CN">
                <a:sym typeface="Symbol" panose="05050102010706020507" pitchFamily="18" charset="2"/>
              </a:rPr>
              <a:t>*</a:t>
            </a:r>
            <a:r>
              <a:rPr lang="en-US" altLang="zh-CN"/>
              <a:t>⋖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/>
              <a:t>⋗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$E + E * E$</a:t>
            </a:r>
            <a:r>
              <a:rPr lang="en-US" altLang="zh-CN">
                <a:sym typeface="Wingdings" panose="05000000000000000000" pitchFamily="2" charset="2"/>
              </a:rPr>
              <a:t> 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/>
              <a:t>⋖ </a:t>
            </a:r>
            <a:r>
              <a:rPr lang="en-US" altLang="zh-CN">
                <a:sym typeface="Symbol" panose="05050102010706020507" pitchFamily="18" charset="2"/>
              </a:rPr>
              <a:t>+ </a:t>
            </a:r>
            <a:r>
              <a:rPr lang="en-US" altLang="zh-CN"/>
              <a:t>⋖ </a:t>
            </a:r>
            <a:r>
              <a:rPr lang="en-US" altLang="zh-CN">
                <a:sym typeface="Symbol" panose="05050102010706020507" pitchFamily="18" charset="2"/>
              </a:rPr>
              <a:t>* </a:t>
            </a:r>
            <a:r>
              <a:rPr lang="en-US" altLang="zh-CN"/>
              <a:t>⋗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26628" name="Line 6"/>
          <p:cNvSpPr>
            <a:spLocks noChangeShapeType="1"/>
          </p:cNvSpPr>
          <p:nvPr/>
        </p:nvSpPr>
        <p:spPr bwMode="auto">
          <a:xfrm>
            <a:off x="1600200" y="1828800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9" name="Line 9"/>
          <p:cNvSpPr>
            <a:spLocks noChangeShapeType="1"/>
          </p:cNvSpPr>
          <p:nvPr/>
        </p:nvSpPr>
        <p:spPr bwMode="auto">
          <a:xfrm>
            <a:off x="2209800" y="13716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0" name="Text Box 10"/>
          <p:cNvSpPr txBox="1">
            <a:spLocks noChangeArrowheads="1"/>
          </p:cNvSpPr>
          <p:nvPr/>
        </p:nvSpPr>
        <p:spPr bwMode="auto">
          <a:xfrm>
            <a:off x="1524000" y="17526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br>
              <a:rPr kumimoji="0" lang="en-US" altLang="zh-CN" sz="2800" b="1"/>
            </a:br>
            <a:r>
              <a:rPr kumimoji="0" lang="en-US" altLang="zh-CN" sz="2800"/>
              <a:t>+</a:t>
            </a:r>
            <a:br>
              <a:rPr kumimoji="0" lang="en-US" altLang="zh-CN" sz="2800"/>
            </a:br>
            <a:r>
              <a:rPr kumimoji="0" lang="en-US" altLang="zh-CN" sz="2800"/>
              <a:t>*</a:t>
            </a:r>
            <a:br>
              <a:rPr kumimoji="0" lang="en-US" altLang="zh-CN" sz="2800"/>
            </a:br>
            <a:r>
              <a:rPr kumimoji="0" lang="en-US" altLang="zh-CN" sz="2800"/>
              <a:t>$</a:t>
            </a:r>
            <a:endParaRPr kumimoji="0" lang="en-US" altLang="zh-CN" sz="2800" b="1"/>
          </a:p>
        </p:txBody>
      </p:sp>
      <p:sp>
        <p:nvSpPr>
          <p:cNvPr id="26631" name="Line 17"/>
          <p:cNvSpPr>
            <a:spLocks noChangeShapeType="1"/>
          </p:cNvSpPr>
          <p:nvPr/>
        </p:nvSpPr>
        <p:spPr bwMode="auto">
          <a:xfrm>
            <a:off x="3124200" y="13716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2" name="Text Box 18"/>
          <p:cNvSpPr txBox="1">
            <a:spLocks noChangeArrowheads="1"/>
          </p:cNvSpPr>
          <p:nvPr/>
        </p:nvSpPr>
        <p:spPr bwMode="auto">
          <a:xfrm>
            <a:off x="2362200" y="1752600"/>
            <a:ext cx="831850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br>
              <a:rPr kumimoji="0" lang="en-US" altLang="zh-CN" sz="2800" b="1"/>
            </a:br>
            <a:r>
              <a:rPr kumimoji="0" lang="en-US" altLang="zh-CN" sz="2800" b="1"/>
              <a:t> 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 ⋖</a:t>
            </a:r>
            <a:br>
              <a:rPr lang="en-US" altLang="zh-CN" sz="2800"/>
            </a:br>
            <a:r>
              <a:rPr lang="en-US" altLang="zh-CN" sz="2800"/>
              <a:t> ⋖</a:t>
            </a:r>
            <a:endParaRPr lang="en-US" altLang="zh-CN" sz="2800"/>
          </a:p>
        </p:txBody>
      </p:sp>
      <p:sp>
        <p:nvSpPr>
          <p:cNvPr id="26633" name="Text Box 19"/>
          <p:cNvSpPr txBox="1">
            <a:spLocks noChangeArrowheads="1"/>
          </p:cNvSpPr>
          <p:nvPr/>
        </p:nvSpPr>
        <p:spPr bwMode="auto">
          <a:xfrm>
            <a:off x="23622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endParaRPr kumimoji="0" lang="en-US" altLang="zh-CN" sz="2800" b="1"/>
          </a:p>
        </p:txBody>
      </p:sp>
      <p:sp>
        <p:nvSpPr>
          <p:cNvPr id="26634" name="Line 20"/>
          <p:cNvSpPr>
            <a:spLocks noChangeShapeType="1"/>
          </p:cNvSpPr>
          <p:nvPr/>
        </p:nvSpPr>
        <p:spPr bwMode="auto">
          <a:xfrm>
            <a:off x="4038600" y="13716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5" name="Text Box 21"/>
          <p:cNvSpPr txBox="1">
            <a:spLocks noChangeArrowheads="1"/>
          </p:cNvSpPr>
          <p:nvPr/>
        </p:nvSpPr>
        <p:spPr bwMode="auto">
          <a:xfrm>
            <a:off x="3276600" y="17526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⋗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⋖</a:t>
            </a:r>
            <a:endParaRPr lang="en-US" altLang="zh-CN" sz="2800"/>
          </a:p>
        </p:txBody>
      </p:sp>
      <p:sp>
        <p:nvSpPr>
          <p:cNvPr id="26636" name="Text Box 22"/>
          <p:cNvSpPr txBox="1">
            <a:spLocks noChangeArrowheads="1"/>
          </p:cNvSpPr>
          <p:nvPr/>
        </p:nvSpPr>
        <p:spPr bwMode="auto">
          <a:xfrm>
            <a:off x="32766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+</a:t>
            </a:r>
            <a:endParaRPr kumimoji="0" lang="en-US" altLang="zh-CN" sz="2800"/>
          </a:p>
        </p:txBody>
      </p:sp>
      <p:sp>
        <p:nvSpPr>
          <p:cNvPr id="26637" name="Line 23"/>
          <p:cNvSpPr>
            <a:spLocks noChangeShapeType="1"/>
          </p:cNvSpPr>
          <p:nvPr/>
        </p:nvSpPr>
        <p:spPr bwMode="auto">
          <a:xfrm>
            <a:off x="4953000" y="13716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8" name="Text Box 24"/>
          <p:cNvSpPr txBox="1">
            <a:spLocks noChangeArrowheads="1"/>
          </p:cNvSpPr>
          <p:nvPr/>
        </p:nvSpPr>
        <p:spPr bwMode="auto">
          <a:xfrm>
            <a:off x="4191000" y="17526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⋖</a:t>
            </a:r>
            <a:endParaRPr lang="en-US" altLang="zh-CN" sz="2800"/>
          </a:p>
        </p:txBody>
      </p:sp>
      <p:sp>
        <p:nvSpPr>
          <p:cNvPr id="26639" name="Text Box 25"/>
          <p:cNvSpPr txBox="1">
            <a:spLocks noChangeArrowheads="1"/>
          </p:cNvSpPr>
          <p:nvPr/>
        </p:nvSpPr>
        <p:spPr bwMode="auto">
          <a:xfrm>
            <a:off x="41910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*</a:t>
            </a:r>
            <a:endParaRPr kumimoji="0" lang="en-US" altLang="zh-CN" sz="2800"/>
          </a:p>
        </p:txBody>
      </p:sp>
      <p:sp>
        <p:nvSpPr>
          <p:cNvPr id="26640" name="Text Box 26"/>
          <p:cNvSpPr txBox="1">
            <a:spLocks noChangeArrowheads="1"/>
          </p:cNvSpPr>
          <p:nvPr/>
        </p:nvSpPr>
        <p:spPr bwMode="auto">
          <a:xfrm>
            <a:off x="5105400" y="1752600"/>
            <a:ext cx="609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⋗</a:t>
            </a:r>
            <a:br>
              <a:rPr lang="en-US" altLang="zh-CN" sz="2800"/>
            </a:br>
            <a:r>
              <a:rPr lang="en-US" altLang="zh-CN" sz="2800"/>
              <a:t>⋗ </a:t>
            </a:r>
            <a:endParaRPr lang="en-US" altLang="zh-CN" sz="2800"/>
          </a:p>
        </p:txBody>
      </p:sp>
      <p:sp>
        <p:nvSpPr>
          <p:cNvPr id="26641" name="Text Box 27"/>
          <p:cNvSpPr txBox="1">
            <a:spLocks noChangeArrowheads="1"/>
          </p:cNvSpPr>
          <p:nvPr/>
        </p:nvSpPr>
        <p:spPr bwMode="auto">
          <a:xfrm>
            <a:off x="51054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$</a:t>
            </a:r>
            <a:endParaRPr kumimoji="0" lang="en-US" altLang="zh-CN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寻找句柄</a:t>
            </a: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由左至右扫描，寻找第一个</a:t>
            </a:r>
            <a:r>
              <a:rPr lang="zh-CN" altLang="en-US" sz="2800"/>
              <a:t>⋗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向回（左）扫描，略过</a:t>
            </a:r>
            <a:r>
              <a:rPr lang="zh-CN" altLang="en-US" sz="2800"/>
              <a:t>≐，直至找到⋖</a:t>
            </a:r>
            <a:endParaRPr lang="zh-CN" altLang="en-US" sz="2800"/>
          </a:p>
          <a:p>
            <a:pPr eaLnBrk="1" hangingPunct="1"/>
            <a:r>
              <a:rPr lang="zh-CN" altLang="en-US" sz="2800"/>
              <a:t>⋖、⋗之间（不包含）的部分即为句柄</a:t>
            </a:r>
            <a:endParaRPr lang="zh-CN" altLang="en-US" sz="2800"/>
          </a:p>
          <a:p>
            <a:pPr eaLnBrk="1" hangingPunct="1"/>
            <a:r>
              <a:rPr lang="en-US" altLang="zh-CN" sz="2800">
                <a:sym typeface="Symbol" panose="05050102010706020507" pitchFamily="18" charset="2"/>
              </a:rPr>
              <a:t>$</a:t>
            </a:r>
            <a:r>
              <a:rPr lang="en-US" altLang="zh-CN" sz="2800" b="1">
                <a:solidFill>
                  <a:schemeClr val="hlink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b="1">
                <a:sym typeface="Symbol" panose="05050102010706020507" pitchFamily="18" charset="2"/>
              </a:rPr>
              <a:t>id</a:t>
            </a:r>
            <a:r>
              <a:rPr lang="en-US" altLang="zh-CN" sz="2800">
                <a:sym typeface="Symbol" panose="05050102010706020507" pitchFamily="18" charset="2"/>
              </a:rPr>
              <a:t>*</a:t>
            </a:r>
            <a:r>
              <a:rPr lang="en-US" altLang="zh-CN" sz="2800" b="1">
                <a:sym typeface="Symbol" panose="05050102010706020507" pitchFamily="18" charset="2"/>
              </a:rPr>
              <a:t>id</a:t>
            </a:r>
            <a:r>
              <a:rPr lang="en-US" altLang="zh-CN" sz="2800">
                <a:sym typeface="Symbol" panose="05050102010706020507" pitchFamily="18" charset="2"/>
              </a:rPr>
              <a:t>$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en-US" altLang="zh-CN" sz="2800">
                <a:sym typeface="Symbol" panose="05050102010706020507" pitchFamily="18" charset="2"/>
              </a:rPr>
              <a:t>$</a:t>
            </a:r>
            <a:r>
              <a:rPr lang="en-US" altLang="zh-CN" sz="2800"/>
              <a:t>⋖</a:t>
            </a:r>
            <a:r>
              <a:rPr lang="en-US" altLang="zh-CN" sz="2800" b="1">
                <a:solidFill>
                  <a:schemeClr val="hlink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800"/>
              <a:t>⋗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/>
              <a:t>⋖</a:t>
            </a:r>
            <a:r>
              <a:rPr lang="en-US" altLang="zh-CN" sz="2800" b="1">
                <a:sym typeface="Symbol" panose="05050102010706020507" pitchFamily="18" charset="2"/>
              </a:rPr>
              <a:t>id</a:t>
            </a:r>
            <a:r>
              <a:rPr lang="en-US" altLang="zh-CN" sz="2800"/>
              <a:t>⋗</a:t>
            </a:r>
            <a:r>
              <a:rPr lang="en-US" altLang="zh-CN" sz="2800">
                <a:sym typeface="Symbol" panose="05050102010706020507" pitchFamily="18" charset="2"/>
              </a:rPr>
              <a:t>*</a:t>
            </a:r>
            <a:r>
              <a:rPr lang="en-US" altLang="zh-CN" sz="2800"/>
              <a:t>⋖</a:t>
            </a:r>
            <a:r>
              <a:rPr lang="en-US" altLang="zh-CN" sz="2800" b="1">
                <a:sym typeface="Symbol" panose="05050102010706020507" pitchFamily="18" charset="2"/>
              </a:rPr>
              <a:t>id</a:t>
            </a:r>
            <a:r>
              <a:rPr lang="en-US" altLang="zh-CN" sz="2800"/>
              <a:t>⋗</a:t>
            </a:r>
            <a:r>
              <a:rPr lang="en-US" altLang="zh-CN" sz="2800">
                <a:sym typeface="Symbol" panose="05050102010706020507" pitchFamily="18" charset="2"/>
              </a:rPr>
              <a:t>$—</a:t>
            </a:r>
            <a:r>
              <a:rPr lang="en-US" altLang="zh-CN" sz="2800" b="1">
                <a:solidFill>
                  <a:schemeClr val="hlink"/>
                </a:solidFill>
                <a:sym typeface="Symbol" panose="05050102010706020507" pitchFamily="18" charset="2"/>
              </a:rPr>
              <a:t>id</a:t>
            </a:r>
            <a:endParaRPr lang="en-US" altLang="zh-CN" sz="28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>
                <a:sym typeface="Symbol" panose="05050102010706020507" pitchFamily="18" charset="2"/>
              </a:rPr>
              <a:t>$E + E * E$</a:t>
            </a:r>
            <a:r>
              <a:rPr lang="en-US" altLang="zh-CN" sz="2800">
                <a:sym typeface="Wingdings" panose="05000000000000000000" pitchFamily="2" charset="2"/>
              </a:rPr>
              <a:t> </a:t>
            </a:r>
            <a:r>
              <a:rPr lang="en-US" altLang="zh-CN" sz="2800">
                <a:sym typeface="Symbol" panose="05050102010706020507" pitchFamily="18" charset="2"/>
              </a:rPr>
              <a:t>$</a:t>
            </a:r>
            <a:r>
              <a:rPr lang="en-US" altLang="zh-CN" sz="2800"/>
              <a:t>⋖ </a:t>
            </a:r>
            <a:r>
              <a:rPr lang="en-US" altLang="zh-CN" sz="2800">
                <a:sym typeface="Symbol" panose="05050102010706020507" pitchFamily="18" charset="2"/>
              </a:rPr>
              <a:t>+ </a:t>
            </a:r>
            <a:r>
              <a:rPr lang="en-US" altLang="zh-CN" sz="2800"/>
              <a:t>⋖ </a:t>
            </a:r>
            <a:r>
              <a:rPr lang="en-US" altLang="zh-CN" sz="2800">
                <a:sym typeface="Symbol" panose="05050102010706020507" pitchFamily="18" charset="2"/>
              </a:rPr>
              <a:t>* </a:t>
            </a:r>
            <a:r>
              <a:rPr lang="en-US" altLang="zh-CN" sz="2800"/>
              <a:t>⋗</a:t>
            </a:r>
            <a:r>
              <a:rPr lang="en-US" altLang="zh-CN" sz="2800">
                <a:sym typeface="Symbol" panose="05050102010706020507" pitchFamily="18" charset="2"/>
              </a:rPr>
              <a:t>$—E * E</a:t>
            </a:r>
            <a:endParaRPr lang="en-US" altLang="zh-CN" sz="28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非终结符</a:t>
            </a:r>
            <a:r>
              <a:rPr lang="en-US" altLang="zh-CN" sz="2800">
                <a:sym typeface="Symbol" panose="05050102010706020507" pitchFamily="18" charset="2"/>
              </a:rPr>
              <a:t>——</a:t>
            </a:r>
            <a:r>
              <a:rPr lang="zh-CN" altLang="en-US" sz="2800">
                <a:sym typeface="Symbol" panose="05050102010706020507" pitchFamily="18" charset="2"/>
              </a:rPr>
              <a:t>占位符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使用栈实现非常容易</a:t>
            </a:r>
            <a:endParaRPr lang="zh-CN" altLang="en-US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4.5  </a:t>
            </a:r>
            <a:r>
              <a:rPr lang="zh-CN" altLang="en-US"/>
              <a:t>算符优先分析算法</a:t>
            </a:r>
            <a:endParaRPr lang="zh-CN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输入：一个输入串</a:t>
            </a:r>
            <a:r>
              <a:rPr lang="en-US" altLang="zh-CN" sz="2800" dirty="0"/>
              <a:t>w</a:t>
            </a:r>
            <a:r>
              <a:rPr lang="zh-CN" altLang="en-US" sz="2800" dirty="0"/>
              <a:t>和一个优先关系表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输出：如果</a:t>
            </a:r>
            <a:r>
              <a:rPr lang="en-US" altLang="zh-CN" sz="2800" dirty="0"/>
              <a:t>w</a:t>
            </a:r>
            <a:r>
              <a:rPr lang="zh-CN" altLang="en-US" sz="2800" dirty="0"/>
              <a:t>符合语法，生成语法树框架（所有内部节点表示为占位符）；否则，输出错误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方法：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设置</a:t>
            </a:r>
            <a:r>
              <a:rPr lang="en-US" altLang="zh-CN" sz="2400" dirty="0" err="1"/>
              <a:t>ip</a:t>
            </a:r>
            <a:r>
              <a:rPr lang="zh-CN" altLang="en-US" sz="2400" dirty="0"/>
              <a:t>指向</a:t>
            </a:r>
            <a:r>
              <a:rPr lang="en-US" altLang="zh-CN" sz="2400" dirty="0"/>
              <a:t>w$</a:t>
            </a:r>
            <a:r>
              <a:rPr lang="zh-CN" altLang="en-US" sz="2400" dirty="0"/>
              <a:t>的第一个符号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repeat forever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if</a:t>
            </a:r>
            <a:r>
              <a:rPr lang="en-US" altLang="zh-CN" sz="2400" dirty="0"/>
              <a:t> (</a:t>
            </a:r>
            <a:r>
              <a:rPr lang="zh-CN" altLang="en-US" sz="2400" dirty="0"/>
              <a:t>栈顶为</a:t>
            </a:r>
            <a:r>
              <a:rPr lang="en-US" altLang="zh-CN" sz="2400" dirty="0"/>
              <a:t>$</a:t>
            </a:r>
            <a:r>
              <a:rPr lang="zh-CN" altLang="en-US" sz="2400" dirty="0"/>
              <a:t>且</a:t>
            </a:r>
            <a:r>
              <a:rPr lang="en-US" altLang="zh-CN" sz="2400" dirty="0" err="1"/>
              <a:t>ip</a:t>
            </a:r>
            <a:r>
              <a:rPr lang="zh-CN" altLang="en-US" sz="2400" dirty="0"/>
              <a:t>指向</a:t>
            </a:r>
            <a:r>
              <a:rPr lang="en-US" altLang="zh-CN" sz="2400" dirty="0"/>
              <a:t>$)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	return;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else {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	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4.5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		</a:t>
            </a:r>
            <a:r>
              <a:rPr lang="zh-CN" altLang="en-US" sz="2400"/>
              <a:t>令</a:t>
            </a:r>
            <a:r>
              <a:rPr lang="en-US" altLang="zh-CN" sz="2400"/>
              <a:t>a</a:t>
            </a:r>
            <a:r>
              <a:rPr lang="zh-CN" altLang="en-US" sz="2400"/>
              <a:t>为最接近栈顶的终结符，</a:t>
            </a:r>
            <a:r>
              <a:rPr lang="en-US" altLang="zh-CN" sz="2400"/>
              <a:t>b</a:t>
            </a:r>
            <a:r>
              <a:rPr lang="zh-CN" altLang="en-US" sz="2400"/>
              <a:t>为</a:t>
            </a:r>
            <a:r>
              <a:rPr lang="en-US" altLang="zh-CN" sz="2400"/>
              <a:t>ip</a:t>
            </a:r>
            <a:r>
              <a:rPr lang="zh-CN" altLang="en-US" sz="2400"/>
              <a:t>指向符号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 b="1"/>
              <a:t>if </a:t>
            </a:r>
            <a:r>
              <a:rPr lang="en-US" altLang="zh-CN" sz="2400"/>
              <a:t>(a⋖b </a:t>
            </a:r>
            <a:r>
              <a:rPr lang="zh-CN" altLang="en-US" sz="2400"/>
              <a:t>或 </a:t>
            </a:r>
            <a:r>
              <a:rPr lang="en-US" altLang="zh-CN" sz="2400"/>
              <a:t>a≐b) {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b</a:t>
            </a:r>
            <a:r>
              <a:rPr lang="zh-CN" altLang="en-US" sz="2400"/>
              <a:t>压栈</a:t>
            </a:r>
            <a:r>
              <a:rPr lang="en-US" altLang="zh-CN" sz="2400"/>
              <a:t>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ip</a:t>
            </a:r>
            <a:r>
              <a:rPr lang="zh-CN" altLang="en-US" sz="2400"/>
              <a:t>前移</a:t>
            </a:r>
            <a:r>
              <a:rPr lang="en-US" altLang="zh-CN" sz="2400"/>
              <a:t>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} </a:t>
            </a:r>
            <a:r>
              <a:rPr lang="en-US" altLang="zh-CN" sz="2400" b="1"/>
              <a:t>else if</a:t>
            </a:r>
            <a:r>
              <a:rPr lang="en-US" altLang="zh-CN" sz="2400"/>
              <a:t> (a⋗b) {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</a:t>
            </a:r>
            <a:r>
              <a:rPr lang="en-US" altLang="zh-CN" sz="2400" b="1"/>
              <a:t>repeat</a:t>
            </a:r>
            <a:endParaRPr lang="en-US" altLang="zh-CN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				</a:t>
            </a:r>
            <a:r>
              <a:rPr lang="zh-CN" altLang="en-US" sz="2400"/>
              <a:t>栈中符号弹出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	</a:t>
            </a:r>
            <a:r>
              <a:rPr lang="en-US" altLang="zh-CN" sz="2400" b="1"/>
              <a:t>until </a:t>
            </a:r>
            <a:r>
              <a:rPr lang="zh-CN" altLang="en-US" sz="2400"/>
              <a:t>栈顶符号⋖刚刚弹出符号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/>
              <a:t>} </a:t>
            </a:r>
            <a:r>
              <a:rPr lang="en-US" altLang="zh-CN" sz="2400" b="1"/>
              <a:t>else</a:t>
            </a:r>
            <a:r>
              <a:rPr lang="en-US" altLang="zh-CN" sz="2400"/>
              <a:t> error();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}</a:t>
            </a:r>
            <a:endParaRPr lang="en-US" altLang="zh-CN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endParaRPr lang="zh-CN" altLang="en-US"/>
          </a:p>
        </p:txBody>
      </p:sp>
      <p:sp>
        <p:nvSpPr>
          <p:cNvPr id="30723" name="Line 5"/>
          <p:cNvSpPr>
            <a:spLocks noChangeShapeType="1"/>
          </p:cNvSpPr>
          <p:nvPr/>
        </p:nvSpPr>
        <p:spPr bwMode="auto">
          <a:xfrm>
            <a:off x="1066800" y="1371600"/>
            <a:ext cx="518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4" name="Line 6"/>
          <p:cNvSpPr>
            <a:spLocks noChangeShapeType="1"/>
          </p:cNvSpPr>
          <p:nvPr/>
        </p:nvSpPr>
        <p:spPr bwMode="auto">
          <a:xfrm>
            <a:off x="1066800" y="1447800"/>
            <a:ext cx="518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5" name="Line 7"/>
          <p:cNvSpPr>
            <a:spLocks noChangeShapeType="1"/>
          </p:cNvSpPr>
          <p:nvPr/>
        </p:nvSpPr>
        <p:spPr bwMode="auto">
          <a:xfrm>
            <a:off x="1066800" y="1752600"/>
            <a:ext cx="518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6" name="Line 8"/>
          <p:cNvSpPr>
            <a:spLocks noChangeShapeType="1"/>
          </p:cNvSpPr>
          <p:nvPr/>
        </p:nvSpPr>
        <p:spPr bwMode="auto">
          <a:xfrm>
            <a:off x="1066800" y="6019800"/>
            <a:ext cx="518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7" name="Line 9"/>
          <p:cNvSpPr>
            <a:spLocks noChangeShapeType="1"/>
          </p:cNvSpPr>
          <p:nvPr/>
        </p:nvSpPr>
        <p:spPr bwMode="auto">
          <a:xfrm>
            <a:off x="4495800" y="1447800"/>
            <a:ext cx="0" cy="457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8" name="Line 10"/>
          <p:cNvSpPr>
            <a:spLocks noChangeShapeType="1"/>
          </p:cNvSpPr>
          <p:nvPr/>
        </p:nvSpPr>
        <p:spPr bwMode="auto">
          <a:xfrm>
            <a:off x="2438400" y="1447800"/>
            <a:ext cx="0" cy="457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" name="Text Box 12"/>
          <p:cNvSpPr txBox="1">
            <a:spLocks noChangeArrowheads="1"/>
          </p:cNvSpPr>
          <p:nvPr/>
        </p:nvSpPr>
        <p:spPr bwMode="auto">
          <a:xfrm>
            <a:off x="2590800" y="1828800"/>
            <a:ext cx="18288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+ id *  id$ 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  + id * id$ 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+ id * id$ 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* id$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 id$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 id$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$</a:t>
            </a:r>
            <a:endParaRPr kumimoji="0" lang="en-US" altLang="zh-CN" sz="2400" b="1">
              <a:solidFill>
                <a:schemeClr val="accent2"/>
              </a:solidFill>
            </a:endParaRPr>
          </a:p>
        </p:txBody>
      </p:sp>
      <p:sp>
        <p:nvSpPr>
          <p:cNvPr id="30730" name="Text Box 13"/>
          <p:cNvSpPr txBox="1">
            <a:spLocks noChangeArrowheads="1"/>
          </p:cNvSpPr>
          <p:nvPr/>
        </p:nvSpPr>
        <p:spPr bwMode="auto">
          <a:xfrm>
            <a:off x="4648200" y="18288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30731" name="Text Box 14"/>
          <p:cNvSpPr txBox="1">
            <a:spLocks noChangeArrowheads="1"/>
          </p:cNvSpPr>
          <p:nvPr/>
        </p:nvSpPr>
        <p:spPr bwMode="auto">
          <a:xfrm>
            <a:off x="1143000" y="1371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STACK</a:t>
            </a:r>
            <a:endParaRPr kumimoji="0" lang="en-US" altLang="zh-CN" sz="2400" b="1"/>
          </a:p>
        </p:txBody>
      </p:sp>
      <p:sp>
        <p:nvSpPr>
          <p:cNvPr id="30732" name="Text Box 15"/>
          <p:cNvSpPr txBox="1">
            <a:spLocks noChangeArrowheads="1"/>
          </p:cNvSpPr>
          <p:nvPr/>
        </p:nvSpPr>
        <p:spPr bwMode="auto">
          <a:xfrm>
            <a:off x="2819400" y="1371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INPUT</a:t>
            </a:r>
            <a:endParaRPr kumimoji="0" lang="en-US" altLang="zh-CN" sz="2400" b="1"/>
          </a:p>
        </p:txBody>
      </p:sp>
      <p:sp>
        <p:nvSpPr>
          <p:cNvPr id="30733" name="Text Box 16"/>
          <p:cNvSpPr txBox="1">
            <a:spLocks noChangeArrowheads="1"/>
          </p:cNvSpPr>
          <p:nvPr/>
        </p:nvSpPr>
        <p:spPr bwMode="auto">
          <a:xfrm>
            <a:off x="4724400" y="1371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Remark</a:t>
            </a:r>
            <a:endParaRPr kumimoji="0" lang="en-US" altLang="zh-CN" sz="2400" b="1"/>
          </a:p>
        </p:txBody>
      </p:sp>
      <p:sp>
        <p:nvSpPr>
          <p:cNvPr id="30734" name="Text Box 18"/>
          <p:cNvSpPr txBox="1">
            <a:spLocks noChangeArrowheads="1"/>
          </p:cNvSpPr>
          <p:nvPr/>
        </p:nvSpPr>
        <p:spPr bwMode="auto">
          <a:xfrm>
            <a:off x="5943600" y="2133600"/>
            <a:ext cx="3200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  <a:t>一系列的弹出操作</a:t>
            </a:r>
            <a:br>
              <a:rPr kumimoji="0" lang="zh-CN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</a:br>
            <a:r>
              <a:rPr kumimoji="0" lang="en-US" altLang="zh-CN" sz="2800" b="1">
                <a:solidFill>
                  <a:srgbClr val="3333CC"/>
                </a:solidFill>
                <a:latin typeface="Courier New" panose="02070309020205020404" pitchFamily="49" charset="0"/>
              </a:rPr>
              <a:t>——</a:t>
            </a:r>
            <a:r>
              <a:rPr kumimoji="0" lang="zh-CN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  <a:t>利用某个产生式进行归约</a:t>
            </a:r>
            <a:endParaRPr kumimoji="0" lang="zh-CN" altLang="en-US" sz="2800" b="1">
              <a:solidFill>
                <a:srgbClr val="3333CC"/>
              </a:solidFill>
              <a:latin typeface="Courier New" panose="02070309020205020404" pitchFamily="49" charset="0"/>
            </a:endParaRPr>
          </a:p>
        </p:txBody>
      </p:sp>
      <p:sp>
        <p:nvSpPr>
          <p:cNvPr id="30735" name="Text Box 19"/>
          <p:cNvSpPr txBox="1">
            <a:spLocks noChangeArrowheads="1"/>
          </p:cNvSpPr>
          <p:nvPr/>
        </p:nvSpPr>
        <p:spPr bwMode="auto">
          <a:xfrm>
            <a:off x="4572000" y="1828800"/>
            <a:ext cx="18288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lang="en-US" altLang="zh-CN" sz="2400"/>
              <a:t>⋖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</a:t>
            </a:r>
            <a:r>
              <a:rPr lang="en-US" altLang="zh-CN" sz="2400"/>
              <a:t>⋗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r>
              <a:rPr kumimoji="0" lang="en-US" altLang="zh-CN" sz="2400" b="1">
                <a:solidFill>
                  <a:schemeClr val="accent2"/>
                </a:solidFill>
              </a:rPr>
              <a:t> </a:t>
            </a:r>
            <a:r>
              <a:rPr lang="en-US" altLang="zh-CN" sz="2400"/>
              <a:t>⋖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+ </a:t>
            </a:r>
            <a:r>
              <a:rPr lang="en-US" altLang="zh-CN" sz="2400"/>
              <a:t>⋖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</a:t>
            </a:r>
            <a:r>
              <a:rPr lang="en-US" altLang="zh-CN" sz="2400"/>
              <a:t>⋗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+ </a:t>
            </a:r>
            <a:r>
              <a:rPr lang="en-US" altLang="zh-CN" sz="2400"/>
              <a:t>⋖</a:t>
            </a:r>
            <a:r>
              <a:rPr kumimoji="0" lang="en-US" altLang="zh-CN" sz="2400" b="1">
                <a:solidFill>
                  <a:schemeClr val="accent2"/>
                </a:solidFill>
              </a:rPr>
              <a:t> *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 </a:t>
            </a:r>
            <a:r>
              <a:rPr lang="en-US" altLang="zh-CN" sz="2400"/>
              <a:t>⋖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</a:t>
            </a:r>
            <a:r>
              <a:rPr lang="en-US" altLang="zh-CN" sz="2400"/>
              <a:t>⋗</a:t>
            </a:r>
            <a:r>
              <a:rPr kumimoji="0" lang="en-US" altLang="zh-CN" sz="2400" b="1"/>
              <a:t> 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 </a:t>
            </a:r>
            <a:r>
              <a:rPr lang="en-US" altLang="zh-CN" sz="2400"/>
              <a:t>⋗</a:t>
            </a:r>
            <a:r>
              <a:rPr kumimoji="0" lang="en-US" altLang="zh-CN" sz="2400" b="1"/>
              <a:t> 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+ </a:t>
            </a:r>
            <a:r>
              <a:rPr lang="en-US" altLang="zh-CN" sz="2400"/>
              <a:t>⋗</a:t>
            </a:r>
            <a:r>
              <a:rPr kumimoji="0" lang="en-US" altLang="zh-CN" sz="2400" b="1"/>
              <a:t> 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accept</a:t>
            </a:r>
            <a:endParaRPr kumimoji="0" lang="en-US" altLang="zh-CN" sz="2400" b="1"/>
          </a:p>
        </p:txBody>
      </p:sp>
      <p:sp>
        <p:nvSpPr>
          <p:cNvPr id="30736" name="Text Box 20"/>
          <p:cNvSpPr txBox="1">
            <a:spLocks noChangeArrowheads="1"/>
          </p:cNvSpPr>
          <p:nvPr/>
        </p:nvSpPr>
        <p:spPr bwMode="auto">
          <a:xfrm>
            <a:off x="990600" y="1828800"/>
            <a:ext cx="13716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 id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 *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 * id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 *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4.6.2 </a:t>
            </a:r>
            <a:r>
              <a:rPr lang="zh-CN" altLang="en-US"/>
              <a:t>直接构造算符优先关系</a:t>
            </a:r>
            <a:r>
              <a:rPr lang="en-US" altLang="zh-CN"/>
              <a:t>(</a:t>
            </a:r>
            <a:r>
              <a:rPr lang="zh-CN" altLang="en-US"/>
              <a:t>表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sz="2800" dirty="0"/>
              <a:t>在理解文法含义的前提下直接构造优先关系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若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优先级高于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 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latin typeface="Lucida Sans Unicode" panose="020B0602030504020204" pitchFamily="34" charset="0"/>
              </a:rPr>
              <a:t>⋖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>
                <a:latin typeface="Symbol" panose="05050102010706020507" pitchFamily="18" charset="2"/>
              </a:rPr>
              <a:t>1</a:t>
            </a:r>
            <a:endParaRPr lang="en-US" altLang="zh-CN" sz="2800" baseline="-25000" dirty="0">
              <a:latin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若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优先级等于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（或相同的算符）， 若左结合，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⋗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>
                <a:latin typeface="Symbol" panose="05050102010706020507" pitchFamily="18" charset="2"/>
              </a:rPr>
              <a:t>1</a:t>
            </a:r>
            <a:r>
              <a:rPr lang="zh-CN" altLang="en-US" sz="2800" dirty="0">
                <a:latin typeface="Symbol" panose="05050102010706020507" pitchFamily="18" charset="2"/>
              </a:rPr>
              <a:t>，</a:t>
            </a:r>
            <a:br>
              <a:rPr lang="zh-CN" altLang="en-US" sz="2800" dirty="0">
                <a:latin typeface="Symbol" panose="05050102010706020507" pitchFamily="18" charset="2"/>
              </a:rPr>
            </a:br>
            <a:r>
              <a:rPr lang="zh-CN" altLang="en-US" sz="2800" dirty="0">
                <a:latin typeface="Symbol" panose="05050102010706020507" pitchFamily="18" charset="2"/>
              </a:rPr>
              <a:t>若右结合，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en-US" altLang="zh-CN" sz="2800" dirty="0">
                <a:latin typeface="Lucida Sans Unicode" panose="020B0602030504020204" pitchFamily="34" charset="0"/>
              </a:rPr>
              <a:t>⋖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latin typeface="Lucida Sans Unicode" panose="020B0602030504020204" pitchFamily="34" charset="0"/>
              </a:rPr>
              <a:t>⋖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>
                <a:latin typeface="Symbol" panose="05050102010706020507" pitchFamily="18" charset="2"/>
              </a:rPr>
              <a:t>1</a:t>
            </a:r>
            <a:endParaRPr lang="en-US" altLang="zh-CN" sz="2800" baseline="-25000" dirty="0">
              <a:latin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>
                <a:solidFill>
                  <a:schemeClr val="folHlink"/>
                </a:solidFill>
                <a:latin typeface="Symbol" panose="05050102010706020507" pitchFamily="18" charset="2"/>
              </a:rPr>
              <a:t>q</a:t>
            </a:r>
            <a:r>
              <a:rPr lang="en-US" altLang="zh-CN" sz="2800" dirty="0"/>
              <a:t>⋖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en-US" altLang="zh-CN" sz="2800" dirty="0"/>
              <a:t>⋖</a:t>
            </a:r>
            <a:r>
              <a:rPr lang="en-US" altLang="zh-CN" sz="2800" dirty="0">
                <a:solidFill>
                  <a:schemeClr val="folHlink"/>
                </a:solidFill>
                <a:latin typeface="Symbol" panose="05050102010706020507" pitchFamily="18" charset="2"/>
              </a:rPr>
              <a:t>q</a:t>
            </a:r>
            <a:r>
              <a:rPr lang="zh-CN" altLang="en-US" sz="2800" dirty="0">
                <a:latin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solidFill>
                  <a:schemeClr val="folHlink"/>
                </a:solidFill>
                <a:latin typeface="Symbol" panose="05050102010706020507" pitchFamily="18" charset="2"/>
              </a:rPr>
              <a:t>q</a:t>
            </a:r>
            <a:r>
              <a:rPr lang="zh-CN" altLang="en-US" sz="2800" dirty="0">
                <a:latin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chemeClr val="folHlink"/>
                </a:solidFill>
                <a:latin typeface="Symbol" panose="05050102010706020507" pitchFamily="18" charset="2"/>
              </a:rPr>
              <a:t>q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en-US" altLang="zh-CN" sz="2800" dirty="0"/>
              <a:t>≐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en-US" altLang="zh-CN" sz="2800" dirty="0"/>
              <a:t>⋖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endParaRPr lang="en-US" altLang="zh-CN" sz="2800" dirty="0">
              <a:solidFill>
                <a:schemeClr val="folHlink"/>
              </a:solidFill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b="1" dirty="0"/>
              <a:t>id</a:t>
            </a:r>
            <a:r>
              <a:rPr lang="zh-CN" altLang="en-US" sz="2800" dirty="0"/>
              <a:t>的优先级高于任何其他符号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$</a:t>
            </a:r>
            <a:r>
              <a:rPr lang="zh-CN" altLang="en-US" sz="2800" dirty="0"/>
              <a:t>具有最低的优先级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4.28</a:t>
            </a:r>
            <a:endParaRPr lang="en-US" altLang="zh-CN"/>
          </a:p>
        </p:txBody>
      </p:sp>
      <p:grpSp>
        <p:nvGrpSpPr>
          <p:cNvPr id="32771" name="Group 41"/>
          <p:cNvGrpSpPr/>
          <p:nvPr/>
        </p:nvGrpSpPr>
        <p:grpSpPr bwMode="auto">
          <a:xfrm>
            <a:off x="533400" y="1447800"/>
            <a:ext cx="8534400" cy="3886200"/>
            <a:chOff x="336" y="912"/>
            <a:chExt cx="5376" cy="2720"/>
          </a:xfrm>
        </p:grpSpPr>
        <p:sp>
          <p:nvSpPr>
            <p:cNvPr id="32772" name="Line 4"/>
            <p:cNvSpPr>
              <a:spLocks noChangeShapeType="1"/>
            </p:cNvSpPr>
            <p:nvPr/>
          </p:nvSpPr>
          <p:spPr bwMode="auto">
            <a:xfrm>
              <a:off x="336" y="1200"/>
              <a:ext cx="5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3" name="Line 5"/>
            <p:cNvSpPr>
              <a:spLocks noChangeShapeType="1"/>
            </p:cNvSpPr>
            <p:nvPr/>
          </p:nvSpPr>
          <p:spPr bwMode="auto">
            <a:xfrm>
              <a:off x="720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4" name="Text Box 6"/>
            <p:cNvSpPr txBox="1">
              <a:spLocks noChangeArrowheads="1"/>
            </p:cNvSpPr>
            <p:nvPr/>
          </p:nvSpPr>
          <p:spPr bwMode="auto">
            <a:xfrm>
              <a:off x="384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+</a:t>
              </a:r>
              <a:br>
                <a:rPr kumimoji="0" lang="en-US" altLang="zh-CN" sz="2400" b="1"/>
              </a:br>
              <a:r>
                <a:rPr kumimoji="0" lang="en-US" altLang="zh-CN" sz="2400" b="1"/>
                <a:t>-</a:t>
              </a:r>
              <a:br>
                <a:rPr kumimoji="0" lang="en-US" altLang="zh-CN" sz="2400" b="1"/>
              </a:br>
              <a:r>
                <a:rPr kumimoji="0" lang="en-US" altLang="zh-CN" sz="2400" b="1"/>
                <a:t>*</a:t>
              </a:r>
              <a:br>
                <a:rPr kumimoji="0" lang="en-US" altLang="zh-CN" sz="2400" b="1"/>
              </a:br>
              <a:r>
                <a:rPr kumimoji="0" lang="en-US" altLang="zh-CN" sz="2400" b="1"/>
                <a:t>/</a:t>
              </a:r>
              <a:br>
                <a:rPr kumimoji="0" lang="en-US" altLang="zh-CN" sz="2400" b="1"/>
              </a:br>
              <a:r>
                <a:rPr kumimoji="0" lang="en-US" altLang="zh-CN" sz="2400" b="1">
                  <a:latin typeface="宋体" panose="02010600030101010101" pitchFamily="2" charset="-122"/>
                </a:rPr>
                <a:t>↑</a:t>
              </a:r>
              <a:br>
                <a:rPr kumimoji="0" lang="en-US" altLang="zh-CN" sz="2400" b="1">
                  <a:latin typeface="宋体" panose="02010600030101010101" pitchFamily="2" charset="-122"/>
                </a:rPr>
              </a:br>
              <a:r>
                <a:rPr kumimoji="0" lang="en-US" altLang="zh-CN" sz="2400" b="1"/>
                <a:t>id</a:t>
              </a:r>
              <a:br>
                <a:rPr kumimoji="0" lang="en-US" altLang="zh-CN" sz="2400" b="1"/>
              </a:br>
              <a:r>
                <a:rPr kumimoji="0" lang="en-US" altLang="zh-CN" sz="2400" b="1"/>
                <a:t>(</a:t>
              </a:r>
              <a:br>
                <a:rPr kumimoji="0" lang="en-US" altLang="zh-CN" sz="2400" b="1"/>
              </a:br>
              <a:r>
                <a:rPr kumimoji="0" lang="en-US" altLang="zh-CN" sz="2400" b="1"/>
                <a:t>)</a:t>
              </a:r>
              <a:br>
                <a:rPr kumimoji="0" lang="en-US" altLang="zh-CN" sz="2400" b="1"/>
              </a:br>
              <a:r>
                <a:rPr kumimoji="0" lang="en-US" altLang="zh-CN" sz="2400" b="1"/>
                <a:t>$</a:t>
              </a:r>
              <a:endParaRPr kumimoji="0" lang="en-US" altLang="zh-CN" sz="2400" b="1"/>
            </a:p>
          </p:txBody>
        </p:sp>
        <p:sp>
          <p:nvSpPr>
            <p:cNvPr id="32775" name="Line 7"/>
            <p:cNvSpPr>
              <a:spLocks noChangeShapeType="1"/>
            </p:cNvSpPr>
            <p:nvPr/>
          </p:nvSpPr>
          <p:spPr bwMode="auto">
            <a:xfrm>
              <a:off x="1296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6" name="Text Box 8"/>
            <p:cNvSpPr txBox="1">
              <a:spLocks noChangeArrowheads="1"/>
            </p:cNvSpPr>
            <p:nvPr/>
          </p:nvSpPr>
          <p:spPr bwMode="auto">
            <a:xfrm>
              <a:off x="816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endParaRPr lang="en-US" altLang="zh-CN" sz="2400"/>
            </a:p>
          </p:txBody>
        </p:sp>
        <p:sp>
          <p:nvSpPr>
            <p:cNvPr id="32777" name="Text Box 9"/>
            <p:cNvSpPr txBox="1">
              <a:spLocks noChangeArrowheads="1"/>
            </p:cNvSpPr>
            <p:nvPr/>
          </p:nvSpPr>
          <p:spPr bwMode="auto">
            <a:xfrm>
              <a:off x="816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+</a:t>
              </a:r>
              <a:endParaRPr kumimoji="0" lang="en-US" altLang="zh-CN" sz="2400" b="1"/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>
              <a:off x="187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9" name="Text Box 12"/>
            <p:cNvSpPr txBox="1">
              <a:spLocks noChangeArrowheads="1"/>
            </p:cNvSpPr>
            <p:nvPr/>
          </p:nvSpPr>
          <p:spPr bwMode="auto">
            <a:xfrm>
              <a:off x="1392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-</a:t>
              </a:r>
              <a:endParaRPr kumimoji="0" lang="en-US" altLang="zh-CN" sz="2400" b="1"/>
            </a:p>
          </p:txBody>
        </p:sp>
        <p:sp>
          <p:nvSpPr>
            <p:cNvPr id="32780" name="Line 13"/>
            <p:cNvSpPr>
              <a:spLocks noChangeShapeType="1"/>
            </p:cNvSpPr>
            <p:nvPr/>
          </p:nvSpPr>
          <p:spPr bwMode="auto">
            <a:xfrm>
              <a:off x="2448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1" name="Text Box 15"/>
            <p:cNvSpPr txBox="1">
              <a:spLocks noChangeArrowheads="1"/>
            </p:cNvSpPr>
            <p:nvPr/>
          </p:nvSpPr>
          <p:spPr bwMode="auto">
            <a:xfrm>
              <a:off x="1968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*</a:t>
              </a:r>
              <a:endParaRPr kumimoji="0" lang="en-US" altLang="zh-CN" sz="2400" b="1"/>
            </a:p>
          </p:txBody>
        </p:sp>
        <p:sp>
          <p:nvSpPr>
            <p:cNvPr id="32782" name="Text Box 17"/>
            <p:cNvSpPr txBox="1">
              <a:spLocks noChangeArrowheads="1"/>
            </p:cNvSpPr>
            <p:nvPr/>
          </p:nvSpPr>
          <p:spPr bwMode="auto">
            <a:xfrm>
              <a:off x="2544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/</a:t>
              </a:r>
              <a:endParaRPr kumimoji="0" lang="en-US" altLang="zh-CN" sz="2400" b="1"/>
            </a:p>
          </p:txBody>
        </p:sp>
        <p:sp>
          <p:nvSpPr>
            <p:cNvPr id="32783" name="Line 18"/>
            <p:cNvSpPr>
              <a:spLocks noChangeShapeType="1"/>
            </p:cNvSpPr>
            <p:nvPr/>
          </p:nvSpPr>
          <p:spPr bwMode="auto">
            <a:xfrm>
              <a:off x="2976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4" name="Line 19"/>
            <p:cNvSpPr>
              <a:spLocks noChangeShapeType="1"/>
            </p:cNvSpPr>
            <p:nvPr/>
          </p:nvSpPr>
          <p:spPr bwMode="auto">
            <a:xfrm>
              <a:off x="355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5" name="Text Box 21"/>
            <p:cNvSpPr txBox="1">
              <a:spLocks noChangeArrowheads="1"/>
            </p:cNvSpPr>
            <p:nvPr/>
          </p:nvSpPr>
          <p:spPr bwMode="auto">
            <a:xfrm>
              <a:off x="3072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宋体" panose="02010600030101010101" pitchFamily="2" charset="-122"/>
                </a:rPr>
                <a:t>↑</a:t>
              </a:r>
              <a:endParaRPr kumimoji="0" lang="en-US" altLang="zh-CN" sz="2400" b="1"/>
            </a:p>
          </p:txBody>
        </p:sp>
        <p:sp>
          <p:nvSpPr>
            <p:cNvPr id="32786" name="Line 22"/>
            <p:cNvSpPr>
              <a:spLocks noChangeShapeType="1"/>
            </p:cNvSpPr>
            <p:nvPr/>
          </p:nvSpPr>
          <p:spPr bwMode="auto">
            <a:xfrm>
              <a:off x="4128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7" name="Text Box 24"/>
            <p:cNvSpPr txBox="1">
              <a:spLocks noChangeArrowheads="1"/>
            </p:cNvSpPr>
            <p:nvPr/>
          </p:nvSpPr>
          <p:spPr bwMode="auto">
            <a:xfrm>
              <a:off x="3648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id</a:t>
              </a:r>
              <a:endParaRPr kumimoji="0" lang="en-US" altLang="zh-CN" sz="2400" b="1"/>
            </a:p>
          </p:txBody>
        </p:sp>
        <p:sp>
          <p:nvSpPr>
            <p:cNvPr id="32788" name="Line 25"/>
            <p:cNvSpPr>
              <a:spLocks noChangeShapeType="1"/>
            </p:cNvSpPr>
            <p:nvPr/>
          </p:nvSpPr>
          <p:spPr bwMode="auto">
            <a:xfrm>
              <a:off x="4704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Text Box 27"/>
            <p:cNvSpPr txBox="1">
              <a:spLocks noChangeArrowheads="1"/>
            </p:cNvSpPr>
            <p:nvPr/>
          </p:nvSpPr>
          <p:spPr bwMode="auto">
            <a:xfrm>
              <a:off x="4224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(</a:t>
              </a:r>
              <a:endParaRPr kumimoji="0" lang="en-US" altLang="zh-CN" sz="2400" b="1"/>
            </a:p>
          </p:txBody>
        </p:sp>
        <p:sp>
          <p:nvSpPr>
            <p:cNvPr id="32790" name="Text Box 29"/>
            <p:cNvSpPr txBox="1">
              <a:spLocks noChangeArrowheads="1"/>
            </p:cNvSpPr>
            <p:nvPr/>
          </p:nvSpPr>
          <p:spPr bwMode="auto">
            <a:xfrm>
              <a:off x="4800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)</a:t>
              </a:r>
              <a:endParaRPr kumimoji="0" lang="en-US" altLang="zh-CN" sz="2400" b="1"/>
            </a:p>
          </p:txBody>
        </p:sp>
        <p:sp>
          <p:nvSpPr>
            <p:cNvPr id="32791" name="Line 30"/>
            <p:cNvSpPr>
              <a:spLocks noChangeShapeType="1"/>
            </p:cNvSpPr>
            <p:nvPr/>
          </p:nvSpPr>
          <p:spPr bwMode="auto">
            <a:xfrm>
              <a:off x="523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2" name="Text Box 32"/>
            <p:cNvSpPr txBox="1">
              <a:spLocks noChangeArrowheads="1"/>
            </p:cNvSpPr>
            <p:nvPr/>
          </p:nvSpPr>
          <p:spPr bwMode="auto">
            <a:xfrm>
              <a:off x="5328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$</a:t>
              </a:r>
              <a:endParaRPr kumimoji="0" lang="en-US" altLang="zh-CN" sz="2400" b="1"/>
            </a:p>
          </p:txBody>
        </p:sp>
        <p:sp>
          <p:nvSpPr>
            <p:cNvPr id="32793" name="Text Box 33"/>
            <p:cNvSpPr txBox="1">
              <a:spLocks noChangeArrowheads="1"/>
            </p:cNvSpPr>
            <p:nvPr/>
          </p:nvSpPr>
          <p:spPr bwMode="auto">
            <a:xfrm>
              <a:off x="1392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endParaRPr lang="en-US" altLang="zh-CN" sz="2400"/>
            </a:p>
          </p:txBody>
        </p:sp>
        <p:sp>
          <p:nvSpPr>
            <p:cNvPr id="32794" name="Text Box 34"/>
            <p:cNvSpPr txBox="1">
              <a:spLocks noChangeArrowheads="1"/>
            </p:cNvSpPr>
            <p:nvPr/>
          </p:nvSpPr>
          <p:spPr bwMode="auto">
            <a:xfrm>
              <a:off x="1968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⋖ 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endParaRPr lang="en-US" altLang="zh-CN" sz="2400"/>
            </a:p>
          </p:txBody>
        </p:sp>
        <p:sp>
          <p:nvSpPr>
            <p:cNvPr id="32795" name="Text Box 35"/>
            <p:cNvSpPr txBox="1">
              <a:spLocks noChangeArrowheads="1"/>
            </p:cNvSpPr>
            <p:nvPr/>
          </p:nvSpPr>
          <p:spPr bwMode="auto">
            <a:xfrm>
              <a:off x="3072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r>
                <a:rPr kumimoji="0" lang="en-US" altLang="zh-CN" sz="2400" b="1"/>
                <a:t> </a:t>
              </a:r>
              <a:br>
                <a:rPr kumimoji="0" lang="en-US" altLang="zh-CN" sz="2400" b="1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  <a:r>
                <a:rPr kumimoji="0" lang="en-US" altLang="zh-CN" sz="2400" b="1"/>
                <a:t> </a:t>
              </a: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 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endParaRPr lang="en-US" altLang="zh-CN" sz="2400"/>
            </a:p>
          </p:txBody>
        </p:sp>
        <p:sp>
          <p:nvSpPr>
            <p:cNvPr id="32796" name="Text Box 36"/>
            <p:cNvSpPr txBox="1">
              <a:spLocks noChangeArrowheads="1"/>
            </p:cNvSpPr>
            <p:nvPr/>
          </p:nvSpPr>
          <p:spPr bwMode="auto">
            <a:xfrm>
              <a:off x="2496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⋖ 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endParaRPr lang="en-US" altLang="zh-CN" sz="2400"/>
            </a:p>
          </p:txBody>
        </p:sp>
        <p:sp>
          <p:nvSpPr>
            <p:cNvPr id="32797" name="Text Box 37"/>
            <p:cNvSpPr txBox="1">
              <a:spLocks noChangeArrowheads="1"/>
            </p:cNvSpPr>
            <p:nvPr/>
          </p:nvSpPr>
          <p:spPr bwMode="auto">
            <a:xfrm>
              <a:off x="3648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r>
                <a:rPr kumimoji="0" lang="en-US" altLang="zh-CN" sz="2400" b="1"/>
                <a:t> </a:t>
              </a:r>
              <a:br>
                <a:rPr kumimoji="0" lang="en-US" altLang="zh-CN" sz="2400" b="1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  <a:r>
                <a:rPr kumimoji="0" lang="en-US" altLang="zh-CN" sz="2400" b="1"/>
                <a:t> </a:t>
              </a: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 </a:t>
              </a:r>
              <a:br>
                <a:rPr lang="en-US" altLang="zh-CN" sz="2400"/>
              </a:b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  <a:endParaRPr lang="en-US" altLang="zh-CN" sz="2400"/>
            </a:p>
          </p:txBody>
        </p:sp>
        <p:sp>
          <p:nvSpPr>
            <p:cNvPr id="32798" name="Text Box 38"/>
            <p:cNvSpPr txBox="1">
              <a:spLocks noChangeArrowheads="1"/>
            </p:cNvSpPr>
            <p:nvPr/>
          </p:nvSpPr>
          <p:spPr bwMode="auto">
            <a:xfrm>
              <a:off x="4224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r>
                <a:rPr kumimoji="0" lang="en-US" altLang="zh-CN" sz="2400" b="1"/>
                <a:t> </a:t>
              </a:r>
              <a:br>
                <a:rPr kumimoji="0" lang="en-US" altLang="zh-CN" sz="2400" b="1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  <a:r>
                <a:rPr kumimoji="0" lang="en-US" altLang="zh-CN" sz="2400" b="1"/>
                <a:t> </a:t>
              </a: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 </a:t>
              </a:r>
              <a:br>
                <a:rPr lang="en-US" altLang="zh-CN" sz="2400"/>
              </a:b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  <a:endParaRPr lang="en-US" altLang="zh-CN" sz="2400"/>
            </a:p>
          </p:txBody>
        </p:sp>
        <p:sp>
          <p:nvSpPr>
            <p:cNvPr id="32799" name="Text Box 39"/>
            <p:cNvSpPr txBox="1">
              <a:spLocks noChangeArrowheads="1"/>
            </p:cNvSpPr>
            <p:nvPr/>
          </p:nvSpPr>
          <p:spPr bwMode="auto">
            <a:xfrm>
              <a:off x="4800" y="1151"/>
              <a:ext cx="384" cy="2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⋗</a:t>
              </a:r>
              <a:r>
                <a:rPr kumimoji="0" lang="en-US" altLang="zh-CN" sz="2400" b="1"/>
                <a:t> </a:t>
              </a:r>
              <a:br>
                <a:rPr kumimoji="0" lang="en-US" altLang="zh-CN" sz="2400" b="1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 </a:t>
              </a:r>
              <a:r>
                <a:rPr lang="en-US" altLang="zh-CN" sz="2400">
                  <a:latin typeface="Lucida Sans Unicode" panose="020B0602030504020204" pitchFamily="34" charset="0"/>
                </a:rPr>
                <a:t>≐</a:t>
              </a:r>
              <a:r>
                <a:rPr lang="en-US" altLang="zh-CN" sz="2400"/>
                <a:t>  </a:t>
              </a:r>
              <a:br>
                <a:rPr lang="en-US" altLang="zh-CN" sz="2400"/>
              </a:br>
              <a:r>
                <a:rPr lang="en-US" altLang="zh-CN" sz="2400">
                  <a:latin typeface="Tahoma" panose="020B0604030504040204" pitchFamily="34" charset="0"/>
                </a:rPr>
                <a:t>⋗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32800" name="Text Box 40"/>
            <p:cNvSpPr txBox="1">
              <a:spLocks noChangeArrowheads="1"/>
            </p:cNvSpPr>
            <p:nvPr/>
          </p:nvSpPr>
          <p:spPr bwMode="auto">
            <a:xfrm>
              <a:off x="5232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endParaRPr lang="en-US" altLang="zh-CN" sz="240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4.6.3  </a:t>
            </a:r>
            <a:r>
              <a:rPr lang="zh-CN" altLang="en-US"/>
              <a:t>处理一元算符</a:t>
            </a: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普通一元算符，</a:t>
            </a:r>
            <a:r>
              <a:rPr lang="en-US" altLang="zh-CN">
                <a:latin typeface="宋体" panose="02010600030101010101" pitchFamily="2" charset="-122"/>
              </a:rPr>
              <a:t>﹁</a:t>
            </a:r>
            <a:endParaRPr lang="en-US" altLang="zh-CN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>
                <a:latin typeface="Symbol" panose="05050102010706020507" pitchFamily="18" charset="2"/>
              </a:rPr>
              <a:t>对任何算符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zh-CN" altLang="en-US">
                <a:latin typeface="Symbol" panose="05050102010706020507" pitchFamily="18" charset="2"/>
              </a:rPr>
              <a:t>，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en-US" altLang="zh-CN"/>
              <a:t>⋖</a:t>
            </a:r>
            <a:r>
              <a:rPr lang="en-US" altLang="zh-CN">
                <a:latin typeface="宋体" panose="02010600030101010101" pitchFamily="2" charset="-122"/>
              </a:rPr>
              <a:t>﹁</a:t>
            </a:r>
            <a:endParaRPr lang="en-US" altLang="zh-CN">
              <a:latin typeface="宋体" panose="02010600030101010101" pitchFamily="2" charset="-122"/>
            </a:endParaRPr>
          </a:p>
          <a:p>
            <a:pPr lvl="1" eaLnBrk="1" hangingPunct="1"/>
            <a:r>
              <a:rPr lang="en-US" altLang="zh-CN">
                <a:latin typeface="宋体" panose="02010600030101010101" pitchFamily="2" charset="-122"/>
              </a:rPr>
              <a:t>﹁</a:t>
            </a:r>
            <a:r>
              <a:rPr lang="zh-CN" altLang="en-US">
                <a:latin typeface="宋体" panose="02010600030101010101" pitchFamily="2" charset="-122"/>
              </a:rPr>
              <a:t>优先级高于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zh-CN" altLang="en-US">
                <a:latin typeface="Symbol" panose="05050102010706020507" pitchFamily="18" charset="2"/>
              </a:rPr>
              <a:t>，</a:t>
            </a:r>
            <a:r>
              <a:rPr lang="en-US" altLang="zh-CN">
                <a:latin typeface="宋体" panose="02010600030101010101" pitchFamily="2" charset="-122"/>
              </a:rPr>
              <a:t>﹁</a:t>
            </a:r>
            <a:r>
              <a:rPr lang="en-US" altLang="zh-CN">
                <a:latin typeface="Lucida Sans Unicode" panose="020B0602030504020204" pitchFamily="34" charset="0"/>
              </a:rPr>
              <a:t>⋗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zh-CN" altLang="en-US">
                <a:latin typeface="Symbol" panose="05050102010706020507" pitchFamily="18" charset="2"/>
              </a:rPr>
              <a:t>；否则，</a:t>
            </a:r>
            <a:r>
              <a:rPr lang="en-US" altLang="zh-CN">
                <a:latin typeface="宋体" panose="02010600030101010101" pitchFamily="2" charset="-122"/>
              </a:rPr>
              <a:t>﹁</a:t>
            </a:r>
            <a:r>
              <a:rPr lang="en-US" altLang="zh-CN"/>
              <a:t>⋖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endParaRPr lang="en-US" altLang="zh-CN">
              <a:latin typeface="Symbol" panose="05050102010706020507" pitchFamily="18" charset="2"/>
            </a:endParaRPr>
          </a:p>
          <a:p>
            <a:pPr eaLnBrk="1" hangingPunct="1"/>
            <a:r>
              <a:rPr lang="zh-CN" altLang="en-US">
                <a:latin typeface="Symbol" panose="05050102010706020507" pitchFamily="18" charset="2"/>
              </a:rPr>
              <a:t>既是一元算符，也是二元算符，</a:t>
            </a:r>
            <a:r>
              <a:rPr lang="en-US" altLang="zh-CN">
                <a:latin typeface="Symbol" panose="05050102010706020507" pitchFamily="18" charset="2"/>
              </a:rPr>
              <a:t>-</a:t>
            </a:r>
            <a:endParaRPr lang="en-US" altLang="zh-CN">
              <a:latin typeface="Symbol" panose="05050102010706020507" pitchFamily="18" charset="2"/>
            </a:endParaRPr>
          </a:p>
          <a:p>
            <a:pPr lvl="1" eaLnBrk="1" hangingPunct="1"/>
            <a:r>
              <a:rPr lang="zh-CN" altLang="en-US">
                <a:latin typeface="Symbol" panose="05050102010706020507" pitchFamily="18" charset="2"/>
              </a:rPr>
              <a:t>词法分析器返回不同单词</a:t>
            </a:r>
            <a:endParaRPr lang="zh-CN" altLang="en-US">
              <a:latin typeface="Symbol" panose="05050102010706020507" pitchFamily="18" charset="2"/>
            </a:endParaRPr>
          </a:p>
          <a:p>
            <a:pPr lvl="1" eaLnBrk="1" hangingPunct="1"/>
            <a:r>
              <a:rPr lang="zh-CN" altLang="en-US">
                <a:latin typeface="Symbol" panose="05050102010706020507" pitchFamily="18" charset="2"/>
              </a:rPr>
              <a:t>仅向前搜索不够，需记住前面符号</a:t>
            </a:r>
            <a:endParaRPr lang="zh-CN" altLang="en-US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4.6.4  </a:t>
            </a:r>
            <a:r>
              <a:rPr lang="zh-CN" altLang="en-US"/>
              <a:t>优先级函数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886200"/>
          </a:xfrm>
        </p:spPr>
        <p:txBody>
          <a:bodyPr/>
          <a:lstStyle/>
          <a:p>
            <a:pPr eaLnBrk="1" hangingPunct="1"/>
            <a:r>
              <a:rPr lang="zh-CN" altLang="en-US" dirty="0"/>
              <a:t>每个终结符对应两个整型函数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f(a) &lt; g(b)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en-US" altLang="zh-CN" dirty="0" err="1"/>
              <a:t>a⋖b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f(a) = g(b)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en-US" altLang="zh-CN" dirty="0" err="1"/>
              <a:t>a≐b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f(a) &gt; g(b)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en-US" altLang="zh-CN" dirty="0" err="1"/>
              <a:t>a⋗b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错误无法表示，不严重</a:t>
            </a:r>
            <a:r>
              <a:rPr lang="zh-CN" altLang="en-US" dirty="0">
                <a:sym typeface="Wingdings" panose="05000000000000000000" pitchFamily="2" charset="2"/>
              </a:rPr>
              <a:t>归约时仍可捕获</a:t>
            </a:r>
            <a:endParaRPr lang="zh-CN" altLang="en-US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不是所有优先关系（表）都存在优先级函数</a:t>
            </a:r>
            <a:endParaRPr lang="zh-CN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4.29</a:t>
            </a:r>
            <a:endParaRPr lang="en-US" altLang="zh-CN"/>
          </a:p>
        </p:txBody>
      </p:sp>
      <p:sp>
        <p:nvSpPr>
          <p:cNvPr id="35843" name="Line 4"/>
          <p:cNvSpPr>
            <a:spLocks noChangeShapeType="1"/>
          </p:cNvSpPr>
          <p:nvPr/>
        </p:nvSpPr>
        <p:spPr bwMode="auto">
          <a:xfrm>
            <a:off x="533400" y="1828800"/>
            <a:ext cx="838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Line 5"/>
          <p:cNvSpPr>
            <a:spLocks noChangeShapeType="1"/>
          </p:cNvSpPr>
          <p:nvPr/>
        </p:nvSpPr>
        <p:spPr bwMode="auto">
          <a:xfrm>
            <a:off x="11430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5" name="Text Box 6"/>
          <p:cNvSpPr txBox="1">
            <a:spLocks noChangeArrowheads="1"/>
          </p:cNvSpPr>
          <p:nvPr/>
        </p:nvSpPr>
        <p:spPr bwMode="auto">
          <a:xfrm>
            <a:off x="6096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f</a:t>
            </a:r>
            <a:br>
              <a:rPr kumimoji="0" lang="en-US" altLang="zh-CN" sz="2800" b="1"/>
            </a:br>
            <a:r>
              <a:rPr kumimoji="0" lang="en-US" altLang="zh-CN" sz="2800" b="1"/>
              <a:t>g</a:t>
            </a:r>
            <a:endParaRPr kumimoji="0" lang="en-US" altLang="zh-CN" sz="2800" b="1"/>
          </a:p>
        </p:txBody>
      </p:sp>
      <p:sp>
        <p:nvSpPr>
          <p:cNvPr id="35846" name="Line 7"/>
          <p:cNvSpPr>
            <a:spLocks noChangeShapeType="1"/>
          </p:cNvSpPr>
          <p:nvPr/>
        </p:nvSpPr>
        <p:spPr bwMode="auto">
          <a:xfrm>
            <a:off x="20574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7" name="Text Box 8"/>
          <p:cNvSpPr txBox="1">
            <a:spLocks noChangeArrowheads="1"/>
          </p:cNvSpPr>
          <p:nvPr/>
        </p:nvSpPr>
        <p:spPr bwMode="auto">
          <a:xfrm>
            <a:off x="12954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2</a:t>
            </a:r>
            <a:r>
              <a:rPr kumimoji="0" lang="en-US" altLang="zh-CN" sz="2800" b="1"/>
              <a:t> </a:t>
            </a:r>
            <a:r>
              <a:rPr lang="en-US" altLang="zh-CN" sz="2800"/>
              <a:t>1</a:t>
            </a:r>
            <a:endParaRPr lang="en-US" altLang="zh-CN" sz="2800"/>
          </a:p>
        </p:txBody>
      </p:sp>
      <p:sp>
        <p:nvSpPr>
          <p:cNvPr id="35848" name="Text Box 9"/>
          <p:cNvSpPr txBox="1">
            <a:spLocks noChangeArrowheads="1"/>
          </p:cNvSpPr>
          <p:nvPr/>
        </p:nvSpPr>
        <p:spPr bwMode="auto">
          <a:xfrm>
            <a:off x="12954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+</a:t>
            </a:r>
            <a:endParaRPr kumimoji="0" lang="en-US" altLang="zh-CN" sz="2800" b="1"/>
          </a:p>
        </p:txBody>
      </p:sp>
      <p:sp>
        <p:nvSpPr>
          <p:cNvPr id="35849" name="Line 10"/>
          <p:cNvSpPr>
            <a:spLocks noChangeShapeType="1"/>
          </p:cNvSpPr>
          <p:nvPr/>
        </p:nvSpPr>
        <p:spPr bwMode="auto">
          <a:xfrm>
            <a:off x="29718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Text Box 11"/>
          <p:cNvSpPr txBox="1">
            <a:spLocks noChangeArrowheads="1"/>
          </p:cNvSpPr>
          <p:nvPr/>
        </p:nvSpPr>
        <p:spPr bwMode="auto">
          <a:xfrm>
            <a:off x="22098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-</a:t>
            </a:r>
            <a:endParaRPr kumimoji="0" lang="en-US" altLang="zh-CN" sz="2800" b="1"/>
          </a:p>
        </p:txBody>
      </p:sp>
      <p:sp>
        <p:nvSpPr>
          <p:cNvPr id="35851" name="Line 12"/>
          <p:cNvSpPr>
            <a:spLocks noChangeShapeType="1"/>
          </p:cNvSpPr>
          <p:nvPr/>
        </p:nvSpPr>
        <p:spPr bwMode="auto">
          <a:xfrm>
            <a:off x="38862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2" name="Text Box 13"/>
          <p:cNvSpPr txBox="1">
            <a:spLocks noChangeArrowheads="1"/>
          </p:cNvSpPr>
          <p:nvPr/>
        </p:nvSpPr>
        <p:spPr bwMode="auto">
          <a:xfrm>
            <a:off x="31242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*</a:t>
            </a:r>
            <a:endParaRPr kumimoji="0" lang="en-US" altLang="zh-CN" sz="2800" b="1"/>
          </a:p>
        </p:txBody>
      </p:sp>
      <p:sp>
        <p:nvSpPr>
          <p:cNvPr id="35853" name="Text Box 14"/>
          <p:cNvSpPr txBox="1">
            <a:spLocks noChangeArrowheads="1"/>
          </p:cNvSpPr>
          <p:nvPr/>
        </p:nvSpPr>
        <p:spPr bwMode="auto">
          <a:xfrm>
            <a:off x="40386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/</a:t>
            </a:r>
            <a:endParaRPr kumimoji="0" lang="en-US" altLang="zh-CN" sz="2800" b="1"/>
          </a:p>
        </p:txBody>
      </p:sp>
      <p:sp>
        <p:nvSpPr>
          <p:cNvPr id="35854" name="Line 15"/>
          <p:cNvSpPr>
            <a:spLocks noChangeShapeType="1"/>
          </p:cNvSpPr>
          <p:nvPr/>
        </p:nvSpPr>
        <p:spPr bwMode="auto">
          <a:xfrm>
            <a:off x="47244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5" name="Line 16"/>
          <p:cNvSpPr>
            <a:spLocks noChangeShapeType="1"/>
          </p:cNvSpPr>
          <p:nvPr/>
        </p:nvSpPr>
        <p:spPr bwMode="auto">
          <a:xfrm>
            <a:off x="56388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6" name="Text Box 17"/>
          <p:cNvSpPr txBox="1">
            <a:spLocks noChangeArrowheads="1"/>
          </p:cNvSpPr>
          <p:nvPr/>
        </p:nvSpPr>
        <p:spPr bwMode="auto">
          <a:xfrm>
            <a:off x="48768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latin typeface="宋体" panose="02010600030101010101" pitchFamily="2" charset="-122"/>
              </a:rPr>
              <a:t>↑</a:t>
            </a:r>
            <a:endParaRPr kumimoji="0" lang="en-US" altLang="zh-CN" sz="2800" b="1"/>
          </a:p>
        </p:txBody>
      </p:sp>
      <p:sp>
        <p:nvSpPr>
          <p:cNvPr id="35857" name="Line 18"/>
          <p:cNvSpPr>
            <a:spLocks noChangeShapeType="1"/>
          </p:cNvSpPr>
          <p:nvPr/>
        </p:nvSpPr>
        <p:spPr bwMode="auto">
          <a:xfrm>
            <a:off x="65532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8" name="Text Box 19"/>
          <p:cNvSpPr txBox="1">
            <a:spLocks noChangeArrowheads="1"/>
          </p:cNvSpPr>
          <p:nvPr/>
        </p:nvSpPr>
        <p:spPr bwMode="auto">
          <a:xfrm>
            <a:off x="57912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endParaRPr kumimoji="0" lang="en-US" altLang="zh-CN" sz="2800" b="1"/>
          </a:p>
        </p:txBody>
      </p:sp>
      <p:sp>
        <p:nvSpPr>
          <p:cNvPr id="35859" name="Line 20"/>
          <p:cNvSpPr>
            <a:spLocks noChangeShapeType="1"/>
          </p:cNvSpPr>
          <p:nvPr/>
        </p:nvSpPr>
        <p:spPr bwMode="auto">
          <a:xfrm>
            <a:off x="74676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0" name="Text Box 21"/>
          <p:cNvSpPr txBox="1">
            <a:spLocks noChangeArrowheads="1"/>
          </p:cNvSpPr>
          <p:nvPr/>
        </p:nvSpPr>
        <p:spPr bwMode="auto">
          <a:xfrm>
            <a:off x="67056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(</a:t>
            </a:r>
            <a:endParaRPr kumimoji="0" lang="en-US" altLang="zh-CN" sz="2800" b="1"/>
          </a:p>
        </p:txBody>
      </p:sp>
      <p:sp>
        <p:nvSpPr>
          <p:cNvPr id="35861" name="Text Box 22"/>
          <p:cNvSpPr txBox="1">
            <a:spLocks noChangeArrowheads="1"/>
          </p:cNvSpPr>
          <p:nvPr/>
        </p:nvSpPr>
        <p:spPr bwMode="auto">
          <a:xfrm>
            <a:off x="76200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)</a:t>
            </a:r>
            <a:endParaRPr kumimoji="0" lang="en-US" altLang="zh-CN" sz="2800" b="1"/>
          </a:p>
        </p:txBody>
      </p:sp>
      <p:sp>
        <p:nvSpPr>
          <p:cNvPr id="35862" name="Line 23"/>
          <p:cNvSpPr>
            <a:spLocks noChangeShapeType="1"/>
          </p:cNvSpPr>
          <p:nvPr/>
        </p:nvSpPr>
        <p:spPr bwMode="auto">
          <a:xfrm>
            <a:off x="83058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3" name="Text Box 24"/>
          <p:cNvSpPr txBox="1">
            <a:spLocks noChangeArrowheads="1"/>
          </p:cNvSpPr>
          <p:nvPr/>
        </p:nvSpPr>
        <p:spPr bwMode="auto">
          <a:xfrm>
            <a:off x="84582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$</a:t>
            </a:r>
            <a:endParaRPr kumimoji="0" lang="en-US" altLang="zh-CN" sz="2800" b="1"/>
          </a:p>
        </p:txBody>
      </p:sp>
      <p:sp>
        <p:nvSpPr>
          <p:cNvPr id="35864" name="Text Box 25"/>
          <p:cNvSpPr txBox="1">
            <a:spLocks noChangeArrowheads="1"/>
          </p:cNvSpPr>
          <p:nvPr/>
        </p:nvSpPr>
        <p:spPr bwMode="auto">
          <a:xfrm>
            <a:off x="22098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2</a:t>
            </a:r>
            <a:r>
              <a:rPr kumimoji="0" lang="en-US" altLang="zh-CN" sz="2800" b="1"/>
              <a:t> </a:t>
            </a:r>
            <a:r>
              <a:rPr lang="en-US" altLang="zh-CN" sz="2800"/>
              <a:t>1</a:t>
            </a:r>
            <a:endParaRPr lang="en-US" altLang="zh-CN" sz="2800"/>
          </a:p>
        </p:txBody>
      </p:sp>
      <p:sp>
        <p:nvSpPr>
          <p:cNvPr id="35865" name="Text Box 26"/>
          <p:cNvSpPr txBox="1">
            <a:spLocks noChangeArrowheads="1"/>
          </p:cNvSpPr>
          <p:nvPr/>
        </p:nvSpPr>
        <p:spPr bwMode="auto">
          <a:xfrm>
            <a:off x="31242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4</a:t>
            </a:r>
            <a:br>
              <a:rPr lang="en-US" altLang="zh-CN" sz="2800"/>
            </a:br>
            <a:r>
              <a:rPr lang="en-US" altLang="zh-CN" sz="2800"/>
              <a:t>3</a:t>
            </a:r>
            <a:endParaRPr lang="en-US" altLang="zh-CN" sz="2800"/>
          </a:p>
        </p:txBody>
      </p:sp>
      <p:sp>
        <p:nvSpPr>
          <p:cNvPr id="35866" name="Text Box 27"/>
          <p:cNvSpPr txBox="1">
            <a:spLocks noChangeArrowheads="1"/>
          </p:cNvSpPr>
          <p:nvPr/>
        </p:nvSpPr>
        <p:spPr bwMode="auto">
          <a:xfrm>
            <a:off x="48768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4</a:t>
            </a:r>
            <a:r>
              <a:rPr kumimoji="0" lang="en-US" altLang="zh-CN" sz="2800" b="1"/>
              <a:t> </a:t>
            </a:r>
            <a:r>
              <a:rPr lang="en-US" altLang="zh-CN" sz="2800"/>
              <a:t>5</a:t>
            </a:r>
            <a:endParaRPr lang="en-US" altLang="zh-CN" sz="2800"/>
          </a:p>
        </p:txBody>
      </p:sp>
      <p:sp>
        <p:nvSpPr>
          <p:cNvPr id="35867" name="Text Box 28"/>
          <p:cNvSpPr txBox="1">
            <a:spLocks noChangeArrowheads="1"/>
          </p:cNvSpPr>
          <p:nvPr/>
        </p:nvSpPr>
        <p:spPr bwMode="auto">
          <a:xfrm>
            <a:off x="39624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4</a:t>
            </a:r>
            <a:r>
              <a:rPr kumimoji="0" lang="en-US" altLang="zh-CN" sz="2800" b="1"/>
              <a:t> </a:t>
            </a:r>
            <a:r>
              <a:rPr lang="en-US" altLang="zh-CN" sz="2800"/>
              <a:t>3</a:t>
            </a:r>
            <a:endParaRPr lang="en-US" altLang="zh-CN" sz="2800"/>
          </a:p>
        </p:txBody>
      </p:sp>
      <p:sp>
        <p:nvSpPr>
          <p:cNvPr id="35868" name="Text Box 29"/>
          <p:cNvSpPr txBox="1">
            <a:spLocks noChangeArrowheads="1"/>
          </p:cNvSpPr>
          <p:nvPr/>
        </p:nvSpPr>
        <p:spPr bwMode="auto">
          <a:xfrm>
            <a:off x="57912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6</a:t>
            </a:r>
            <a:r>
              <a:rPr kumimoji="0" lang="en-US" altLang="zh-CN" sz="2800" b="1"/>
              <a:t> </a:t>
            </a:r>
            <a:r>
              <a:rPr lang="en-US" altLang="zh-CN" sz="2800"/>
              <a:t>5</a:t>
            </a:r>
            <a:endParaRPr lang="en-US" altLang="zh-CN" sz="2800"/>
          </a:p>
        </p:txBody>
      </p:sp>
      <p:sp>
        <p:nvSpPr>
          <p:cNvPr id="35869" name="Text Box 30"/>
          <p:cNvSpPr txBox="1">
            <a:spLocks noChangeArrowheads="1"/>
          </p:cNvSpPr>
          <p:nvPr/>
        </p:nvSpPr>
        <p:spPr bwMode="auto">
          <a:xfrm>
            <a:off x="67056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0</a:t>
            </a:r>
            <a:r>
              <a:rPr kumimoji="0" lang="en-US" altLang="zh-CN" sz="2800" b="1"/>
              <a:t> </a:t>
            </a:r>
            <a:r>
              <a:rPr lang="en-US" altLang="zh-CN" sz="2800"/>
              <a:t>5</a:t>
            </a:r>
            <a:endParaRPr lang="en-US" altLang="zh-CN" sz="2800"/>
          </a:p>
        </p:txBody>
      </p:sp>
      <p:sp>
        <p:nvSpPr>
          <p:cNvPr id="35870" name="Text Box 31"/>
          <p:cNvSpPr txBox="1">
            <a:spLocks noChangeArrowheads="1"/>
          </p:cNvSpPr>
          <p:nvPr/>
        </p:nvSpPr>
        <p:spPr bwMode="auto">
          <a:xfrm>
            <a:off x="76200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6</a:t>
            </a:r>
            <a:r>
              <a:rPr kumimoji="0" lang="en-US" altLang="zh-CN" sz="2800" b="1"/>
              <a:t> </a:t>
            </a:r>
            <a:r>
              <a:rPr lang="en-US" altLang="zh-CN" sz="2800"/>
              <a:t>0</a:t>
            </a:r>
            <a:endParaRPr lang="en-US" altLang="zh-CN" sz="2800"/>
          </a:p>
        </p:txBody>
      </p:sp>
      <p:sp>
        <p:nvSpPr>
          <p:cNvPr id="35871" name="Text Box 32"/>
          <p:cNvSpPr txBox="1">
            <a:spLocks noChangeArrowheads="1"/>
          </p:cNvSpPr>
          <p:nvPr/>
        </p:nvSpPr>
        <p:spPr bwMode="auto">
          <a:xfrm>
            <a:off x="83058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0</a:t>
            </a:r>
            <a:r>
              <a:rPr kumimoji="0" lang="en-US" altLang="zh-CN" sz="2800" b="1"/>
              <a:t> </a:t>
            </a:r>
            <a:r>
              <a:rPr lang="en-US" altLang="zh-CN" sz="2800"/>
              <a:t>0</a:t>
            </a:r>
            <a:endParaRPr lang="en-US" altLang="zh-CN" sz="2800"/>
          </a:p>
        </p:txBody>
      </p:sp>
      <p:grpSp>
        <p:nvGrpSpPr>
          <p:cNvPr id="35872" name="Group 34"/>
          <p:cNvGrpSpPr/>
          <p:nvPr/>
        </p:nvGrpSpPr>
        <p:grpSpPr bwMode="auto">
          <a:xfrm>
            <a:off x="609600" y="2819400"/>
            <a:ext cx="8534400" cy="3143250"/>
            <a:chOff x="336" y="912"/>
            <a:chExt cx="5376" cy="2720"/>
          </a:xfrm>
        </p:grpSpPr>
        <p:sp>
          <p:nvSpPr>
            <p:cNvPr id="35873" name="Line 35"/>
            <p:cNvSpPr>
              <a:spLocks noChangeShapeType="1"/>
            </p:cNvSpPr>
            <p:nvPr/>
          </p:nvSpPr>
          <p:spPr bwMode="auto">
            <a:xfrm>
              <a:off x="336" y="1200"/>
              <a:ext cx="5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4" name="Line 36"/>
            <p:cNvSpPr>
              <a:spLocks noChangeShapeType="1"/>
            </p:cNvSpPr>
            <p:nvPr/>
          </p:nvSpPr>
          <p:spPr bwMode="auto">
            <a:xfrm>
              <a:off x="720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5" name="Text Box 37"/>
            <p:cNvSpPr txBox="1">
              <a:spLocks noChangeArrowheads="1"/>
            </p:cNvSpPr>
            <p:nvPr/>
          </p:nvSpPr>
          <p:spPr bwMode="auto">
            <a:xfrm>
              <a:off x="384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+</a:t>
              </a:r>
              <a:br>
                <a:rPr kumimoji="0" lang="en-US" altLang="zh-CN" sz="2000" b="1"/>
              </a:br>
              <a:r>
                <a:rPr kumimoji="0" lang="en-US" altLang="zh-CN" sz="2000" b="1"/>
                <a:t>-</a:t>
              </a:r>
              <a:br>
                <a:rPr kumimoji="0" lang="en-US" altLang="zh-CN" sz="2000" b="1"/>
              </a:br>
              <a:r>
                <a:rPr kumimoji="0" lang="en-US" altLang="zh-CN" sz="2000" b="1"/>
                <a:t>*</a:t>
              </a:r>
              <a:br>
                <a:rPr kumimoji="0" lang="en-US" altLang="zh-CN" sz="2000" b="1"/>
              </a:br>
              <a:r>
                <a:rPr kumimoji="0" lang="en-US" altLang="zh-CN" sz="2000" b="1"/>
                <a:t>/</a:t>
              </a:r>
              <a:br>
                <a:rPr kumimoji="0" lang="en-US" altLang="zh-CN" sz="2000" b="1"/>
              </a:br>
              <a:r>
                <a:rPr kumimoji="0" lang="en-US" altLang="zh-CN" sz="2000" b="1">
                  <a:latin typeface="宋体" panose="02010600030101010101" pitchFamily="2" charset="-122"/>
                </a:rPr>
                <a:t>↑</a:t>
              </a:r>
              <a:br>
                <a:rPr kumimoji="0" lang="en-US" altLang="zh-CN" sz="2000" b="1">
                  <a:latin typeface="宋体" panose="02010600030101010101" pitchFamily="2" charset="-122"/>
                </a:rPr>
              </a:br>
              <a:r>
                <a:rPr kumimoji="0" lang="en-US" altLang="zh-CN" sz="2000" b="1"/>
                <a:t>id</a:t>
              </a:r>
              <a:br>
                <a:rPr kumimoji="0" lang="en-US" altLang="zh-CN" sz="2000" b="1"/>
              </a:br>
              <a:r>
                <a:rPr kumimoji="0" lang="en-US" altLang="zh-CN" sz="2000" b="1"/>
                <a:t>(</a:t>
              </a:r>
              <a:br>
                <a:rPr kumimoji="0" lang="en-US" altLang="zh-CN" sz="2000" b="1"/>
              </a:br>
              <a:r>
                <a:rPr kumimoji="0" lang="en-US" altLang="zh-CN" sz="2000" b="1"/>
                <a:t>)</a:t>
              </a:r>
              <a:br>
                <a:rPr kumimoji="0" lang="en-US" altLang="zh-CN" sz="2000" b="1"/>
              </a:br>
              <a:r>
                <a:rPr kumimoji="0" lang="en-US" altLang="zh-CN" sz="2000" b="1"/>
                <a:t>$</a:t>
              </a:r>
              <a:endParaRPr kumimoji="0" lang="en-US" altLang="zh-CN" sz="2000" b="1"/>
            </a:p>
          </p:txBody>
        </p:sp>
        <p:sp>
          <p:nvSpPr>
            <p:cNvPr id="35876" name="Line 38"/>
            <p:cNvSpPr>
              <a:spLocks noChangeShapeType="1"/>
            </p:cNvSpPr>
            <p:nvPr/>
          </p:nvSpPr>
          <p:spPr bwMode="auto">
            <a:xfrm>
              <a:off x="1296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7" name="Text Box 39"/>
            <p:cNvSpPr txBox="1">
              <a:spLocks noChangeArrowheads="1"/>
            </p:cNvSpPr>
            <p:nvPr/>
          </p:nvSpPr>
          <p:spPr bwMode="auto">
            <a:xfrm>
              <a:off x="816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⋗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endParaRPr lang="en-US" altLang="zh-CN" sz="2000"/>
            </a:p>
          </p:txBody>
        </p:sp>
        <p:sp>
          <p:nvSpPr>
            <p:cNvPr id="35878" name="Text Box 40"/>
            <p:cNvSpPr txBox="1">
              <a:spLocks noChangeArrowheads="1"/>
            </p:cNvSpPr>
            <p:nvPr/>
          </p:nvSpPr>
          <p:spPr bwMode="auto">
            <a:xfrm>
              <a:off x="816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+</a:t>
              </a:r>
              <a:endParaRPr kumimoji="0" lang="en-US" altLang="zh-CN" sz="2000" b="1"/>
            </a:p>
          </p:txBody>
        </p:sp>
        <p:sp>
          <p:nvSpPr>
            <p:cNvPr id="35879" name="Line 41"/>
            <p:cNvSpPr>
              <a:spLocks noChangeShapeType="1"/>
            </p:cNvSpPr>
            <p:nvPr/>
          </p:nvSpPr>
          <p:spPr bwMode="auto">
            <a:xfrm>
              <a:off x="187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0" name="Text Box 42"/>
            <p:cNvSpPr txBox="1">
              <a:spLocks noChangeArrowheads="1"/>
            </p:cNvSpPr>
            <p:nvPr/>
          </p:nvSpPr>
          <p:spPr bwMode="auto">
            <a:xfrm>
              <a:off x="1392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-</a:t>
              </a:r>
              <a:endParaRPr kumimoji="0" lang="en-US" altLang="zh-CN" sz="2000" b="1"/>
            </a:p>
          </p:txBody>
        </p:sp>
        <p:sp>
          <p:nvSpPr>
            <p:cNvPr id="35881" name="Line 43"/>
            <p:cNvSpPr>
              <a:spLocks noChangeShapeType="1"/>
            </p:cNvSpPr>
            <p:nvPr/>
          </p:nvSpPr>
          <p:spPr bwMode="auto">
            <a:xfrm>
              <a:off x="2448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2" name="Text Box 44"/>
            <p:cNvSpPr txBox="1">
              <a:spLocks noChangeArrowheads="1"/>
            </p:cNvSpPr>
            <p:nvPr/>
          </p:nvSpPr>
          <p:spPr bwMode="auto">
            <a:xfrm>
              <a:off x="1968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*</a:t>
              </a:r>
              <a:endParaRPr kumimoji="0" lang="en-US" altLang="zh-CN" sz="2000" b="1"/>
            </a:p>
          </p:txBody>
        </p:sp>
        <p:sp>
          <p:nvSpPr>
            <p:cNvPr id="35883" name="Text Box 45"/>
            <p:cNvSpPr txBox="1">
              <a:spLocks noChangeArrowheads="1"/>
            </p:cNvSpPr>
            <p:nvPr/>
          </p:nvSpPr>
          <p:spPr bwMode="auto">
            <a:xfrm>
              <a:off x="2544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/</a:t>
              </a:r>
              <a:endParaRPr kumimoji="0" lang="en-US" altLang="zh-CN" sz="2000" b="1"/>
            </a:p>
          </p:txBody>
        </p:sp>
        <p:sp>
          <p:nvSpPr>
            <p:cNvPr id="35884" name="Line 46"/>
            <p:cNvSpPr>
              <a:spLocks noChangeShapeType="1"/>
            </p:cNvSpPr>
            <p:nvPr/>
          </p:nvSpPr>
          <p:spPr bwMode="auto">
            <a:xfrm>
              <a:off x="2976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5" name="Line 47"/>
            <p:cNvSpPr>
              <a:spLocks noChangeShapeType="1"/>
            </p:cNvSpPr>
            <p:nvPr/>
          </p:nvSpPr>
          <p:spPr bwMode="auto">
            <a:xfrm>
              <a:off x="355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6" name="Text Box 48"/>
            <p:cNvSpPr txBox="1">
              <a:spLocks noChangeArrowheads="1"/>
            </p:cNvSpPr>
            <p:nvPr/>
          </p:nvSpPr>
          <p:spPr bwMode="auto">
            <a:xfrm>
              <a:off x="3072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宋体" panose="02010600030101010101" pitchFamily="2" charset="-122"/>
                </a:rPr>
                <a:t>↑</a:t>
              </a:r>
              <a:endParaRPr kumimoji="0" lang="en-US" altLang="zh-CN" sz="2000" b="1"/>
            </a:p>
          </p:txBody>
        </p:sp>
        <p:sp>
          <p:nvSpPr>
            <p:cNvPr id="35887" name="Line 49"/>
            <p:cNvSpPr>
              <a:spLocks noChangeShapeType="1"/>
            </p:cNvSpPr>
            <p:nvPr/>
          </p:nvSpPr>
          <p:spPr bwMode="auto">
            <a:xfrm>
              <a:off x="4128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8" name="Text Box 50"/>
            <p:cNvSpPr txBox="1">
              <a:spLocks noChangeArrowheads="1"/>
            </p:cNvSpPr>
            <p:nvPr/>
          </p:nvSpPr>
          <p:spPr bwMode="auto">
            <a:xfrm>
              <a:off x="3648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id</a:t>
              </a:r>
              <a:endParaRPr kumimoji="0" lang="en-US" altLang="zh-CN" sz="2000" b="1"/>
            </a:p>
          </p:txBody>
        </p:sp>
        <p:sp>
          <p:nvSpPr>
            <p:cNvPr id="35889" name="Line 51"/>
            <p:cNvSpPr>
              <a:spLocks noChangeShapeType="1"/>
            </p:cNvSpPr>
            <p:nvPr/>
          </p:nvSpPr>
          <p:spPr bwMode="auto">
            <a:xfrm>
              <a:off x="4704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0" name="Text Box 52"/>
            <p:cNvSpPr txBox="1">
              <a:spLocks noChangeArrowheads="1"/>
            </p:cNvSpPr>
            <p:nvPr/>
          </p:nvSpPr>
          <p:spPr bwMode="auto">
            <a:xfrm>
              <a:off x="4224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(</a:t>
              </a:r>
              <a:endParaRPr kumimoji="0" lang="en-US" altLang="zh-CN" sz="2000" b="1"/>
            </a:p>
          </p:txBody>
        </p:sp>
        <p:sp>
          <p:nvSpPr>
            <p:cNvPr id="35891" name="Text Box 53"/>
            <p:cNvSpPr txBox="1">
              <a:spLocks noChangeArrowheads="1"/>
            </p:cNvSpPr>
            <p:nvPr/>
          </p:nvSpPr>
          <p:spPr bwMode="auto">
            <a:xfrm>
              <a:off x="4800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)</a:t>
              </a:r>
              <a:endParaRPr kumimoji="0" lang="en-US" altLang="zh-CN" sz="2000" b="1"/>
            </a:p>
          </p:txBody>
        </p:sp>
        <p:sp>
          <p:nvSpPr>
            <p:cNvPr id="35892" name="Line 54"/>
            <p:cNvSpPr>
              <a:spLocks noChangeShapeType="1"/>
            </p:cNvSpPr>
            <p:nvPr/>
          </p:nvSpPr>
          <p:spPr bwMode="auto">
            <a:xfrm>
              <a:off x="523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3" name="Text Box 55"/>
            <p:cNvSpPr txBox="1">
              <a:spLocks noChangeArrowheads="1"/>
            </p:cNvSpPr>
            <p:nvPr/>
          </p:nvSpPr>
          <p:spPr bwMode="auto">
            <a:xfrm>
              <a:off x="5328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</a:t>
              </a:r>
              <a:endParaRPr kumimoji="0" lang="en-US" altLang="zh-CN" sz="2000" b="1"/>
            </a:p>
          </p:txBody>
        </p:sp>
        <p:sp>
          <p:nvSpPr>
            <p:cNvPr id="35894" name="Text Box 56"/>
            <p:cNvSpPr txBox="1">
              <a:spLocks noChangeArrowheads="1"/>
            </p:cNvSpPr>
            <p:nvPr/>
          </p:nvSpPr>
          <p:spPr bwMode="auto">
            <a:xfrm>
              <a:off x="1392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⋗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endParaRPr lang="en-US" altLang="zh-CN" sz="2000"/>
            </a:p>
          </p:txBody>
        </p:sp>
        <p:sp>
          <p:nvSpPr>
            <p:cNvPr id="35895" name="Text Box 57"/>
            <p:cNvSpPr txBox="1">
              <a:spLocks noChangeArrowheads="1"/>
            </p:cNvSpPr>
            <p:nvPr/>
          </p:nvSpPr>
          <p:spPr bwMode="auto">
            <a:xfrm>
              <a:off x="1968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endParaRPr lang="en-US" altLang="zh-CN" sz="2000"/>
            </a:p>
          </p:txBody>
        </p:sp>
        <p:sp>
          <p:nvSpPr>
            <p:cNvPr id="35896" name="Text Box 58"/>
            <p:cNvSpPr txBox="1">
              <a:spLocks noChangeArrowheads="1"/>
            </p:cNvSpPr>
            <p:nvPr/>
          </p:nvSpPr>
          <p:spPr bwMode="auto">
            <a:xfrm>
              <a:off x="3072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  <a:br>
                <a:rPr lang="en-US" altLang="zh-CN" sz="2000"/>
              </a:br>
              <a:r>
                <a:rPr kumimoji="0" lang="en-US" altLang="zh-CN" sz="2000" b="1"/>
                <a:t> </a:t>
              </a: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 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endParaRPr lang="en-US" altLang="zh-CN" sz="2000"/>
            </a:p>
          </p:txBody>
        </p:sp>
        <p:sp>
          <p:nvSpPr>
            <p:cNvPr id="35897" name="Text Box 59"/>
            <p:cNvSpPr txBox="1">
              <a:spLocks noChangeArrowheads="1"/>
            </p:cNvSpPr>
            <p:nvPr/>
          </p:nvSpPr>
          <p:spPr bwMode="auto">
            <a:xfrm>
              <a:off x="2496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endParaRPr lang="en-US" altLang="zh-CN" sz="2000"/>
            </a:p>
          </p:txBody>
        </p:sp>
        <p:sp>
          <p:nvSpPr>
            <p:cNvPr id="35898" name="Text Box 60"/>
            <p:cNvSpPr txBox="1">
              <a:spLocks noChangeArrowheads="1"/>
            </p:cNvSpPr>
            <p:nvPr/>
          </p:nvSpPr>
          <p:spPr bwMode="auto">
            <a:xfrm>
              <a:off x="3648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kumimoji="0" lang="en-US" altLang="zh-CN" sz="2000" b="1"/>
                <a:t> </a:t>
              </a: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  <a:br>
                <a:rPr lang="en-US" altLang="zh-CN" sz="2000"/>
              </a:br>
              <a:r>
                <a:rPr kumimoji="0" lang="en-US" altLang="zh-CN" sz="2000" b="1"/>
                <a:t> </a:t>
              </a: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 </a:t>
              </a:r>
              <a:br>
                <a:rPr lang="en-US" altLang="zh-CN" sz="2000"/>
              </a:b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  <a:endParaRPr lang="en-US" altLang="zh-CN" sz="2000"/>
            </a:p>
          </p:txBody>
        </p:sp>
        <p:sp>
          <p:nvSpPr>
            <p:cNvPr id="35899" name="Text Box 61"/>
            <p:cNvSpPr txBox="1">
              <a:spLocks noChangeArrowheads="1"/>
            </p:cNvSpPr>
            <p:nvPr/>
          </p:nvSpPr>
          <p:spPr bwMode="auto">
            <a:xfrm>
              <a:off x="4224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  <a:br>
                <a:rPr lang="en-US" altLang="zh-CN" sz="2000"/>
              </a:br>
              <a:r>
                <a:rPr kumimoji="0" lang="en-US" altLang="zh-CN" sz="2000" b="1"/>
                <a:t> </a:t>
              </a: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 </a:t>
              </a:r>
              <a:br>
                <a:rPr lang="en-US" altLang="zh-CN" sz="2000"/>
              </a:b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  <a:endParaRPr lang="en-US" altLang="zh-CN" sz="2000"/>
            </a:p>
          </p:txBody>
        </p:sp>
        <p:sp>
          <p:nvSpPr>
            <p:cNvPr id="35900" name="Text Box 62"/>
            <p:cNvSpPr txBox="1">
              <a:spLocks noChangeArrowheads="1"/>
            </p:cNvSpPr>
            <p:nvPr/>
          </p:nvSpPr>
          <p:spPr bwMode="auto">
            <a:xfrm>
              <a:off x="4800" y="1151"/>
              <a:ext cx="384" cy="2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⋗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 </a:t>
              </a:r>
              <a:r>
                <a:rPr lang="en-US" altLang="zh-CN" sz="2000">
                  <a:latin typeface="Lucida Sans Unicode" panose="020B0602030504020204" pitchFamily="34" charset="0"/>
                </a:rPr>
                <a:t>≐</a:t>
              </a:r>
              <a:r>
                <a:rPr lang="en-US" altLang="zh-CN" sz="2000"/>
                <a:t>  </a:t>
              </a:r>
              <a:br>
                <a:rPr lang="en-US" altLang="zh-CN" sz="2000"/>
              </a:br>
              <a:r>
                <a:rPr lang="en-US" altLang="zh-CN" sz="2400">
                  <a:latin typeface="Tahoma" panose="020B0604030504040204" pitchFamily="34" charset="0"/>
                </a:rPr>
                <a:t>⋗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35901" name="Text Box 63"/>
            <p:cNvSpPr txBox="1">
              <a:spLocks noChangeArrowheads="1"/>
            </p:cNvSpPr>
            <p:nvPr/>
          </p:nvSpPr>
          <p:spPr bwMode="auto">
            <a:xfrm>
              <a:off x="5232" y="1151"/>
              <a:ext cx="384" cy="2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⋗</a:t>
              </a:r>
              <a:r>
                <a:rPr kumimoji="0" lang="en-US" altLang="zh-CN" sz="2000" b="1"/>
                <a:t> </a:t>
              </a: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endParaRPr lang="en-US" altLang="zh-CN" sz="200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4.6  </a:t>
            </a:r>
            <a:r>
              <a:rPr lang="zh-CN" altLang="en-US"/>
              <a:t>构造优先级函数</a:t>
            </a:r>
            <a:endParaRPr lang="zh-CN" altLang="en-US"/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输入：一个算符优先关系矩阵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输出：对应的优先级函数，或返回不存在信息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对每个非终结符</a:t>
            </a:r>
            <a:r>
              <a:rPr lang="en-US" altLang="zh-CN" sz="2800"/>
              <a:t>a</a:t>
            </a:r>
            <a:r>
              <a:rPr lang="zh-CN" altLang="en-US" sz="2800"/>
              <a:t>或</a:t>
            </a:r>
            <a:r>
              <a:rPr lang="en-US" altLang="zh-CN" sz="2800"/>
              <a:t>$</a:t>
            </a:r>
            <a:r>
              <a:rPr lang="zh-CN" altLang="en-US" sz="2800"/>
              <a:t>创建符号</a:t>
            </a:r>
            <a:r>
              <a:rPr lang="en-US" altLang="zh-CN" sz="2800"/>
              <a:t>f</a:t>
            </a:r>
            <a:r>
              <a:rPr lang="en-US" altLang="zh-CN" sz="2800" baseline="-25000"/>
              <a:t>a</a:t>
            </a:r>
            <a:r>
              <a:rPr lang="zh-CN" altLang="en-US" sz="2800"/>
              <a:t>和</a:t>
            </a:r>
            <a:r>
              <a:rPr lang="en-US" altLang="zh-CN" sz="2800"/>
              <a:t>g</a:t>
            </a:r>
            <a:r>
              <a:rPr lang="en-US" altLang="zh-CN" sz="2800" baseline="-25000"/>
              <a:t>a</a:t>
            </a:r>
            <a:endParaRPr lang="en-US" altLang="zh-CN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将创建的符号划分为尽量多的组：</a:t>
            </a:r>
            <a:endParaRPr lang="zh-CN" altLang="en-US" sz="2800"/>
          </a:p>
          <a:p>
            <a:pPr marL="990600" lvl="1" indent="-533400" eaLnBrk="1" hangingPunct="1"/>
            <a:r>
              <a:rPr lang="zh-CN" altLang="en-US" sz="2400"/>
              <a:t>若</a:t>
            </a:r>
            <a:r>
              <a:rPr lang="en-US" altLang="zh-CN" sz="2400"/>
              <a:t>a≐b</a:t>
            </a:r>
            <a:r>
              <a:rPr lang="zh-CN" altLang="en-US" sz="2400"/>
              <a:t>，则</a:t>
            </a:r>
            <a:r>
              <a:rPr lang="en-US" altLang="zh-CN" sz="2400"/>
              <a:t>f</a:t>
            </a:r>
            <a:r>
              <a:rPr lang="en-US" altLang="zh-CN" sz="2400" baseline="-25000"/>
              <a:t>a</a:t>
            </a:r>
            <a:r>
              <a:rPr lang="zh-CN" altLang="en-US" sz="2400"/>
              <a:t>和</a:t>
            </a:r>
            <a:r>
              <a:rPr lang="en-US" altLang="zh-CN" sz="2400"/>
              <a:t>g</a:t>
            </a:r>
            <a:r>
              <a:rPr lang="en-US" altLang="zh-CN" sz="2400" baseline="-25000"/>
              <a:t>b</a:t>
            </a:r>
            <a:r>
              <a:rPr lang="zh-CN" altLang="en-US" sz="2400"/>
              <a:t>分在同一组</a:t>
            </a:r>
            <a:endParaRPr lang="zh-CN" altLang="en-US" sz="2400"/>
          </a:p>
          <a:p>
            <a:pPr marL="990600" lvl="1" indent="-533400" eaLnBrk="1" hangingPunct="1"/>
            <a:r>
              <a:rPr lang="zh-CN" altLang="en-US" sz="2400"/>
              <a:t>没有≐关系，也可能分在一组</a:t>
            </a:r>
            <a:endParaRPr lang="zh-CN" altLang="en-US" sz="2400"/>
          </a:p>
          <a:p>
            <a:pPr marL="1371600" lvl="2" indent="-457200" eaLnBrk="1" hangingPunct="1"/>
            <a:r>
              <a:rPr lang="zh-CN" altLang="en-US" sz="2000"/>
              <a:t>如</a:t>
            </a:r>
            <a:r>
              <a:rPr lang="en-US" altLang="zh-CN" sz="2000"/>
              <a:t>a≐b</a:t>
            </a:r>
            <a:r>
              <a:rPr lang="zh-CN" altLang="en-US" sz="2000"/>
              <a:t>，</a:t>
            </a:r>
            <a:r>
              <a:rPr lang="en-US" altLang="zh-CN" sz="2000"/>
              <a:t>c≐b</a:t>
            </a:r>
            <a:r>
              <a:rPr lang="zh-CN" altLang="en-US" sz="2000"/>
              <a:t>，则</a:t>
            </a:r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和</a:t>
            </a:r>
            <a:r>
              <a:rPr lang="en-US" altLang="zh-CN" sz="2000"/>
              <a:t>f</a:t>
            </a:r>
            <a:r>
              <a:rPr lang="en-US" altLang="zh-CN" sz="2000" baseline="-25000"/>
              <a:t>c</a:t>
            </a:r>
            <a:r>
              <a:rPr lang="zh-CN" altLang="en-US" sz="2000"/>
              <a:t>会在一组</a:t>
            </a:r>
            <a:endParaRPr lang="zh-CN" altLang="en-US" sz="2000"/>
          </a:p>
          <a:p>
            <a:pPr marL="1371600" lvl="2" indent="-457200" eaLnBrk="1" hangingPunct="1"/>
            <a:r>
              <a:rPr lang="zh-CN" altLang="en-US" sz="2000"/>
              <a:t>若还有</a:t>
            </a:r>
            <a:r>
              <a:rPr lang="en-US" altLang="zh-CN" sz="2000"/>
              <a:t>c≐d</a:t>
            </a:r>
            <a:r>
              <a:rPr lang="zh-CN" altLang="en-US" sz="2000"/>
              <a:t>，</a:t>
            </a:r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和</a:t>
            </a:r>
            <a:r>
              <a:rPr lang="en-US" altLang="zh-CN" sz="2000"/>
              <a:t>g</a:t>
            </a:r>
            <a:r>
              <a:rPr lang="en-US" altLang="zh-CN" sz="2000" baseline="-25000"/>
              <a:t>d</a:t>
            </a:r>
            <a:r>
              <a:rPr lang="zh-CN" altLang="en-US" sz="2000"/>
              <a:t>会在一组，而</a:t>
            </a:r>
            <a:r>
              <a:rPr lang="en-US" altLang="zh-CN" sz="2000"/>
              <a:t>a≐d</a:t>
            </a:r>
            <a:r>
              <a:rPr lang="zh-CN" altLang="en-US" sz="2000"/>
              <a:t>不一定成立</a:t>
            </a:r>
            <a:endParaRPr lang="zh-CN" altLang="en-US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4.6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/>
              <a:t>创建有向图</a:t>
            </a:r>
            <a:endParaRPr lang="zh-CN" altLang="en-US" sz="2800"/>
          </a:p>
          <a:p>
            <a:pPr marL="990600" lvl="1" indent="-533400" eaLnBrk="1" hangingPunct="1"/>
            <a:r>
              <a:rPr lang="zh-CN" altLang="en-US" sz="2400"/>
              <a:t>节点</a:t>
            </a:r>
            <a:r>
              <a:rPr lang="en-US" altLang="zh-CN" sz="2400"/>
              <a:t>——</a:t>
            </a:r>
            <a:r>
              <a:rPr lang="zh-CN" altLang="en-US" sz="2400"/>
              <a:t>符号分组</a:t>
            </a:r>
            <a:endParaRPr lang="zh-CN" altLang="en-US" sz="2400"/>
          </a:p>
          <a:p>
            <a:pPr marL="990600" lvl="1" indent="-533400" eaLnBrk="1" hangingPunct="1"/>
            <a:r>
              <a:rPr lang="zh-CN" altLang="en-US" sz="2400"/>
              <a:t>对任何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  <a:endParaRPr lang="en-US" altLang="zh-CN" sz="2400"/>
          </a:p>
          <a:p>
            <a:pPr marL="1371600" lvl="2" indent="-457200" eaLnBrk="1" hangingPunct="1"/>
            <a:r>
              <a:rPr lang="en-US" altLang="zh-CN" sz="2000"/>
              <a:t>a⋖b</a:t>
            </a:r>
            <a:r>
              <a:rPr lang="zh-CN" altLang="en-US" sz="2000"/>
              <a:t>，</a:t>
            </a:r>
            <a:r>
              <a:rPr lang="en-US" altLang="zh-CN" sz="2000"/>
              <a:t>g</a:t>
            </a:r>
            <a:r>
              <a:rPr lang="en-US" altLang="zh-CN" sz="2000" baseline="-25000"/>
              <a:t>b</a:t>
            </a:r>
            <a:r>
              <a:rPr lang="zh-CN" altLang="en-US" sz="2000"/>
              <a:t>所在组向</a:t>
            </a:r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所在组引一条边</a:t>
            </a:r>
            <a:endParaRPr lang="zh-CN" altLang="en-US" sz="2000"/>
          </a:p>
          <a:p>
            <a:pPr marL="1371600" lvl="2" indent="-457200" eaLnBrk="1" hangingPunct="1"/>
            <a:r>
              <a:rPr lang="zh-CN" altLang="en-US" sz="2000"/>
              <a:t>若</a:t>
            </a:r>
            <a:r>
              <a:rPr lang="en-US" altLang="zh-CN" sz="2000"/>
              <a:t>a⋗b</a:t>
            </a:r>
            <a:r>
              <a:rPr lang="zh-CN" altLang="en-US" sz="2000"/>
              <a:t>，</a:t>
            </a:r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所在组向</a:t>
            </a:r>
            <a:r>
              <a:rPr lang="en-US" altLang="zh-CN" sz="2000"/>
              <a:t>g</a:t>
            </a:r>
            <a:r>
              <a:rPr lang="en-US" altLang="zh-CN" sz="2000" baseline="-25000"/>
              <a:t>b</a:t>
            </a:r>
            <a:r>
              <a:rPr lang="zh-CN" altLang="en-US" sz="2000"/>
              <a:t>所在组引一条边</a:t>
            </a:r>
            <a:endParaRPr lang="zh-CN" altLang="en-US" sz="2000"/>
          </a:p>
          <a:p>
            <a:pPr marL="1371600" lvl="2" indent="-457200" eaLnBrk="1" hangingPunct="1"/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到</a:t>
            </a:r>
            <a:r>
              <a:rPr lang="en-US" altLang="zh-CN" sz="2000"/>
              <a:t>g</a:t>
            </a:r>
            <a:r>
              <a:rPr lang="en-US" altLang="zh-CN" sz="2000" baseline="-25000"/>
              <a:t>b</a:t>
            </a:r>
            <a:r>
              <a:rPr lang="zh-CN" altLang="en-US" sz="2000"/>
              <a:t>的边（路径）：</a:t>
            </a:r>
            <a:r>
              <a:rPr lang="en-US" altLang="zh-CN" sz="2000"/>
              <a:t>f(a)</a:t>
            </a:r>
            <a:r>
              <a:rPr lang="zh-CN" altLang="en-US" sz="2000"/>
              <a:t>必须大于</a:t>
            </a:r>
            <a:r>
              <a:rPr lang="en-US" altLang="zh-CN" sz="2000"/>
              <a:t>g(b)</a:t>
            </a:r>
            <a:r>
              <a:rPr lang="zh-CN" altLang="en-US" sz="2000"/>
              <a:t>，反之亦然。</a:t>
            </a:r>
            <a:endParaRPr lang="zh-CN" altLang="en-US" sz="2000"/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/>
              <a:t>利用有向图获得优先函数</a:t>
            </a:r>
            <a:endParaRPr lang="zh-CN" altLang="en-US" sz="2800"/>
          </a:p>
          <a:p>
            <a:pPr marL="990600" lvl="1" indent="-533400" eaLnBrk="1" hangingPunct="1"/>
            <a:r>
              <a:rPr lang="zh-CN" altLang="en-US" sz="2400"/>
              <a:t>有向图存在回路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/>
              <a:t>优先级函数不存在</a:t>
            </a:r>
            <a:endParaRPr lang="zh-CN" altLang="en-US" sz="2400"/>
          </a:p>
          <a:p>
            <a:pPr marL="990600" lvl="1" indent="-533400" eaLnBrk="1" hangingPunct="1"/>
            <a:r>
              <a:rPr lang="zh-CN" altLang="en-US" sz="2400"/>
              <a:t>否则</a:t>
            </a:r>
            <a:endParaRPr lang="zh-CN" altLang="en-US" sz="2400"/>
          </a:p>
          <a:p>
            <a:pPr marL="1371600" lvl="2" indent="-457200" eaLnBrk="1" hangingPunct="1"/>
            <a:r>
              <a:rPr lang="en-US" altLang="zh-CN" sz="2000"/>
              <a:t>f(a) = f</a:t>
            </a:r>
            <a:r>
              <a:rPr lang="en-US" altLang="zh-CN" sz="2000" baseline="-25000"/>
              <a:t>a</a:t>
            </a:r>
            <a:r>
              <a:rPr lang="zh-CN" altLang="en-US" sz="2000"/>
              <a:t>所在组开始的最长路径长度</a:t>
            </a:r>
            <a:endParaRPr lang="zh-CN" altLang="en-US" sz="2000"/>
          </a:p>
          <a:p>
            <a:pPr marL="1371600" lvl="2" indent="-457200" eaLnBrk="1" hangingPunct="1"/>
            <a:r>
              <a:rPr lang="en-US" altLang="zh-CN" sz="2000"/>
              <a:t>g(a) = g</a:t>
            </a:r>
            <a:r>
              <a:rPr lang="en-US" altLang="zh-CN" sz="2000" baseline="-25000"/>
              <a:t>a</a:t>
            </a:r>
            <a:r>
              <a:rPr lang="zh-CN" altLang="en-US" sz="2000"/>
              <a:t>所在组开始的最长路径长度</a:t>
            </a:r>
            <a:endParaRPr lang="zh-CN" altLang="en-US"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4.30</a:t>
            </a:r>
            <a:endParaRPr lang="en-US" altLang="zh-CN"/>
          </a:p>
        </p:txBody>
      </p:sp>
      <p:sp>
        <p:nvSpPr>
          <p:cNvPr id="38915" name="Line 4"/>
          <p:cNvSpPr>
            <a:spLocks noChangeShapeType="1"/>
          </p:cNvSpPr>
          <p:nvPr/>
        </p:nvSpPr>
        <p:spPr bwMode="auto">
          <a:xfrm>
            <a:off x="381000" y="2162175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6" name="Line 5"/>
          <p:cNvSpPr>
            <a:spLocks noChangeShapeType="1"/>
          </p:cNvSpPr>
          <p:nvPr/>
        </p:nvSpPr>
        <p:spPr bwMode="auto">
          <a:xfrm>
            <a:off x="990600" y="170497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7" name="Text Box 6"/>
          <p:cNvSpPr txBox="1">
            <a:spLocks noChangeArrowheads="1"/>
          </p:cNvSpPr>
          <p:nvPr/>
        </p:nvSpPr>
        <p:spPr bwMode="auto">
          <a:xfrm>
            <a:off x="304800" y="2085975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br>
              <a:rPr kumimoji="0" lang="en-US" altLang="zh-CN" sz="2800" b="1"/>
            </a:br>
            <a:r>
              <a:rPr kumimoji="0" lang="en-US" altLang="zh-CN" sz="2800"/>
              <a:t>+</a:t>
            </a:r>
            <a:br>
              <a:rPr kumimoji="0" lang="en-US" altLang="zh-CN" sz="2800"/>
            </a:br>
            <a:r>
              <a:rPr kumimoji="0" lang="en-US" altLang="zh-CN" sz="2800"/>
              <a:t>*</a:t>
            </a:r>
            <a:br>
              <a:rPr kumimoji="0" lang="en-US" altLang="zh-CN" sz="2800"/>
            </a:br>
            <a:r>
              <a:rPr kumimoji="0" lang="en-US" altLang="zh-CN" sz="2800"/>
              <a:t>$</a:t>
            </a:r>
            <a:endParaRPr kumimoji="0" lang="en-US" altLang="zh-CN" sz="2800" b="1"/>
          </a:p>
        </p:txBody>
      </p:sp>
      <p:sp>
        <p:nvSpPr>
          <p:cNvPr id="38918" name="Line 7"/>
          <p:cNvSpPr>
            <a:spLocks noChangeShapeType="1"/>
          </p:cNvSpPr>
          <p:nvPr/>
        </p:nvSpPr>
        <p:spPr bwMode="auto">
          <a:xfrm>
            <a:off x="1905000" y="170497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9" name="Text Box 8"/>
          <p:cNvSpPr txBox="1">
            <a:spLocks noChangeArrowheads="1"/>
          </p:cNvSpPr>
          <p:nvPr/>
        </p:nvSpPr>
        <p:spPr bwMode="auto">
          <a:xfrm>
            <a:off x="1143000" y="2085975"/>
            <a:ext cx="681990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br>
              <a:rPr kumimoji="0" lang="en-US" altLang="zh-CN" sz="2800" b="1"/>
            </a:br>
            <a:r>
              <a:rPr kumimoji="0" lang="en-US" altLang="zh-CN" sz="2800" b="1"/>
              <a:t> 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 ⋖</a:t>
            </a:r>
            <a:br>
              <a:rPr lang="en-US" altLang="zh-CN" sz="2800"/>
            </a:br>
            <a:r>
              <a:rPr lang="en-US" altLang="zh-CN" sz="2800"/>
              <a:t> ⋖</a:t>
            </a:r>
            <a:endParaRPr lang="en-US" altLang="zh-CN" sz="2800"/>
          </a:p>
        </p:txBody>
      </p:sp>
      <p:sp>
        <p:nvSpPr>
          <p:cNvPr id="38920" name="Text Box 9"/>
          <p:cNvSpPr txBox="1">
            <a:spLocks noChangeArrowheads="1"/>
          </p:cNvSpPr>
          <p:nvPr/>
        </p:nvSpPr>
        <p:spPr bwMode="auto">
          <a:xfrm>
            <a:off x="1143000" y="17049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endParaRPr kumimoji="0" lang="en-US" altLang="zh-CN" sz="2800" b="1"/>
          </a:p>
        </p:txBody>
      </p:sp>
      <p:sp>
        <p:nvSpPr>
          <p:cNvPr id="38921" name="Line 10"/>
          <p:cNvSpPr>
            <a:spLocks noChangeShapeType="1"/>
          </p:cNvSpPr>
          <p:nvPr/>
        </p:nvSpPr>
        <p:spPr bwMode="auto">
          <a:xfrm>
            <a:off x="2819400" y="170497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2" name="Text Box 11"/>
          <p:cNvSpPr txBox="1">
            <a:spLocks noChangeArrowheads="1"/>
          </p:cNvSpPr>
          <p:nvPr/>
        </p:nvSpPr>
        <p:spPr bwMode="auto">
          <a:xfrm>
            <a:off x="2057400" y="2085975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⋗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⋖</a:t>
            </a:r>
            <a:endParaRPr lang="en-US" altLang="zh-CN" sz="2800"/>
          </a:p>
        </p:txBody>
      </p:sp>
      <p:sp>
        <p:nvSpPr>
          <p:cNvPr id="38923" name="Text Box 12"/>
          <p:cNvSpPr txBox="1">
            <a:spLocks noChangeArrowheads="1"/>
          </p:cNvSpPr>
          <p:nvPr/>
        </p:nvSpPr>
        <p:spPr bwMode="auto">
          <a:xfrm>
            <a:off x="2057400" y="17049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+</a:t>
            </a:r>
            <a:endParaRPr kumimoji="0" lang="en-US" altLang="zh-CN" sz="2800"/>
          </a:p>
        </p:txBody>
      </p:sp>
      <p:sp>
        <p:nvSpPr>
          <p:cNvPr id="38924" name="Line 13"/>
          <p:cNvSpPr>
            <a:spLocks noChangeShapeType="1"/>
          </p:cNvSpPr>
          <p:nvPr/>
        </p:nvSpPr>
        <p:spPr bwMode="auto">
          <a:xfrm>
            <a:off x="3733800" y="170497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5" name="Text Box 14"/>
          <p:cNvSpPr txBox="1">
            <a:spLocks noChangeArrowheads="1"/>
          </p:cNvSpPr>
          <p:nvPr/>
        </p:nvSpPr>
        <p:spPr bwMode="auto">
          <a:xfrm>
            <a:off x="2971800" y="2085975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⋖</a:t>
            </a:r>
            <a:endParaRPr lang="en-US" altLang="zh-CN" sz="2800"/>
          </a:p>
        </p:txBody>
      </p:sp>
      <p:sp>
        <p:nvSpPr>
          <p:cNvPr id="38926" name="Text Box 15"/>
          <p:cNvSpPr txBox="1">
            <a:spLocks noChangeArrowheads="1"/>
          </p:cNvSpPr>
          <p:nvPr/>
        </p:nvSpPr>
        <p:spPr bwMode="auto">
          <a:xfrm>
            <a:off x="2971800" y="17049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*</a:t>
            </a:r>
            <a:endParaRPr kumimoji="0" lang="en-US" altLang="zh-CN" sz="2800"/>
          </a:p>
        </p:txBody>
      </p:sp>
      <p:sp>
        <p:nvSpPr>
          <p:cNvPr id="38927" name="Text Box 16"/>
          <p:cNvSpPr txBox="1">
            <a:spLocks noChangeArrowheads="1"/>
          </p:cNvSpPr>
          <p:nvPr/>
        </p:nvSpPr>
        <p:spPr bwMode="auto">
          <a:xfrm>
            <a:off x="3886200" y="2085975"/>
            <a:ext cx="609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⋗</a:t>
            </a:r>
            <a:br>
              <a:rPr lang="en-US" altLang="zh-CN" sz="2800"/>
            </a:br>
            <a:r>
              <a:rPr lang="en-US" altLang="zh-CN" sz="2800"/>
              <a:t>⋗ </a:t>
            </a:r>
            <a:endParaRPr lang="en-US" altLang="zh-CN" sz="2800"/>
          </a:p>
        </p:txBody>
      </p:sp>
      <p:sp>
        <p:nvSpPr>
          <p:cNvPr id="38928" name="Text Box 17"/>
          <p:cNvSpPr txBox="1">
            <a:spLocks noChangeArrowheads="1"/>
          </p:cNvSpPr>
          <p:nvPr/>
        </p:nvSpPr>
        <p:spPr bwMode="auto">
          <a:xfrm>
            <a:off x="3886200" y="17049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$</a:t>
            </a:r>
            <a:endParaRPr kumimoji="0" lang="en-US" altLang="zh-CN" sz="2800"/>
          </a:p>
        </p:txBody>
      </p:sp>
      <p:pic>
        <p:nvPicPr>
          <p:cNvPr id="38929" name="Picture 18" descr="prec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663" y="1479550"/>
            <a:ext cx="3894137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30" name="Line 19"/>
          <p:cNvSpPr>
            <a:spLocks noChangeShapeType="1"/>
          </p:cNvSpPr>
          <p:nvPr/>
        </p:nvSpPr>
        <p:spPr bwMode="auto">
          <a:xfrm>
            <a:off x="381000" y="4572000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1" name="Line 20"/>
          <p:cNvSpPr>
            <a:spLocks noChangeShapeType="1"/>
          </p:cNvSpPr>
          <p:nvPr/>
        </p:nvSpPr>
        <p:spPr bwMode="auto">
          <a:xfrm>
            <a:off x="990600" y="4114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2" name="Text Box 21"/>
          <p:cNvSpPr txBox="1">
            <a:spLocks noChangeArrowheads="1"/>
          </p:cNvSpPr>
          <p:nvPr/>
        </p:nvSpPr>
        <p:spPr bwMode="auto">
          <a:xfrm>
            <a:off x="304800" y="44958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f</a:t>
            </a:r>
            <a:br>
              <a:rPr kumimoji="0" lang="en-US" altLang="zh-CN" sz="2800" b="1"/>
            </a:br>
            <a:r>
              <a:rPr kumimoji="0" lang="en-US" altLang="zh-CN" sz="2800" b="1"/>
              <a:t>g</a:t>
            </a:r>
            <a:endParaRPr kumimoji="0" lang="en-US" altLang="zh-CN" sz="2800" b="1"/>
          </a:p>
        </p:txBody>
      </p:sp>
      <p:sp>
        <p:nvSpPr>
          <p:cNvPr id="38933" name="Line 22"/>
          <p:cNvSpPr>
            <a:spLocks noChangeShapeType="1"/>
          </p:cNvSpPr>
          <p:nvPr/>
        </p:nvSpPr>
        <p:spPr bwMode="auto">
          <a:xfrm>
            <a:off x="1905000" y="4114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4" name="Text Box 23"/>
          <p:cNvSpPr txBox="1">
            <a:spLocks noChangeArrowheads="1"/>
          </p:cNvSpPr>
          <p:nvPr/>
        </p:nvSpPr>
        <p:spPr bwMode="auto">
          <a:xfrm>
            <a:off x="1143000" y="44958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4</a:t>
            </a:r>
            <a:br>
              <a:rPr kumimoji="0" lang="en-US" altLang="zh-CN" sz="2800"/>
            </a:br>
            <a:r>
              <a:rPr kumimoji="0" lang="en-US" altLang="zh-CN" sz="2800"/>
              <a:t>5</a:t>
            </a:r>
            <a:endParaRPr lang="en-US" altLang="zh-CN" sz="2800"/>
          </a:p>
        </p:txBody>
      </p:sp>
      <p:sp>
        <p:nvSpPr>
          <p:cNvPr id="38935" name="Text Box 24"/>
          <p:cNvSpPr txBox="1">
            <a:spLocks noChangeArrowheads="1"/>
          </p:cNvSpPr>
          <p:nvPr/>
        </p:nvSpPr>
        <p:spPr bwMode="auto">
          <a:xfrm>
            <a:off x="11430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endParaRPr kumimoji="0" lang="en-US" altLang="zh-CN" sz="2800" b="1"/>
          </a:p>
        </p:txBody>
      </p:sp>
      <p:sp>
        <p:nvSpPr>
          <p:cNvPr id="38936" name="Line 25"/>
          <p:cNvSpPr>
            <a:spLocks noChangeShapeType="1"/>
          </p:cNvSpPr>
          <p:nvPr/>
        </p:nvSpPr>
        <p:spPr bwMode="auto">
          <a:xfrm>
            <a:off x="2819400" y="4114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7" name="Text Box 26"/>
          <p:cNvSpPr txBox="1">
            <a:spLocks noChangeArrowheads="1"/>
          </p:cNvSpPr>
          <p:nvPr/>
        </p:nvSpPr>
        <p:spPr bwMode="auto">
          <a:xfrm>
            <a:off x="2057400" y="4511675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2</a:t>
            </a:r>
            <a:br>
              <a:rPr lang="en-US" altLang="zh-CN" sz="2800"/>
            </a:br>
            <a:r>
              <a:rPr lang="en-US" altLang="zh-CN" sz="2800"/>
              <a:t>1</a:t>
            </a:r>
            <a:endParaRPr lang="en-US" altLang="zh-CN" sz="2800"/>
          </a:p>
        </p:txBody>
      </p:sp>
      <p:sp>
        <p:nvSpPr>
          <p:cNvPr id="38938" name="Text Box 27"/>
          <p:cNvSpPr txBox="1">
            <a:spLocks noChangeArrowheads="1"/>
          </p:cNvSpPr>
          <p:nvPr/>
        </p:nvSpPr>
        <p:spPr bwMode="auto">
          <a:xfrm>
            <a:off x="20574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+</a:t>
            </a:r>
            <a:endParaRPr kumimoji="0" lang="en-US" altLang="zh-CN" sz="2800"/>
          </a:p>
        </p:txBody>
      </p:sp>
      <p:sp>
        <p:nvSpPr>
          <p:cNvPr id="38939" name="Line 28"/>
          <p:cNvSpPr>
            <a:spLocks noChangeShapeType="1"/>
          </p:cNvSpPr>
          <p:nvPr/>
        </p:nvSpPr>
        <p:spPr bwMode="auto">
          <a:xfrm>
            <a:off x="3733800" y="4114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0" name="Text Box 29"/>
          <p:cNvSpPr txBox="1">
            <a:spLocks noChangeArrowheads="1"/>
          </p:cNvSpPr>
          <p:nvPr/>
        </p:nvSpPr>
        <p:spPr bwMode="auto">
          <a:xfrm>
            <a:off x="2971800" y="4511675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4</a:t>
            </a:r>
            <a:br>
              <a:rPr lang="en-US" altLang="zh-CN" sz="2800"/>
            </a:br>
            <a:r>
              <a:rPr lang="en-US" altLang="zh-CN" sz="2800"/>
              <a:t>3</a:t>
            </a:r>
            <a:endParaRPr lang="en-US" altLang="zh-CN" sz="2800"/>
          </a:p>
        </p:txBody>
      </p:sp>
      <p:sp>
        <p:nvSpPr>
          <p:cNvPr id="38941" name="Text Box 30"/>
          <p:cNvSpPr txBox="1">
            <a:spLocks noChangeArrowheads="1"/>
          </p:cNvSpPr>
          <p:nvPr/>
        </p:nvSpPr>
        <p:spPr bwMode="auto">
          <a:xfrm>
            <a:off x="29718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*</a:t>
            </a:r>
            <a:endParaRPr kumimoji="0" lang="en-US" altLang="zh-CN" sz="2800"/>
          </a:p>
        </p:txBody>
      </p:sp>
      <p:sp>
        <p:nvSpPr>
          <p:cNvPr id="38942" name="Text Box 31"/>
          <p:cNvSpPr txBox="1">
            <a:spLocks noChangeArrowheads="1"/>
          </p:cNvSpPr>
          <p:nvPr/>
        </p:nvSpPr>
        <p:spPr bwMode="auto">
          <a:xfrm>
            <a:off x="3886200" y="4511675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0</a:t>
            </a:r>
            <a:br>
              <a:rPr lang="en-US" altLang="zh-CN" sz="2800"/>
            </a:br>
            <a:r>
              <a:rPr lang="en-US" altLang="zh-CN" sz="2800"/>
              <a:t>0</a:t>
            </a:r>
            <a:endParaRPr lang="en-US" altLang="zh-CN" sz="2800"/>
          </a:p>
        </p:txBody>
      </p:sp>
      <p:sp>
        <p:nvSpPr>
          <p:cNvPr id="38943" name="Text Box 32"/>
          <p:cNvSpPr txBox="1">
            <a:spLocks noChangeArrowheads="1"/>
          </p:cNvSpPr>
          <p:nvPr/>
        </p:nvSpPr>
        <p:spPr bwMode="auto">
          <a:xfrm>
            <a:off x="38862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$</a:t>
            </a:r>
            <a:endParaRPr kumimoji="0" lang="en-US" altLang="zh-CN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4.6.5  </a:t>
            </a:r>
            <a:r>
              <a:rPr lang="zh-CN" altLang="en-US" dirty="0"/>
              <a:t>算符优先分析的错误处理</a:t>
            </a:r>
            <a:endParaRPr lang="zh-CN" alt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两种错误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栈顶终结符和输入的下一个终结符间无优先关系（移进</a:t>
            </a:r>
            <a:r>
              <a:rPr lang="en-US" altLang="zh-CN" dirty="0"/>
              <a:t>/</a:t>
            </a:r>
            <a:r>
              <a:rPr lang="zh-CN" altLang="en-US" dirty="0"/>
              <a:t>归约错误）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句柄与任何产生式右部都不相同（归约错误）</a:t>
            </a:r>
            <a:endParaRPr lang="zh-CN" altLang="en-US" dirty="0"/>
          </a:p>
          <a:p>
            <a:pPr marL="609600" indent="-609600" eaLnBrk="1" hangingPunct="1"/>
            <a:r>
              <a:rPr lang="zh-CN" altLang="en-US" dirty="0"/>
              <a:t>只有这两个错误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考虑算法</a:t>
            </a:r>
            <a:r>
              <a:rPr lang="en-US" altLang="zh-CN" dirty="0"/>
              <a:t>4.5</a:t>
            </a:r>
            <a:r>
              <a:rPr lang="zh-CN" altLang="en-US" dirty="0"/>
              <a:t>，总会找到⋖</a:t>
            </a:r>
            <a:r>
              <a:rPr lang="en-US" altLang="zh-CN" dirty="0"/>
              <a:t>——</a:t>
            </a:r>
            <a:r>
              <a:rPr lang="zh-CN" altLang="en-US" dirty="0"/>
              <a:t>栈底为</a:t>
            </a:r>
            <a:r>
              <a:rPr lang="en-US" altLang="zh-CN" dirty="0"/>
              <a:t>$</a:t>
            </a:r>
            <a:r>
              <a:rPr lang="zh-CN" altLang="en-US" dirty="0"/>
              <a:t>，优先级低于任何终结符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压栈过程中相邻符号必须满足⋖、≐，因此，算法肯定可以找到句柄，进行归约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处理归约错误</a:t>
            </a:r>
            <a:endParaRPr lang="zh-CN" alt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错误诊断信息</a:t>
            </a:r>
            <a:r>
              <a:rPr lang="en-US" altLang="zh-CN" dirty="0"/>
              <a:t>——</a:t>
            </a:r>
            <a:r>
              <a:rPr lang="zh-CN" altLang="en-US" dirty="0"/>
              <a:t>句柄“像”哪个产生式右部？</a:t>
            </a:r>
            <a:endParaRPr lang="zh-CN" altLang="en-US" dirty="0"/>
          </a:p>
          <a:p>
            <a:pPr eaLnBrk="1" hangingPunct="1"/>
            <a:r>
              <a:rPr lang="zh-CN" altLang="en-US" dirty="0"/>
              <a:t>句柄</a:t>
            </a:r>
            <a:r>
              <a:rPr lang="en-US" altLang="zh-CN" dirty="0" err="1"/>
              <a:t>abc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右部</a:t>
            </a:r>
            <a:r>
              <a:rPr lang="en-US" altLang="zh-CN" dirty="0" err="1"/>
              <a:t>aEcE</a:t>
            </a:r>
            <a:r>
              <a:rPr lang="zh-CN" altLang="en-US" dirty="0"/>
              <a:t>：“非法的</a:t>
            </a:r>
            <a:r>
              <a:rPr lang="en-US" altLang="zh-CN" dirty="0"/>
              <a:t>b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 eaLnBrk="1" hangingPunct="1"/>
            <a:r>
              <a:rPr lang="en-US" altLang="zh-CN" dirty="0" err="1"/>
              <a:t>abEdc</a:t>
            </a:r>
            <a:r>
              <a:rPr lang="zh-CN" altLang="en-US" dirty="0"/>
              <a:t>：“缺少</a:t>
            </a:r>
            <a:r>
              <a:rPr lang="en-US" altLang="zh-CN" dirty="0"/>
              <a:t>d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终结符匹配，非终结符不匹配，句柄中无非终结符，右部</a:t>
            </a:r>
            <a:r>
              <a:rPr lang="en-US" altLang="zh-CN" dirty="0" err="1"/>
              <a:t>aEbc</a:t>
            </a:r>
            <a:r>
              <a:rPr lang="zh-CN" altLang="en-US" dirty="0"/>
              <a:t>：“缺少</a:t>
            </a:r>
            <a:r>
              <a:rPr lang="en-US" altLang="zh-CN" dirty="0"/>
              <a:t>E</a:t>
            </a:r>
            <a:r>
              <a:rPr lang="zh-CN" altLang="en-US" dirty="0"/>
              <a:t>”</a:t>
            </a:r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难点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/>
              <a:t>有穷或无穷个符号串“可被弹出”？</a:t>
            </a:r>
            <a:br>
              <a:rPr lang="zh-CN" altLang="en-US" sz="2800"/>
            </a:br>
            <a:r>
              <a:rPr lang="en-US" altLang="zh-CN" sz="2800"/>
              <a:t>b</a:t>
            </a:r>
            <a:r>
              <a:rPr lang="en-US" altLang="zh-CN" sz="2800" baseline="-25000"/>
              <a:t>1</a:t>
            </a:r>
            <a:r>
              <a:rPr lang="en-US" altLang="zh-CN" sz="2800"/>
              <a:t>≐b</a:t>
            </a:r>
            <a:r>
              <a:rPr lang="en-US" altLang="zh-CN" sz="2800" baseline="-25000"/>
              <a:t>2</a:t>
            </a:r>
            <a:r>
              <a:rPr lang="en-US" altLang="zh-CN" sz="2800"/>
              <a:t>≐…≐b</a:t>
            </a:r>
            <a:r>
              <a:rPr lang="en-US" altLang="zh-CN" sz="2800" baseline="-25000"/>
              <a:t>k</a:t>
            </a:r>
            <a:endParaRPr lang="en-US" altLang="zh-CN" sz="2800"/>
          </a:p>
          <a:p>
            <a:pPr eaLnBrk="1" hangingPunct="1"/>
            <a:r>
              <a:rPr lang="zh-CN" altLang="en-US" sz="2800"/>
              <a:t>有穷，预先计算符号串“最相像”右部</a:t>
            </a:r>
            <a:endParaRPr lang="zh-CN" altLang="en-US" sz="2800"/>
          </a:p>
          <a:p>
            <a:pPr eaLnBrk="1" hangingPunct="1"/>
            <a:r>
              <a:rPr lang="zh-CN" altLang="en-US" sz="2800"/>
              <a:t>有向图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节点</a:t>
            </a:r>
            <a:r>
              <a:rPr lang="zh-CN" altLang="en-US" sz="2400">
                <a:sym typeface="Wingdings" panose="05000000000000000000" pitchFamily="2" charset="2"/>
              </a:rPr>
              <a:t>终结符</a:t>
            </a:r>
            <a:endParaRPr lang="zh-CN" altLang="en-US" sz="2400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zh-CN" altLang="en-US" sz="2400">
                <a:sym typeface="Wingdings" panose="05000000000000000000" pitchFamily="2" charset="2"/>
              </a:rPr>
              <a:t>到</a:t>
            </a:r>
            <a:r>
              <a:rPr lang="en-US" altLang="zh-CN" sz="2400">
                <a:sym typeface="Wingdings" panose="05000000000000000000" pitchFamily="2" charset="2"/>
              </a:rPr>
              <a:t>b</a:t>
            </a:r>
            <a:r>
              <a:rPr lang="zh-CN" altLang="en-US" sz="2400">
                <a:sym typeface="Wingdings" panose="05000000000000000000" pitchFamily="2" charset="2"/>
              </a:rPr>
              <a:t>的边</a:t>
            </a:r>
            <a:r>
              <a:rPr lang="en-US" altLang="zh-CN" sz="2400">
                <a:sym typeface="Wingdings" panose="05000000000000000000" pitchFamily="2" charset="2"/>
              </a:rPr>
              <a:t>a </a:t>
            </a:r>
            <a:r>
              <a:rPr lang="en-US" altLang="zh-CN" sz="2400"/>
              <a:t>≐b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路径</a:t>
            </a:r>
            <a:r>
              <a:rPr lang="zh-CN" altLang="en-US" sz="2400">
                <a:sym typeface="Wingdings" panose="05000000000000000000" pitchFamily="2" charset="2"/>
              </a:rPr>
              <a:t>“可被弹出”的符号串</a:t>
            </a:r>
            <a:endParaRPr lang="zh-CN" altLang="en-US" sz="240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/>
              <a:t>开始、结束符号，</a:t>
            </a:r>
            <a:r>
              <a:rPr lang="en-US" altLang="zh-CN" sz="2800"/>
              <a:t>a</a:t>
            </a:r>
            <a:r>
              <a:rPr lang="en-US" altLang="zh-CN" sz="2400"/>
              <a:t>⋖</a:t>
            </a:r>
            <a:r>
              <a:rPr lang="en-US" altLang="zh-CN" sz="2800"/>
              <a:t>b</a:t>
            </a:r>
            <a:r>
              <a:rPr lang="en-US" altLang="zh-CN" sz="2800" baseline="-25000"/>
              <a:t>1</a:t>
            </a:r>
            <a:r>
              <a:rPr lang="zh-CN" altLang="en-US" sz="2800"/>
              <a:t>，</a:t>
            </a:r>
            <a:r>
              <a:rPr lang="en-US" altLang="zh-CN" sz="2800"/>
              <a:t>b</a:t>
            </a:r>
            <a:r>
              <a:rPr lang="en-US" altLang="zh-CN" sz="2800" baseline="-25000"/>
              <a:t>k</a:t>
            </a:r>
            <a:r>
              <a:rPr lang="en-US" altLang="zh-CN" sz="2400"/>
              <a:t>⋗</a:t>
            </a:r>
            <a:r>
              <a:rPr lang="en-US" altLang="zh-CN" sz="2800"/>
              <a:t>c</a:t>
            </a:r>
            <a:endParaRPr lang="en-US" altLang="zh-CN" sz="2800"/>
          </a:p>
          <a:p>
            <a:pPr eaLnBrk="1" hangingPunct="1"/>
            <a:r>
              <a:rPr lang="zh-CN" altLang="en-US" sz="2800"/>
              <a:t>回路</a:t>
            </a:r>
            <a:r>
              <a:rPr lang="en-US" altLang="zh-CN" sz="2800"/>
              <a:t>——</a:t>
            </a:r>
            <a:r>
              <a:rPr lang="zh-CN" altLang="en-US" sz="2800"/>
              <a:t>无穷多个符号串；否则，有穷</a:t>
            </a:r>
            <a:endParaRPr lang="zh-CN" alt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4.31</a:t>
            </a:r>
            <a:endParaRPr lang="en-US" altLang="zh-CN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kumimoji="0" lang="en-US" altLang="zh-CN" sz="2800" b="1">
                <a:sym typeface="Symbol" panose="05050102010706020507" pitchFamily="18" charset="2"/>
              </a:rPr>
              <a:t>E 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>
                <a:sym typeface="Symbol" panose="05050102010706020507" pitchFamily="18" charset="2"/>
              </a:rPr>
              <a:t> E |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 E |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800" b="1">
                <a:sym typeface="Symbol" panose="05050102010706020507" pitchFamily="18" charset="2"/>
              </a:rPr>
              <a:t> E | E</a:t>
            </a:r>
            <a:r>
              <a:rPr kumimoji="0" lang="en-US" altLang="zh-CN" sz="2800" b="1">
                <a:solidFill>
                  <a:srgbClr val="3333CC"/>
                </a:solidFill>
                <a:latin typeface="宋体" panose="02010600030101010101" pitchFamily="2" charset="-122"/>
              </a:rPr>
              <a:t>↑</a:t>
            </a:r>
            <a:r>
              <a:rPr kumimoji="0" lang="en-US" altLang="zh-CN" sz="2800" b="1">
                <a:sym typeface="Symbol" panose="05050102010706020507" pitchFamily="18" charset="2"/>
              </a:rPr>
              <a:t>E |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^</a:t>
            </a:r>
            <a:r>
              <a:rPr kumimoji="0" lang="en-US" altLang="zh-CN" sz="2800" b="1">
                <a:sym typeface="Symbol" panose="05050102010706020507" pitchFamily="18" charset="2"/>
              </a:rPr>
              <a:t> E |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>
                <a:sym typeface="Symbol" panose="05050102010706020507" pitchFamily="18" charset="2"/>
              </a:rPr>
              <a:t> E  |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>
                <a:sym typeface="Symbol" panose="05050102010706020507" pitchFamily="18" charset="2"/>
              </a:rPr>
              <a:t> |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8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/>
              <a:t>(≐)</a:t>
            </a:r>
            <a:r>
              <a:rPr lang="zh-CN" altLang="en-US"/>
              <a:t>，</a:t>
            </a:r>
            <a:r>
              <a:rPr lang="en-US" altLang="zh-CN"/>
              <a:t>)</a:t>
            </a:r>
            <a:r>
              <a:rPr lang="zh-CN" altLang="en-US"/>
              <a:t>外均可作开始符号，</a:t>
            </a:r>
            <a:r>
              <a:rPr lang="en-US" altLang="zh-CN"/>
              <a:t>(</a:t>
            </a:r>
            <a:r>
              <a:rPr lang="zh-CN" altLang="en-US"/>
              <a:t>外均可做结束符号</a:t>
            </a:r>
            <a:endParaRPr lang="zh-CN" altLang="en-US"/>
          </a:p>
          <a:p>
            <a:pPr eaLnBrk="1" hangingPunct="1"/>
            <a:r>
              <a:rPr lang="zh-CN" altLang="en-US"/>
              <a:t>长度为</a:t>
            </a:r>
            <a:r>
              <a:rPr lang="en-US" altLang="zh-CN"/>
              <a:t>1</a:t>
            </a:r>
            <a:r>
              <a:rPr lang="zh-CN" altLang="en-US"/>
              <a:t>路径：</a:t>
            </a:r>
            <a:r>
              <a:rPr lang="en-US" altLang="zh-CN"/>
              <a:t>+, -, *, /, </a:t>
            </a:r>
            <a:r>
              <a:rPr kumimoji="0" lang="en-US" altLang="zh-CN" b="1"/>
              <a:t>↑, id</a:t>
            </a:r>
            <a:r>
              <a:rPr kumimoji="0" lang="zh-CN" altLang="en-US"/>
              <a:t>，长度为</a:t>
            </a:r>
            <a:r>
              <a:rPr kumimoji="0" lang="en-US" altLang="zh-CN"/>
              <a:t>2</a:t>
            </a:r>
            <a:r>
              <a:rPr kumimoji="0" lang="zh-CN" altLang="en-US"/>
              <a:t>：</a:t>
            </a:r>
            <a:r>
              <a:rPr kumimoji="0" lang="en-US" altLang="zh-CN"/>
              <a:t>( )</a:t>
            </a:r>
            <a:endParaRPr kumimoji="0"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4.31</a:t>
            </a:r>
            <a:endParaRPr lang="en-US" altLang="zh-CN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kumimoji="0" lang="zh-CN" altLang="en-US" sz="2800" dirty="0"/>
              <a:t>错误检测</a:t>
            </a:r>
            <a:endParaRPr kumimoji="0" lang="zh-CN" altLang="en-US" sz="2800" dirty="0"/>
          </a:p>
          <a:p>
            <a:pPr lvl="1" eaLnBrk="1" hangingPunct="1"/>
            <a:r>
              <a:rPr kumimoji="0" lang="zh-CN" altLang="en-US" sz="2400" dirty="0">
                <a:latin typeface="宋体" panose="02010600030101010101" pitchFamily="2" charset="-122"/>
              </a:rPr>
              <a:t>若归约</a:t>
            </a:r>
            <a:r>
              <a:rPr lang="en-US" altLang="zh-CN" sz="2400" dirty="0"/>
              <a:t>+, -, *, /, </a:t>
            </a:r>
            <a:r>
              <a:rPr kumimoji="0" lang="en-US" altLang="zh-CN" sz="2400" dirty="0"/>
              <a:t>↑</a:t>
            </a:r>
            <a:r>
              <a:rPr kumimoji="0" lang="zh-CN" altLang="en-US" sz="2400" dirty="0"/>
              <a:t>，检查两侧是否都有非终结符，若不是，错误信息“缺少运算数”</a:t>
            </a:r>
            <a:endParaRPr kumimoji="0" lang="zh-CN" altLang="en-US" sz="2400" dirty="0"/>
          </a:p>
          <a:p>
            <a:pPr lvl="1" eaLnBrk="1" hangingPunct="1"/>
            <a:r>
              <a:rPr kumimoji="0" lang="zh-CN" altLang="en-US" sz="2400" dirty="0"/>
              <a:t>若归约</a:t>
            </a:r>
            <a:r>
              <a:rPr kumimoji="0" lang="en-US" altLang="zh-CN" sz="2400" b="1" dirty="0"/>
              <a:t>id</a:t>
            </a:r>
            <a:r>
              <a:rPr kumimoji="0" lang="zh-CN" altLang="en-US" sz="2400" dirty="0"/>
              <a:t>，检查左侧或右侧没有非终结符。若不是，“缺少运算符”</a:t>
            </a:r>
            <a:endParaRPr kumimoji="0" lang="zh-CN" altLang="en-US" sz="2400" dirty="0"/>
          </a:p>
          <a:p>
            <a:pPr lvl="1" eaLnBrk="1" hangingPunct="1"/>
            <a:r>
              <a:rPr kumimoji="0" lang="zh-CN" altLang="en-US" sz="2400" dirty="0"/>
              <a:t>若归约</a:t>
            </a:r>
            <a:r>
              <a:rPr kumimoji="0" lang="en-US" altLang="zh-CN" sz="2400" dirty="0"/>
              <a:t>( )</a:t>
            </a:r>
            <a:r>
              <a:rPr kumimoji="0" lang="zh-CN" altLang="en-US" sz="2400" dirty="0"/>
              <a:t>，检查括号之间存在一个非终结符。若不是，“括号间缺少表达式”</a:t>
            </a:r>
            <a:endParaRPr kumimoji="0" lang="zh-CN" altLang="en-US" sz="2400" dirty="0"/>
          </a:p>
          <a:p>
            <a:pPr eaLnBrk="1" hangingPunct="1"/>
            <a:r>
              <a:rPr kumimoji="0" lang="zh-CN" altLang="en-US" sz="2800" dirty="0"/>
              <a:t>无穷情况，不能逐个情况考虑，通用函数</a:t>
            </a:r>
            <a:endParaRPr kumimoji="0" lang="zh-CN" altLang="en-US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处理移进</a:t>
            </a:r>
            <a:r>
              <a:rPr lang="en-US" altLang="zh-CN" dirty="0"/>
              <a:t>/</a:t>
            </a:r>
            <a:r>
              <a:rPr lang="zh-CN" altLang="en-US" dirty="0"/>
              <a:t>归约错误</a:t>
            </a:r>
            <a:endParaRPr lang="zh-CN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栈顶、输入两个终结符无优先关系</a:t>
            </a:r>
            <a:endParaRPr lang="zh-CN" altLang="en-US"/>
          </a:p>
          <a:p>
            <a:pPr eaLnBrk="1" hangingPunct="1"/>
            <a:r>
              <a:rPr lang="zh-CN" altLang="en-US"/>
              <a:t>修改栈、输入</a:t>
            </a:r>
            <a:r>
              <a:rPr lang="en-US" altLang="zh-CN"/>
              <a:t>——</a:t>
            </a:r>
            <a:r>
              <a:rPr lang="zh-CN" altLang="en-US"/>
              <a:t>避免无限循环</a:t>
            </a:r>
            <a:endParaRPr lang="zh-CN" altLang="en-US"/>
          </a:p>
          <a:p>
            <a:pPr eaLnBrk="1" hangingPunct="1"/>
            <a:r>
              <a:rPr lang="zh-CN" altLang="en-US"/>
              <a:t>策略一：保证移进</a:t>
            </a:r>
            <a:endParaRPr lang="zh-CN" altLang="en-US"/>
          </a:p>
          <a:p>
            <a:pPr lvl="1" eaLnBrk="1" hangingPunct="1"/>
            <a:r>
              <a:rPr lang="zh-CN" altLang="en-US"/>
              <a:t>栈顶</a:t>
            </a:r>
            <a:r>
              <a:rPr lang="en-US" altLang="zh-CN"/>
              <a:t>ab</a:t>
            </a:r>
            <a:r>
              <a:rPr lang="zh-CN" altLang="en-US"/>
              <a:t>，输入</a:t>
            </a:r>
            <a:r>
              <a:rPr lang="en-US" altLang="zh-CN"/>
              <a:t>cd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无优先关系</a:t>
            </a:r>
            <a:endParaRPr lang="zh-CN" altLang="en-US"/>
          </a:p>
          <a:p>
            <a:pPr lvl="1" eaLnBrk="1" hangingPunct="1"/>
            <a:r>
              <a:rPr lang="en-US" altLang="zh-CN"/>
              <a:t>a</a:t>
            </a:r>
            <a:r>
              <a:rPr lang="en-US" altLang="zh-CN" u="sng"/>
              <a:t>⋖</a:t>
            </a:r>
            <a:r>
              <a:rPr lang="en-US" altLang="zh-CN"/>
              <a:t>c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/>
              <a:t>删除</a:t>
            </a:r>
            <a:r>
              <a:rPr lang="en-US" altLang="zh-CN"/>
              <a:t>b</a:t>
            </a:r>
            <a:endParaRPr lang="en-US" altLang="zh-CN"/>
          </a:p>
          <a:p>
            <a:pPr lvl="1" eaLnBrk="1" hangingPunct="1"/>
            <a:r>
              <a:rPr lang="en-US" altLang="zh-CN"/>
              <a:t>b</a:t>
            </a:r>
            <a:r>
              <a:rPr lang="en-US" altLang="zh-CN" u="sng"/>
              <a:t>⋖</a:t>
            </a:r>
            <a:r>
              <a:rPr lang="en-US" altLang="zh-CN"/>
              <a:t>d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删除</a:t>
            </a:r>
            <a:r>
              <a:rPr lang="en-US" altLang="zh-CN">
                <a:sym typeface="Wingdings" panose="05000000000000000000" pitchFamily="2" charset="2"/>
              </a:rPr>
              <a:t>c</a:t>
            </a:r>
            <a:endParaRPr lang="en-US" altLang="zh-CN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插入</a:t>
            </a:r>
            <a:r>
              <a:rPr lang="en-US" altLang="zh-CN">
                <a:sym typeface="Wingdings" panose="05000000000000000000" pitchFamily="2" charset="2"/>
              </a:rPr>
              <a:t>e</a:t>
            </a:r>
            <a:r>
              <a:rPr lang="zh-CN" altLang="en-US">
                <a:sym typeface="Wingdings" panose="05000000000000000000" pitchFamily="2" charset="2"/>
              </a:rPr>
              <a:t>，使</a:t>
            </a:r>
            <a:r>
              <a:rPr lang="en-US" altLang="zh-CN"/>
              <a:t>b</a:t>
            </a:r>
            <a:r>
              <a:rPr lang="en-US" altLang="zh-CN" u="sng"/>
              <a:t>⋖</a:t>
            </a:r>
            <a:r>
              <a:rPr lang="en-US" altLang="zh-CN"/>
              <a:t>e</a:t>
            </a:r>
            <a:r>
              <a:rPr lang="en-US" altLang="zh-CN" u="sng"/>
              <a:t>⋖</a:t>
            </a:r>
            <a:r>
              <a:rPr lang="en-US" altLang="zh-CN"/>
              <a:t>c</a:t>
            </a:r>
            <a:r>
              <a:rPr lang="zh-CN" altLang="en-US"/>
              <a:t>，一般：</a:t>
            </a:r>
            <a:r>
              <a:rPr lang="en-US" altLang="zh-CN"/>
              <a:t>b</a:t>
            </a:r>
            <a:r>
              <a:rPr lang="en-US" altLang="zh-CN" u="sng"/>
              <a:t>⋖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en-US" altLang="zh-CN" u="sng"/>
              <a:t>⋖</a:t>
            </a:r>
            <a:r>
              <a:rPr lang="en-US" altLang="zh-CN"/>
              <a:t>e</a:t>
            </a:r>
            <a:r>
              <a:rPr lang="en-US" altLang="zh-CN" baseline="-25000"/>
              <a:t>2</a:t>
            </a:r>
            <a:r>
              <a:rPr lang="en-US" altLang="zh-CN"/>
              <a:t>… </a:t>
            </a:r>
            <a:r>
              <a:rPr lang="en-US" altLang="zh-CN" u="sng"/>
              <a:t>⋖</a:t>
            </a:r>
            <a:r>
              <a:rPr lang="en-US" altLang="zh-CN"/>
              <a:t>e</a:t>
            </a:r>
            <a:r>
              <a:rPr lang="en-US" altLang="zh-CN" baseline="-25000"/>
              <a:t>n</a:t>
            </a:r>
            <a:r>
              <a:rPr lang="en-US" altLang="zh-CN" u="sng"/>
              <a:t>⋖</a:t>
            </a:r>
            <a:r>
              <a:rPr lang="en-US" altLang="zh-CN"/>
              <a:t>c</a:t>
            </a:r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4.32</a:t>
            </a: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276600"/>
            <a:ext cx="7772400" cy="2819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e1</a:t>
            </a:r>
            <a:r>
              <a:rPr lang="zh-CN" altLang="en-US" sz="2800"/>
              <a:t>：插入</a:t>
            </a:r>
            <a:r>
              <a:rPr lang="en-US" altLang="zh-CN" sz="2800" b="1"/>
              <a:t>id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zh-CN" altLang="en-US" sz="2800">
                <a:sym typeface="Wingdings" panose="05000000000000000000" pitchFamily="2" charset="2"/>
              </a:rPr>
              <a:t>输入缓冲</a:t>
            </a:r>
            <a:r>
              <a:rPr lang="zh-CN" altLang="en-US" sz="2800"/>
              <a:t>，“缺少运算数”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e2</a:t>
            </a:r>
            <a:r>
              <a:rPr lang="zh-CN" altLang="en-US" sz="2800"/>
              <a:t>：删除</a:t>
            </a:r>
            <a:r>
              <a:rPr lang="en-US" altLang="zh-CN" sz="2800"/>
              <a:t>)</a:t>
            </a:r>
            <a:r>
              <a:rPr lang="zh-CN" altLang="en-US" sz="2800"/>
              <a:t>，“未匹配右括号”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e3</a:t>
            </a:r>
            <a:r>
              <a:rPr lang="zh-CN" altLang="en-US" sz="2800"/>
              <a:t>：插入</a:t>
            </a:r>
            <a:r>
              <a:rPr lang="en-US" altLang="zh-CN" sz="2800"/>
              <a:t>+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zh-CN" altLang="en-US" sz="2800">
                <a:sym typeface="Wingdings" panose="05000000000000000000" pitchFamily="2" charset="2"/>
              </a:rPr>
              <a:t>输入缓冲</a:t>
            </a:r>
            <a:r>
              <a:rPr lang="zh-CN" altLang="en-US" sz="2800"/>
              <a:t>，“缺少运算符”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e4</a:t>
            </a:r>
            <a:r>
              <a:rPr lang="zh-CN" altLang="en-US" sz="2800"/>
              <a:t>：弹出</a:t>
            </a:r>
            <a:r>
              <a:rPr lang="en-US" altLang="zh-CN" sz="2800"/>
              <a:t>(</a:t>
            </a:r>
            <a:r>
              <a:rPr lang="zh-CN" altLang="en-US" sz="2800"/>
              <a:t>，“缺少右括号”</a:t>
            </a:r>
            <a:endParaRPr lang="zh-CN" altLang="en-US" sz="2800"/>
          </a:p>
        </p:txBody>
      </p:sp>
      <p:sp>
        <p:nvSpPr>
          <p:cNvPr id="46084" name="Line 4"/>
          <p:cNvSpPr>
            <a:spLocks noChangeShapeType="1"/>
          </p:cNvSpPr>
          <p:nvPr/>
        </p:nvSpPr>
        <p:spPr bwMode="auto">
          <a:xfrm>
            <a:off x="2286000" y="1676400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5" name="Line 5"/>
          <p:cNvSpPr>
            <a:spLocks noChangeShapeType="1"/>
          </p:cNvSpPr>
          <p:nvPr/>
        </p:nvSpPr>
        <p:spPr bwMode="auto">
          <a:xfrm>
            <a:off x="2895600" y="12192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2209800" y="16002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br>
              <a:rPr kumimoji="0" lang="en-US" altLang="zh-CN" sz="2800" b="1"/>
            </a:br>
            <a:r>
              <a:rPr kumimoji="0" lang="en-US" altLang="zh-CN" sz="2800"/>
              <a:t>(</a:t>
            </a:r>
            <a:br>
              <a:rPr kumimoji="0" lang="en-US" altLang="zh-CN" sz="2800"/>
            </a:br>
            <a:r>
              <a:rPr kumimoji="0" lang="en-US" altLang="zh-CN" sz="2800"/>
              <a:t>)</a:t>
            </a:r>
            <a:br>
              <a:rPr kumimoji="0" lang="en-US" altLang="zh-CN" sz="2800"/>
            </a:br>
            <a:r>
              <a:rPr kumimoji="0" lang="en-US" altLang="zh-CN" sz="2800"/>
              <a:t>$</a:t>
            </a:r>
            <a:endParaRPr kumimoji="0" lang="en-US" altLang="zh-CN" sz="2800" b="1"/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3810000" y="12192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3048000" y="1600200"/>
            <a:ext cx="685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e3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e3</a:t>
            </a:r>
            <a:br>
              <a:rPr lang="en-US" altLang="zh-CN" sz="2800"/>
            </a:br>
            <a:r>
              <a:rPr lang="en-US" altLang="zh-CN" sz="2800"/>
              <a:t>⋖</a:t>
            </a:r>
            <a:endParaRPr lang="en-US" altLang="zh-CN" sz="2800"/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3048000" y="1219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endParaRPr kumimoji="0" lang="en-US" altLang="zh-CN" sz="2800" b="1"/>
          </a:p>
        </p:txBody>
      </p:sp>
      <p:sp>
        <p:nvSpPr>
          <p:cNvPr id="46090" name="Line 10"/>
          <p:cNvSpPr>
            <a:spLocks noChangeShapeType="1"/>
          </p:cNvSpPr>
          <p:nvPr/>
        </p:nvSpPr>
        <p:spPr bwMode="auto">
          <a:xfrm>
            <a:off x="4724400" y="12192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3962400" y="16002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e3</a:t>
            </a:r>
            <a:r>
              <a:rPr kumimoji="0" lang="en-US" altLang="zh-CN" sz="2800" b="1"/>
              <a:t> </a:t>
            </a:r>
            <a:r>
              <a:rPr lang="en-US" altLang="zh-CN" sz="2800"/>
              <a:t>⋖ e3 </a:t>
            </a:r>
            <a:br>
              <a:rPr lang="en-US" altLang="zh-CN" sz="2800"/>
            </a:br>
            <a:r>
              <a:rPr lang="en-US" altLang="zh-CN" sz="2800"/>
              <a:t>⋖</a:t>
            </a:r>
            <a:endParaRPr lang="en-US" altLang="zh-CN" sz="2800"/>
          </a:p>
        </p:txBody>
      </p:sp>
      <p:sp>
        <p:nvSpPr>
          <p:cNvPr id="46092" name="Text Box 12"/>
          <p:cNvSpPr txBox="1">
            <a:spLocks noChangeArrowheads="1"/>
          </p:cNvSpPr>
          <p:nvPr/>
        </p:nvSpPr>
        <p:spPr bwMode="auto">
          <a:xfrm>
            <a:off x="3962400" y="1219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(</a:t>
            </a:r>
            <a:endParaRPr kumimoji="0" lang="en-US" altLang="zh-CN" sz="2800"/>
          </a:p>
        </p:txBody>
      </p:sp>
      <p:sp>
        <p:nvSpPr>
          <p:cNvPr id="46093" name="Line 13"/>
          <p:cNvSpPr>
            <a:spLocks noChangeShapeType="1"/>
          </p:cNvSpPr>
          <p:nvPr/>
        </p:nvSpPr>
        <p:spPr bwMode="auto">
          <a:xfrm>
            <a:off x="5638800" y="12192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4" name="Text Box 14"/>
          <p:cNvSpPr txBox="1">
            <a:spLocks noChangeArrowheads="1"/>
          </p:cNvSpPr>
          <p:nvPr/>
        </p:nvSpPr>
        <p:spPr bwMode="auto">
          <a:xfrm>
            <a:off x="4876800" y="1600200"/>
            <a:ext cx="60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/>
              <a:t>≐</a:t>
            </a:r>
            <a:r>
              <a:rPr lang="en-US" altLang="zh-CN" sz="2800"/>
              <a:t> 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e2</a:t>
            </a:r>
            <a:endParaRPr lang="en-US" altLang="zh-CN" sz="2800"/>
          </a:p>
        </p:txBody>
      </p:sp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4876800" y="1219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)</a:t>
            </a:r>
            <a:endParaRPr kumimoji="0" lang="en-US" altLang="zh-CN" sz="2800"/>
          </a:p>
        </p:txBody>
      </p: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5791200" y="16002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e4⋗</a:t>
            </a:r>
            <a:br>
              <a:rPr lang="en-US" altLang="zh-CN" sz="2800"/>
            </a:br>
            <a:r>
              <a:rPr lang="en-US" altLang="zh-CN" sz="2800"/>
              <a:t>e1 </a:t>
            </a:r>
            <a:endParaRPr lang="en-US" altLang="zh-CN" sz="2800"/>
          </a:p>
        </p:txBody>
      </p:sp>
      <p:sp>
        <p:nvSpPr>
          <p:cNvPr id="46097" name="Text Box 17"/>
          <p:cNvSpPr txBox="1">
            <a:spLocks noChangeArrowheads="1"/>
          </p:cNvSpPr>
          <p:nvPr/>
        </p:nvSpPr>
        <p:spPr bwMode="auto">
          <a:xfrm>
            <a:off x="5791200" y="1219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$</a:t>
            </a:r>
            <a:endParaRPr kumimoji="0" lang="en-US" altLang="zh-CN" sz="2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4.32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447800"/>
            <a:ext cx="7772400" cy="4648200"/>
          </a:xfrm>
        </p:spPr>
        <p:txBody>
          <a:bodyPr/>
          <a:lstStyle/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id</a:t>
            </a:r>
            <a:r>
              <a:rPr kumimoji="0" lang="en-US" altLang="zh-CN" sz="2000" dirty="0"/>
              <a:t> + )</a:t>
            </a:r>
            <a:endParaRPr kumimoji="0" lang="en-US" altLang="zh-CN" sz="2000" dirty="0"/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Stack				Input</a:t>
            </a:r>
            <a:endParaRPr kumimoji="0" lang="en-US" altLang="zh-CN" sz="2000" dirty="0"/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$E +					</a:t>
            </a:r>
            <a:r>
              <a:rPr kumimoji="0" lang="en-US" altLang="zh-CN" sz="2000" b="1" dirty="0"/>
              <a:t>)</a:t>
            </a:r>
            <a:r>
              <a:rPr kumimoji="0" lang="en-US" altLang="zh-CN" sz="2000" dirty="0"/>
              <a:t>$</a:t>
            </a:r>
            <a:endParaRPr lang="en-US" altLang="zh-CN" sz="2800" dirty="0"/>
          </a:p>
          <a:p>
            <a:pPr marL="609600" indent="-609600" eaLnBrk="1" hangingPunct="1"/>
            <a:r>
              <a:rPr lang="en-US" altLang="zh-CN" sz="2800" dirty="0"/>
              <a:t>+ ⋗ )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ym typeface="Wingdings" panose="05000000000000000000" pitchFamily="2" charset="2"/>
              </a:rPr>
              <a:t>归约，</a:t>
            </a:r>
            <a:r>
              <a:rPr lang="en-US" altLang="zh-CN" sz="2800" dirty="0">
                <a:sym typeface="Wingdings" panose="05000000000000000000" pitchFamily="2" charset="2"/>
              </a:rPr>
              <a:t>+</a:t>
            </a:r>
            <a:r>
              <a:rPr lang="zh-CN" altLang="en-US" sz="2800" dirty="0">
                <a:sym typeface="Wingdings" panose="05000000000000000000" pitchFamily="2" charset="2"/>
              </a:rPr>
              <a:t>右侧无非终结符</a:t>
            </a:r>
            <a:br>
              <a:rPr lang="zh-CN" altLang="en-US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“缺少运算数”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Stack				Input</a:t>
            </a:r>
            <a:endParaRPr kumimoji="0" lang="en-US" altLang="zh-CN" sz="2000" dirty="0"/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$E 					</a:t>
            </a:r>
            <a:r>
              <a:rPr kumimoji="0" lang="en-US" altLang="zh-CN" sz="2000" b="1" dirty="0"/>
              <a:t>)</a:t>
            </a:r>
            <a:r>
              <a:rPr kumimoji="0" lang="en-US" altLang="zh-CN" sz="2000" dirty="0"/>
              <a:t>$</a:t>
            </a:r>
            <a:endParaRPr lang="en-US" altLang="zh-CN" sz="2800" dirty="0"/>
          </a:p>
          <a:p>
            <a:pPr marL="609600" indent="-609600" eaLnBrk="1" hangingPunct="1"/>
            <a:r>
              <a:rPr lang="en-US" altLang="zh-CN" sz="2800" dirty="0"/>
              <a:t>$</a:t>
            </a:r>
            <a:r>
              <a:rPr lang="zh-CN" altLang="en-US" sz="2800" dirty="0"/>
              <a:t>、</a:t>
            </a:r>
            <a:r>
              <a:rPr lang="en-US" altLang="zh-CN" sz="2800" dirty="0"/>
              <a:t>)</a:t>
            </a:r>
            <a:r>
              <a:rPr lang="zh-CN" altLang="en-US" sz="2800" dirty="0"/>
              <a:t>无优先关系</a:t>
            </a:r>
            <a:r>
              <a:rPr lang="zh-CN" altLang="en-US" sz="2800" dirty="0">
                <a:sym typeface="Wingdings" panose="05000000000000000000" pitchFamily="2" charset="2"/>
              </a:rPr>
              <a:t>“未匹配</a:t>
            </a:r>
            <a:r>
              <a:rPr lang="en-US" altLang="zh-CN" sz="2800" dirty="0">
                <a:sym typeface="Wingdings" panose="05000000000000000000" pitchFamily="2" charset="2"/>
              </a:rPr>
              <a:t>)</a:t>
            </a:r>
            <a:r>
              <a:rPr lang="zh-CN" altLang="en-US" sz="2800" dirty="0">
                <a:sym typeface="Wingdings" panose="05000000000000000000" pitchFamily="2" charset="2"/>
              </a:rPr>
              <a:t>”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Stack				Input</a:t>
            </a:r>
            <a:endParaRPr kumimoji="0" lang="en-US" altLang="zh-CN" sz="2000" dirty="0"/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$E 					</a:t>
            </a:r>
            <a:r>
              <a:rPr kumimoji="0" lang="en-US" altLang="zh-CN" sz="2000" b="1" dirty="0"/>
              <a:t>)</a:t>
            </a:r>
            <a:r>
              <a:rPr kumimoji="0" lang="en-US" altLang="zh-CN" sz="2000" dirty="0"/>
              <a:t>$</a:t>
            </a:r>
            <a:endParaRPr kumimoji="0" lang="en-US" altLang="zh-CN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算符优先错误处理例</a:t>
            </a:r>
            <a:endParaRPr lang="zh-CN" altLang="en-US" dirty="0"/>
          </a:p>
        </p:txBody>
      </p:sp>
      <p:grpSp>
        <p:nvGrpSpPr>
          <p:cNvPr id="128003" name="Group 4"/>
          <p:cNvGrpSpPr/>
          <p:nvPr/>
        </p:nvGrpSpPr>
        <p:grpSpPr bwMode="auto">
          <a:xfrm>
            <a:off x="1447800" y="1219200"/>
            <a:ext cx="5181600" cy="5105400"/>
            <a:chOff x="1632" y="816"/>
            <a:chExt cx="3264" cy="3216"/>
          </a:xfrm>
        </p:grpSpPr>
        <p:sp>
          <p:nvSpPr>
            <p:cNvPr id="128008" name="Line 5"/>
            <p:cNvSpPr>
              <a:spLocks noChangeShapeType="1"/>
            </p:cNvSpPr>
            <p:nvPr/>
          </p:nvSpPr>
          <p:spPr bwMode="auto">
            <a:xfrm>
              <a:off x="1632" y="816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09" name="Line 6"/>
            <p:cNvSpPr>
              <a:spLocks noChangeShapeType="1"/>
            </p:cNvSpPr>
            <p:nvPr/>
          </p:nvSpPr>
          <p:spPr bwMode="auto">
            <a:xfrm>
              <a:off x="1632" y="864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0" name="Line 7"/>
            <p:cNvSpPr>
              <a:spLocks noChangeShapeType="1"/>
            </p:cNvSpPr>
            <p:nvPr/>
          </p:nvSpPr>
          <p:spPr bwMode="auto">
            <a:xfrm>
              <a:off x="1632" y="1056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1" name="Line 8"/>
            <p:cNvSpPr>
              <a:spLocks noChangeShapeType="1"/>
            </p:cNvSpPr>
            <p:nvPr/>
          </p:nvSpPr>
          <p:spPr bwMode="auto">
            <a:xfrm>
              <a:off x="1632" y="4032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2" name="Line 9"/>
            <p:cNvSpPr>
              <a:spLocks noChangeShapeType="1"/>
            </p:cNvSpPr>
            <p:nvPr/>
          </p:nvSpPr>
          <p:spPr bwMode="auto">
            <a:xfrm>
              <a:off x="3792" y="864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3" name="Line 10"/>
            <p:cNvSpPr>
              <a:spLocks noChangeShapeType="1"/>
            </p:cNvSpPr>
            <p:nvPr/>
          </p:nvSpPr>
          <p:spPr bwMode="auto">
            <a:xfrm>
              <a:off x="2647" y="864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4" name="Text Box 11"/>
            <p:cNvSpPr txBox="1">
              <a:spLocks noChangeArrowheads="1"/>
            </p:cNvSpPr>
            <p:nvPr/>
          </p:nvSpPr>
          <p:spPr bwMode="auto">
            <a:xfrm>
              <a:off x="1680" y="1104"/>
              <a:ext cx="878" cy="2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</a:t>
              </a:r>
              <a:endParaRPr kumimoji="0" lang="en-US" altLang="zh-CN" sz="1800" b="1" dirty="0"/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endParaRPr kumimoji="0" lang="en-US" altLang="zh-CN" sz="18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id</a:t>
              </a:r>
              <a:endParaRPr kumimoji="0" lang="en-US" altLang="zh-CN" sz="18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</a:t>
              </a:r>
              <a:endParaRPr kumimoji="0" lang="en-US" altLang="zh-CN" sz="18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 *</a:t>
              </a:r>
              <a:endParaRPr kumimoji="0" lang="en-US" altLang="zh-CN" sz="18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 * id</a:t>
              </a:r>
              <a:endParaRPr kumimoji="0" lang="en-US" altLang="zh-CN" sz="18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 * E</a:t>
              </a:r>
              <a:endParaRPr kumimoji="0" lang="en-US" altLang="zh-CN" sz="18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 E</a:t>
              </a:r>
              <a:endParaRPr kumimoji="0" lang="en-US" altLang="zh-CN" sz="18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</a:t>
              </a:r>
              <a:endParaRPr kumimoji="0" lang="en-US" altLang="zh-CN" sz="18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E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en-US" altLang="zh-CN" sz="1800" b="1" dirty="0"/>
            </a:p>
          </p:txBody>
        </p:sp>
        <p:sp>
          <p:nvSpPr>
            <p:cNvPr id="128015" name="Text Box 12"/>
            <p:cNvSpPr txBox="1">
              <a:spLocks noChangeArrowheads="1"/>
            </p:cNvSpPr>
            <p:nvPr/>
          </p:nvSpPr>
          <p:spPr bwMode="auto">
            <a:xfrm>
              <a:off x="2592" y="1097"/>
              <a:ext cx="1152" cy="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( id + * id$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id + * id$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  + * id$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 + * id$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* id$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id$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en-US" altLang="zh-CN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28016" name="Text Box 13"/>
            <p:cNvSpPr txBox="1">
              <a:spLocks noChangeArrowheads="1"/>
            </p:cNvSpPr>
            <p:nvPr/>
          </p:nvSpPr>
          <p:spPr bwMode="auto">
            <a:xfrm>
              <a:off x="3888" y="1104"/>
              <a:ext cx="9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600" b="1"/>
            </a:p>
          </p:txBody>
        </p:sp>
        <p:sp>
          <p:nvSpPr>
            <p:cNvPr id="128017" name="Text Box 14"/>
            <p:cNvSpPr txBox="1">
              <a:spLocks noChangeArrowheads="1"/>
            </p:cNvSpPr>
            <p:nvPr/>
          </p:nvSpPr>
          <p:spPr bwMode="auto">
            <a:xfrm>
              <a:off x="1680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STACK</a:t>
              </a:r>
              <a:endParaRPr kumimoji="0" lang="en-US" altLang="zh-CN" sz="1800" b="1"/>
            </a:p>
          </p:txBody>
        </p:sp>
        <p:sp>
          <p:nvSpPr>
            <p:cNvPr id="128018" name="Text Box 15"/>
            <p:cNvSpPr txBox="1">
              <a:spLocks noChangeArrowheads="1"/>
            </p:cNvSpPr>
            <p:nvPr/>
          </p:nvSpPr>
          <p:spPr bwMode="auto">
            <a:xfrm>
              <a:off x="2736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</a:t>
              </a:r>
              <a:endParaRPr kumimoji="0" lang="en-US" altLang="zh-CN" sz="1800" b="1"/>
            </a:p>
          </p:txBody>
        </p:sp>
        <p:sp>
          <p:nvSpPr>
            <p:cNvPr id="128019" name="Text Box 16"/>
            <p:cNvSpPr txBox="1">
              <a:spLocks noChangeArrowheads="1"/>
            </p:cNvSpPr>
            <p:nvPr/>
          </p:nvSpPr>
          <p:spPr bwMode="auto">
            <a:xfrm>
              <a:off x="3936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Remark</a:t>
              </a:r>
              <a:endParaRPr kumimoji="0" lang="en-US" altLang="zh-CN" sz="1800" b="1"/>
            </a:p>
          </p:txBody>
        </p:sp>
      </p:grpSp>
      <p:sp>
        <p:nvSpPr>
          <p:cNvPr id="128004" name="Text Box 17"/>
          <p:cNvSpPr txBox="1">
            <a:spLocks noChangeArrowheads="1"/>
          </p:cNvSpPr>
          <p:nvPr/>
        </p:nvSpPr>
        <p:spPr bwMode="auto">
          <a:xfrm>
            <a:off x="4953000" y="3810526"/>
            <a:ext cx="37954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 dirty="0"/>
              <a:t>*</a:t>
            </a:r>
            <a:r>
              <a:rPr lang="en-US" altLang="zh-CN" sz="1600" dirty="0"/>
              <a:t>⋗</a:t>
            </a:r>
            <a:r>
              <a:rPr kumimoji="0" lang="en-US" altLang="zh-CN" sz="1600" b="1" dirty="0"/>
              <a:t>$</a:t>
            </a:r>
            <a:r>
              <a:rPr kumimoji="0" lang="zh-CN" altLang="en-US" sz="1600" b="1" dirty="0"/>
              <a:t>，</a:t>
            </a:r>
            <a:r>
              <a:rPr kumimoji="0" lang="en-US" altLang="zh-CN" sz="1600" b="1" dirty="0"/>
              <a:t>*</a:t>
            </a:r>
            <a:r>
              <a:rPr kumimoji="0" lang="zh-CN" altLang="en-US" sz="1600" b="1" dirty="0"/>
              <a:t>左侧无</a:t>
            </a:r>
            <a:r>
              <a:rPr kumimoji="0" lang="en-US" altLang="zh-CN" sz="1600" b="1" dirty="0"/>
              <a:t>NT</a:t>
            </a:r>
            <a:r>
              <a:rPr kumimoji="0" lang="zh-CN" altLang="en-US" sz="1600" b="1" dirty="0"/>
              <a:t>，“缺少运算数”</a:t>
            </a:r>
            <a:endParaRPr kumimoji="0" lang="en-US" altLang="zh-CN" sz="1600" b="1" dirty="0"/>
          </a:p>
        </p:txBody>
      </p:sp>
      <p:sp>
        <p:nvSpPr>
          <p:cNvPr id="128005" name="Text Box 18"/>
          <p:cNvSpPr txBox="1">
            <a:spLocks noChangeArrowheads="1"/>
          </p:cNvSpPr>
          <p:nvPr/>
        </p:nvSpPr>
        <p:spPr bwMode="auto">
          <a:xfrm>
            <a:off x="4952999" y="4437112"/>
            <a:ext cx="27873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600" b="1" dirty="0"/>
              <a:t>“缺少右括号”，弹出</a:t>
            </a:r>
            <a:r>
              <a:rPr kumimoji="0" lang="en-US" altLang="zh-CN" sz="1600" b="1" dirty="0"/>
              <a:t>(</a:t>
            </a:r>
            <a:endParaRPr kumimoji="0" lang="en-US" altLang="zh-CN" sz="1600" b="1" dirty="0"/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4953003" y="4723140"/>
            <a:ext cx="27873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 dirty="0"/>
              <a:t>accept</a:t>
            </a:r>
            <a:endParaRPr kumimoji="0" lang="en-US" altLang="zh-CN" sz="1600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  LR</a:t>
            </a:r>
            <a:r>
              <a:rPr lang="zh-CN" altLang="en-US"/>
              <a:t>分析方法</a:t>
            </a: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65688"/>
          </a:xfrm>
        </p:spPr>
        <p:txBody>
          <a:bodyPr/>
          <a:lstStyle/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/>
              <a:t>例：</a:t>
            </a:r>
            <a:r>
              <a:rPr lang="en-US" altLang="zh-CN" sz="2400" b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sym typeface="Symbol" panose="05050102010706020507" pitchFamily="18" charset="2"/>
              </a:rPr>
              <a:t>AB</a:t>
            </a:r>
            <a:r>
              <a:rPr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endParaRPr lang="en-US" altLang="zh-CN" sz="24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   </a:t>
            </a:r>
            <a:r>
              <a:rPr lang="en-US" altLang="zh-CN" sz="2400" b="1" dirty="0">
                <a:sym typeface="Symbol" panose="05050102010706020507" pitchFamily="18" charset="2"/>
              </a:rPr>
              <a:t>    A  </a:t>
            </a:r>
            <a:r>
              <a:rPr lang="en-US" altLang="zh-CN" sz="2400" b="1" dirty="0" err="1"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bc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endParaRPr lang="en-US" altLang="zh-CN" sz="24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       </a:t>
            </a:r>
            <a:r>
              <a:rPr lang="en-US" altLang="zh-CN" sz="2400" b="1" dirty="0">
                <a:sym typeface="Symbol" panose="05050102010706020507" pitchFamily="18" charset="2"/>
              </a:rPr>
              <a:t>B  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endParaRPr lang="en-US" altLang="zh-CN" sz="24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 err="1">
                <a:sym typeface="Symbol" panose="05050102010706020507" pitchFamily="18" charset="2"/>
              </a:rPr>
              <a:t>abbcde</a:t>
            </a:r>
            <a:r>
              <a:rPr lang="zh-CN" altLang="en-US" sz="2400" b="1" dirty="0">
                <a:sym typeface="Symbol" panose="05050102010706020507" pitchFamily="18" charset="2"/>
              </a:rPr>
              <a:t>的最右推导：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 </a:t>
            </a:r>
            <a:r>
              <a:rPr lang="en-US" altLang="zh-CN" sz="2400" b="1" u="sng" dirty="0" err="1">
                <a:sym typeface="Symbol" panose="05050102010706020507" pitchFamily="18" charset="2"/>
              </a:rPr>
              <a:t>aABe</a:t>
            </a:r>
            <a:r>
              <a:rPr lang="en-US" altLang="zh-CN" sz="2400" b="1" dirty="0">
                <a:sym typeface="Symbol" panose="05050102010706020507" pitchFamily="18" charset="2"/>
              </a:rPr>
              <a:t>   </a:t>
            </a:r>
            <a:r>
              <a:rPr lang="en-US" altLang="zh-CN" sz="2400" b="1" dirty="0" err="1">
                <a:sym typeface="Symbol" panose="05050102010706020507" pitchFamily="18" charset="2"/>
              </a:rPr>
              <a:t>aA</a:t>
            </a:r>
            <a:r>
              <a:rPr lang="en-US" altLang="zh-CN" sz="2400" b="1" u="sng" dirty="0" err="1">
                <a:sym typeface="Symbol" panose="05050102010706020507" pitchFamily="18" charset="2"/>
              </a:rPr>
              <a:t>d</a:t>
            </a:r>
            <a:r>
              <a:rPr lang="en-US" altLang="zh-CN" sz="2400" b="1" dirty="0" err="1">
                <a:sym typeface="Symbol" panose="05050102010706020507" pitchFamily="18" charset="2"/>
              </a:rPr>
              <a:t>e</a:t>
            </a:r>
            <a:r>
              <a:rPr lang="en-US" altLang="zh-CN" sz="2400" b="1" dirty="0">
                <a:sym typeface="Symbol" panose="05050102010706020507" pitchFamily="18" charset="2"/>
              </a:rPr>
              <a:t>   </a:t>
            </a:r>
            <a:r>
              <a:rPr lang="en-US" altLang="zh-CN" sz="2400" b="1" dirty="0" err="1">
                <a:sym typeface="Symbol" panose="05050102010706020507" pitchFamily="18" charset="2"/>
              </a:rPr>
              <a:t>a</a:t>
            </a:r>
            <a:r>
              <a:rPr lang="en-US" altLang="zh-CN" sz="2400" b="1" u="sng" dirty="0" err="1">
                <a:sym typeface="Symbol" panose="05050102010706020507" pitchFamily="18" charset="2"/>
              </a:rPr>
              <a:t>Abc</a:t>
            </a:r>
            <a:r>
              <a:rPr lang="en-US" altLang="zh-CN" sz="2400" b="1" dirty="0" err="1">
                <a:sym typeface="Symbol" panose="05050102010706020507" pitchFamily="18" charset="2"/>
              </a:rPr>
              <a:t>de</a:t>
            </a:r>
            <a:r>
              <a:rPr lang="en-US" altLang="zh-CN" sz="2400" b="1" dirty="0">
                <a:sym typeface="Symbol" panose="05050102010706020507" pitchFamily="18" charset="2"/>
              </a:rPr>
              <a:t>   </a:t>
            </a:r>
            <a:r>
              <a:rPr lang="en-US" altLang="zh-CN" sz="2400" b="1" dirty="0" err="1">
                <a:sym typeface="Symbol" panose="05050102010706020507" pitchFamily="18" charset="2"/>
              </a:rPr>
              <a:t>a</a:t>
            </a:r>
            <a:r>
              <a:rPr lang="en-US" altLang="zh-CN" sz="2400" b="1" u="sng" dirty="0" err="1">
                <a:sym typeface="Symbol" panose="05050102010706020507" pitchFamily="18" charset="2"/>
              </a:rPr>
              <a:t>b</a:t>
            </a:r>
            <a:r>
              <a:rPr lang="en-US" altLang="zh-CN" sz="2400" b="1" dirty="0" err="1">
                <a:sym typeface="Symbol" panose="05050102010706020507" pitchFamily="18" charset="2"/>
              </a:rPr>
              <a:t>bcde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400" b="1" dirty="0"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lang="zh-CN" altLang="en-US" sz="2800" dirty="0"/>
              <a:t>活前缀</a:t>
            </a:r>
            <a:endParaRPr lang="zh-CN" altLang="en-US" sz="28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400" dirty="0"/>
              <a:t>最右句型的前缀，不超过唯一句柄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lang="en-US" altLang="zh-CN" sz="2400" dirty="0"/>
              <a:t>a, </a:t>
            </a:r>
            <a:r>
              <a:rPr lang="en-US" altLang="zh-CN" sz="2400" dirty="0" err="1"/>
              <a:t>aA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aAd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aAbc</a:t>
            </a:r>
            <a:r>
              <a:rPr lang="en-US" altLang="zh-CN" sz="2400" dirty="0"/>
              <a:t>, ab, </a:t>
            </a:r>
            <a:r>
              <a:rPr lang="en-US" altLang="zh-CN" sz="2400" dirty="0" err="1"/>
              <a:t>aAb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lang="en-US" altLang="zh-CN" sz="2400" dirty="0" err="1"/>
              <a:t>aAde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aAA</a:t>
            </a:r>
            <a:r>
              <a:rPr lang="zh-CN" altLang="en-US" sz="2400" dirty="0"/>
              <a:t>不是</a:t>
            </a:r>
            <a:endParaRPr lang="zh-CN" altLang="en-US" sz="2400" dirty="0"/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ltGray">
          <a:xfrm>
            <a:off x="5105400" y="4572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ltGray">
          <a:xfrm>
            <a:off x="3505200" y="3733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</a:rPr>
              <a:t>句柄</a:t>
            </a:r>
            <a:endParaRPr lang="zh-CN" altLang="en-US" sz="20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48134" name="Line 6"/>
          <p:cNvSpPr>
            <a:spLocks noChangeShapeType="1"/>
          </p:cNvSpPr>
          <p:nvPr/>
        </p:nvSpPr>
        <p:spPr bwMode="ltGray">
          <a:xfrm flipH="1" flipV="1">
            <a:off x="2133600" y="3276600"/>
            <a:ext cx="17526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5" name="Line 7"/>
          <p:cNvSpPr>
            <a:spLocks noChangeShapeType="1"/>
          </p:cNvSpPr>
          <p:nvPr/>
        </p:nvSpPr>
        <p:spPr bwMode="ltGray">
          <a:xfrm flipH="1" flipV="1">
            <a:off x="3581400" y="3276600"/>
            <a:ext cx="3810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ltGray">
          <a:xfrm flipV="1">
            <a:off x="4114800" y="3276600"/>
            <a:ext cx="6096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7" name="Line 9"/>
          <p:cNvSpPr>
            <a:spLocks noChangeShapeType="1"/>
          </p:cNvSpPr>
          <p:nvPr/>
        </p:nvSpPr>
        <p:spPr bwMode="ltGray">
          <a:xfrm flipV="1">
            <a:off x="4267200" y="3276600"/>
            <a:ext cx="17526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8" name="Line 10"/>
          <p:cNvSpPr>
            <a:spLocks noChangeShapeType="1"/>
          </p:cNvSpPr>
          <p:nvPr/>
        </p:nvSpPr>
        <p:spPr bwMode="ltGray">
          <a:xfrm flipH="1" flipV="1">
            <a:off x="1331913" y="3213100"/>
            <a:ext cx="2447925" cy="576263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移进</a:t>
            </a:r>
            <a:r>
              <a:rPr lang="en-US" altLang="zh-CN"/>
              <a:t>/</a:t>
            </a:r>
            <a:r>
              <a:rPr lang="zh-CN" altLang="en-US"/>
              <a:t>归约分析过程</a:t>
            </a:r>
            <a:endParaRPr lang="zh-CN" altLang="en-US"/>
          </a:p>
        </p:txBody>
      </p:sp>
      <p:grpSp>
        <p:nvGrpSpPr>
          <p:cNvPr id="49155" name="Group 16"/>
          <p:cNvGrpSpPr/>
          <p:nvPr/>
        </p:nvGrpSpPr>
        <p:grpSpPr bwMode="auto">
          <a:xfrm>
            <a:off x="1447800" y="1295400"/>
            <a:ext cx="5410200" cy="4433888"/>
            <a:chOff x="912" y="768"/>
            <a:chExt cx="3408" cy="3343"/>
          </a:xfrm>
        </p:grpSpPr>
        <p:sp>
          <p:nvSpPr>
            <p:cNvPr id="49158" name="Line 4"/>
            <p:cNvSpPr>
              <a:spLocks noChangeShapeType="1"/>
            </p:cNvSpPr>
            <p:nvPr/>
          </p:nvSpPr>
          <p:spPr bwMode="auto">
            <a:xfrm>
              <a:off x="912" y="768"/>
              <a:ext cx="326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9" name="Line 5"/>
            <p:cNvSpPr>
              <a:spLocks noChangeShapeType="1"/>
            </p:cNvSpPr>
            <p:nvPr/>
          </p:nvSpPr>
          <p:spPr bwMode="auto">
            <a:xfrm>
              <a:off x="912" y="816"/>
              <a:ext cx="326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0" name="Line 6"/>
            <p:cNvSpPr>
              <a:spLocks noChangeShapeType="1"/>
            </p:cNvSpPr>
            <p:nvPr/>
          </p:nvSpPr>
          <p:spPr bwMode="auto">
            <a:xfrm>
              <a:off x="912" y="1008"/>
              <a:ext cx="326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1" name="Line 7"/>
            <p:cNvSpPr>
              <a:spLocks noChangeShapeType="1"/>
            </p:cNvSpPr>
            <p:nvPr/>
          </p:nvSpPr>
          <p:spPr bwMode="auto">
            <a:xfrm>
              <a:off x="912" y="3984"/>
              <a:ext cx="326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2" name="Line 8"/>
            <p:cNvSpPr>
              <a:spLocks noChangeShapeType="1"/>
            </p:cNvSpPr>
            <p:nvPr/>
          </p:nvSpPr>
          <p:spPr bwMode="auto">
            <a:xfrm>
              <a:off x="3072" y="816"/>
              <a:ext cx="1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3" name="Line 9"/>
            <p:cNvSpPr>
              <a:spLocks noChangeShapeType="1"/>
            </p:cNvSpPr>
            <p:nvPr/>
          </p:nvSpPr>
          <p:spPr bwMode="auto">
            <a:xfrm>
              <a:off x="1776" y="816"/>
              <a:ext cx="1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4" name="Text Box 10"/>
            <p:cNvSpPr txBox="1">
              <a:spLocks noChangeArrowheads="1"/>
            </p:cNvSpPr>
            <p:nvPr/>
          </p:nvSpPr>
          <p:spPr bwMode="auto">
            <a:xfrm>
              <a:off x="960" y="1056"/>
              <a:ext cx="3360" cy="3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		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abbcde</a:t>
              </a:r>
              <a:r>
                <a:rPr kumimoji="0" lang="en-US" altLang="zh-CN" sz="2000" b="1" dirty="0"/>
                <a:t>$		SHIFT</a:t>
              </a:r>
              <a:endParaRPr kumimoji="0" lang="en-US" altLang="zh-CN" sz="2000" b="1" dirty="0"/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a		  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bbcde</a:t>
              </a:r>
              <a:r>
                <a:rPr kumimoji="0" lang="en-US" altLang="zh-CN" sz="2000" b="1" dirty="0"/>
                <a:t>$		SHIFT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ab		    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bcde</a:t>
              </a:r>
              <a:r>
                <a:rPr kumimoji="0" lang="en-US" altLang="zh-CN" sz="2000" b="1" dirty="0"/>
                <a:t>$		REDUCE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	    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bcde</a:t>
              </a:r>
              <a:r>
                <a:rPr kumimoji="0" lang="en-US" altLang="zh-CN" sz="2000" b="1" dirty="0"/>
                <a:t>$		SHIFT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	      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cde</a:t>
              </a:r>
              <a:r>
                <a:rPr kumimoji="0" lang="en-US" altLang="zh-CN" sz="2000" b="1" dirty="0"/>
                <a:t>$		SHIFT (?)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bc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 		        de</a:t>
              </a:r>
              <a:r>
                <a:rPr kumimoji="0" lang="en-US" altLang="zh-CN" sz="2000" b="1" dirty="0"/>
                <a:t>$		REDUCE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 		        de</a:t>
              </a:r>
              <a:r>
                <a:rPr kumimoji="0" lang="en-US" altLang="zh-CN" sz="2000" b="1" dirty="0"/>
                <a:t>$		SHIFT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d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 		          e</a:t>
              </a:r>
              <a:r>
                <a:rPr kumimoji="0" lang="en-US" altLang="zh-CN" sz="2000" b="1" dirty="0"/>
                <a:t>$		REDUCE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AB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	          e</a:t>
              </a:r>
              <a:r>
                <a:rPr kumimoji="0" lang="en-US" altLang="zh-CN" sz="2000" b="1" dirty="0"/>
                <a:t>$		SHIFT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AB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e</a:t>
              </a:r>
              <a:r>
                <a:rPr kumimoji="0" lang="en-US" altLang="zh-CN" sz="2000" b="1" dirty="0"/>
                <a:t> 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                          </a:t>
              </a:r>
              <a:r>
                <a:rPr kumimoji="0" lang="en-US" altLang="zh-CN" sz="2000" b="1" dirty="0"/>
                <a:t>$		REDUCE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$S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	            </a:t>
              </a:r>
              <a:r>
                <a:rPr kumimoji="0" lang="en-US" altLang="zh-CN" sz="2000" b="1" dirty="0"/>
                <a:t>$		ACCEPT</a:t>
              </a:r>
              <a:endParaRPr kumimoji="0" lang="en-US" altLang="zh-CN" sz="2000" b="1" dirty="0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en-US" altLang="zh-CN" sz="2000" b="1" dirty="0"/>
            </a:p>
          </p:txBody>
        </p:sp>
        <p:sp>
          <p:nvSpPr>
            <p:cNvPr id="49165" name="Text Box 11"/>
            <p:cNvSpPr txBox="1">
              <a:spLocks noChangeArrowheads="1"/>
            </p:cNvSpPr>
            <p:nvPr/>
          </p:nvSpPr>
          <p:spPr bwMode="auto">
            <a:xfrm>
              <a:off x="3168" y="1056"/>
              <a:ext cx="96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400" b="1"/>
            </a:p>
          </p:txBody>
        </p:sp>
        <p:sp>
          <p:nvSpPr>
            <p:cNvPr id="49166" name="Text Box 12"/>
            <p:cNvSpPr txBox="1">
              <a:spLocks noChangeArrowheads="1"/>
            </p:cNvSpPr>
            <p:nvPr/>
          </p:nvSpPr>
          <p:spPr bwMode="auto">
            <a:xfrm>
              <a:off x="960" y="768"/>
              <a:ext cx="81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STACK</a:t>
              </a:r>
              <a:endParaRPr kumimoji="0" lang="en-US" altLang="zh-CN" sz="2000" b="1"/>
            </a:p>
          </p:txBody>
        </p:sp>
        <p:sp>
          <p:nvSpPr>
            <p:cNvPr id="49167" name="Text Box 13"/>
            <p:cNvSpPr txBox="1">
              <a:spLocks noChangeArrowheads="1"/>
            </p:cNvSpPr>
            <p:nvPr/>
          </p:nvSpPr>
          <p:spPr bwMode="auto">
            <a:xfrm>
              <a:off x="2016" y="768"/>
              <a:ext cx="7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INPUT</a:t>
              </a:r>
              <a:endParaRPr kumimoji="0" lang="en-US" altLang="zh-CN" sz="2000" b="1"/>
            </a:p>
          </p:txBody>
        </p:sp>
        <p:sp>
          <p:nvSpPr>
            <p:cNvPr id="49168" name="Text Box 14"/>
            <p:cNvSpPr txBox="1">
              <a:spLocks noChangeArrowheads="1"/>
            </p:cNvSpPr>
            <p:nvPr/>
          </p:nvSpPr>
          <p:spPr bwMode="auto">
            <a:xfrm>
              <a:off x="3216" y="768"/>
              <a:ext cx="91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Remark</a:t>
              </a:r>
              <a:endParaRPr kumimoji="0" lang="en-US" altLang="zh-CN" sz="2000" b="1"/>
            </a:p>
          </p:txBody>
        </p:sp>
      </p:grpSp>
      <p:sp>
        <p:nvSpPr>
          <p:cNvPr id="49156" name="Text Box 15"/>
          <p:cNvSpPr txBox="1">
            <a:spLocks noChangeArrowheads="1"/>
          </p:cNvSpPr>
          <p:nvPr/>
        </p:nvSpPr>
        <p:spPr bwMode="auto">
          <a:xfrm>
            <a:off x="6631982" y="1219200"/>
            <a:ext cx="2539005" cy="311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何时移进？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尚未在栈顶形成句柄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何时归约？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已在栈顶形成句柄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如何判定？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栈中符号串始终是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活前缀！</a:t>
            </a:r>
            <a:endParaRPr kumimoji="0" lang="zh-CN" altLang="en-US" sz="2000" b="1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 dirty="0">
              <a:solidFill>
                <a:srgbClr val="3333CC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6175" y="5865813"/>
            <a:ext cx="5711825" cy="314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aABe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Abc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de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bcde</a:t>
            </a:r>
            <a:endParaRPr lang="en-US" altLang="zh-CN" b="1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1547664" y="2060848"/>
            <a:ext cx="4536504" cy="29958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1547664" y="2377839"/>
            <a:ext cx="4824536" cy="29958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1547664" y="3068960"/>
            <a:ext cx="4896544" cy="29958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046" y="3051607"/>
            <a:ext cx="1531188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为何移进</a:t>
            </a:r>
            <a:br>
              <a:rPr kumimoji="0" lang="en-US" altLang="zh-CN" sz="2000" b="1" dirty="0">
                <a:solidFill>
                  <a:srgbClr val="3333CC"/>
                </a:solidFill>
              </a:rPr>
            </a:br>
            <a:r>
              <a:rPr kumimoji="0" lang="zh-CN" altLang="en-US" sz="2000" b="1" dirty="0">
                <a:solidFill>
                  <a:srgbClr val="3333CC"/>
                </a:solidFill>
              </a:rPr>
              <a:t>而不归约？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kumimoji="0" lang="en-US" altLang="zh-CN" sz="2000" b="1" dirty="0" err="1">
                <a:solidFill>
                  <a:srgbClr val="3333CC"/>
                </a:solidFill>
                <a:latin typeface="+mn-lt"/>
              </a:rPr>
              <a:t>aAA</a:t>
            </a: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不是活</a:t>
            </a: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前缀！</a:t>
            </a: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之前的</a:t>
            </a:r>
            <a:r>
              <a:rPr kumimoji="0" lang="en-US" altLang="zh-CN" sz="2000" b="1" dirty="0">
                <a:solidFill>
                  <a:srgbClr val="3333CC"/>
                </a:solidFill>
                <a:latin typeface="+mn-lt"/>
              </a:rPr>
              <a:t>b</a:t>
            </a: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能</a:t>
            </a:r>
            <a:br>
              <a:rPr kumimoji="0" lang="en-US" altLang="zh-CN" sz="2000" b="1" dirty="0">
                <a:solidFill>
                  <a:srgbClr val="3333CC"/>
                </a:solidFill>
                <a:latin typeface="+mn-lt"/>
              </a:rPr>
            </a:b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归约因为</a:t>
            </a:r>
            <a:r>
              <a:rPr kumimoji="0" lang="en-US" altLang="zh-CN" sz="2000" b="1" dirty="0" err="1">
                <a:solidFill>
                  <a:srgbClr val="3333CC"/>
                </a:solidFill>
                <a:latin typeface="+mn-lt"/>
              </a:rPr>
              <a:t>aA</a:t>
            </a: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是活前缀</a:t>
            </a: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1859549" y="2364782"/>
            <a:ext cx="192171" cy="29958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何时移进？何时归约？</a:t>
            </a:r>
            <a:endParaRPr lang="zh-CN" alt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确定移进</a:t>
            </a:r>
            <a:r>
              <a:rPr lang="en-US" altLang="zh-CN" sz="2800" dirty="0"/>
              <a:t>/</a:t>
            </a:r>
            <a:r>
              <a:rPr lang="zh-CN" altLang="en-US" sz="2800" dirty="0"/>
              <a:t>归约，需要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查看栈中一些符号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保证对栈的修改保持“活前缀特性”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对于前面例子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任何</a:t>
            </a:r>
            <a:r>
              <a:rPr lang="en-US" altLang="zh-CN" sz="2400" dirty="0"/>
              <a:t>b</a:t>
            </a:r>
            <a:r>
              <a:rPr lang="zh-CN" altLang="en-US" sz="2400" dirty="0"/>
              <a:t>若在‘</a:t>
            </a:r>
            <a:r>
              <a:rPr lang="en-US" altLang="zh-CN" sz="2400" dirty="0"/>
              <a:t>A</a:t>
            </a:r>
            <a:r>
              <a:rPr lang="zh-CN" altLang="en-US" sz="2400" dirty="0"/>
              <a:t>’右边，不应归约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b</a:t>
            </a:r>
            <a:r>
              <a:rPr lang="zh-CN" altLang="en-US" sz="2400" dirty="0"/>
              <a:t>只有在‘</a:t>
            </a:r>
            <a:r>
              <a:rPr lang="en-US" altLang="zh-CN" sz="2400" dirty="0"/>
              <a:t>a</a:t>
            </a:r>
            <a:r>
              <a:rPr lang="zh-CN" altLang="en-US" sz="2400" dirty="0"/>
              <a:t> ’之后，才可归约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难题：在栈中保存何种信息，才能使得，只查看栈顶数据，即可（获取栈中活前缀串的信息，从而）确定移进</a:t>
            </a:r>
            <a:r>
              <a:rPr lang="en-US" altLang="zh-CN" sz="2800" dirty="0"/>
              <a:t>/</a:t>
            </a:r>
            <a:r>
              <a:rPr lang="zh-CN" altLang="en-US" sz="2800" dirty="0"/>
              <a:t>归约？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</a:t>
            </a:r>
            <a:r>
              <a:rPr lang="zh-CN" altLang="en-US"/>
              <a:t>分析方法</a:t>
            </a:r>
            <a:endParaRPr lang="zh-CN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LR</a:t>
            </a:r>
            <a:r>
              <a:rPr lang="zh-CN" altLang="en-US" sz="2800" dirty="0"/>
              <a:t>：</a:t>
            </a:r>
            <a:r>
              <a:rPr lang="en-US" altLang="zh-CN" sz="2800" dirty="0"/>
              <a:t>L—</a:t>
            </a:r>
            <a:r>
              <a:rPr lang="zh-CN" altLang="en-US" sz="2800" dirty="0"/>
              <a:t>由左至右扫描，</a:t>
            </a:r>
            <a:r>
              <a:rPr lang="en-US" altLang="zh-CN" sz="2800" dirty="0"/>
              <a:t>R—</a:t>
            </a:r>
            <a:r>
              <a:rPr lang="zh-CN" altLang="en-US" sz="2800" dirty="0"/>
              <a:t>最右推导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LR(1)——1</a:t>
            </a:r>
            <a:r>
              <a:rPr lang="zh-CN" altLang="en-US" sz="2800" dirty="0"/>
              <a:t>个向前搜索符号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优缺点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实际上可识别所有程序语言结构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最通用的非回溯移进</a:t>
            </a:r>
            <a:r>
              <a:rPr lang="en-US" altLang="zh-CN" sz="2400" dirty="0"/>
              <a:t>-</a:t>
            </a:r>
            <a:r>
              <a:rPr lang="zh-CN" altLang="en-US" sz="2400" dirty="0"/>
              <a:t>归约分析方法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可分析的文法是预测分析法的超集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错误检测迅速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>
                <a:solidFill>
                  <a:srgbClr val="FF3300"/>
                </a:solidFill>
              </a:rPr>
              <a:t>手工实现繁琐，但已有很多自动生成工具</a:t>
            </a:r>
            <a:endParaRPr lang="zh-CN" altLang="en-US" sz="2400" dirty="0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 sz="2800" dirty="0"/>
              <a:t>SLR</a:t>
            </a:r>
            <a:r>
              <a:rPr lang="zh-CN" altLang="en-US" sz="2800" dirty="0"/>
              <a:t>，规范</a:t>
            </a:r>
            <a:r>
              <a:rPr lang="en-US" altLang="zh-CN" sz="2800" dirty="0"/>
              <a:t>LR</a:t>
            </a:r>
            <a:r>
              <a:rPr lang="zh-CN" altLang="en-US" sz="2800" dirty="0"/>
              <a:t>，</a:t>
            </a:r>
            <a:r>
              <a:rPr lang="en-US" altLang="zh-CN" sz="2800" dirty="0"/>
              <a:t>LALR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4.7.1  LR</a:t>
            </a:r>
            <a:r>
              <a:rPr lang="zh-CN" altLang="en-US"/>
              <a:t>分析算法</a:t>
            </a:r>
            <a:endParaRPr lang="zh-CN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4114800"/>
            <a:ext cx="8116888" cy="1981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不同</a:t>
            </a:r>
            <a:r>
              <a:rPr lang="en-US" altLang="zh-CN" sz="2800" dirty="0"/>
              <a:t>LR</a:t>
            </a:r>
            <a:r>
              <a:rPr lang="zh-CN" altLang="en-US" sz="2800" dirty="0"/>
              <a:t>分析方法算法相同，只是分析表不同</a:t>
            </a:r>
            <a:endParaRPr lang="zh-CN" altLang="en-US" sz="2800" dirty="0"/>
          </a:p>
          <a:p>
            <a:pPr eaLnBrk="1" hangingPunct="1"/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：状态，概括了栈中位于它下面的所有符号（活前缀串）的信息</a:t>
            </a:r>
            <a:endParaRPr lang="zh-CN" altLang="en-US" sz="2800" dirty="0"/>
          </a:p>
        </p:txBody>
      </p:sp>
      <p:sp>
        <p:nvSpPr>
          <p:cNvPr id="53252" name="Text Box 5"/>
          <p:cNvSpPr txBox="1">
            <a:spLocks noChangeArrowheads="1"/>
          </p:cNvSpPr>
          <p:nvPr/>
        </p:nvSpPr>
        <p:spPr bwMode="auto">
          <a:xfrm>
            <a:off x="4156075" y="13716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  <a:endParaRPr kumimoji="0" lang="en-US" altLang="zh-CN" sz="1600" b="1"/>
          </a:p>
        </p:txBody>
      </p:sp>
      <p:sp>
        <p:nvSpPr>
          <p:cNvPr id="53253" name="Text Box 6"/>
          <p:cNvSpPr txBox="1">
            <a:spLocks noChangeArrowheads="1"/>
          </p:cNvSpPr>
          <p:nvPr/>
        </p:nvSpPr>
        <p:spPr bwMode="auto">
          <a:xfrm>
            <a:off x="4516438" y="13716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i</a:t>
            </a:r>
            <a:endParaRPr kumimoji="0" lang="en-US" altLang="zh-CN" sz="1600" b="1"/>
          </a:p>
        </p:txBody>
      </p:sp>
      <p:sp>
        <p:nvSpPr>
          <p:cNvPr id="53254" name="Text Box 7"/>
          <p:cNvSpPr txBox="1">
            <a:spLocks noChangeArrowheads="1"/>
          </p:cNvSpPr>
          <p:nvPr/>
        </p:nvSpPr>
        <p:spPr bwMode="auto">
          <a:xfrm>
            <a:off x="4873625" y="13716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  <a:endParaRPr kumimoji="0" lang="en-US" altLang="zh-CN" sz="1600" b="1"/>
          </a:p>
        </p:txBody>
      </p:sp>
      <p:sp>
        <p:nvSpPr>
          <p:cNvPr id="53255" name="Text Box 8"/>
          <p:cNvSpPr txBox="1">
            <a:spLocks noChangeArrowheads="1"/>
          </p:cNvSpPr>
          <p:nvPr/>
        </p:nvSpPr>
        <p:spPr bwMode="auto">
          <a:xfrm>
            <a:off x="5230813" y="13716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n</a:t>
            </a:r>
            <a:endParaRPr kumimoji="0" lang="en-US" altLang="zh-CN" sz="1600" b="1"/>
          </a:p>
        </p:txBody>
      </p:sp>
      <p:sp>
        <p:nvSpPr>
          <p:cNvPr id="53256" name="Text Box 9"/>
          <p:cNvSpPr txBox="1">
            <a:spLocks noChangeArrowheads="1"/>
          </p:cNvSpPr>
          <p:nvPr/>
        </p:nvSpPr>
        <p:spPr bwMode="auto">
          <a:xfrm>
            <a:off x="5583238" y="13716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$</a:t>
            </a:r>
            <a:endParaRPr kumimoji="0" lang="en-US" altLang="zh-CN" sz="1600" b="1"/>
          </a:p>
        </p:txBody>
      </p:sp>
      <p:sp>
        <p:nvSpPr>
          <p:cNvPr id="53257" name="Text Box 11"/>
          <p:cNvSpPr txBox="1">
            <a:spLocks noChangeArrowheads="1"/>
          </p:cNvSpPr>
          <p:nvPr/>
        </p:nvSpPr>
        <p:spPr bwMode="auto">
          <a:xfrm>
            <a:off x="2667000" y="25892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X</a:t>
            </a:r>
            <a:r>
              <a:rPr kumimoji="0" lang="en-US" altLang="zh-CN" sz="1600" b="1" baseline="-25000"/>
              <a:t>m</a:t>
            </a:r>
            <a:endParaRPr kumimoji="0" lang="en-US" altLang="zh-CN" sz="1600" b="1"/>
          </a:p>
        </p:txBody>
      </p:sp>
      <p:sp>
        <p:nvSpPr>
          <p:cNvPr id="53258" name="Text Box 12"/>
          <p:cNvSpPr txBox="1">
            <a:spLocks noChangeArrowheads="1"/>
          </p:cNvSpPr>
          <p:nvPr/>
        </p:nvSpPr>
        <p:spPr bwMode="auto">
          <a:xfrm>
            <a:off x="2667000" y="22860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m</a:t>
            </a:r>
            <a:endParaRPr kumimoji="0" lang="en-US" altLang="zh-CN" sz="1600" b="1"/>
          </a:p>
        </p:txBody>
      </p:sp>
      <p:sp>
        <p:nvSpPr>
          <p:cNvPr id="53259" name="Text Box 13"/>
          <p:cNvSpPr txBox="1">
            <a:spLocks noChangeArrowheads="1"/>
          </p:cNvSpPr>
          <p:nvPr/>
        </p:nvSpPr>
        <p:spPr bwMode="auto">
          <a:xfrm>
            <a:off x="2667000" y="32004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X</a:t>
            </a:r>
            <a:r>
              <a:rPr kumimoji="0" lang="en-US" altLang="zh-CN" sz="1600" b="1" baseline="-25000"/>
              <a:t>m-1</a:t>
            </a:r>
            <a:endParaRPr kumimoji="0" lang="en-US" altLang="zh-CN" sz="1600" b="1"/>
          </a:p>
        </p:txBody>
      </p:sp>
      <p:sp>
        <p:nvSpPr>
          <p:cNvPr id="53260" name="Text Box 14"/>
          <p:cNvSpPr txBox="1">
            <a:spLocks noChangeArrowheads="1"/>
          </p:cNvSpPr>
          <p:nvPr/>
        </p:nvSpPr>
        <p:spPr bwMode="auto">
          <a:xfrm>
            <a:off x="2667000" y="28956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m-1</a:t>
            </a:r>
            <a:endParaRPr kumimoji="0" lang="en-US" altLang="zh-CN" sz="1600" b="1"/>
          </a:p>
        </p:txBody>
      </p:sp>
      <p:sp>
        <p:nvSpPr>
          <p:cNvPr id="53261" name="Text Box 15"/>
          <p:cNvSpPr txBox="1">
            <a:spLocks noChangeArrowheads="1"/>
          </p:cNvSpPr>
          <p:nvPr/>
        </p:nvSpPr>
        <p:spPr bwMode="auto">
          <a:xfrm>
            <a:off x="6096000" y="1371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Input</a:t>
            </a:r>
            <a:endParaRPr kumimoji="0" lang="en-US" altLang="zh-CN" sz="1800" b="1"/>
          </a:p>
        </p:txBody>
      </p:sp>
      <p:sp>
        <p:nvSpPr>
          <p:cNvPr id="53262" name="Text Box 16"/>
          <p:cNvSpPr txBox="1">
            <a:spLocks noChangeArrowheads="1"/>
          </p:cNvSpPr>
          <p:nvPr/>
        </p:nvSpPr>
        <p:spPr bwMode="auto">
          <a:xfrm>
            <a:off x="3733800" y="2209800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LR Parsing Program</a:t>
            </a:r>
            <a:endParaRPr kumimoji="0" lang="en-US" altLang="zh-CN" sz="1800" b="1"/>
          </a:p>
        </p:txBody>
      </p:sp>
      <p:sp>
        <p:nvSpPr>
          <p:cNvPr id="53263" name="Text Box 17"/>
          <p:cNvSpPr txBox="1">
            <a:spLocks noChangeArrowheads="1"/>
          </p:cNvSpPr>
          <p:nvPr/>
        </p:nvSpPr>
        <p:spPr bwMode="auto">
          <a:xfrm>
            <a:off x="2514600" y="18288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Stack</a:t>
            </a:r>
            <a:endParaRPr kumimoji="0" lang="en-US" altLang="zh-CN" sz="1800" b="1"/>
          </a:p>
        </p:txBody>
      </p:sp>
      <p:sp>
        <p:nvSpPr>
          <p:cNvPr id="53264" name="Text Box 18"/>
          <p:cNvSpPr txBox="1">
            <a:spLocks noChangeArrowheads="1"/>
          </p:cNvSpPr>
          <p:nvPr/>
        </p:nvSpPr>
        <p:spPr bwMode="auto">
          <a:xfrm>
            <a:off x="6629400" y="22860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Output</a:t>
            </a:r>
            <a:endParaRPr kumimoji="0" lang="en-US" altLang="zh-CN" sz="1800" b="1"/>
          </a:p>
        </p:txBody>
      </p:sp>
      <p:sp>
        <p:nvSpPr>
          <p:cNvPr id="53265" name="Text Box 19"/>
          <p:cNvSpPr txBox="1">
            <a:spLocks noChangeArrowheads="1"/>
          </p:cNvSpPr>
          <p:nvPr/>
        </p:nvSpPr>
        <p:spPr bwMode="auto">
          <a:xfrm>
            <a:off x="3733800" y="3200400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Parsing Table </a:t>
            </a:r>
            <a:br>
              <a:rPr kumimoji="0" lang="en-US" altLang="zh-CN" sz="1800" b="1"/>
            </a:br>
            <a:r>
              <a:rPr kumimoji="0" lang="en-US" altLang="zh-CN" sz="1800" b="1"/>
              <a:t>action[.,.] goto[.,.]</a:t>
            </a:r>
            <a:endParaRPr kumimoji="0" lang="en-US" altLang="zh-CN" sz="1800" b="1"/>
          </a:p>
        </p:txBody>
      </p:sp>
      <p:sp>
        <p:nvSpPr>
          <p:cNvPr id="53266" name="Line 20"/>
          <p:cNvSpPr>
            <a:spLocks noChangeShapeType="1"/>
          </p:cNvSpPr>
          <p:nvPr/>
        </p:nvSpPr>
        <p:spPr bwMode="auto">
          <a:xfrm flipV="1">
            <a:off x="4724400" y="1752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7" name="Line 21"/>
          <p:cNvSpPr>
            <a:spLocks noChangeShapeType="1"/>
          </p:cNvSpPr>
          <p:nvPr/>
        </p:nvSpPr>
        <p:spPr bwMode="auto">
          <a:xfrm flipH="1">
            <a:off x="3124200" y="24384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8" name="Line 22"/>
          <p:cNvSpPr>
            <a:spLocks noChangeShapeType="1"/>
          </p:cNvSpPr>
          <p:nvPr/>
        </p:nvSpPr>
        <p:spPr bwMode="auto">
          <a:xfrm>
            <a:off x="4724400" y="2895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9" name="Line 23"/>
          <p:cNvSpPr>
            <a:spLocks noChangeShapeType="1"/>
          </p:cNvSpPr>
          <p:nvPr/>
        </p:nvSpPr>
        <p:spPr bwMode="auto">
          <a:xfrm>
            <a:off x="5867400" y="25146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70" name="Text Box 24"/>
          <p:cNvSpPr txBox="1">
            <a:spLocks noChangeArrowheads="1"/>
          </p:cNvSpPr>
          <p:nvPr/>
        </p:nvSpPr>
        <p:spPr bwMode="auto">
          <a:xfrm>
            <a:off x="6705600" y="1371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(String + terminator)</a:t>
            </a:r>
            <a:endParaRPr kumimoji="0" lang="en-US" altLang="zh-CN" sz="1600" b="1">
              <a:solidFill>
                <a:srgbClr val="FF3300"/>
              </a:solidFill>
            </a:endParaRPr>
          </a:p>
        </p:txBody>
      </p:sp>
      <p:sp>
        <p:nvSpPr>
          <p:cNvPr id="53271" name="Text Box 25"/>
          <p:cNvSpPr txBox="1">
            <a:spLocks noChangeArrowheads="1"/>
          </p:cNvSpPr>
          <p:nvPr/>
        </p:nvSpPr>
        <p:spPr bwMode="auto">
          <a:xfrm>
            <a:off x="1143000" y="2057400"/>
            <a:ext cx="914400" cy="850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NT + T symbols of CFG</a:t>
            </a:r>
            <a:endParaRPr kumimoji="0" lang="en-US" altLang="zh-CN" sz="1600" b="1">
              <a:solidFill>
                <a:srgbClr val="FF3300"/>
              </a:solidFill>
            </a:endParaRPr>
          </a:p>
        </p:txBody>
      </p:sp>
      <p:sp>
        <p:nvSpPr>
          <p:cNvPr id="53272" name="AutoShape 26"/>
          <p:cNvSpPr/>
          <p:nvPr/>
        </p:nvSpPr>
        <p:spPr bwMode="auto">
          <a:xfrm>
            <a:off x="6096000" y="30480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53273" name="Text Box 27"/>
          <p:cNvSpPr txBox="1">
            <a:spLocks noChangeArrowheads="1"/>
          </p:cNvSpPr>
          <p:nvPr/>
        </p:nvSpPr>
        <p:spPr bwMode="auto">
          <a:xfrm>
            <a:off x="6477000" y="3048000"/>
            <a:ext cx="2133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What actions parser should take based on stack / input</a:t>
            </a:r>
            <a:endParaRPr kumimoji="0" lang="en-US" altLang="zh-CN" sz="1600" b="1">
              <a:solidFill>
                <a:srgbClr val="FF3300"/>
              </a:solidFill>
            </a:endParaRPr>
          </a:p>
        </p:txBody>
      </p:sp>
      <p:cxnSp>
        <p:nvCxnSpPr>
          <p:cNvPr id="53274" name="AutoShape 28"/>
          <p:cNvCxnSpPr>
            <a:cxnSpLocks noChangeShapeType="1"/>
            <a:stCxn id="53271" idx="3"/>
            <a:endCxn id="53271" idx="3"/>
          </p:cNvCxnSpPr>
          <p:nvPr/>
        </p:nvCxnSpPr>
        <p:spPr bwMode="auto">
          <a:xfrm>
            <a:off x="2070100" y="2482850"/>
            <a:ext cx="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5" name="AutoShape 29"/>
          <p:cNvCxnSpPr>
            <a:cxnSpLocks noChangeShapeType="1"/>
            <a:stCxn id="53271" idx="3"/>
            <a:endCxn id="53257" idx="1"/>
          </p:cNvCxnSpPr>
          <p:nvPr/>
        </p:nvCxnSpPr>
        <p:spPr bwMode="auto">
          <a:xfrm>
            <a:off x="2070100" y="2482850"/>
            <a:ext cx="584200" cy="2603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6" name="AutoShape 30"/>
          <p:cNvCxnSpPr>
            <a:cxnSpLocks noChangeShapeType="1"/>
            <a:stCxn id="53271" idx="3"/>
            <a:endCxn id="53259" idx="1"/>
          </p:cNvCxnSpPr>
          <p:nvPr/>
        </p:nvCxnSpPr>
        <p:spPr bwMode="auto">
          <a:xfrm>
            <a:off x="2070100" y="2482850"/>
            <a:ext cx="584200" cy="87153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77" name="Text Box 31"/>
          <p:cNvSpPr txBox="1">
            <a:spLocks noChangeArrowheads="1"/>
          </p:cNvSpPr>
          <p:nvPr/>
        </p:nvSpPr>
        <p:spPr bwMode="auto">
          <a:xfrm>
            <a:off x="1143000" y="1600200"/>
            <a:ext cx="1066800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“States”</a:t>
            </a:r>
            <a:endParaRPr kumimoji="0" lang="en-US" altLang="zh-CN" sz="1600" b="1">
              <a:solidFill>
                <a:srgbClr val="FF3300"/>
              </a:solidFill>
            </a:endParaRPr>
          </a:p>
        </p:txBody>
      </p:sp>
      <p:cxnSp>
        <p:nvCxnSpPr>
          <p:cNvPr id="53278" name="AutoShape 32"/>
          <p:cNvCxnSpPr>
            <a:cxnSpLocks noChangeShapeType="1"/>
            <a:stCxn id="53277" idx="3"/>
            <a:endCxn id="53258" idx="1"/>
          </p:cNvCxnSpPr>
          <p:nvPr/>
        </p:nvCxnSpPr>
        <p:spPr bwMode="auto">
          <a:xfrm>
            <a:off x="2222500" y="1781175"/>
            <a:ext cx="431800" cy="6588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9" name="AutoShape 33"/>
          <p:cNvCxnSpPr>
            <a:cxnSpLocks noChangeShapeType="1"/>
            <a:stCxn id="53277" idx="3"/>
            <a:endCxn id="53260" idx="1"/>
          </p:cNvCxnSpPr>
          <p:nvPr/>
        </p:nvCxnSpPr>
        <p:spPr bwMode="auto">
          <a:xfrm>
            <a:off x="2222500" y="1781175"/>
            <a:ext cx="431800" cy="12684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80" name="Text Box 34"/>
          <p:cNvSpPr txBox="1">
            <a:spLocks noChangeArrowheads="1"/>
          </p:cNvSpPr>
          <p:nvPr/>
        </p:nvSpPr>
        <p:spPr bwMode="auto">
          <a:xfrm>
            <a:off x="2667000" y="38084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0</a:t>
            </a:r>
            <a:endParaRPr kumimoji="0" lang="en-US" altLang="zh-CN" sz="1600" b="1"/>
          </a:p>
        </p:txBody>
      </p:sp>
      <p:sp>
        <p:nvSpPr>
          <p:cNvPr id="53281" name="Text Box 35"/>
          <p:cNvSpPr txBox="1">
            <a:spLocks noChangeArrowheads="1"/>
          </p:cNvSpPr>
          <p:nvPr/>
        </p:nvSpPr>
        <p:spPr bwMode="auto">
          <a:xfrm>
            <a:off x="2667000" y="35036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  <a:endParaRPr kumimoji="0" lang="en-US" altLang="zh-CN" sz="1600" b="1"/>
          </a:p>
        </p:txBody>
      </p:sp>
      <p:sp>
        <p:nvSpPr>
          <p:cNvPr id="53282" name="Text Box 36"/>
          <p:cNvSpPr txBox="1">
            <a:spLocks noChangeArrowheads="1"/>
          </p:cNvSpPr>
          <p:nvPr/>
        </p:nvSpPr>
        <p:spPr bwMode="auto">
          <a:xfrm>
            <a:off x="3803650" y="13716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1</a:t>
            </a:r>
            <a:endParaRPr kumimoji="0" lang="en-US" altLang="zh-CN"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action</a:t>
            </a:r>
            <a:r>
              <a:rPr lang="zh-CN" altLang="en-US"/>
              <a:t>表</a:t>
            </a:r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 dirty="0"/>
              <a:t>action[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m</a:t>
            </a:r>
            <a:r>
              <a:rPr lang="en-US" altLang="zh-CN" dirty="0"/>
              <a:t>, a</a:t>
            </a:r>
            <a:r>
              <a:rPr lang="en-US" altLang="zh-CN" baseline="-25000" dirty="0"/>
              <a:t>i</a:t>
            </a:r>
            <a:r>
              <a:rPr lang="en-US" altLang="zh-CN" dirty="0"/>
              <a:t>]</a:t>
            </a:r>
            <a:r>
              <a:rPr lang="zh-CN" altLang="en-US" dirty="0"/>
              <a:t>：遇到输入缓冲区中终结符时使用，四种动作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移进：新状态为</a:t>
            </a:r>
            <a:r>
              <a:rPr lang="en-US" altLang="zh-CN" dirty="0"/>
              <a:t>s</a:t>
            </a:r>
            <a:endParaRPr lang="en-US" altLang="zh-CN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归约：利用产生式</a:t>
            </a:r>
            <a:r>
              <a:rPr kumimoji="0" lang="en-US" altLang="zh-CN" dirty="0"/>
              <a:t>A </a:t>
            </a:r>
            <a:r>
              <a:rPr kumimoji="0" lang="en-US" altLang="zh-CN" dirty="0">
                <a:sym typeface="Symbol" panose="05050102010706020507" pitchFamily="18" charset="2"/>
              </a:rPr>
              <a:t>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（再使用</a:t>
            </a:r>
            <a:r>
              <a:rPr kumimoji="0" lang="en-US" altLang="zh-CN" dirty="0" err="1">
                <a:sym typeface="Symbol" panose="05050102010706020507" pitchFamily="18" charset="2"/>
              </a:rPr>
              <a:t>goto</a:t>
            </a:r>
            <a:r>
              <a:rPr kumimoji="0" lang="zh-CN" altLang="en-US" dirty="0">
                <a:sym typeface="Symbol" panose="05050102010706020507" pitchFamily="18" charset="2"/>
              </a:rPr>
              <a:t>表）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dirty="0">
                <a:sym typeface="Symbol" panose="05050102010706020507" pitchFamily="18" charset="2"/>
              </a:rPr>
              <a:t>接受：输入串合法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dirty="0">
                <a:sym typeface="Symbol" panose="05050102010706020507" pitchFamily="18" charset="2"/>
              </a:rPr>
              <a:t>错误：使用错误恢复机制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表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 err="1"/>
              <a:t>goto</a:t>
            </a:r>
            <a:r>
              <a:rPr lang="en-US" altLang="zh-CN" sz="2800" dirty="0"/>
              <a:t>[s, A]=s’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归约为</a:t>
            </a:r>
            <a:r>
              <a:rPr lang="en-US" altLang="zh-CN" sz="2400" dirty="0"/>
              <a:t>A</a:t>
            </a:r>
            <a:r>
              <a:rPr lang="zh-CN" altLang="en-US" sz="2400" dirty="0"/>
              <a:t>时使用，</a:t>
            </a:r>
            <a:r>
              <a:rPr lang="en-US" altLang="zh-CN" sz="2400" dirty="0"/>
              <a:t>s’</a:t>
            </a:r>
            <a:r>
              <a:rPr lang="zh-CN" altLang="en-US" sz="2400" dirty="0"/>
              <a:t>为新状态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action</a:t>
            </a:r>
            <a:r>
              <a:rPr lang="zh-CN" altLang="en-US" sz="2800" dirty="0"/>
              <a:t>表：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 err="1">
                <a:sym typeface="Wingdings" panose="05000000000000000000" pitchFamily="2" charset="2"/>
              </a:rPr>
              <a:t>s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 err="1">
                <a:sym typeface="Wingdings" panose="05000000000000000000" pitchFamily="2" charset="2"/>
              </a:rPr>
              <a:t>goto</a:t>
            </a:r>
            <a:r>
              <a:rPr lang="zh-CN" altLang="en-US" sz="2800" dirty="0">
                <a:sym typeface="Wingdings" panose="05000000000000000000" pitchFamily="2" charset="2"/>
              </a:rPr>
              <a:t>表：</a:t>
            </a:r>
            <a:r>
              <a:rPr lang="en-US" altLang="zh-CN" sz="2800" dirty="0" err="1">
                <a:sym typeface="Wingdings" panose="05000000000000000000" pitchFamily="2" charset="2"/>
              </a:rPr>
              <a:t>s</a:t>
            </a:r>
            <a:r>
              <a:rPr lang="en-US" altLang="zh-CN" sz="2800" dirty="0" err="1"/>
              <a:t>s</a:t>
            </a:r>
            <a:r>
              <a:rPr lang="en-US" altLang="zh-CN" sz="2800" dirty="0"/>
              <a:t>’——</a:t>
            </a:r>
            <a:r>
              <a:rPr lang="zh-CN" altLang="en-US" sz="2800" dirty="0"/>
              <a:t>识别活前缀的</a:t>
            </a:r>
            <a:r>
              <a:rPr lang="en-US" altLang="zh-CN" sz="2800" dirty="0">
                <a:solidFill>
                  <a:schemeClr val="hlink"/>
                </a:solidFill>
              </a:rPr>
              <a:t>DFA</a:t>
            </a:r>
            <a:r>
              <a:rPr lang="zh-CN" altLang="en-US" sz="2800" dirty="0"/>
              <a:t>的状态转换函数！</a:t>
            </a:r>
            <a:r>
              <a:rPr lang="en-US" altLang="zh-CN" sz="2800" dirty="0"/>
              <a:t>——</a:t>
            </a:r>
            <a:r>
              <a:rPr lang="zh-CN" altLang="en-US" sz="2800" dirty="0"/>
              <a:t>活前缀（状态）集合实际上是一个正规集，可用</a:t>
            </a:r>
            <a:r>
              <a:rPr lang="en-US" altLang="zh-CN" sz="2800" dirty="0"/>
              <a:t>DFA</a:t>
            </a:r>
            <a:r>
              <a:rPr lang="zh-CN" altLang="en-US" sz="2800" dirty="0"/>
              <a:t>识别！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初始状态</a:t>
            </a:r>
            <a:r>
              <a:rPr lang="en-US" altLang="zh-CN" sz="2800" dirty="0"/>
              <a:t>——</a:t>
            </a:r>
            <a:r>
              <a:rPr lang="zh-CN" altLang="en-US" sz="2800" dirty="0"/>
              <a:t>栈中初始状态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格局（</a:t>
            </a:r>
            <a:r>
              <a:rPr lang="en-US" altLang="zh-CN" sz="2800" dirty="0">
                <a:solidFill>
                  <a:schemeClr val="hlink"/>
                </a:solidFill>
              </a:rPr>
              <a:t>configuration</a:t>
            </a:r>
            <a:r>
              <a:rPr lang="zh-CN" altLang="en-US" sz="2800" dirty="0"/>
              <a:t>）</a:t>
            </a:r>
            <a:br>
              <a:rPr lang="zh-CN" altLang="en-US" sz="2800" dirty="0"/>
            </a:br>
            <a:r>
              <a:rPr lang="en-US" altLang="zh-CN" sz="2800" dirty="0"/>
              <a:t>(s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…</a:t>
            </a:r>
            <a:r>
              <a:rPr lang="en-US" altLang="zh-CN" sz="2800" dirty="0" err="1"/>
              <a:t>X</a:t>
            </a:r>
            <a:r>
              <a:rPr lang="en-US" altLang="zh-CN" sz="2800" baseline="-25000" dirty="0" err="1"/>
              <a:t>m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i+1</a:t>
            </a:r>
            <a:r>
              <a:rPr lang="en-US" altLang="zh-CN" sz="2800" dirty="0"/>
              <a:t>…a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$)</a:t>
            </a:r>
            <a:br>
              <a:rPr lang="en-US" altLang="zh-CN" sz="2800" dirty="0"/>
            </a:br>
            <a:r>
              <a:rPr lang="en-US" altLang="zh-CN" sz="2800" dirty="0"/>
              <a:t> 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…X</a:t>
            </a:r>
            <a:r>
              <a:rPr lang="en-US" altLang="zh-CN" sz="2800" baseline="-25000" dirty="0"/>
              <a:t>m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i+1</a:t>
            </a:r>
            <a:r>
              <a:rPr lang="en-US" altLang="zh-CN" sz="2800" dirty="0"/>
              <a:t>…a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——</a:t>
            </a:r>
            <a:r>
              <a:rPr lang="zh-CN" altLang="en-US" sz="2800" dirty="0"/>
              <a:t>最右句型</a:t>
            </a:r>
            <a:endParaRPr lang="zh-CN" altLang="en-US" sz="2800" baseline="-25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分析器运行方式</a:t>
            </a:r>
            <a:endParaRPr lang="zh-CN" alt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381000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action[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]=</a:t>
            </a:r>
            <a:r>
              <a:rPr lang="zh-CN" altLang="en-US" sz="2800" dirty="0"/>
              <a:t>移进</a:t>
            </a:r>
            <a:r>
              <a:rPr lang="en-US" altLang="zh-CN" sz="2800" dirty="0"/>
              <a:t>s</a:t>
            </a:r>
            <a:r>
              <a:rPr lang="zh-CN" altLang="en-US" sz="2800" dirty="0"/>
              <a:t>，进行移进动作，格局变化</a:t>
            </a:r>
            <a:br>
              <a:rPr lang="zh-CN" altLang="en-US" sz="2800" dirty="0"/>
            </a:br>
            <a:endParaRPr lang="zh-CN" altLang="en-US" sz="2800" dirty="0"/>
          </a:p>
          <a:p>
            <a:pPr marL="381000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action[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]=</a:t>
            </a:r>
            <a:r>
              <a:rPr lang="zh-CN" altLang="en-US" sz="2800" dirty="0"/>
              <a:t>归约</a:t>
            </a:r>
            <a:r>
              <a:rPr kumimoji="0" lang="en-US" altLang="zh-CN" sz="2800" dirty="0" err="1"/>
              <a:t>A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（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b =</a:t>
            </a:r>
            <a:r>
              <a:rPr lang="en-US" altLang="zh-CN" sz="2800" b="1" dirty="0">
                <a:solidFill>
                  <a:schemeClr val="folHlink"/>
                </a:solidFill>
              </a:rPr>
              <a:t>X</a:t>
            </a:r>
            <a:r>
              <a:rPr lang="en-US" altLang="zh-CN" sz="2800" b="1" baseline="-25000" dirty="0">
                <a:solidFill>
                  <a:schemeClr val="folHlink"/>
                </a:solidFill>
              </a:rPr>
              <a:t>m-r+1</a:t>
            </a:r>
            <a:r>
              <a:rPr lang="en-US" altLang="zh-CN" sz="2800" b="1" dirty="0">
                <a:solidFill>
                  <a:schemeClr val="folHlink"/>
                </a:solidFill>
              </a:rPr>
              <a:t>…</a:t>
            </a:r>
            <a:r>
              <a:rPr lang="en-US" altLang="zh-CN" sz="2800" b="1" dirty="0" err="1">
                <a:solidFill>
                  <a:schemeClr val="folHlink"/>
                </a:solidFill>
              </a:rPr>
              <a:t>X</a:t>
            </a:r>
            <a:r>
              <a:rPr lang="en-US" altLang="zh-CN" sz="2800" b="1" baseline="-25000" dirty="0" err="1">
                <a:solidFill>
                  <a:schemeClr val="folHlink"/>
                </a:solidFill>
              </a:rPr>
              <a:t>m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），</a:t>
            </a:r>
            <a:r>
              <a:rPr kumimoji="0" lang="zh-CN" altLang="en-US" sz="2800" dirty="0">
                <a:sym typeface="Symbol" panose="05050102010706020507" pitchFamily="18" charset="2"/>
              </a:rPr>
              <a:t>进行归约动作，格局变为</a:t>
            </a:r>
            <a:br>
              <a:rPr kumimoji="0" lang="zh-CN" altLang="en-US" sz="2800" dirty="0">
                <a:sym typeface="Symbol" panose="05050102010706020507" pitchFamily="18" charset="2"/>
              </a:rPr>
            </a:br>
            <a:br>
              <a:rPr lang="zh-CN" altLang="en-US" sz="2800" dirty="0"/>
            </a:br>
            <a:r>
              <a:rPr lang="zh-CN" altLang="en-US" sz="2800" dirty="0"/>
              <a:t>其中，</a:t>
            </a:r>
            <a:r>
              <a:rPr lang="en-US" altLang="zh-CN" sz="2800" dirty="0"/>
              <a:t>r</a:t>
            </a:r>
            <a:r>
              <a:rPr lang="zh-CN" altLang="en-US" sz="2800" dirty="0"/>
              <a:t>为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的长度，</a:t>
            </a:r>
            <a:r>
              <a:rPr kumimoji="0" lang="en-US" altLang="zh-CN" sz="2800" dirty="0">
                <a:sym typeface="Symbol" panose="05050102010706020507" pitchFamily="18" charset="2"/>
              </a:rPr>
              <a:t>s=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goto</a:t>
            </a:r>
            <a:r>
              <a:rPr kumimoji="0" lang="en-US" altLang="zh-CN" sz="2800" dirty="0">
                <a:sym typeface="Symbol" panose="05050102010706020507" pitchFamily="18" charset="2"/>
              </a:rPr>
              <a:t>[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s</a:t>
            </a:r>
            <a:r>
              <a:rPr kumimoji="0" lang="en-US" altLang="zh-CN" sz="2800" baseline="-25000" dirty="0" err="1">
                <a:sym typeface="Symbol" panose="05050102010706020507" pitchFamily="18" charset="2"/>
              </a:rPr>
              <a:t>m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-r</a:t>
            </a:r>
            <a:r>
              <a:rPr kumimoji="0" lang="en-US" altLang="zh-CN" sz="2800" dirty="0">
                <a:sym typeface="Symbol" panose="05050102010706020507" pitchFamily="18" charset="2"/>
              </a:rPr>
              <a:t>, A]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marL="381000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action[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]=</a:t>
            </a:r>
            <a:r>
              <a:rPr lang="zh-CN" altLang="en-US" sz="2800" dirty="0"/>
              <a:t>接受，分析结束</a:t>
            </a:r>
            <a:endParaRPr lang="zh-CN" altLang="en-US" sz="2800" dirty="0"/>
          </a:p>
          <a:p>
            <a:pPr marL="381000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action[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]=</a:t>
            </a:r>
            <a:r>
              <a:rPr lang="zh-CN" altLang="en-US" sz="2800" dirty="0"/>
              <a:t>错误，调用错误恢复函数</a:t>
            </a:r>
            <a:endParaRPr lang="zh-CN" altLang="en-US" sz="2800" dirty="0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ltGray">
          <a:xfrm>
            <a:off x="1557338" y="1905000"/>
            <a:ext cx="473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>
                <a:solidFill>
                  <a:schemeClr val="hlink"/>
                </a:solidFill>
              </a:rPr>
              <a:t>0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2</a:t>
            </a:r>
            <a:r>
              <a:rPr lang="en-US" altLang="zh-CN" sz="2400" b="1">
                <a:solidFill>
                  <a:schemeClr val="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,           a</a:t>
            </a:r>
            <a:r>
              <a:rPr lang="en-US" altLang="zh-CN" sz="2400" b="1" baseline="-25000">
                <a:solidFill>
                  <a:schemeClr val="hlink"/>
                </a:solidFill>
              </a:rPr>
              <a:t>i</a:t>
            </a:r>
            <a:r>
              <a:rPr lang="en-US" altLang="zh-CN" sz="2400" b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</a:rPr>
              <a:t>i+1</a:t>
            </a:r>
            <a:r>
              <a:rPr lang="en-US" altLang="zh-CN" sz="2400" b="1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>
                <a:solidFill>
                  <a:schemeClr val="hlink"/>
                </a:solidFill>
              </a:rPr>
              <a:t>n</a:t>
            </a:r>
            <a:r>
              <a:rPr lang="en-US" altLang="zh-CN" sz="2400" b="1">
                <a:solidFill>
                  <a:schemeClr val="hlink"/>
                </a:solidFill>
              </a:rPr>
              <a:t>$)</a:t>
            </a:r>
            <a:endParaRPr lang="en-US" altLang="zh-CN" sz="2400" b="1">
              <a:solidFill>
                <a:schemeClr val="hlink"/>
              </a:solidFill>
            </a:endParaRPr>
          </a:p>
        </p:txBody>
      </p:sp>
      <p:sp>
        <p:nvSpPr>
          <p:cNvPr id="295941" name="Rectangle 5"/>
          <p:cNvSpPr>
            <a:spLocks noChangeArrowheads="1"/>
          </p:cNvSpPr>
          <p:nvPr/>
        </p:nvSpPr>
        <p:spPr bwMode="ltGray">
          <a:xfrm>
            <a:off x="1557338" y="1905000"/>
            <a:ext cx="47307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>
                <a:solidFill>
                  <a:schemeClr val="hlink"/>
                </a:solidFill>
              </a:rPr>
              <a:t>0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2</a:t>
            </a:r>
            <a:r>
              <a:rPr lang="en-US" altLang="zh-CN" sz="2400" b="1">
                <a:solidFill>
                  <a:schemeClr val="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</a:rPr>
              <a:t>i</a:t>
            </a:r>
            <a:r>
              <a:rPr lang="en-US" altLang="zh-CN" sz="2400" b="1">
                <a:solidFill>
                  <a:schemeClr val="hlink"/>
                </a:solidFill>
              </a:rPr>
              <a:t>,           a</a:t>
            </a:r>
            <a:r>
              <a:rPr lang="en-US" altLang="zh-CN" sz="2400" b="1" baseline="-25000">
                <a:solidFill>
                  <a:schemeClr val="hlink"/>
                </a:solidFill>
              </a:rPr>
              <a:t>i+1</a:t>
            </a:r>
            <a:r>
              <a:rPr lang="en-US" altLang="zh-CN" sz="2400" b="1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>
                <a:solidFill>
                  <a:schemeClr val="hlink"/>
                </a:solidFill>
              </a:rPr>
              <a:t>n</a:t>
            </a:r>
            <a:r>
              <a:rPr lang="en-US" altLang="zh-CN" sz="2400" b="1">
                <a:solidFill>
                  <a:schemeClr val="hlink"/>
                </a:solidFill>
              </a:rPr>
              <a:t>$)</a:t>
            </a:r>
            <a:endParaRPr lang="en-US" altLang="zh-CN" sz="2400" b="1">
              <a:solidFill>
                <a:schemeClr val="hlink"/>
              </a:solidFill>
            </a:endParaRPr>
          </a:p>
        </p:txBody>
      </p:sp>
      <p:sp>
        <p:nvSpPr>
          <p:cNvPr id="295942" name="Rectangle 6"/>
          <p:cNvSpPr>
            <a:spLocks noChangeArrowheads="1"/>
          </p:cNvSpPr>
          <p:nvPr/>
        </p:nvSpPr>
        <p:spPr bwMode="ltGray">
          <a:xfrm>
            <a:off x="1557338" y="1905000"/>
            <a:ext cx="4773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0</a:t>
            </a:r>
            <a:r>
              <a:rPr lang="en-US" altLang="zh-CN" sz="2400" b="1" dirty="0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1</a:t>
            </a:r>
            <a:r>
              <a:rPr lang="en-US" altLang="zh-CN" sz="2400" b="1" dirty="0">
                <a:solidFill>
                  <a:schemeClr val="hlink"/>
                </a:solidFill>
              </a:rPr>
              <a:t>s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1</a:t>
            </a:r>
            <a:r>
              <a:rPr lang="en-US" altLang="zh-CN" sz="2400" b="1" dirty="0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2</a:t>
            </a:r>
            <a:r>
              <a:rPr lang="en-US" altLang="zh-CN" sz="2400" b="1" dirty="0">
                <a:solidFill>
                  <a:schemeClr val="hlink"/>
                </a:solidFill>
              </a:rPr>
              <a:t>…</a:t>
            </a:r>
            <a:r>
              <a:rPr lang="en-US" altLang="zh-CN" sz="2400" b="1" dirty="0" err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m</a:t>
            </a:r>
            <a:r>
              <a:rPr lang="en-US" altLang="zh-CN" sz="2400" b="1" dirty="0" err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m</a:t>
            </a:r>
            <a:r>
              <a:rPr lang="en-US" altLang="zh-CN" sz="2400" b="1" dirty="0" err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i</a:t>
            </a:r>
            <a:r>
              <a:rPr lang="en-US" altLang="zh-CN" sz="2400" b="1" dirty="0" err="1">
                <a:solidFill>
                  <a:schemeClr val="hlink"/>
                </a:solidFill>
              </a:rPr>
              <a:t>s</a:t>
            </a:r>
            <a:r>
              <a:rPr lang="en-US" altLang="zh-CN" sz="2400" b="1" dirty="0">
                <a:solidFill>
                  <a:schemeClr val="hlink"/>
                </a:solidFill>
              </a:rPr>
              <a:t>,          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i+1</a:t>
            </a:r>
            <a:r>
              <a:rPr lang="en-US" altLang="zh-CN" sz="2400" b="1" dirty="0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n</a:t>
            </a:r>
            <a:r>
              <a:rPr lang="en-US" altLang="zh-CN" sz="2400" b="1" dirty="0">
                <a:solidFill>
                  <a:schemeClr val="hlink"/>
                </a:solidFill>
              </a:rPr>
              <a:t>$)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ltGray">
          <a:xfrm>
            <a:off x="1447800" y="3200400"/>
            <a:ext cx="714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>
                <a:solidFill>
                  <a:schemeClr val="hlink"/>
                </a:solidFill>
              </a:rPr>
              <a:t>0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hlink"/>
                </a:solidFill>
              </a:rPr>
              <a:t>m-r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m-r</a:t>
            </a:r>
            <a:r>
              <a:rPr lang="en-US" altLang="zh-CN" sz="2400" b="1">
                <a:solidFill>
                  <a:schemeClr val="folHlink"/>
                </a:solidFill>
              </a:rPr>
              <a:t>X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m-r+1</a:t>
            </a:r>
            <a:r>
              <a:rPr lang="en-US" altLang="zh-CN" sz="2400" b="1">
                <a:solidFill>
                  <a:schemeClr val="folHlink"/>
                </a:solidFill>
              </a:rPr>
              <a:t>s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m-r+1</a:t>
            </a:r>
            <a:r>
              <a:rPr lang="en-US" altLang="zh-CN" sz="2400" b="1">
                <a:solidFill>
                  <a:schemeClr val="fol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m</a:t>
            </a:r>
            <a:r>
              <a:rPr lang="en-US" altLang="zh-CN" sz="2400" b="1">
                <a:solidFill>
                  <a:schemeClr val="folHlink"/>
                </a:solidFill>
              </a:rPr>
              <a:t>s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,           a</a:t>
            </a:r>
            <a:r>
              <a:rPr lang="en-US" altLang="zh-CN" sz="2400" b="1" baseline="-25000">
                <a:solidFill>
                  <a:schemeClr val="hlink"/>
                </a:solidFill>
              </a:rPr>
              <a:t>i</a:t>
            </a:r>
            <a:r>
              <a:rPr lang="en-US" altLang="zh-CN" sz="2400" b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</a:rPr>
              <a:t>i+1</a:t>
            </a:r>
            <a:r>
              <a:rPr lang="en-US" altLang="zh-CN" sz="2400" b="1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>
                <a:solidFill>
                  <a:schemeClr val="hlink"/>
                </a:solidFill>
              </a:rPr>
              <a:t>n</a:t>
            </a:r>
            <a:r>
              <a:rPr lang="en-US" altLang="zh-CN" sz="2400" b="1">
                <a:solidFill>
                  <a:schemeClr val="hlink"/>
                </a:solidFill>
              </a:rPr>
              <a:t>$)</a:t>
            </a:r>
            <a:endParaRPr lang="en-US" altLang="zh-CN" sz="2400" b="1">
              <a:solidFill>
                <a:schemeClr val="hlink"/>
              </a:solidFill>
            </a:endParaRPr>
          </a:p>
        </p:txBody>
      </p:sp>
      <p:sp>
        <p:nvSpPr>
          <p:cNvPr id="295944" name="Rectangle 8"/>
          <p:cNvSpPr>
            <a:spLocks noChangeArrowheads="1"/>
          </p:cNvSpPr>
          <p:nvPr/>
        </p:nvSpPr>
        <p:spPr bwMode="ltGray">
          <a:xfrm>
            <a:off x="1447800" y="3200400"/>
            <a:ext cx="7162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>
                <a:solidFill>
                  <a:schemeClr val="hlink"/>
                </a:solidFill>
              </a:rPr>
              <a:t>0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hlink"/>
                </a:solidFill>
              </a:rPr>
              <a:t>m-r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m-r</a:t>
            </a:r>
            <a:r>
              <a:rPr lang="en-US" altLang="zh-CN" sz="2400" b="1">
                <a:solidFill>
                  <a:schemeClr val="hlink"/>
                </a:solidFill>
              </a:rPr>
              <a:t>A,           a</a:t>
            </a:r>
            <a:r>
              <a:rPr lang="en-US" altLang="zh-CN" sz="2400" b="1" baseline="-25000">
                <a:solidFill>
                  <a:schemeClr val="hlink"/>
                </a:solidFill>
              </a:rPr>
              <a:t>i</a:t>
            </a:r>
            <a:r>
              <a:rPr lang="en-US" altLang="zh-CN" sz="2400" b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</a:rPr>
              <a:t>i+1</a:t>
            </a:r>
            <a:r>
              <a:rPr lang="en-US" altLang="zh-CN" sz="2400" b="1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>
                <a:solidFill>
                  <a:schemeClr val="hlink"/>
                </a:solidFill>
              </a:rPr>
              <a:t>n</a:t>
            </a:r>
            <a:r>
              <a:rPr lang="en-US" altLang="zh-CN" sz="2400" b="1">
                <a:solidFill>
                  <a:schemeClr val="hlink"/>
                </a:solidFill>
              </a:rPr>
              <a:t>$)                             </a:t>
            </a:r>
            <a:endParaRPr lang="en-US" altLang="zh-CN" sz="2400" b="1">
              <a:solidFill>
                <a:schemeClr val="hlink"/>
              </a:solidFill>
            </a:endParaRPr>
          </a:p>
        </p:txBody>
      </p:sp>
      <p:sp>
        <p:nvSpPr>
          <p:cNvPr id="295946" name="Rectangle 10"/>
          <p:cNvSpPr>
            <a:spLocks noChangeArrowheads="1"/>
          </p:cNvSpPr>
          <p:nvPr/>
        </p:nvSpPr>
        <p:spPr bwMode="ltGray">
          <a:xfrm>
            <a:off x="1447800" y="3200400"/>
            <a:ext cx="7162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0</a:t>
            </a:r>
            <a:r>
              <a:rPr lang="en-US" altLang="zh-CN" sz="2400" b="1" dirty="0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1</a:t>
            </a:r>
            <a:r>
              <a:rPr lang="en-US" altLang="zh-CN" sz="2400" b="1" dirty="0">
                <a:solidFill>
                  <a:schemeClr val="hlink"/>
                </a:solidFill>
              </a:rPr>
              <a:t>s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1</a:t>
            </a:r>
            <a:r>
              <a:rPr lang="en-US" altLang="zh-CN" sz="2400" b="1" dirty="0">
                <a:solidFill>
                  <a:schemeClr val="hlink"/>
                </a:solidFill>
              </a:rPr>
              <a:t>…</a:t>
            </a:r>
            <a:r>
              <a:rPr lang="en-US" altLang="zh-CN" sz="2400" b="1" dirty="0" err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m-r</a:t>
            </a:r>
            <a:r>
              <a:rPr lang="en-US" altLang="zh-CN" sz="2400" b="1" dirty="0" err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m-r</a:t>
            </a:r>
            <a:r>
              <a:rPr lang="en-US" altLang="zh-CN" sz="2400" b="1" dirty="0" err="1">
                <a:solidFill>
                  <a:schemeClr val="hlink"/>
                </a:solidFill>
              </a:rPr>
              <a:t>As</a:t>
            </a:r>
            <a:r>
              <a:rPr lang="en-US" altLang="zh-CN" sz="2400" b="1" dirty="0">
                <a:solidFill>
                  <a:schemeClr val="hlink"/>
                </a:solidFill>
              </a:rPr>
              <a:t>,          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</a:rPr>
              <a:t>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i+1</a:t>
            </a:r>
            <a:r>
              <a:rPr lang="en-US" altLang="zh-CN" sz="2400" b="1" dirty="0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n</a:t>
            </a:r>
            <a:r>
              <a:rPr lang="en-US" altLang="zh-CN" sz="2400" b="1" dirty="0">
                <a:solidFill>
                  <a:schemeClr val="hlink"/>
                </a:solidFill>
              </a:rPr>
              <a:t>$)                             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1" grpId="0" animBg="1" autoUpdateAnimBg="0"/>
      <p:bldP spid="295942" grpId="0" animBg="1" autoUpdateAnimBg="0"/>
      <p:bldP spid="295944" grpId="0" animBg="1" autoUpdateAnimBg="0"/>
      <p:bldP spid="295946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4.7  LR</a:t>
            </a:r>
            <a:r>
              <a:rPr lang="zh-CN" altLang="en-US"/>
              <a:t>分析算法</a:t>
            </a: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输入：一个输入串</a:t>
            </a:r>
            <a:r>
              <a:rPr lang="en-US" altLang="zh-CN" sz="2800" dirty="0"/>
              <a:t>w</a:t>
            </a:r>
            <a:r>
              <a:rPr lang="zh-CN" altLang="en-US" sz="2800" dirty="0"/>
              <a:t>和一个文法</a:t>
            </a:r>
            <a:r>
              <a:rPr lang="en-US" altLang="zh-CN" sz="2800" dirty="0"/>
              <a:t>G</a:t>
            </a:r>
            <a:r>
              <a:rPr lang="zh-CN" altLang="en-US" sz="2800" dirty="0"/>
              <a:t>的</a:t>
            </a:r>
            <a:r>
              <a:rPr lang="en-US" altLang="zh-CN" sz="2800" dirty="0"/>
              <a:t>LR</a:t>
            </a:r>
            <a:r>
              <a:rPr lang="zh-CN" altLang="en-US" sz="2800" dirty="0"/>
              <a:t>分析表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输出：若</a:t>
            </a:r>
            <a:r>
              <a:rPr lang="en-US" altLang="zh-CN" sz="2800" dirty="0" err="1"/>
              <a:t>w∈L</a:t>
            </a:r>
            <a:r>
              <a:rPr lang="en-US" altLang="zh-CN" sz="2800" dirty="0"/>
              <a:t>(G)</a:t>
            </a:r>
            <a:r>
              <a:rPr lang="zh-CN" altLang="en-US" sz="2800" dirty="0"/>
              <a:t>，输出</a:t>
            </a:r>
            <a:r>
              <a:rPr lang="en-US" altLang="zh-CN" sz="2800" dirty="0"/>
              <a:t>w</a:t>
            </a:r>
            <a:r>
              <a:rPr lang="zh-CN" altLang="en-US" sz="2800" dirty="0"/>
              <a:t>的一个自底向上分析；否则，输出错误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方法：初始，栈中只含初始状态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0</a:t>
            </a:r>
            <a:r>
              <a:rPr lang="zh-CN" altLang="en-US" sz="2800" dirty="0"/>
              <a:t>，输入缓冲区为</a:t>
            </a:r>
            <a:r>
              <a:rPr lang="en-US" altLang="zh-CN" sz="2800" dirty="0"/>
              <a:t>w$</a:t>
            </a:r>
            <a:r>
              <a:rPr lang="zh-CN" altLang="en-US" sz="2800" dirty="0"/>
              <a:t>，分析器按如下算法运行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将</a:t>
            </a:r>
            <a:r>
              <a:rPr lang="en-US" altLang="zh-CN" sz="2400" dirty="0" err="1"/>
              <a:t>ip</a:t>
            </a:r>
            <a:r>
              <a:rPr lang="zh-CN" altLang="en-US" sz="2400" dirty="0"/>
              <a:t>设置为</a:t>
            </a:r>
            <a:r>
              <a:rPr lang="en-US" altLang="zh-CN" sz="2400" dirty="0"/>
              <a:t>w$</a:t>
            </a:r>
            <a:r>
              <a:rPr lang="zh-CN" altLang="en-US" sz="2400" dirty="0"/>
              <a:t>的第一个符号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repeat forever begin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</a:t>
            </a:r>
            <a:r>
              <a:rPr lang="zh-CN" altLang="en-US" sz="2400" dirty="0"/>
              <a:t>令</a:t>
            </a:r>
            <a:r>
              <a:rPr lang="en-US" altLang="zh-CN" sz="2400" dirty="0"/>
              <a:t>s</a:t>
            </a:r>
            <a:r>
              <a:rPr lang="zh-CN" altLang="en-US" sz="2400" dirty="0"/>
              <a:t>为栈顶状态，</a:t>
            </a:r>
            <a:r>
              <a:rPr lang="en-US" altLang="zh-CN" sz="2400" dirty="0"/>
              <a:t>a</a:t>
            </a:r>
            <a:r>
              <a:rPr lang="zh-CN" altLang="en-US" sz="2400" dirty="0"/>
              <a:t>为</a:t>
            </a:r>
            <a:r>
              <a:rPr lang="en-US" altLang="zh-CN" sz="2400" dirty="0" err="1"/>
              <a:t>ip</a:t>
            </a:r>
            <a:r>
              <a:rPr lang="zh-CN" altLang="en-US" sz="2400" dirty="0"/>
              <a:t>指向符号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b="1" dirty="0"/>
              <a:t>if </a:t>
            </a:r>
            <a:r>
              <a:rPr lang="en-US" altLang="zh-CN" sz="2400" dirty="0"/>
              <a:t>(action[s, a] = </a:t>
            </a:r>
            <a:r>
              <a:rPr lang="zh-CN" altLang="en-US" sz="2400" dirty="0"/>
              <a:t>移进</a:t>
            </a:r>
            <a:r>
              <a:rPr lang="en-US" altLang="zh-CN" sz="2400" dirty="0"/>
              <a:t>s’) {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</a:t>
            </a:r>
            <a:r>
              <a:rPr lang="zh-CN" altLang="en-US" sz="2400" dirty="0"/>
              <a:t>将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s’</a:t>
            </a:r>
            <a:r>
              <a:rPr lang="zh-CN" altLang="en-US" sz="2400" dirty="0"/>
              <a:t>依次压栈</a:t>
            </a:r>
            <a:r>
              <a:rPr lang="en-US" altLang="zh-CN" sz="2400" dirty="0"/>
              <a:t>;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4.7  LR</a:t>
            </a:r>
            <a:r>
              <a:rPr lang="zh-CN" altLang="en-US"/>
              <a:t>分析算法（续）</a:t>
            </a:r>
            <a:endParaRPr lang="zh-CN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ip</a:t>
            </a:r>
            <a:r>
              <a:rPr lang="zh-CN" altLang="en-US" sz="2400"/>
              <a:t>指向下一个输入符号</a:t>
            </a:r>
            <a:r>
              <a:rPr lang="en-US" altLang="zh-CN" sz="2400"/>
              <a:t>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}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 b="1"/>
              <a:t>else if </a:t>
            </a:r>
            <a:r>
              <a:rPr lang="en-US" altLang="zh-CN" sz="2400"/>
              <a:t>(action[s, a]=</a:t>
            </a:r>
            <a:r>
              <a:rPr lang="zh-CN" altLang="en-US" sz="2400"/>
              <a:t>归约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b) {</a:t>
            </a:r>
            <a:endParaRPr kumimoji="0" lang="en-US" altLang="zh-CN" sz="24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		</a:t>
            </a:r>
            <a:r>
              <a:rPr kumimoji="0" lang="zh-CN" altLang="en-US" sz="2400">
                <a:sym typeface="Symbol" panose="05050102010706020507" pitchFamily="18" charset="2"/>
              </a:rPr>
              <a:t>从栈中弹出</a:t>
            </a:r>
            <a:r>
              <a:rPr kumimoji="0" lang="en-US" altLang="zh-CN" sz="2400">
                <a:sym typeface="Symbol" panose="05050102010706020507" pitchFamily="18" charset="2"/>
              </a:rPr>
              <a:t>2*|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|</a:t>
            </a:r>
            <a:r>
              <a:rPr kumimoji="0" lang="zh-CN" altLang="en-US" sz="2400">
                <a:sym typeface="Symbol" panose="05050102010706020507" pitchFamily="18" charset="2"/>
              </a:rPr>
              <a:t>个符号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zh-CN" altLang="en-US" sz="2400">
                <a:sym typeface="Symbol" panose="05050102010706020507" pitchFamily="18" charset="2"/>
              </a:rPr>
              <a:t>令</a:t>
            </a:r>
            <a:r>
              <a:rPr kumimoji="0" lang="en-US" altLang="zh-CN" sz="2400">
                <a:sym typeface="Symbol" panose="05050102010706020507" pitchFamily="18" charset="2"/>
              </a:rPr>
              <a:t>s’</a:t>
            </a:r>
            <a:r>
              <a:rPr kumimoji="0" lang="zh-CN" altLang="en-US" sz="2400">
                <a:sym typeface="Symbol" panose="05050102010706020507" pitchFamily="18" charset="2"/>
              </a:rPr>
              <a:t>为当前栈顶状态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zh-CN" altLang="en-US" sz="2400">
                <a:sym typeface="Symbol" panose="05050102010706020507" pitchFamily="18" charset="2"/>
              </a:rPr>
              <a:t>将</a:t>
            </a: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r>
              <a:rPr kumimoji="0" lang="zh-CN" altLang="en-US" sz="2400">
                <a:sym typeface="Symbol" panose="05050102010706020507" pitchFamily="18" charset="2"/>
              </a:rPr>
              <a:t>和状态</a:t>
            </a:r>
            <a:r>
              <a:rPr kumimoji="0" lang="en-US" altLang="zh-CN" sz="2400">
                <a:sym typeface="Symbol" panose="05050102010706020507" pitchFamily="18" charset="2"/>
              </a:rPr>
              <a:t>goto[s’, A]</a:t>
            </a:r>
            <a:r>
              <a:rPr kumimoji="0" lang="zh-CN" altLang="en-US" sz="2400">
                <a:sym typeface="Symbol" panose="05050102010706020507" pitchFamily="18" charset="2"/>
              </a:rPr>
              <a:t>依次压栈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zh-CN" altLang="en-US" sz="2400">
                <a:sym typeface="Symbol" panose="05050102010706020507" pitchFamily="18" charset="2"/>
              </a:rPr>
              <a:t>输出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b;</a:t>
            </a:r>
            <a:endParaRPr kumimoji="0" lang="en-US" altLang="zh-CN" sz="24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	}</a:t>
            </a:r>
            <a:endParaRPr kumimoji="0" lang="en-US" altLang="zh-CN" sz="24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	</a:t>
            </a:r>
            <a:r>
              <a:rPr kumimoji="0" lang="en-US" altLang="zh-CN" sz="2400" b="1">
                <a:sym typeface="Symbol" panose="05050102010706020507" pitchFamily="18" charset="2"/>
              </a:rPr>
              <a:t>else if </a:t>
            </a:r>
            <a:r>
              <a:rPr kumimoji="0" lang="en-US" altLang="zh-CN" sz="2400">
                <a:sym typeface="Symbol" panose="05050102010706020507" pitchFamily="18" charset="2"/>
              </a:rPr>
              <a:t>(action[s, a] = </a:t>
            </a:r>
            <a:r>
              <a:rPr kumimoji="0" lang="zh-CN" altLang="en-US" sz="2400">
                <a:sym typeface="Symbol" panose="05050102010706020507" pitchFamily="18" charset="2"/>
              </a:rPr>
              <a:t>接受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return;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</a:t>
            </a:r>
            <a:r>
              <a:rPr kumimoji="0" lang="en-US" altLang="zh-CN" sz="2400" b="1">
                <a:sym typeface="Symbol" panose="05050102010706020507" pitchFamily="18" charset="2"/>
              </a:rPr>
              <a:t>else</a:t>
            </a:r>
            <a:r>
              <a:rPr kumimoji="0" lang="en-US" altLang="zh-CN" sz="2400">
                <a:sym typeface="Symbol" panose="05050102010706020507" pitchFamily="18" charset="2"/>
              </a:rPr>
              <a:t> error();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4.33</a:t>
            </a:r>
            <a:endParaRPr lang="en-US" altLang="zh-CN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(1) E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E + T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(2) </a:t>
            </a:r>
            <a:r>
              <a:rPr kumimoji="0" lang="en-US" altLang="zh-CN" sz="2400" b="1" dirty="0"/>
              <a:t>E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T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(3) T  T * F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(4) T  F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(5) F  ( E )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(6) F  id</a:t>
            </a:r>
            <a:endParaRPr kumimoji="0" lang="en-US" altLang="zh-CN" sz="2400" b="1" dirty="0"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sz="2800" dirty="0" err="1"/>
              <a:t>si</a:t>
            </a:r>
            <a:r>
              <a:rPr lang="zh-CN" altLang="en-US" sz="2800" dirty="0"/>
              <a:t>：移进状态</a:t>
            </a:r>
            <a:r>
              <a:rPr lang="en-US" altLang="zh-CN" sz="2800" dirty="0" err="1"/>
              <a:t>i</a:t>
            </a:r>
            <a:endParaRPr lang="en-US" altLang="zh-CN" sz="2800" dirty="0"/>
          </a:p>
          <a:p>
            <a:pPr marL="0" indent="0" eaLnBrk="1" hangingPunct="1"/>
            <a:r>
              <a:rPr lang="en-US" altLang="zh-CN" sz="2800" dirty="0" err="1"/>
              <a:t>rj</a:t>
            </a:r>
            <a:r>
              <a:rPr lang="zh-CN" altLang="en-US" sz="2800" dirty="0"/>
              <a:t>：利用产生式</a:t>
            </a:r>
            <a:r>
              <a:rPr lang="en-US" altLang="zh-CN" sz="2800" dirty="0"/>
              <a:t>j</a:t>
            </a:r>
            <a:r>
              <a:rPr lang="zh-CN" altLang="en-US" sz="2800" dirty="0"/>
              <a:t>归约</a:t>
            </a:r>
            <a:endParaRPr lang="zh-CN" altLang="en-US" sz="2800" dirty="0"/>
          </a:p>
          <a:p>
            <a:pPr marL="0" indent="0" eaLnBrk="1" hangingPunct="1"/>
            <a:r>
              <a:rPr lang="en-US" altLang="zh-CN" sz="2800" dirty="0"/>
              <a:t>acc</a:t>
            </a:r>
            <a:r>
              <a:rPr lang="zh-CN" altLang="en-US" sz="2800" dirty="0"/>
              <a:t>：接受</a:t>
            </a:r>
            <a:endParaRPr lang="zh-CN" altLang="en-US" sz="2800" dirty="0"/>
          </a:p>
          <a:p>
            <a:pPr marL="0" indent="0" eaLnBrk="1" hangingPunct="1"/>
            <a:r>
              <a:rPr lang="zh-CN" altLang="en-US" sz="2800" dirty="0"/>
              <a:t>空格：错误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4.33  </a:t>
            </a:r>
            <a:r>
              <a:rPr lang="zh-CN" altLang="en-US"/>
              <a:t>分析表</a:t>
            </a:r>
            <a:endParaRPr lang="zh-CN" altLang="en-US"/>
          </a:p>
        </p:txBody>
      </p:sp>
      <p:sp>
        <p:nvSpPr>
          <p:cNvPr id="60419" name="Line 5"/>
          <p:cNvSpPr>
            <a:spLocks noChangeShapeType="1"/>
          </p:cNvSpPr>
          <p:nvPr/>
        </p:nvSpPr>
        <p:spPr bwMode="auto">
          <a:xfrm>
            <a:off x="1219200" y="1371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0" name="Line 6"/>
          <p:cNvSpPr>
            <a:spLocks noChangeShapeType="1"/>
          </p:cNvSpPr>
          <p:nvPr/>
        </p:nvSpPr>
        <p:spPr bwMode="auto">
          <a:xfrm>
            <a:off x="1219200" y="14478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1" name="Line 7"/>
          <p:cNvSpPr>
            <a:spLocks noChangeShapeType="1"/>
          </p:cNvSpPr>
          <p:nvPr/>
        </p:nvSpPr>
        <p:spPr bwMode="auto">
          <a:xfrm>
            <a:off x="1905000" y="1828800"/>
            <a:ext cx="7161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2" name="Line 8"/>
          <p:cNvSpPr>
            <a:spLocks noChangeShapeType="1"/>
          </p:cNvSpPr>
          <p:nvPr/>
        </p:nvSpPr>
        <p:spPr bwMode="auto">
          <a:xfrm>
            <a:off x="1219200" y="2133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3" name="Line 10"/>
          <p:cNvSpPr>
            <a:spLocks noChangeShapeType="1"/>
          </p:cNvSpPr>
          <p:nvPr/>
        </p:nvSpPr>
        <p:spPr bwMode="auto">
          <a:xfrm>
            <a:off x="90678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4" name="Line 11"/>
          <p:cNvSpPr>
            <a:spLocks noChangeShapeType="1"/>
          </p:cNvSpPr>
          <p:nvPr/>
        </p:nvSpPr>
        <p:spPr bwMode="auto">
          <a:xfrm>
            <a:off x="19050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5" name="Line 15"/>
          <p:cNvSpPr>
            <a:spLocks noChangeShapeType="1"/>
          </p:cNvSpPr>
          <p:nvPr/>
        </p:nvSpPr>
        <p:spPr bwMode="auto">
          <a:xfrm>
            <a:off x="70104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6" name="Text Box 21"/>
          <p:cNvSpPr txBox="1">
            <a:spLocks noChangeArrowheads="1"/>
          </p:cNvSpPr>
          <p:nvPr/>
        </p:nvSpPr>
        <p:spPr bwMode="auto">
          <a:xfrm>
            <a:off x="1219200" y="1600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  <a:endParaRPr kumimoji="0" lang="zh-CN" altLang="en-US" sz="2000" b="1"/>
          </a:p>
        </p:txBody>
      </p:sp>
      <p:sp>
        <p:nvSpPr>
          <p:cNvPr id="60427" name="Text Box 22"/>
          <p:cNvSpPr txBox="1">
            <a:spLocks noChangeArrowheads="1"/>
          </p:cNvSpPr>
          <p:nvPr/>
        </p:nvSpPr>
        <p:spPr bwMode="auto">
          <a:xfrm>
            <a:off x="4038600" y="1447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  <a:endParaRPr kumimoji="0" lang="en-US" altLang="zh-CN" sz="2000" b="1"/>
          </a:p>
        </p:txBody>
      </p:sp>
      <p:sp>
        <p:nvSpPr>
          <p:cNvPr id="60428" name="Text Box 23"/>
          <p:cNvSpPr txBox="1">
            <a:spLocks noChangeArrowheads="1"/>
          </p:cNvSpPr>
          <p:nvPr/>
        </p:nvSpPr>
        <p:spPr bwMode="auto">
          <a:xfrm>
            <a:off x="20574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  <a:endParaRPr kumimoji="0" lang="en-US" altLang="zh-CN" sz="2000" b="1"/>
          </a:p>
        </p:txBody>
      </p:sp>
      <p:sp>
        <p:nvSpPr>
          <p:cNvPr id="60429" name="Text Box 24"/>
          <p:cNvSpPr txBox="1">
            <a:spLocks noChangeArrowheads="1"/>
          </p:cNvSpPr>
          <p:nvPr/>
        </p:nvSpPr>
        <p:spPr bwMode="auto">
          <a:xfrm>
            <a:off x="2909888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60430" name="Text Box 25"/>
          <p:cNvSpPr txBox="1">
            <a:spLocks noChangeArrowheads="1"/>
          </p:cNvSpPr>
          <p:nvPr/>
        </p:nvSpPr>
        <p:spPr bwMode="auto">
          <a:xfrm>
            <a:off x="3763963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  <a:endParaRPr kumimoji="0" lang="en-US" altLang="zh-CN" sz="2000" b="1"/>
          </a:p>
        </p:txBody>
      </p:sp>
      <p:sp>
        <p:nvSpPr>
          <p:cNvPr id="60431" name="Text Box 26"/>
          <p:cNvSpPr txBox="1">
            <a:spLocks noChangeArrowheads="1"/>
          </p:cNvSpPr>
          <p:nvPr/>
        </p:nvSpPr>
        <p:spPr bwMode="auto">
          <a:xfrm>
            <a:off x="461645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  <a:endParaRPr kumimoji="0" lang="en-US" altLang="zh-CN" sz="2000" b="1"/>
          </a:p>
        </p:txBody>
      </p:sp>
      <p:sp>
        <p:nvSpPr>
          <p:cNvPr id="60432" name="Text Box 27"/>
          <p:cNvSpPr txBox="1">
            <a:spLocks noChangeArrowheads="1"/>
          </p:cNvSpPr>
          <p:nvPr/>
        </p:nvSpPr>
        <p:spPr bwMode="auto">
          <a:xfrm>
            <a:off x="5470525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  <a:endParaRPr kumimoji="0" lang="en-US" altLang="zh-CN" sz="2000" b="1"/>
          </a:p>
        </p:txBody>
      </p:sp>
      <p:sp>
        <p:nvSpPr>
          <p:cNvPr id="60433" name="Text Box 28"/>
          <p:cNvSpPr txBox="1">
            <a:spLocks noChangeArrowheads="1"/>
          </p:cNvSpPr>
          <p:nvPr/>
        </p:nvSpPr>
        <p:spPr bwMode="auto">
          <a:xfrm>
            <a:off x="63246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60434" name="Text Box 29"/>
          <p:cNvSpPr txBox="1">
            <a:spLocks noChangeArrowheads="1"/>
          </p:cNvSpPr>
          <p:nvPr/>
        </p:nvSpPr>
        <p:spPr bwMode="auto">
          <a:xfrm>
            <a:off x="1371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  <a:endParaRPr kumimoji="0" lang="en-US" altLang="zh-CN" sz="2000" b="1"/>
          </a:p>
        </p:txBody>
      </p:sp>
      <p:sp>
        <p:nvSpPr>
          <p:cNvPr id="60435" name="Text Box 30"/>
          <p:cNvSpPr txBox="1">
            <a:spLocks noChangeArrowheads="1"/>
          </p:cNvSpPr>
          <p:nvPr/>
        </p:nvSpPr>
        <p:spPr bwMode="auto">
          <a:xfrm>
            <a:off x="13716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  <a:endParaRPr kumimoji="0" lang="en-US" altLang="zh-CN" sz="2000" b="1"/>
          </a:p>
        </p:txBody>
      </p:sp>
      <p:sp>
        <p:nvSpPr>
          <p:cNvPr id="60436" name="Text Box 31"/>
          <p:cNvSpPr txBox="1">
            <a:spLocks noChangeArrowheads="1"/>
          </p:cNvSpPr>
          <p:nvPr/>
        </p:nvSpPr>
        <p:spPr bwMode="auto">
          <a:xfrm>
            <a:off x="13716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  <a:endParaRPr kumimoji="0" lang="en-US" altLang="zh-CN" sz="2000" b="1"/>
          </a:p>
        </p:txBody>
      </p:sp>
      <p:sp>
        <p:nvSpPr>
          <p:cNvPr id="60437" name="Text Box 32"/>
          <p:cNvSpPr txBox="1">
            <a:spLocks noChangeArrowheads="1"/>
          </p:cNvSpPr>
          <p:nvPr/>
        </p:nvSpPr>
        <p:spPr bwMode="auto">
          <a:xfrm>
            <a:off x="13716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  <a:endParaRPr kumimoji="0" lang="en-US" altLang="zh-CN" sz="2000" b="1"/>
          </a:p>
        </p:txBody>
      </p:sp>
      <p:sp>
        <p:nvSpPr>
          <p:cNvPr id="60438" name="Text Box 33"/>
          <p:cNvSpPr txBox="1">
            <a:spLocks noChangeArrowheads="1"/>
          </p:cNvSpPr>
          <p:nvPr/>
        </p:nvSpPr>
        <p:spPr bwMode="auto">
          <a:xfrm>
            <a:off x="13716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  <a:endParaRPr kumimoji="0" lang="en-US" altLang="zh-CN" sz="2000" b="1"/>
          </a:p>
        </p:txBody>
      </p:sp>
      <p:sp>
        <p:nvSpPr>
          <p:cNvPr id="60439" name="Line 47"/>
          <p:cNvSpPr>
            <a:spLocks noChangeShapeType="1"/>
          </p:cNvSpPr>
          <p:nvPr/>
        </p:nvSpPr>
        <p:spPr bwMode="auto">
          <a:xfrm>
            <a:off x="12192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0" name="Text Box 49"/>
          <p:cNvSpPr txBox="1">
            <a:spLocks noChangeArrowheads="1"/>
          </p:cNvSpPr>
          <p:nvPr/>
        </p:nvSpPr>
        <p:spPr bwMode="auto">
          <a:xfrm>
            <a:off x="13716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  <a:endParaRPr kumimoji="0" lang="en-US" altLang="zh-CN" sz="2000" b="1"/>
          </a:p>
        </p:txBody>
      </p:sp>
      <p:sp>
        <p:nvSpPr>
          <p:cNvPr id="60441" name="Text Box 55"/>
          <p:cNvSpPr txBox="1">
            <a:spLocks noChangeArrowheads="1"/>
          </p:cNvSpPr>
          <p:nvPr/>
        </p:nvSpPr>
        <p:spPr bwMode="auto">
          <a:xfrm>
            <a:off x="1371600" y="4403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  <a:endParaRPr kumimoji="0" lang="en-US" altLang="zh-CN" sz="2000" b="1"/>
          </a:p>
        </p:txBody>
      </p:sp>
      <p:sp>
        <p:nvSpPr>
          <p:cNvPr id="60442" name="Text Box 56"/>
          <p:cNvSpPr txBox="1">
            <a:spLocks noChangeArrowheads="1"/>
          </p:cNvSpPr>
          <p:nvPr/>
        </p:nvSpPr>
        <p:spPr bwMode="auto">
          <a:xfrm>
            <a:off x="13716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  <a:endParaRPr kumimoji="0" lang="en-US" altLang="zh-CN" sz="2000" b="1"/>
          </a:p>
        </p:txBody>
      </p:sp>
      <p:sp>
        <p:nvSpPr>
          <p:cNvPr id="60443" name="Text Box 57"/>
          <p:cNvSpPr txBox="1">
            <a:spLocks noChangeArrowheads="1"/>
          </p:cNvSpPr>
          <p:nvPr/>
        </p:nvSpPr>
        <p:spPr bwMode="auto">
          <a:xfrm>
            <a:off x="13716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  <a:endParaRPr kumimoji="0" lang="en-US" altLang="zh-CN" sz="2000" b="1"/>
          </a:p>
        </p:txBody>
      </p:sp>
      <p:sp>
        <p:nvSpPr>
          <p:cNvPr id="60444" name="Text Box 58"/>
          <p:cNvSpPr txBox="1">
            <a:spLocks noChangeArrowheads="1"/>
          </p:cNvSpPr>
          <p:nvPr/>
        </p:nvSpPr>
        <p:spPr bwMode="auto">
          <a:xfrm>
            <a:off x="13716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  <a:endParaRPr kumimoji="0" lang="en-US" altLang="zh-CN" sz="2000" b="1"/>
          </a:p>
        </p:txBody>
      </p:sp>
      <p:sp>
        <p:nvSpPr>
          <p:cNvPr id="60445" name="Text Box 59"/>
          <p:cNvSpPr txBox="1">
            <a:spLocks noChangeArrowheads="1"/>
          </p:cNvSpPr>
          <p:nvPr/>
        </p:nvSpPr>
        <p:spPr bwMode="auto">
          <a:xfrm>
            <a:off x="12192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10</a:t>
            </a:r>
            <a:endParaRPr kumimoji="0" lang="en-US" altLang="zh-CN" sz="2000" b="1"/>
          </a:p>
        </p:txBody>
      </p:sp>
      <p:sp>
        <p:nvSpPr>
          <p:cNvPr id="60446" name="Line 60"/>
          <p:cNvSpPr>
            <a:spLocks noChangeShapeType="1"/>
          </p:cNvSpPr>
          <p:nvPr/>
        </p:nvSpPr>
        <p:spPr bwMode="auto">
          <a:xfrm>
            <a:off x="1219200" y="6689725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7" name="Text Box 61"/>
          <p:cNvSpPr txBox="1">
            <a:spLocks noChangeArrowheads="1"/>
          </p:cNvSpPr>
          <p:nvPr/>
        </p:nvSpPr>
        <p:spPr bwMode="auto">
          <a:xfrm>
            <a:off x="1143000" y="63087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11</a:t>
            </a:r>
            <a:endParaRPr kumimoji="0" lang="en-US" altLang="zh-CN" sz="2000" b="1"/>
          </a:p>
        </p:txBody>
      </p:sp>
      <p:sp>
        <p:nvSpPr>
          <p:cNvPr id="60448" name="Text Box 63"/>
          <p:cNvSpPr txBox="1">
            <a:spLocks noChangeArrowheads="1"/>
          </p:cNvSpPr>
          <p:nvPr/>
        </p:nvSpPr>
        <p:spPr bwMode="auto">
          <a:xfrm>
            <a:off x="70866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endParaRPr kumimoji="0" lang="en-US" altLang="zh-CN" sz="2000" b="1"/>
          </a:p>
        </p:txBody>
      </p:sp>
      <p:sp>
        <p:nvSpPr>
          <p:cNvPr id="60449" name="Text Box 64"/>
          <p:cNvSpPr txBox="1">
            <a:spLocks noChangeArrowheads="1"/>
          </p:cNvSpPr>
          <p:nvPr/>
        </p:nvSpPr>
        <p:spPr bwMode="auto">
          <a:xfrm>
            <a:off x="7788275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endParaRPr kumimoji="0" lang="en-US" altLang="zh-CN" sz="2000" b="1"/>
          </a:p>
        </p:txBody>
      </p:sp>
      <p:sp>
        <p:nvSpPr>
          <p:cNvPr id="60450" name="Text Box 65"/>
          <p:cNvSpPr txBox="1">
            <a:spLocks noChangeArrowheads="1"/>
          </p:cNvSpPr>
          <p:nvPr/>
        </p:nvSpPr>
        <p:spPr bwMode="auto">
          <a:xfrm>
            <a:off x="84582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endParaRPr kumimoji="0" lang="en-US" altLang="zh-CN" sz="2000" b="1"/>
          </a:p>
        </p:txBody>
      </p:sp>
      <p:sp>
        <p:nvSpPr>
          <p:cNvPr id="60451" name="Text Box 66"/>
          <p:cNvSpPr txBox="1">
            <a:spLocks noChangeArrowheads="1"/>
          </p:cNvSpPr>
          <p:nvPr/>
        </p:nvSpPr>
        <p:spPr bwMode="auto">
          <a:xfrm>
            <a:off x="7696200" y="1447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  <a:endParaRPr kumimoji="0" lang="en-US" altLang="zh-CN" sz="2000" b="1"/>
          </a:p>
        </p:txBody>
      </p:sp>
      <p:sp>
        <p:nvSpPr>
          <p:cNvPr id="60452" name="Text Box 67"/>
          <p:cNvSpPr txBox="1">
            <a:spLocks noChangeArrowheads="1"/>
          </p:cNvSpPr>
          <p:nvPr/>
        </p:nvSpPr>
        <p:spPr bwMode="auto">
          <a:xfrm>
            <a:off x="20574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60453" name="Text Box 69"/>
          <p:cNvSpPr txBox="1">
            <a:spLocks noChangeArrowheads="1"/>
          </p:cNvSpPr>
          <p:nvPr/>
        </p:nvSpPr>
        <p:spPr bwMode="auto">
          <a:xfrm>
            <a:off x="46482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60454" name="Text Box 73"/>
          <p:cNvSpPr txBox="1">
            <a:spLocks noChangeArrowheads="1"/>
          </p:cNvSpPr>
          <p:nvPr/>
        </p:nvSpPr>
        <p:spPr bwMode="auto">
          <a:xfrm>
            <a:off x="70866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  <a:endParaRPr kumimoji="0" lang="en-US" altLang="zh-CN" sz="2000"/>
          </a:p>
        </p:txBody>
      </p:sp>
      <p:sp>
        <p:nvSpPr>
          <p:cNvPr id="60455" name="Text Box 74"/>
          <p:cNvSpPr txBox="1">
            <a:spLocks noChangeArrowheads="1"/>
          </p:cNvSpPr>
          <p:nvPr/>
        </p:nvSpPr>
        <p:spPr bwMode="auto">
          <a:xfrm>
            <a:off x="7788275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60456" name="Text Box 75"/>
          <p:cNvSpPr txBox="1">
            <a:spLocks noChangeArrowheads="1"/>
          </p:cNvSpPr>
          <p:nvPr/>
        </p:nvSpPr>
        <p:spPr bwMode="auto">
          <a:xfrm>
            <a:off x="84582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60457" name="Text Box 77"/>
          <p:cNvSpPr txBox="1">
            <a:spLocks noChangeArrowheads="1"/>
          </p:cNvSpPr>
          <p:nvPr/>
        </p:nvSpPr>
        <p:spPr bwMode="auto">
          <a:xfrm>
            <a:off x="2909888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60458" name="Text Box 81"/>
          <p:cNvSpPr txBox="1">
            <a:spLocks noChangeArrowheads="1"/>
          </p:cNvSpPr>
          <p:nvPr/>
        </p:nvSpPr>
        <p:spPr bwMode="auto">
          <a:xfrm>
            <a:off x="6248400" y="25177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  <a:endParaRPr kumimoji="0" lang="en-US" altLang="zh-CN" sz="2000"/>
          </a:p>
        </p:txBody>
      </p:sp>
      <p:sp>
        <p:nvSpPr>
          <p:cNvPr id="60459" name="Text Box 86"/>
          <p:cNvSpPr txBox="1">
            <a:spLocks noChangeArrowheads="1"/>
          </p:cNvSpPr>
          <p:nvPr/>
        </p:nvSpPr>
        <p:spPr bwMode="auto">
          <a:xfrm>
            <a:off x="2909888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60460" name="Text Box 87"/>
          <p:cNvSpPr txBox="1">
            <a:spLocks noChangeArrowheads="1"/>
          </p:cNvSpPr>
          <p:nvPr/>
        </p:nvSpPr>
        <p:spPr bwMode="auto">
          <a:xfrm>
            <a:off x="3763963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  <a:endParaRPr kumimoji="0" lang="en-US" altLang="zh-CN" sz="2000"/>
          </a:p>
        </p:txBody>
      </p:sp>
      <p:sp>
        <p:nvSpPr>
          <p:cNvPr id="60461" name="Text Box 89"/>
          <p:cNvSpPr txBox="1">
            <a:spLocks noChangeArrowheads="1"/>
          </p:cNvSpPr>
          <p:nvPr/>
        </p:nvSpPr>
        <p:spPr bwMode="auto">
          <a:xfrm>
            <a:off x="5470525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60462" name="Text Box 90"/>
          <p:cNvSpPr txBox="1">
            <a:spLocks noChangeArrowheads="1"/>
          </p:cNvSpPr>
          <p:nvPr/>
        </p:nvSpPr>
        <p:spPr bwMode="auto">
          <a:xfrm>
            <a:off x="63246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60463" name="Text Box 95"/>
          <p:cNvSpPr txBox="1">
            <a:spLocks noChangeArrowheads="1"/>
          </p:cNvSpPr>
          <p:nvPr/>
        </p:nvSpPr>
        <p:spPr bwMode="auto">
          <a:xfrm>
            <a:off x="2909888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60464" name="Text Box 96"/>
          <p:cNvSpPr txBox="1">
            <a:spLocks noChangeArrowheads="1"/>
          </p:cNvSpPr>
          <p:nvPr/>
        </p:nvSpPr>
        <p:spPr bwMode="auto">
          <a:xfrm>
            <a:off x="3763963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60465" name="Text Box 98"/>
          <p:cNvSpPr txBox="1">
            <a:spLocks noChangeArrowheads="1"/>
          </p:cNvSpPr>
          <p:nvPr/>
        </p:nvSpPr>
        <p:spPr bwMode="auto">
          <a:xfrm>
            <a:off x="5470525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60466" name="Text Box 99"/>
          <p:cNvSpPr txBox="1">
            <a:spLocks noChangeArrowheads="1"/>
          </p:cNvSpPr>
          <p:nvPr/>
        </p:nvSpPr>
        <p:spPr bwMode="auto">
          <a:xfrm>
            <a:off x="6324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60467" name="Text Box 103"/>
          <p:cNvSpPr txBox="1">
            <a:spLocks noChangeArrowheads="1"/>
          </p:cNvSpPr>
          <p:nvPr/>
        </p:nvSpPr>
        <p:spPr bwMode="auto">
          <a:xfrm>
            <a:off x="205740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60468" name="Text Box 106"/>
          <p:cNvSpPr txBox="1">
            <a:spLocks noChangeArrowheads="1"/>
          </p:cNvSpPr>
          <p:nvPr/>
        </p:nvSpPr>
        <p:spPr bwMode="auto">
          <a:xfrm>
            <a:off x="461645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60469" name="Text Box 109"/>
          <p:cNvSpPr txBox="1">
            <a:spLocks noChangeArrowheads="1"/>
          </p:cNvSpPr>
          <p:nvPr/>
        </p:nvSpPr>
        <p:spPr bwMode="auto">
          <a:xfrm>
            <a:off x="70866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  <a:endParaRPr kumimoji="0" lang="en-US" altLang="zh-CN" sz="2000"/>
          </a:p>
        </p:txBody>
      </p:sp>
      <p:sp>
        <p:nvSpPr>
          <p:cNvPr id="60470" name="Text Box 110"/>
          <p:cNvSpPr txBox="1">
            <a:spLocks noChangeArrowheads="1"/>
          </p:cNvSpPr>
          <p:nvPr/>
        </p:nvSpPr>
        <p:spPr bwMode="auto">
          <a:xfrm>
            <a:off x="7788275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60471" name="Text Box 111"/>
          <p:cNvSpPr txBox="1">
            <a:spLocks noChangeArrowheads="1"/>
          </p:cNvSpPr>
          <p:nvPr/>
        </p:nvSpPr>
        <p:spPr bwMode="auto">
          <a:xfrm>
            <a:off x="84582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60472" name="Text Box 113"/>
          <p:cNvSpPr txBox="1">
            <a:spLocks noChangeArrowheads="1"/>
          </p:cNvSpPr>
          <p:nvPr/>
        </p:nvSpPr>
        <p:spPr bwMode="auto">
          <a:xfrm>
            <a:off x="2909888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60473" name="Text Box 114"/>
          <p:cNvSpPr txBox="1">
            <a:spLocks noChangeArrowheads="1"/>
          </p:cNvSpPr>
          <p:nvPr/>
        </p:nvSpPr>
        <p:spPr bwMode="auto">
          <a:xfrm>
            <a:off x="3763963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60474" name="Text Box 116"/>
          <p:cNvSpPr txBox="1">
            <a:spLocks noChangeArrowheads="1"/>
          </p:cNvSpPr>
          <p:nvPr/>
        </p:nvSpPr>
        <p:spPr bwMode="auto">
          <a:xfrm>
            <a:off x="5470525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60475" name="Text Box 117"/>
          <p:cNvSpPr txBox="1">
            <a:spLocks noChangeArrowheads="1"/>
          </p:cNvSpPr>
          <p:nvPr/>
        </p:nvSpPr>
        <p:spPr bwMode="auto">
          <a:xfrm>
            <a:off x="6324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60476" name="Text Box 121"/>
          <p:cNvSpPr txBox="1">
            <a:spLocks noChangeArrowheads="1"/>
          </p:cNvSpPr>
          <p:nvPr/>
        </p:nvSpPr>
        <p:spPr bwMode="auto">
          <a:xfrm>
            <a:off x="20574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60477" name="Text Box 124"/>
          <p:cNvSpPr txBox="1">
            <a:spLocks noChangeArrowheads="1"/>
          </p:cNvSpPr>
          <p:nvPr/>
        </p:nvSpPr>
        <p:spPr bwMode="auto">
          <a:xfrm>
            <a:off x="461645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60478" name="Text Box 128"/>
          <p:cNvSpPr txBox="1">
            <a:spLocks noChangeArrowheads="1"/>
          </p:cNvSpPr>
          <p:nvPr/>
        </p:nvSpPr>
        <p:spPr bwMode="auto">
          <a:xfrm>
            <a:off x="7788275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  <a:endParaRPr kumimoji="0" lang="en-US" altLang="zh-CN" sz="2000"/>
          </a:p>
        </p:txBody>
      </p:sp>
      <p:sp>
        <p:nvSpPr>
          <p:cNvPr id="60479" name="Text Box 129"/>
          <p:cNvSpPr txBox="1">
            <a:spLocks noChangeArrowheads="1"/>
          </p:cNvSpPr>
          <p:nvPr/>
        </p:nvSpPr>
        <p:spPr bwMode="auto">
          <a:xfrm>
            <a:off x="84582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60480" name="Text Box 130"/>
          <p:cNvSpPr txBox="1">
            <a:spLocks noChangeArrowheads="1"/>
          </p:cNvSpPr>
          <p:nvPr/>
        </p:nvSpPr>
        <p:spPr bwMode="auto">
          <a:xfrm>
            <a:off x="20574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60481" name="Text Box 133"/>
          <p:cNvSpPr txBox="1">
            <a:spLocks noChangeArrowheads="1"/>
          </p:cNvSpPr>
          <p:nvPr/>
        </p:nvSpPr>
        <p:spPr bwMode="auto">
          <a:xfrm>
            <a:off x="461645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60482" name="Text Box 138"/>
          <p:cNvSpPr txBox="1">
            <a:spLocks noChangeArrowheads="1"/>
          </p:cNvSpPr>
          <p:nvPr/>
        </p:nvSpPr>
        <p:spPr bwMode="auto">
          <a:xfrm>
            <a:off x="84582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10</a:t>
            </a:r>
            <a:endParaRPr kumimoji="0" lang="en-US" altLang="zh-CN" sz="2000"/>
          </a:p>
        </p:txBody>
      </p:sp>
      <p:sp>
        <p:nvSpPr>
          <p:cNvPr id="60483" name="Text Box 140"/>
          <p:cNvSpPr txBox="1">
            <a:spLocks noChangeArrowheads="1"/>
          </p:cNvSpPr>
          <p:nvPr/>
        </p:nvSpPr>
        <p:spPr bwMode="auto">
          <a:xfrm>
            <a:off x="2909888" y="5146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60484" name="Text Box 143"/>
          <p:cNvSpPr txBox="1">
            <a:spLocks noChangeArrowheads="1"/>
          </p:cNvSpPr>
          <p:nvPr/>
        </p:nvSpPr>
        <p:spPr bwMode="auto">
          <a:xfrm>
            <a:off x="5410200" y="514667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s11</a:t>
            </a:r>
            <a:endParaRPr kumimoji="0" lang="en-US" altLang="zh-CN" sz="2000"/>
          </a:p>
        </p:txBody>
      </p:sp>
      <p:sp>
        <p:nvSpPr>
          <p:cNvPr id="60485" name="Text Box 149"/>
          <p:cNvSpPr txBox="1">
            <a:spLocks noChangeArrowheads="1"/>
          </p:cNvSpPr>
          <p:nvPr/>
        </p:nvSpPr>
        <p:spPr bwMode="auto">
          <a:xfrm>
            <a:off x="2909888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60486" name="Text Box 150"/>
          <p:cNvSpPr txBox="1">
            <a:spLocks noChangeArrowheads="1"/>
          </p:cNvSpPr>
          <p:nvPr/>
        </p:nvSpPr>
        <p:spPr bwMode="auto">
          <a:xfrm>
            <a:off x="3763963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  <a:endParaRPr kumimoji="0" lang="en-US" altLang="zh-CN" sz="2000"/>
          </a:p>
        </p:txBody>
      </p:sp>
      <p:sp>
        <p:nvSpPr>
          <p:cNvPr id="60487" name="Text Box 152"/>
          <p:cNvSpPr txBox="1">
            <a:spLocks noChangeArrowheads="1"/>
          </p:cNvSpPr>
          <p:nvPr/>
        </p:nvSpPr>
        <p:spPr bwMode="auto">
          <a:xfrm>
            <a:off x="5470525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60488" name="Text Box 153"/>
          <p:cNvSpPr txBox="1">
            <a:spLocks noChangeArrowheads="1"/>
          </p:cNvSpPr>
          <p:nvPr/>
        </p:nvSpPr>
        <p:spPr bwMode="auto">
          <a:xfrm>
            <a:off x="6324600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60489" name="Text Box 158"/>
          <p:cNvSpPr txBox="1">
            <a:spLocks noChangeArrowheads="1"/>
          </p:cNvSpPr>
          <p:nvPr/>
        </p:nvSpPr>
        <p:spPr bwMode="auto">
          <a:xfrm>
            <a:off x="2909888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60490" name="Text Box 159"/>
          <p:cNvSpPr txBox="1">
            <a:spLocks noChangeArrowheads="1"/>
          </p:cNvSpPr>
          <p:nvPr/>
        </p:nvSpPr>
        <p:spPr bwMode="auto">
          <a:xfrm>
            <a:off x="3763963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60491" name="Text Box 161"/>
          <p:cNvSpPr txBox="1">
            <a:spLocks noChangeArrowheads="1"/>
          </p:cNvSpPr>
          <p:nvPr/>
        </p:nvSpPr>
        <p:spPr bwMode="auto">
          <a:xfrm>
            <a:off x="5470525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60492" name="Text Box 162"/>
          <p:cNvSpPr txBox="1">
            <a:spLocks noChangeArrowheads="1"/>
          </p:cNvSpPr>
          <p:nvPr/>
        </p:nvSpPr>
        <p:spPr bwMode="auto">
          <a:xfrm>
            <a:off x="63246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60493" name="Text Box 167"/>
          <p:cNvSpPr txBox="1">
            <a:spLocks noChangeArrowheads="1"/>
          </p:cNvSpPr>
          <p:nvPr/>
        </p:nvSpPr>
        <p:spPr bwMode="auto">
          <a:xfrm>
            <a:off x="2909888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60494" name="Text Box 168"/>
          <p:cNvSpPr txBox="1">
            <a:spLocks noChangeArrowheads="1"/>
          </p:cNvSpPr>
          <p:nvPr/>
        </p:nvSpPr>
        <p:spPr bwMode="auto">
          <a:xfrm>
            <a:off x="3763963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60495" name="Text Box 170"/>
          <p:cNvSpPr txBox="1">
            <a:spLocks noChangeArrowheads="1"/>
          </p:cNvSpPr>
          <p:nvPr/>
        </p:nvSpPr>
        <p:spPr bwMode="auto">
          <a:xfrm>
            <a:off x="5470525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60496" name="Text Box 171"/>
          <p:cNvSpPr txBox="1">
            <a:spLocks noChangeArrowheads="1"/>
          </p:cNvSpPr>
          <p:nvPr/>
        </p:nvSpPr>
        <p:spPr bwMode="auto">
          <a:xfrm>
            <a:off x="6324600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4.33  </a:t>
            </a:r>
            <a:r>
              <a:rPr lang="zh-CN" altLang="en-US"/>
              <a:t>分析实例</a:t>
            </a:r>
            <a:endParaRPr lang="zh-CN" altLang="en-US"/>
          </a:p>
        </p:txBody>
      </p:sp>
      <p:sp>
        <p:nvSpPr>
          <p:cNvPr id="61443" name="Line 5"/>
          <p:cNvSpPr>
            <a:spLocks noChangeShapeType="1"/>
          </p:cNvSpPr>
          <p:nvPr/>
        </p:nvSpPr>
        <p:spPr bwMode="auto">
          <a:xfrm>
            <a:off x="1066800" y="12954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4" name="Line 6"/>
          <p:cNvSpPr>
            <a:spLocks noChangeShapeType="1"/>
          </p:cNvSpPr>
          <p:nvPr/>
        </p:nvSpPr>
        <p:spPr bwMode="auto">
          <a:xfrm>
            <a:off x="1066800" y="13716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5" name="Line 7"/>
          <p:cNvSpPr>
            <a:spLocks noChangeShapeType="1"/>
          </p:cNvSpPr>
          <p:nvPr/>
        </p:nvSpPr>
        <p:spPr bwMode="auto">
          <a:xfrm>
            <a:off x="1066800" y="16764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Line 8"/>
          <p:cNvSpPr>
            <a:spLocks noChangeShapeType="1"/>
          </p:cNvSpPr>
          <p:nvPr/>
        </p:nvSpPr>
        <p:spPr bwMode="auto">
          <a:xfrm>
            <a:off x="1066800" y="60198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7" name="Line 9"/>
          <p:cNvSpPr>
            <a:spLocks noChangeShapeType="1"/>
          </p:cNvSpPr>
          <p:nvPr/>
        </p:nvSpPr>
        <p:spPr bwMode="auto">
          <a:xfrm>
            <a:off x="6172200" y="1371600"/>
            <a:ext cx="0" cy="464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Line 10"/>
          <p:cNvSpPr>
            <a:spLocks noChangeShapeType="1"/>
          </p:cNvSpPr>
          <p:nvPr/>
        </p:nvSpPr>
        <p:spPr bwMode="auto">
          <a:xfrm>
            <a:off x="4114800" y="1371600"/>
            <a:ext cx="0" cy="464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9" name="Text Box 11"/>
          <p:cNvSpPr txBox="1">
            <a:spLocks noChangeArrowheads="1"/>
          </p:cNvSpPr>
          <p:nvPr/>
        </p:nvSpPr>
        <p:spPr bwMode="auto">
          <a:xfrm>
            <a:off x="4267200" y="1601788"/>
            <a:ext cx="1828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id * id + id$ 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* id + id$ 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* id + id$ 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* id + id$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id + id$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 id$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 id$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 id$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 id$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id$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  <a:endParaRPr kumimoji="0" lang="en-US" altLang="zh-CN" sz="2000" b="1">
              <a:solidFill>
                <a:schemeClr val="accent2"/>
              </a:solidFill>
            </a:endParaRP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  <a:endParaRPr kumimoji="0"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61450" name="Text Box 12"/>
          <p:cNvSpPr txBox="1">
            <a:spLocks noChangeArrowheads="1"/>
          </p:cNvSpPr>
          <p:nvPr/>
        </p:nvSpPr>
        <p:spPr bwMode="auto">
          <a:xfrm>
            <a:off x="6324600" y="17526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61451" name="Text Box 13"/>
          <p:cNvSpPr txBox="1">
            <a:spLocks noChangeArrowheads="1"/>
          </p:cNvSpPr>
          <p:nvPr/>
        </p:nvSpPr>
        <p:spPr bwMode="auto">
          <a:xfrm>
            <a:off x="1905000" y="12954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STACK</a:t>
            </a:r>
            <a:endParaRPr kumimoji="0" lang="en-US" altLang="zh-CN" sz="2000" b="1"/>
          </a:p>
        </p:txBody>
      </p:sp>
      <p:sp>
        <p:nvSpPr>
          <p:cNvPr id="61452" name="Text Box 14"/>
          <p:cNvSpPr txBox="1">
            <a:spLocks noChangeArrowheads="1"/>
          </p:cNvSpPr>
          <p:nvPr/>
        </p:nvSpPr>
        <p:spPr bwMode="auto">
          <a:xfrm>
            <a:off x="4495800" y="12954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INPUT</a:t>
            </a:r>
            <a:endParaRPr kumimoji="0" lang="en-US" altLang="zh-CN" sz="2000" b="1"/>
          </a:p>
        </p:txBody>
      </p:sp>
      <p:sp>
        <p:nvSpPr>
          <p:cNvPr id="61453" name="Text Box 15"/>
          <p:cNvSpPr txBox="1">
            <a:spLocks noChangeArrowheads="1"/>
          </p:cNvSpPr>
          <p:nvPr/>
        </p:nvSpPr>
        <p:spPr bwMode="auto">
          <a:xfrm>
            <a:off x="6400800" y="12954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Remark</a:t>
            </a:r>
            <a:endParaRPr kumimoji="0" lang="en-US" altLang="zh-CN" sz="2000" b="1"/>
          </a:p>
        </p:txBody>
      </p:sp>
      <p:sp>
        <p:nvSpPr>
          <p:cNvPr id="61454" name="Text Box 16"/>
          <p:cNvSpPr txBox="1">
            <a:spLocks noChangeArrowheads="1"/>
          </p:cNvSpPr>
          <p:nvPr/>
        </p:nvSpPr>
        <p:spPr bwMode="auto">
          <a:xfrm>
            <a:off x="6248400" y="1601788"/>
            <a:ext cx="2209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  <a:endParaRPr kumimoji="0" lang="zh-CN" altLang="en-US" sz="20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F  </a:t>
            </a:r>
            <a:r>
              <a:rPr kumimoji="0" lang="en-US" altLang="zh-CN" sz="2000" b="1">
                <a:sym typeface="Symbol" panose="05050102010706020507" pitchFamily="18" charset="2"/>
              </a:rPr>
              <a:t>id</a:t>
            </a:r>
            <a:endParaRPr kumimoji="0" lang="en-US" altLang="zh-CN" sz="2000" b="1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T  F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  <a:endParaRPr kumimoji="0" lang="zh-CN" altLang="en-US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  <a:endParaRPr kumimoji="0" lang="zh-CN" altLang="en-US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F  </a:t>
            </a:r>
            <a:r>
              <a:rPr kumimoji="0" lang="en-US" altLang="zh-CN" sz="2000" b="1">
                <a:sym typeface="Symbol" panose="05050102010706020507" pitchFamily="18" charset="2"/>
              </a:rPr>
              <a:t>id</a:t>
            </a:r>
            <a:endParaRPr kumimoji="0" lang="en-US" altLang="zh-CN" sz="2000" b="1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T  T * F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/>
              <a:t>E </a:t>
            </a:r>
            <a:r>
              <a:rPr kumimoji="0" lang="en-US" altLang="zh-CN" sz="2000">
                <a:sym typeface="Symbol" panose="05050102010706020507" pitchFamily="18" charset="2"/>
              </a:rPr>
              <a:t> T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  <a:endParaRPr kumimoji="0" lang="zh-CN" altLang="en-US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  <a:endParaRPr kumimoji="0" lang="zh-CN" altLang="en-US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F  </a:t>
            </a:r>
            <a:r>
              <a:rPr kumimoji="0" lang="en-US" altLang="zh-CN" sz="2000" b="1">
                <a:sym typeface="Symbol" panose="05050102010706020507" pitchFamily="18" charset="2"/>
              </a:rPr>
              <a:t>id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T  F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/>
              <a:t>E </a:t>
            </a:r>
            <a:r>
              <a:rPr kumimoji="0" lang="en-US" altLang="zh-CN" sz="2000">
                <a:sym typeface="Symbol" panose="05050102010706020507" pitchFamily="18" charset="2"/>
              </a:rPr>
              <a:t> E + T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sym typeface="Symbol" panose="05050102010706020507" pitchFamily="18" charset="2"/>
              </a:rPr>
              <a:t>接受</a:t>
            </a:r>
            <a:endParaRPr kumimoji="0" lang="zh-CN" altLang="en-US" sz="2000">
              <a:sym typeface="Symbol" panose="05050102010706020507" pitchFamily="18" charset="2"/>
            </a:endParaRPr>
          </a:p>
        </p:txBody>
      </p:sp>
      <p:sp>
        <p:nvSpPr>
          <p:cNvPr id="61455" name="Text Box 17"/>
          <p:cNvSpPr txBox="1">
            <a:spLocks noChangeArrowheads="1"/>
          </p:cNvSpPr>
          <p:nvPr/>
        </p:nvSpPr>
        <p:spPr bwMode="auto">
          <a:xfrm>
            <a:off x="1219200" y="1601788"/>
            <a:ext cx="28194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(1) 0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(2) 0 </a:t>
            </a:r>
            <a:r>
              <a:rPr kumimoji="0" lang="en-US" altLang="zh-CN" sz="2000" b="1"/>
              <a:t>id</a:t>
            </a:r>
            <a:r>
              <a:rPr kumimoji="0" lang="en-US" altLang="zh-CN" sz="2000"/>
              <a:t> 5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(3) 0 F 3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(4) 0 T 2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(5) 0 T 2 * 7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(6) 0 T 2 * 7 </a:t>
            </a:r>
            <a:r>
              <a:rPr kumimoji="0" lang="en-US" altLang="zh-CN" sz="2000" b="1"/>
              <a:t>id </a:t>
            </a:r>
            <a:r>
              <a:rPr kumimoji="0" lang="en-US" altLang="zh-CN" sz="2000"/>
              <a:t>5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(7) 0 T 2 * 7 F 10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(8) 0 T 2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(9) 0 E 1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(10) 0 E 1 + 6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(11) 0 E 1 + 6 </a:t>
            </a:r>
            <a:r>
              <a:rPr kumimoji="0" lang="en-US" altLang="zh-CN" sz="2000" b="1"/>
              <a:t>id</a:t>
            </a:r>
            <a:r>
              <a:rPr kumimoji="0" lang="en-US" altLang="zh-CN" sz="2000"/>
              <a:t> 5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(12) 0 E 1 + 6 F 3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(13) 0 E 1 + 6 T 9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(14) 0 E 1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4.7.2  LR</a:t>
            </a:r>
            <a:r>
              <a:rPr lang="zh-CN" altLang="en-US"/>
              <a:t>文法</a:t>
            </a:r>
            <a:endParaRPr lang="zh-CN" alt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可创建</a:t>
            </a:r>
            <a:r>
              <a:rPr lang="en-US" altLang="zh-CN" sz="2800" dirty="0"/>
              <a:t>LR</a:t>
            </a:r>
            <a:r>
              <a:rPr lang="zh-CN" altLang="en-US" sz="2800" dirty="0"/>
              <a:t>分析表的文法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如何分析</a:t>
            </a:r>
            <a:r>
              <a:rPr lang="en-US" altLang="zh-CN" sz="2800" dirty="0"/>
              <a:t>LR</a:t>
            </a:r>
            <a:r>
              <a:rPr lang="zh-CN" altLang="en-US" sz="2800" dirty="0"/>
              <a:t>文法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所有活前缀的集合是正规的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构造</a:t>
            </a:r>
            <a:r>
              <a:rPr lang="en-US" altLang="zh-CN" sz="2400" dirty="0"/>
              <a:t>DFA</a:t>
            </a:r>
            <a:r>
              <a:rPr lang="zh-CN" altLang="en-US" sz="2400" dirty="0"/>
              <a:t>识别它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利用</a:t>
            </a:r>
            <a:r>
              <a:rPr lang="en-US" altLang="zh-CN" sz="2400" dirty="0"/>
              <a:t>DFA</a:t>
            </a:r>
            <a:r>
              <a:rPr lang="zh-CN" altLang="en-US" sz="2400" dirty="0"/>
              <a:t>辅助分析表的构造</a:t>
            </a:r>
            <a:endParaRPr lang="zh-CN" altLang="en-US" sz="2400" dirty="0"/>
          </a:p>
          <a:p>
            <a:pPr eaLnBrk="1" hangingPunct="1"/>
            <a:r>
              <a:rPr lang="en-US" altLang="zh-CN" sz="2800" dirty="0"/>
              <a:t>LR(k)——</a:t>
            </a:r>
            <a:r>
              <a:rPr lang="zh-CN" altLang="en-US" sz="2800" dirty="0"/>
              <a:t>展望</a:t>
            </a:r>
            <a:r>
              <a:rPr lang="en-US" altLang="zh-CN" sz="2800" dirty="0"/>
              <a:t>k</a:t>
            </a:r>
            <a:r>
              <a:rPr lang="zh-CN" altLang="en-US" sz="2800" dirty="0"/>
              <a:t>个符号</a:t>
            </a:r>
            <a:br>
              <a:rPr lang="zh-CN" altLang="en-US" sz="2800" dirty="0"/>
            </a:br>
            <a:r>
              <a:rPr lang="en-US" altLang="zh-CN" sz="2800" dirty="0"/>
              <a:t>LL(k)——</a:t>
            </a:r>
            <a:r>
              <a:rPr lang="zh-CN" altLang="en-US" sz="2800" dirty="0"/>
              <a:t>区分右部推导的前</a:t>
            </a:r>
            <a:r>
              <a:rPr lang="en-US" altLang="zh-CN" sz="2800" dirty="0"/>
              <a:t>k</a:t>
            </a:r>
            <a:r>
              <a:rPr lang="zh-CN" altLang="en-US" sz="2800" dirty="0"/>
              <a:t>个符号</a:t>
            </a:r>
            <a:br>
              <a:rPr lang="zh-CN" altLang="en-US" sz="2800" dirty="0"/>
            </a:br>
            <a:r>
              <a:rPr lang="en-US" altLang="zh-CN" sz="2800" dirty="0"/>
              <a:t>LR</a:t>
            </a:r>
            <a:r>
              <a:rPr lang="zh-CN" altLang="en-US" sz="2800" dirty="0"/>
              <a:t>描述能力更强</a:t>
            </a:r>
            <a:endParaRPr lang="zh-CN" altLang="en-US" sz="2800" dirty="0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ltGray">
          <a:xfrm>
            <a:off x="228600" y="4876800"/>
            <a:ext cx="362332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folHlink"/>
                </a:solidFill>
              </a:rPr>
              <a:t>$…A	x…$</a:t>
            </a:r>
            <a:br>
              <a:rPr lang="en-US" altLang="zh-CN" sz="2400" dirty="0">
                <a:solidFill>
                  <a:schemeClr val="folHlink"/>
                </a:solidFill>
              </a:rPr>
            </a:br>
            <a:r>
              <a:rPr lang="en-US" altLang="zh-CN" sz="2400" dirty="0">
                <a:solidFill>
                  <a:srgbClr val="FF3300"/>
                </a:solidFill>
              </a:rPr>
              <a:t>A…</a:t>
            </a:r>
            <a:r>
              <a:rPr lang="zh-CN" altLang="en-US" sz="2400" dirty="0">
                <a:solidFill>
                  <a:srgbClr val="FF3300"/>
                </a:solidFill>
              </a:rPr>
              <a:t>和</a:t>
            </a:r>
            <a:r>
              <a:rPr lang="en-US" altLang="zh-CN" sz="2400" dirty="0">
                <a:solidFill>
                  <a:srgbClr val="FF3300"/>
                </a:solidFill>
              </a:rPr>
              <a:t>x…</a:t>
            </a:r>
            <a:r>
              <a:rPr lang="zh-CN" altLang="en-US" sz="2400" dirty="0">
                <a:solidFill>
                  <a:srgbClr val="FF3300"/>
                </a:solidFill>
              </a:rPr>
              <a:t>是语法等价关系试图寻找</a:t>
            </a:r>
            <a:r>
              <a:rPr lang="en-US" altLang="zh-CN" sz="2400" dirty="0">
                <a:solidFill>
                  <a:srgbClr val="FF3300"/>
                </a:solidFill>
              </a:rPr>
              <a:t>A…</a:t>
            </a:r>
            <a: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x…</a:t>
            </a:r>
            <a:b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kumimoji="0" lang="zh-CN" altLang="en-US" sz="2400" dirty="0">
                <a:solidFill>
                  <a:srgbClr val="FF3300"/>
                </a:solidFill>
                <a:sym typeface="Symbol" panose="05050102010706020507" pitchFamily="18" charset="2"/>
              </a:rPr>
              <a:t>把</a:t>
            </a:r>
            <a: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A…</a:t>
            </a:r>
            <a:r>
              <a:rPr lang="zh-CN" altLang="en-US" sz="2400" dirty="0">
                <a:solidFill>
                  <a:srgbClr val="FF3300"/>
                </a:solidFill>
              </a:rPr>
              <a:t>“变换</a:t>
            </a:r>
            <a:r>
              <a:rPr kumimoji="0" lang="zh-CN" altLang="en-US" sz="2400" dirty="0">
                <a:solidFill>
                  <a:srgbClr val="FF3300"/>
                </a:solidFill>
                <a:sym typeface="Symbol" panose="05050102010706020507" pitchFamily="18" charset="2"/>
              </a:rPr>
              <a:t>成”</a:t>
            </a:r>
            <a: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x…</a:t>
            </a:r>
            <a:endParaRPr kumimoji="0" lang="en-US" altLang="zh-CN" sz="2400" dirty="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ltGray">
          <a:xfrm>
            <a:off x="2534816" y="5577479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</a:rPr>
              <a:t>*</a:t>
            </a:r>
            <a:endParaRPr lang="en-US" altLang="zh-CN" sz="2400" dirty="0">
              <a:solidFill>
                <a:srgbClr val="FF3300"/>
              </a:solidFill>
            </a:endParaRP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ltGray">
          <a:xfrm>
            <a:off x="6465192" y="2362200"/>
            <a:ext cx="24272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folHlink"/>
                </a:solidFill>
              </a:rPr>
              <a:t>$…</a:t>
            </a:r>
            <a:r>
              <a:rPr lang="en-US" altLang="zh-CN" sz="2400" dirty="0">
                <a:solidFill>
                  <a:schemeClr val="folHlink"/>
                </a:solidFill>
                <a:latin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chemeClr val="folHlink"/>
                </a:solidFill>
              </a:rPr>
              <a:t>	x…$</a:t>
            </a:r>
            <a:br>
              <a:rPr lang="en-US" altLang="zh-CN" sz="2400" dirty="0">
                <a:solidFill>
                  <a:schemeClr val="folHlink"/>
                </a:solidFill>
              </a:rPr>
            </a:br>
            <a:r>
              <a:rPr lang="en-US" altLang="zh-CN" sz="2400" dirty="0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zh-CN" altLang="en-US" sz="2400" dirty="0">
                <a:solidFill>
                  <a:srgbClr val="FF3300"/>
                </a:solidFill>
                <a:latin typeface="Symbol" panose="05050102010706020507" pitchFamily="18" charset="2"/>
              </a:rPr>
              <a:t>和</a:t>
            </a:r>
            <a:r>
              <a:rPr lang="en-US" altLang="zh-CN" sz="2400" dirty="0">
                <a:solidFill>
                  <a:srgbClr val="FF3300"/>
                </a:solidFill>
              </a:rPr>
              <a:t>x</a:t>
            </a:r>
            <a:r>
              <a:rPr lang="zh-CN" altLang="en-US" sz="2400" dirty="0">
                <a:solidFill>
                  <a:srgbClr val="FF3300"/>
                </a:solidFill>
              </a:rPr>
              <a:t>是协同关系，一起 “拼接成”</a:t>
            </a:r>
            <a:br>
              <a:rPr lang="en-US" altLang="zh-CN" sz="2400" dirty="0">
                <a:solidFill>
                  <a:srgbClr val="FF3300"/>
                </a:solidFill>
              </a:rPr>
            </a:br>
            <a:r>
              <a:rPr lang="zh-CN" altLang="en-US" sz="2400" dirty="0">
                <a:solidFill>
                  <a:srgbClr val="FF3300"/>
                </a:solidFill>
              </a:rPr>
              <a:t>最右句型</a:t>
            </a:r>
            <a:endParaRPr kumimoji="0" lang="zh-CN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sp>
        <p:nvSpPr>
          <p:cNvPr id="62471" name="Line 8"/>
          <p:cNvSpPr>
            <a:spLocks noChangeShapeType="1"/>
          </p:cNvSpPr>
          <p:nvPr/>
        </p:nvSpPr>
        <p:spPr bwMode="ltGray">
          <a:xfrm flipH="1">
            <a:off x="5181600" y="3276600"/>
            <a:ext cx="1219200" cy="609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2" name="Line 9"/>
          <p:cNvSpPr>
            <a:spLocks noChangeShapeType="1"/>
          </p:cNvSpPr>
          <p:nvPr/>
        </p:nvSpPr>
        <p:spPr bwMode="ltGray">
          <a:xfrm flipV="1">
            <a:off x="990600" y="4419600"/>
            <a:ext cx="6096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4.7.3  SLR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5369768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</a:rPr>
              <a:t>Simple LR parsing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/>
              <a:t>保证语法栈中始终是活前缀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需能识别所有活前缀</a:t>
            </a:r>
            <a:r>
              <a:rPr lang="en-US" altLang="zh-CN" dirty="0"/>
              <a:t>——</a:t>
            </a:r>
            <a:r>
              <a:rPr lang="zh-CN" altLang="en-US" dirty="0"/>
              <a:t>构造</a:t>
            </a:r>
            <a:r>
              <a:rPr lang="en-US" altLang="zh-CN" dirty="0"/>
              <a:t>DFA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活前缀无穷多个</a:t>
            </a:r>
            <a:r>
              <a:rPr lang="en-US" altLang="zh-CN" dirty="0"/>
              <a:t>——</a:t>
            </a:r>
            <a:r>
              <a:rPr lang="zh-CN" altLang="en-US" dirty="0"/>
              <a:t>寻找替代物</a:t>
            </a:r>
            <a:endParaRPr lang="en-US" altLang="zh-CN" dirty="0"/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文法</a:t>
            </a:r>
            <a:r>
              <a:rPr lang="en-US" altLang="zh-CN" dirty="0"/>
              <a:t>G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en-US" altLang="zh-CN" b="1" dirty="0">
                <a:ea typeface="黑体" panose="02010609060101010101" pitchFamily="49" charset="-122"/>
              </a:rPr>
              <a:t>LR(0)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zh-CN" altLang="en-US" dirty="0"/>
              <a:t>（简称</a:t>
            </a:r>
            <a:r>
              <a:rPr lang="zh-CN" altLang="en-US" b="1" dirty="0">
                <a:ea typeface="黑体" panose="02010609060101010101" pitchFamily="49" charset="-122"/>
              </a:rPr>
              <a:t>项目</a:t>
            </a:r>
            <a:r>
              <a:rPr lang="zh-CN" altLang="en-US" dirty="0"/>
              <a:t>，</a:t>
            </a:r>
            <a:r>
              <a:rPr lang="en-US" altLang="zh-CN" b="1" dirty="0">
                <a:solidFill>
                  <a:srgbClr val="FF3300"/>
                </a:solidFill>
              </a:rPr>
              <a:t>item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en-US" altLang="zh-CN" dirty="0"/>
              <a:t>——</a:t>
            </a:r>
            <a:r>
              <a:rPr lang="zh-CN" altLang="en-US" dirty="0"/>
              <a:t>产生式，右部某个位置加标记‘</a:t>
            </a:r>
            <a:r>
              <a:rPr lang="en-US" altLang="zh-CN" dirty="0"/>
              <a:t>.</a:t>
            </a:r>
            <a:r>
              <a:rPr lang="zh-CN" altLang="en-US" dirty="0"/>
              <a:t>’</a:t>
            </a:r>
            <a:endParaRPr lang="en-US" altLang="zh-CN" dirty="0"/>
          </a:p>
          <a:p>
            <a:pPr eaLnBrk="1" hangingPunct="1"/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XYZ</a:t>
            </a:r>
            <a:r>
              <a:rPr kumimoji="0" lang="zh-CN" altLang="en-US" dirty="0">
                <a:sym typeface="Symbol" panose="05050102010706020507" pitchFamily="18" charset="2"/>
              </a:rPr>
              <a:t>有</a:t>
            </a:r>
            <a:r>
              <a:rPr kumimoji="0" lang="en-US" altLang="zh-CN" dirty="0">
                <a:sym typeface="Symbol" panose="05050102010706020507" pitchFamily="18" charset="2"/>
              </a:rPr>
              <a:t>4</a:t>
            </a:r>
            <a:r>
              <a:rPr kumimoji="0" lang="zh-CN" altLang="en-US" dirty="0">
                <a:sym typeface="Symbol" panose="05050102010706020507" pitchFamily="18" charset="2"/>
              </a:rPr>
              <a:t>个项目</a:t>
            </a:r>
            <a:br>
              <a:rPr kumimoji="0" lang="zh-CN" altLang="en-US" dirty="0">
                <a:sym typeface="Symbol" panose="05050102010706020507" pitchFamily="18" charset="2"/>
              </a:rPr>
            </a:b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XYZ		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X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YZ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XY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Z		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XYZ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endParaRPr kumimoji="0"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项目的含义</a:t>
            </a:r>
            <a:endParaRPr lang="zh-CN" alt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5486400"/>
          </a:xfrm>
        </p:spPr>
        <p:txBody>
          <a:bodyPr/>
          <a:lstStyle/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产生式指出语法分析当前阶段的目标</a:t>
            </a:r>
            <a:r>
              <a:rPr kumimoji="0" lang="en-US" altLang="zh-CN" dirty="0">
                <a:sym typeface="Symbol" panose="05050102010706020507" pitchFamily="18" charset="2"/>
              </a:rPr>
              <a:t>——</a:t>
            </a:r>
            <a:r>
              <a:rPr kumimoji="0" lang="zh-CN" altLang="en-US" dirty="0">
                <a:sym typeface="Symbol" panose="05050102010706020507" pitchFamily="18" charset="2"/>
              </a:rPr>
              <a:t>在栈顶形成句柄</a:t>
            </a:r>
            <a:r>
              <a:rPr kumimoji="0" lang="en-US" altLang="zh-CN" dirty="0">
                <a:sym typeface="Symbol" panose="05050102010706020507" pitchFamily="18" charset="2"/>
              </a:rPr>
              <a:t>XYZ</a:t>
            </a:r>
            <a:r>
              <a:rPr kumimoji="0" lang="zh-CN" altLang="en-US" dirty="0">
                <a:sym typeface="Symbol" panose="05050102010706020507" pitchFamily="18" charset="2"/>
              </a:rPr>
              <a:t>，然后归约出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“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zh-CN" altLang="en-US" dirty="0">
                <a:sym typeface="Symbol" panose="05050102010706020507" pitchFamily="18" charset="2"/>
              </a:rPr>
              <a:t>”表示即时状态</a:t>
            </a:r>
            <a:r>
              <a:rPr kumimoji="0" lang="en-US" altLang="zh-CN" dirty="0">
                <a:sym typeface="Symbol" panose="05050102010706020507" pitchFamily="18" charset="2"/>
              </a:rPr>
              <a:t>——</a:t>
            </a:r>
            <a:r>
              <a:rPr kumimoji="0" lang="zh-CN" altLang="en-US" dirty="0">
                <a:sym typeface="Symbol" panose="05050102010706020507" pitchFamily="18" charset="2"/>
              </a:rPr>
              <a:t>在栈顶</a:t>
            </a:r>
            <a:r>
              <a:rPr kumimoji="0" lang="zh-CN" altLang="en-US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已形成了</a:t>
            </a:r>
            <a:r>
              <a:rPr kumimoji="0" lang="zh-CN" altLang="en-US" b="1" dirty="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句柄的哪些部分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zh-CN" altLang="en-US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还需</a:t>
            </a:r>
            <a:r>
              <a:rPr kumimoji="0" lang="zh-CN" altLang="en-US" dirty="0">
                <a:sym typeface="Symbol" panose="05050102010706020507" pitchFamily="18" charset="2"/>
              </a:rPr>
              <a:t>（从输入缓冲区）获取</a:t>
            </a:r>
            <a:r>
              <a:rPr kumimoji="0" lang="zh-CN" altLang="en-US" b="1" dirty="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哪些部分</a:t>
            </a:r>
            <a:r>
              <a:rPr kumimoji="0" lang="zh-CN" altLang="en-US" dirty="0">
                <a:sym typeface="Symbol" panose="05050102010706020507" pitchFamily="18" charset="2"/>
              </a:rPr>
              <a:t>（可能需归约）形成完整句柄</a:t>
            </a:r>
            <a:endParaRPr kumimoji="0" lang="zh-CN" altLang="en-US" b="1" dirty="0">
              <a:solidFill>
                <a:srgbClr val="FF3300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XYZ</a:t>
            </a:r>
            <a:r>
              <a:rPr kumimoji="0" lang="zh-CN" altLang="en-US" dirty="0">
                <a:sym typeface="Symbol" panose="05050102010706020507" pitchFamily="18" charset="2"/>
              </a:rPr>
              <a:t>，栈中还未形成任何内容，“期待”得到</a:t>
            </a:r>
            <a:r>
              <a:rPr kumimoji="0" lang="en-US" altLang="zh-CN" dirty="0">
                <a:sym typeface="Symbol" panose="05050102010706020507" pitchFamily="18" charset="2"/>
              </a:rPr>
              <a:t>XYZ——</a:t>
            </a:r>
            <a:r>
              <a:rPr kumimoji="0" lang="zh-CN" altLang="en-US" dirty="0">
                <a:sym typeface="Symbol" panose="05050102010706020507" pitchFamily="18" charset="2"/>
              </a:rPr>
              <a:t>从缓冲中内容“拼装成”</a:t>
            </a:r>
            <a:r>
              <a:rPr kumimoji="0" lang="en-US" altLang="zh-CN" dirty="0">
                <a:sym typeface="Symbol" panose="05050102010706020507" pitchFamily="18" charset="2"/>
              </a:rPr>
              <a:t>XYZ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YZ</a:t>
            </a:r>
            <a:r>
              <a:rPr kumimoji="0" lang="zh-CN" altLang="en-US" dirty="0">
                <a:sym typeface="Symbol" panose="05050102010706020507" pitchFamily="18" charset="2"/>
              </a:rPr>
              <a:t>，已形成了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zh-CN" altLang="en-US" dirty="0">
                <a:sym typeface="Symbol" panose="05050102010706020507" pitchFamily="18" charset="2"/>
              </a:rPr>
              <a:t>，期待从输入缓冲得到</a:t>
            </a:r>
            <a:r>
              <a:rPr kumimoji="0" lang="en-US" altLang="zh-CN" dirty="0">
                <a:sym typeface="Symbol" panose="05050102010706020507" pitchFamily="18" charset="2"/>
              </a:rPr>
              <a:t>YZ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“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zh-CN" altLang="en-US" dirty="0">
                <a:sym typeface="Symbol" panose="05050102010706020507" pitchFamily="18" charset="2"/>
              </a:rPr>
              <a:t>”就是栈顶！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dirty="0" err="1"/>
              <a:t>A</a:t>
            </a:r>
            <a:r>
              <a:rPr kumimoji="0" lang="en-US" altLang="zh-CN" dirty="0" err="1">
                <a:sym typeface="Symbol" panose="05050102010706020507" pitchFamily="18" charset="2"/>
              </a:rPr>
              <a:t></a:t>
            </a:r>
            <a:r>
              <a:rPr kumimoji="0" lang="en-US" altLang="zh-CN" dirty="0" err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dirty="0">
                <a:sym typeface="Symbol" panose="05050102010706020507" pitchFamily="18" charset="2"/>
              </a:rPr>
              <a:t>——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endParaRPr kumimoji="0"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核心思想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构造一个</a:t>
            </a:r>
            <a:r>
              <a:rPr lang="en-US" altLang="zh-CN" dirty="0"/>
              <a:t>DFA</a:t>
            </a:r>
            <a:r>
              <a:rPr lang="zh-CN" altLang="en-US" dirty="0"/>
              <a:t>来识别活前缀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构造</a:t>
            </a:r>
            <a:r>
              <a:rPr lang="en-US" altLang="zh-CN" dirty="0"/>
              <a:t>LR(0)</a:t>
            </a:r>
            <a:r>
              <a:rPr lang="zh-CN" altLang="en-US" dirty="0"/>
              <a:t>项目集规范族（项目集的集合）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LR(0)</a:t>
            </a:r>
            <a:r>
              <a:rPr lang="zh-CN" altLang="en-US" dirty="0"/>
              <a:t>项目集</a:t>
            </a:r>
            <a:r>
              <a:rPr lang="en-US" altLang="zh-CN" dirty="0">
                <a:sym typeface="Wingdings" panose="05000000000000000000" pitchFamily="2" charset="2"/>
              </a:rPr>
              <a:t></a:t>
            </a:r>
            <a:r>
              <a:rPr lang="en-US" altLang="zh-CN" dirty="0"/>
              <a:t>DFA</a:t>
            </a:r>
            <a:r>
              <a:rPr lang="zh-CN" altLang="en-US" dirty="0"/>
              <a:t>状态</a:t>
            </a:r>
            <a:endParaRPr lang="en-US" altLang="zh-CN" dirty="0"/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核心计算：闭包（</a:t>
            </a:r>
            <a:r>
              <a:rPr kumimoji="0"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closure</a:t>
            </a:r>
            <a:r>
              <a:rPr kumimoji="0" lang="zh-CN" altLang="en-US" dirty="0">
                <a:sym typeface="Symbol" panose="05050102010706020507" pitchFamily="18" charset="2"/>
              </a:rPr>
              <a:t>）函数和</a:t>
            </a:r>
            <a:r>
              <a:rPr kumimoji="0" lang="en-US" altLang="zh-CN" dirty="0" err="1">
                <a:sym typeface="Symbol" panose="05050102010706020507" pitchFamily="18" charset="2"/>
              </a:rPr>
              <a:t>goto</a:t>
            </a:r>
            <a:r>
              <a:rPr kumimoji="0" lang="zh-CN" altLang="en-US" dirty="0">
                <a:sym typeface="Symbol" panose="05050102010706020507" pitchFamily="18" charset="2"/>
              </a:rPr>
              <a:t>函数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本质是一个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子集构造法过程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——</a:t>
            </a:r>
            <a:r>
              <a:rPr lang="en-US" altLang="zh-CN" dirty="0">
                <a:solidFill>
                  <a:srgbClr val="FF0000"/>
                </a:solidFill>
              </a:rPr>
              <a:t>NFA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DFA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！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/>
              <a:t>因为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天然存在一个识别活前缀的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NFA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识别活前缀的</a:t>
            </a:r>
            <a:r>
              <a:rPr lang="en-US" altLang="zh-CN" dirty="0"/>
              <a:t>NFA</a:t>
            </a:r>
            <a:endParaRPr lang="zh-CN" altLang="en-US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拓广文法：</a:t>
            </a:r>
            <a:r>
              <a:rPr lang="en-US" altLang="zh-CN" sz="2400" dirty="0">
                <a:sym typeface="Wingdings" panose="05000000000000000000" pitchFamily="2" charset="2"/>
              </a:rPr>
              <a:t>S’</a:t>
            </a:r>
            <a:r>
              <a:rPr kumimoji="0" lang="en-US" altLang="zh-CN" sz="2400" dirty="0">
                <a:sym typeface="Symbol" panose="05050102010706020507" pitchFamily="18" charset="2"/>
              </a:rPr>
              <a:t>S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状态</a:t>
            </a:r>
            <a:r>
              <a:rPr lang="en-US" altLang="zh-CN" sz="2400" dirty="0">
                <a:sym typeface="Wingdings" panose="05000000000000000000" pitchFamily="2" charset="2"/>
              </a:rPr>
              <a:t>——LR(0)</a:t>
            </a:r>
            <a:r>
              <a:rPr lang="zh-CN" altLang="en-US" sz="2400" dirty="0">
                <a:sym typeface="Wingdings" panose="05000000000000000000" pitchFamily="2" charset="2"/>
              </a:rPr>
              <a:t>项目，</a:t>
            </a:r>
            <a:r>
              <a:rPr lang="en-US" altLang="zh-CN" sz="2400" dirty="0">
                <a:sym typeface="Wingdings" panose="05000000000000000000" pitchFamily="2" charset="2"/>
              </a:rPr>
              <a:t>S’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sz="2400" dirty="0">
                <a:sym typeface="Symbol" panose="05050102010706020507" pitchFamily="18" charset="2"/>
              </a:rPr>
              <a:t>S</a:t>
            </a:r>
            <a:r>
              <a:rPr kumimoji="0" lang="zh-CN" altLang="en-US" sz="2400" dirty="0">
                <a:sym typeface="Symbol" panose="05050102010706020507" pitchFamily="18" charset="2"/>
              </a:rPr>
              <a:t>为初态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项目对应语法栈状态、边对应语法栈动作</a:t>
            </a:r>
            <a:endParaRPr lang="zh-CN" altLang="en-US" sz="2400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000" dirty="0">
                <a:sym typeface="Wingdings" panose="05000000000000000000" pitchFamily="2" charset="2"/>
              </a:rPr>
              <a:t>状态</a:t>
            </a:r>
            <a:r>
              <a:rPr kumimoji="0" lang="en-US" altLang="zh-CN" sz="2000" dirty="0">
                <a:sym typeface="Symbol" panose="05050102010706020507" pitchFamily="18" charset="2"/>
              </a:rPr>
              <a:t>S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sz="2000" dirty="0" err="1">
                <a:cs typeface="Times New Roman" panose="02020603050405020304" pitchFamily="18" charset="0"/>
                <a:sym typeface="Symbol" panose="05050102010706020507" pitchFamily="18" charset="2"/>
              </a:rPr>
              <a:t>aABe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转到 状态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S</a:t>
            </a:r>
            <a:r>
              <a:rPr kumimoji="0" lang="en-US" altLang="zh-CN" sz="2000" dirty="0" err="1">
                <a:cs typeface="Times New Roman" panose="02020603050405020304" pitchFamily="18" charset="0"/>
                <a:sym typeface="Symbol" panose="05050102010706020507" pitchFamily="18" charset="2"/>
              </a:rPr>
              <a:t>a·Abe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（边</a:t>
            </a:r>
            <a:r>
              <a:rPr kumimoji="0" lang="en-GB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kumimoji="0" lang="en-US" altLang="zh-CN" sz="20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终结符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从输入缓冲区</a:t>
            </a: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移进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到语法栈</a:t>
            </a:r>
            <a:endParaRPr lang="zh-CN" altLang="en-US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000" dirty="0">
                <a:sym typeface="Wingdings" panose="05000000000000000000" pitchFamily="2" charset="2"/>
              </a:rPr>
              <a:t>状态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S</a:t>
            </a:r>
            <a:r>
              <a:rPr kumimoji="0" lang="en-US" altLang="zh-CN" sz="2000" dirty="0" err="1">
                <a:cs typeface="Times New Roman" panose="02020603050405020304" pitchFamily="18" charset="0"/>
                <a:sym typeface="Symbol" panose="05050102010706020507" pitchFamily="18" charset="2"/>
              </a:rPr>
              <a:t>a·ABe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转到 状态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S</a:t>
            </a:r>
            <a:r>
              <a:rPr kumimoji="0" lang="en-US" altLang="zh-CN" sz="2000" dirty="0" err="1">
                <a:cs typeface="Times New Roman" panose="02020603050405020304" pitchFamily="18" charset="0"/>
                <a:sym typeface="Symbol" panose="05050102010706020507" pitchFamily="18" charset="2"/>
              </a:rPr>
              <a:t>aA·Be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（边</a:t>
            </a:r>
            <a:r>
              <a:rPr kumimoji="0" lang="en-GB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kumimoji="0" lang="en-US" altLang="zh-CN" sz="20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不可能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从缓冲区直接</a:t>
            </a: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移进非终结符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！</a:t>
            </a:r>
            <a:endParaRPr kumimoji="0" lang="en-US" altLang="zh-CN" sz="2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必然是通过一系列移进动作（可能还有归约动作），在栈顶形成句柄，最后</a:t>
            </a: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归约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出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！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为了归约出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，先要归约出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kumimoji="0" lang="en-US" altLang="zh-CN" sz="2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要从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状态</a:t>
            </a:r>
            <a:r>
              <a:rPr kumimoji="0" lang="en-US" altLang="zh-CN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S</a:t>
            </a:r>
            <a:r>
              <a:rPr kumimoji="0" lang="en-US" altLang="zh-CN" sz="2000" dirty="0" err="1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a·ABe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转到 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的产生式的项目！</a:t>
            </a:r>
            <a:b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</a:b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A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sz="2000" dirty="0" err="1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Abc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A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·b</a:t>
            </a:r>
            <a:endParaRPr kumimoji="0" lang="en-US" altLang="zh-CN" sz="2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这种状态转换并未压栈任何符号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——‘</a:t>
            </a:r>
            <a:r>
              <a:rPr kumimoji="0" lang="en-US" altLang="zh-CN" sz="2000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边！</a:t>
            </a:r>
            <a:endParaRPr kumimoji="0" lang="en-US" altLang="zh-CN" sz="2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0" eaLnBrk="1" hangingPunct="1"/>
            <a:r>
              <a:rPr lang="zh-CN" altLang="en-US" sz="2400" dirty="0">
                <a:solidFill>
                  <a:srgbClr val="000000"/>
                </a:solidFill>
                <a:sym typeface="Wingdings" panose="05000000000000000000" pitchFamily="2" charset="2"/>
              </a:rPr>
              <a:t>终态？</a:t>
            </a:r>
            <a:endParaRPr lang="en-US" altLang="zh-CN" sz="24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lvl="1" eaLnBrk="1" hangingPunct="1">
              <a:buClr>
                <a:srgbClr val="3333CC"/>
              </a:buClr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所有状态！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只要正常状态转换，得到的都是合法活前缀</a:t>
            </a:r>
            <a:endParaRPr kumimoji="0" lang="en-US" altLang="zh-CN" sz="2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示例文法的</a:t>
            </a:r>
            <a:r>
              <a:rPr lang="en-US" altLang="zh-CN" dirty="0"/>
              <a:t>NFA</a:t>
            </a:r>
            <a:endParaRPr lang="en-US" altLang="zh-CN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/>
          </a:p>
        </p:txBody>
      </p:sp>
      <p:pic>
        <p:nvPicPr>
          <p:cNvPr id="6" name="Picture 4" descr="slrnf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06513"/>
            <a:ext cx="7888288" cy="417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ltGray">
          <a:xfrm>
            <a:off x="2124075" y="3213100"/>
            <a:ext cx="431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ltGray">
          <a:xfrm>
            <a:off x="2195513" y="3651250"/>
            <a:ext cx="18716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cxnSp>
        <p:nvCxnSpPr>
          <p:cNvPr id="5" name="直线箭头连接符 4"/>
          <p:cNvCxnSpPr/>
          <p:nvPr/>
        </p:nvCxnSpPr>
        <p:spPr bwMode="auto">
          <a:xfrm flipH="1">
            <a:off x="5724128" y="1700808"/>
            <a:ext cx="504056" cy="504056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线箭头连接符 10"/>
          <p:cNvCxnSpPr/>
          <p:nvPr/>
        </p:nvCxnSpPr>
        <p:spPr bwMode="auto">
          <a:xfrm>
            <a:off x="6671220" y="1700808"/>
            <a:ext cx="565076" cy="504056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文本框 14"/>
          <p:cNvSpPr txBox="1"/>
          <p:nvPr/>
        </p:nvSpPr>
        <p:spPr>
          <a:xfrm>
            <a:off x="5238328" y="1403484"/>
            <a:ext cx="2430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终结符边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移进动作</a:t>
            </a:r>
            <a:endParaRPr lang="zh-CN" altLang="en-US" sz="1800" dirty="0"/>
          </a:p>
        </p:txBody>
      </p:sp>
      <p:cxnSp>
        <p:nvCxnSpPr>
          <p:cNvPr id="16" name="直线箭头连接符 15"/>
          <p:cNvCxnSpPr/>
          <p:nvPr/>
        </p:nvCxnSpPr>
        <p:spPr bwMode="auto">
          <a:xfrm flipH="1" flipV="1">
            <a:off x="1691680" y="3651250"/>
            <a:ext cx="1728650" cy="1348389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2224112" y="4937048"/>
            <a:ext cx="364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“移进”非终结符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需归约出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zh-CN" altLang="en-US" sz="1800" dirty="0"/>
          </a:p>
        </p:txBody>
      </p:sp>
      <p:cxnSp>
        <p:nvCxnSpPr>
          <p:cNvPr id="21" name="直线箭头连接符 20"/>
          <p:cNvCxnSpPr/>
          <p:nvPr/>
        </p:nvCxnSpPr>
        <p:spPr bwMode="auto">
          <a:xfrm flipH="1" flipV="1">
            <a:off x="2339975" y="2673265"/>
            <a:ext cx="2082893" cy="939560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直线箭头连接符 21"/>
          <p:cNvCxnSpPr/>
          <p:nvPr/>
        </p:nvCxnSpPr>
        <p:spPr bwMode="auto">
          <a:xfrm flipH="1" flipV="1">
            <a:off x="2411760" y="2996952"/>
            <a:ext cx="1512403" cy="615874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文本框 22"/>
          <p:cNvSpPr txBox="1"/>
          <p:nvPr/>
        </p:nvSpPr>
        <p:spPr>
          <a:xfrm>
            <a:off x="2923604" y="3560053"/>
            <a:ext cx="321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为完成归约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转向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的项目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利用</a:t>
            </a:r>
            <a:r>
              <a:rPr lang="en-US" altLang="zh-CN" dirty="0"/>
              <a:t>NFA</a:t>
            </a:r>
            <a:r>
              <a:rPr lang="zh-CN" altLang="en-US" dirty="0"/>
              <a:t>进行</a:t>
            </a:r>
            <a:r>
              <a:rPr lang="en-US" altLang="zh-CN" dirty="0"/>
              <a:t>LR</a:t>
            </a:r>
            <a:r>
              <a:rPr lang="zh-CN" altLang="en-US" dirty="0"/>
              <a:t>分析</a:t>
            </a:r>
            <a:endParaRPr lang="zh-CN" altLang="en-US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NFA</a:t>
            </a:r>
            <a:r>
              <a:rPr lang="zh-CN" altLang="en-US" sz="2800" dirty="0">
                <a:sym typeface="Wingdings" panose="05000000000000000000" pitchFamily="2" charset="2"/>
              </a:rPr>
              <a:t>运转</a:t>
            </a:r>
            <a:r>
              <a:rPr lang="en-US" altLang="zh-CN" sz="2800" dirty="0">
                <a:sym typeface="Wingdings" panose="05000000000000000000" pitchFamily="2" charset="2"/>
              </a:rPr>
              <a:t>LR</a:t>
            </a:r>
            <a:r>
              <a:rPr lang="zh-CN" altLang="en-US" sz="2800" dirty="0">
                <a:sym typeface="Wingdings" panose="05000000000000000000" pitchFamily="2" charset="2"/>
              </a:rPr>
              <a:t>分析：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项目</a:t>
            </a:r>
            <a:r>
              <a:rPr lang="en-US" altLang="zh-CN" sz="2800" dirty="0">
                <a:sym typeface="Wingdings" panose="05000000000000000000" pitchFamily="2" charset="2"/>
              </a:rPr>
              <a:t></a:t>
            </a:r>
            <a:r>
              <a:rPr lang="zh-CN" altLang="en-US" sz="2800" dirty="0">
                <a:sym typeface="Wingdings" panose="05000000000000000000" pitchFamily="2" charset="2"/>
              </a:rPr>
              <a:t>语法栈（</a:t>
            </a:r>
            <a:r>
              <a:rPr lang="en-US" altLang="zh-CN" sz="2800" dirty="0">
                <a:sym typeface="Wingdings" panose="05000000000000000000" pitchFamily="2" charset="2"/>
              </a:rPr>
              <a:t>NFA</a:t>
            </a:r>
            <a:r>
              <a:rPr lang="zh-CN" altLang="en-US" sz="2800" dirty="0">
                <a:sym typeface="Wingdings" panose="05000000000000000000" pitchFamily="2" charset="2"/>
              </a:rPr>
              <a:t>）状态、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语法栈操作</a:t>
            </a:r>
            <a:r>
              <a:rPr lang="en-US" altLang="zh-CN" sz="2800" dirty="0">
                <a:sym typeface="Wingdings" panose="05000000000000000000" pitchFamily="2" charset="2"/>
              </a:rPr>
              <a:t> NFA</a:t>
            </a:r>
            <a:r>
              <a:rPr lang="zh-CN" altLang="en-US" sz="2800" dirty="0">
                <a:sym typeface="Wingdings" panose="05000000000000000000" pitchFamily="2" charset="2"/>
              </a:rPr>
              <a:t>中动作（边）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初始时位于</a:t>
            </a:r>
            <a:r>
              <a:rPr lang="en-US" altLang="zh-CN" sz="2400" dirty="0">
                <a:sym typeface="Wingdings" panose="05000000000000000000" pitchFamily="2" charset="2"/>
              </a:rPr>
              <a:t>NFA</a:t>
            </a:r>
            <a:r>
              <a:rPr lang="zh-CN" altLang="en-US" sz="2400" dirty="0">
                <a:sym typeface="Wingdings" panose="05000000000000000000" pitchFamily="2" charset="2"/>
              </a:rPr>
              <a:t>初态的</a:t>
            </a:r>
            <a:r>
              <a:rPr lang="en-US" altLang="zh-CN" sz="2400" dirty="0" err="1"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altLang="zh-CN" sz="2400" dirty="0" err="1">
                <a:sym typeface="Wingdings" panose="05000000000000000000" pitchFamily="2" charset="2"/>
              </a:rPr>
              <a:t>_closure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/>
            <a:r>
              <a:rPr kumimoji="0" lang="zh-CN" altLang="en-US" sz="2400" dirty="0">
                <a:cs typeface="Times New Roman" panose="02020603050405020304" pitchFamily="18" charset="0"/>
                <a:sym typeface="Wingdings" panose="05000000000000000000" pitchFamily="2" charset="2"/>
              </a:rPr>
              <a:t>读入终结符</a:t>
            </a:r>
            <a:r>
              <a:rPr kumimoji="0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endParaRPr kumimoji="0" lang="en-US" altLang="zh-CN" sz="24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NFA</a:t>
            </a:r>
            <a:r>
              <a:rPr kumimoji="0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状态转换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：当前状态集走边</a:t>
            </a: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、计算</a:t>
            </a:r>
            <a:r>
              <a:rPr lang="en-US" altLang="zh-CN" sz="2400" dirty="0" err="1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altLang="zh-CN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_closure</a:t>
            </a:r>
            <a:b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 </a:t>
            </a: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LR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分析：将</a:t>
            </a: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从输入缓冲区</a:t>
            </a:r>
            <a:r>
              <a:rPr kumimoji="0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移进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到语法栈</a:t>
            </a:r>
            <a:endParaRPr lang="zh-CN" alt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到达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S</a:t>
            </a:r>
            <a:r>
              <a:rPr kumimoji="0" lang="en-US" altLang="zh-CN" sz="2400" dirty="0" err="1">
                <a:cs typeface="Times New Roman" panose="02020603050405020304" pitchFamily="18" charset="0"/>
                <a:sym typeface="Symbol" panose="05050102010706020507" pitchFamily="18" charset="2"/>
              </a:rPr>
              <a:t>aABe</a:t>
            </a:r>
            <a:r>
              <a:rPr kumimoji="0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· </a:t>
            </a:r>
            <a:r>
              <a:rPr kumimoji="0" lang="zh-CN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这种状态</a:t>
            </a:r>
            <a:endParaRPr kumimoji="0" lang="en-US" altLang="zh-CN" sz="24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已在栈顶形成句柄，归约！</a:t>
            </a:r>
            <a:endParaRPr kumimoji="0" lang="en-US" altLang="zh-CN" sz="24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怎么做？归约动作分解：</a:t>
            </a:r>
            <a:endParaRPr kumimoji="0" lang="en-US" altLang="zh-CN" sz="24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2" eaLnBrk="1" hangingPunct="1"/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从栈顶弹出句柄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移进的逆操作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——NFA</a:t>
            </a:r>
            <a:r>
              <a:rPr kumimoji="0" lang="zh-CN" altLang="en-US" sz="20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状态转换的逆操作</a:t>
            </a:r>
            <a:r>
              <a:rPr kumimoji="0" lang="en-US" altLang="zh-CN" sz="2000" dirty="0"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沿前几步来时路径回退！</a:t>
            </a:r>
            <a:endParaRPr kumimoji="0" lang="en-US" altLang="zh-CN" sz="20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2" eaLnBrk="1" hangingPunct="1"/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将左部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NT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压栈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走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NT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对应边、计算</a:t>
            </a:r>
            <a:r>
              <a:rPr lang="en-US" altLang="zh-CN" sz="2000" dirty="0" err="1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altLang="zh-CN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_closure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！</a:t>
            </a:r>
            <a:endParaRPr kumimoji="0" lang="en-US" altLang="zh-CN" sz="2000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</a:t>
            </a:r>
            <a:r>
              <a:rPr lang="en-US" altLang="zh-CN"/>
              <a:t>——</a:t>
            </a:r>
            <a:r>
              <a:rPr lang="zh-CN" altLang="en-US"/>
              <a:t>状态的</a:t>
            </a:r>
            <a:r>
              <a:rPr lang="en-US" altLang="zh-CN"/>
              <a:t>NFA</a:t>
            </a:r>
            <a:endParaRPr lang="en-US" altLang="zh-CN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66564" name="Picture 4" descr="slrnf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06513"/>
            <a:ext cx="7888288" cy="417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Rectangle 7"/>
          <p:cNvSpPr>
            <a:spLocks noChangeArrowheads="1"/>
          </p:cNvSpPr>
          <p:nvPr/>
        </p:nvSpPr>
        <p:spPr bwMode="ltGray">
          <a:xfrm>
            <a:off x="3678238" y="5078855"/>
            <a:ext cx="5130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hlink"/>
                </a:solidFill>
              </a:rPr>
              <a:t>句柄：</a:t>
            </a:r>
            <a:r>
              <a:rPr lang="en-US" altLang="zh-CN" sz="2400" dirty="0">
                <a:solidFill>
                  <a:schemeClr val="hlink"/>
                </a:solidFill>
              </a:rPr>
              <a:t>a, </a:t>
            </a:r>
            <a:r>
              <a:rPr lang="en-US" altLang="zh-CN" sz="2400" dirty="0" err="1">
                <a:solidFill>
                  <a:schemeClr val="hlink"/>
                </a:solidFill>
              </a:rPr>
              <a:t>aA</a:t>
            </a:r>
            <a:r>
              <a:rPr lang="en-US" altLang="zh-CN" sz="2400" dirty="0">
                <a:solidFill>
                  <a:schemeClr val="hlink"/>
                </a:solidFill>
              </a:rPr>
              <a:t>, </a:t>
            </a:r>
            <a:r>
              <a:rPr lang="en-US" altLang="zh-CN" sz="2400" dirty="0" err="1">
                <a:solidFill>
                  <a:schemeClr val="hlink"/>
                </a:solidFill>
              </a:rPr>
              <a:t>aAd</a:t>
            </a:r>
            <a:r>
              <a:rPr lang="en-US" altLang="zh-CN" sz="2400" dirty="0">
                <a:solidFill>
                  <a:schemeClr val="hlink"/>
                </a:solidFill>
              </a:rPr>
              <a:t>, </a:t>
            </a:r>
            <a:r>
              <a:rPr lang="en-US" altLang="zh-CN" sz="2400" dirty="0" err="1">
                <a:solidFill>
                  <a:schemeClr val="hlink"/>
                </a:solidFill>
              </a:rPr>
              <a:t>aAbc</a:t>
            </a:r>
            <a:r>
              <a:rPr lang="en-US" altLang="zh-CN" sz="2400" dirty="0">
                <a:solidFill>
                  <a:schemeClr val="hlink"/>
                </a:solidFill>
              </a:rPr>
              <a:t>, ab, </a:t>
            </a:r>
            <a:r>
              <a:rPr lang="en-US" altLang="zh-CN" sz="2400" dirty="0" err="1">
                <a:solidFill>
                  <a:schemeClr val="hlink"/>
                </a:solidFill>
              </a:rPr>
              <a:t>aAb</a:t>
            </a:r>
            <a:endParaRPr lang="en-US" altLang="zh-CN" sz="2400" dirty="0">
              <a:solidFill>
                <a:schemeClr val="hlink"/>
              </a:solidFill>
            </a:endParaRPr>
          </a:p>
          <a:p>
            <a:pPr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非句柄：</a:t>
            </a:r>
            <a:r>
              <a:rPr lang="en-US" altLang="zh-CN" sz="2400" dirty="0" err="1">
                <a:solidFill>
                  <a:schemeClr val="hlink"/>
                </a:solidFill>
              </a:rPr>
              <a:t>aAde</a:t>
            </a:r>
            <a:r>
              <a:rPr lang="en-US" altLang="zh-CN" sz="2400" dirty="0">
                <a:solidFill>
                  <a:schemeClr val="hlink"/>
                </a:solidFill>
              </a:rPr>
              <a:t>, </a:t>
            </a:r>
            <a:r>
              <a:rPr lang="en-US" altLang="zh-CN" sz="2400" dirty="0" err="1">
                <a:solidFill>
                  <a:schemeClr val="hlink"/>
                </a:solidFill>
              </a:rPr>
              <a:t>Abc</a:t>
            </a:r>
            <a:r>
              <a:rPr lang="en-US" altLang="zh-CN" sz="2400" dirty="0">
                <a:solidFill>
                  <a:schemeClr val="hlink"/>
                </a:solidFill>
              </a:rPr>
              <a:t>, </a:t>
            </a:r>
            <a:r>
              <a:rPr lang="en-US" altLang="zh-CN" sz="2400" dirty="0" err="1">
                <a:solidFill>
                  <a:schemeClr val="hlink"/>
                </a:solidFill>
              </a:rPr>
              <a:t>aAA</a:t>
            </a:r>
            <a:endParaRPr lang="en-US" altLang="zh-CN" sz="2400" dirty="0">
              <a:solidFill>
                <a:schemeClr val="hlink"/>
              </a:solidFill>
            </a:endParaRPr>
          </a:p>
        </p:txBody>
      </p:sp>
      <p:sp>
        <p:nvSpPr>
          <p:cNvPr id="66566" name="Text Box 8"/>
          <p:cNvSpPr txBox="1">
            <a:spLocks noChangeArrowheads="1"/>
          </p:cNvSpPr>
          <p:nvPr/>
        </p:nvSpPr>
        <p:spPr bwMode="ltGray">
          <a:xfrm>
            <a:off x="2124075" y="3213100"/>
            <a:ext cx="431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66567" name="Text Box 9"/>
          <p:cNvSpPr txBox="1">
            <a:spLocks noChangeArrowheads="1"/>
          </p:cNvSpPr>
          <p:nvPr/>
        </p:nvSpPr>
        <p:spPr bwMode="ltGray">
          <a:xfrm>
            <a:off x="2195513" y="3651250"/>
            <a:ext cx="18716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2683" name="Oval 11"/>
          <p:cNvSpPr>
            <a:spLocks noChangeArrowheads="1"/>
          </p:cNvSpPr>
          <p:nvPr/>
        </p:nvSpPr>
        <p:spPr bwMode="ltGray">
          <a:xfrm>
            <a:off x="755650" y="1484313"/>
            <a:ext cx="287338" cy="287337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84" name="Oval 12"/>
          <p:cNvSpPr>
            <a:spLocks noChangeArrowheads="1"/>
          </p:cNvSpPr>
          <p:nvPr/>
        </p:nvSpPr>
        <p:spPr bwMode="ltGray">
          <a:xfrm>
            <a:off x="611188" y="2276475"/>
            <a:ext cx="287337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85" name="Oval 13"/>
          <p:cNvSpPr>
            <a:spLocks noChangeArrowheads="1"/>
          </p:cNvSpPr>
          <p:nvPr/>
        </p:nvSpPr>
        <p:spPr bwMode="ltGray">
          <a:xfrm>
            <a:off x="539750" y="2997200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86" name="Oval 14"/>
          <p:cNvSpPr>
            <a:spLocks noChangeArrowheads="1"/>
          </p:cNvSpPr>
          <p:nvPr/>
        </p:nvSpPr>
        <p:spPr bwMode="ltGray">
          <a:xfrm>
            <a:off x="2413000" y="307022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87" name="Oval 15"/>
          <p:cNvSpPr>
            <a:spLocks noChangeArrowheads="1"/>
          </p:cNvSpPr>
          <p:nvPr/>
        </p:nvSpPr>
        <p:spPr bwMode="ltGray">
          <a:xfrm>
            <a:off x="2411413" y="2309813"/>
            <a:ext cx="287337" cy="287337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0" name="Oval 18"/>
          <p:cNvSpPr>
            <a:spLocks noChangeArrowheads="1"/>
          </p:cNvSpPr>
          <p:nvPr/>
        </p:nvSpPr>
        <p:spPr bwMode="ltGray">
          <a:xfrm>
            <a:off x="4140200" y="307022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1" name="Oval 19"/>
          <p:cNvSpPr>
            <a:spLocks noChangeArrowheads="1"/>
          </p:cNvSpPr>
          <p:nvPr/>
        </p:nvSpPr>
        <p:spPr bwMode="ltGray">
          <a:xfrm>
            <a:off x="539750" y="3716338"/>
            <a:ext cx="287338" cy="287337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2" name="Oval 20"/>
          <p:cNvSpPr>
            <a:spLocks noChangeArrowheads="1"/>
          </p:cNvSpPr>
          <p:nvPr/>
        </p:nvSpPr>
        <p:spPr bwMode="ltGray">
          <a:xfrm>
            <a:off x="3997325" y="227647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3" name="Oval 21"/>
          <p:cNvSpPr>
            <a:spLocks noChangeArrowheads="1"/>
          </p:cNvSpPr>
          <p:nvPr/>
        </p:nvSpPr>
        <p:spPr bwMode="ltGray">
          <a:xfrm>
            <a:off x="539750" y="4437063"/>
            <a:ext cx="287338" cy="287337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4" name="Oval 22"/>
          <p:cNvSpPr>
            <a:spLocks noChangeArrowheads="1"/>
          </p:cNvSpPr>
          <p:nvPr/>
        </p:nvSpPr>
        <p:spPr bwMode="ltGray">
          <a:xfrm>
            <a:off x="5651500" y="227647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5" name="Oval 23"/>
          <p:cNvSpPr>
            <a:spLocks noChangeArrowheads="1"/>
          </p:cNvSpPr>
          <p:nvPr/>
        </p:nvSpPr>
        <p:spPr bwMode="ltGray">
          <a:xfrm>
            <a:off x="7308850" y="227647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ltGray">
          <a:xfrm>
            <a:off x="4367213" y="1325563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识别</a:t>
            </a:r>
            <a:r>
              <a:rPr lang="en-US" altLang="zh-CN" sz="2400">
                <a:solidFill>
                  <a:schemeClr val="hlink"/>
                </a:solidFill>
              </a:rPr>
              <a:t>a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ltGray">
          <a:xfrm>
            <a:off x="5103813" y="1331913"/>
            <a:ext cx="195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b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ltGray">
          <a:xfrm>
            <a:off x="5241925" y="1325563"/>
            <a:ext cx="195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b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ltGray">
          <a:xfrm>
            <a:off x="5389563" y="1323975"/>
            <a:ext cx="195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c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315075" y="1671638"/>
            <a:ext cx="2217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ahoma" panose="020B0604030504040204" pitchFamily="34" charset="0"/>
                <a:sym typeface="Symbol" panose="05050102010706020507" pitchFamily="18" charset="2"/>
              </a:rPr>
              <a:t>归约：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AA</a:t>
            </a:r>
            <a:r>
              <a:rPr lang="en-US" altLang="zh-CN" sz="2400" b="1">
                <a:solidFill>
                  <a:schemeClr val="accent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bc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295775" y="1666875"/>
            <a:ext cx="1809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ahoma" panose="020B0604030504040204" pitchFamily="34" charset="0"/>
                <a:sym typeface="Symbol" panose="05050102010706020507" pitchFamily="18" charset="2"/>
              </a:rPr>
              <a:t>归约：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A</a:t>
            </a:r>
            <a:r>
              <a:rPr lang="en-US" altLang="zh-CN" sz="2400" b="1">
                <a:solidFill>
                  <a:schemeClr val="accent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42988" y="6307138"/>
            <a:ext cx="5711825" cy="314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aABe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Abc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de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Symbol" panose="05050102010706020507" pitchFamily="18" charset="2"/>
              </a:rPr>
              <a:t>bcde</a:t>
            </a:r>
            <a:endParaRPr lang="en-US" altLang="zh-CN" b="1" kern="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1000"/>
                                        <p:tgtEl>
                                          <p:spTgt spid="41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0" dur="1000"/>
                                        <p:tgtEl>
                                          <p:spTgt spid="41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2" dur="10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5" dur="1000"/>
                                        <p:tgtEl>
                                          <p:spTgt spid="41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8" dur="10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2" dur="1000"/>
                                        <p:tgtEl>
                                          <p:spTgt spid="41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53" dur="1000"/>
                                        <p:tgtEl>
                                          <p:spTgt spid="41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56" dur="10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59" dur="10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0" dur="1000"/>
                                        <p:tgtEl>
                                          <p:spTgt spid="41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3" dur="1000"/>
                                        <p:tgtEl>
                                          <p:spTgt spid="41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6" dur="1000"/>
                                        <p:tgtEl>
                                          <p:spTgt spid="41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90" dur="1000"/>
                                        <p:tgtEl>
                                          <p:spTgt spid="41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00" dur="1000"/>
                                        <p:tgtEl>
                                          <p:spTgt spid="41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3" presetClass="entr" presetSubtype="3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1" dur="1000"/>
                                        <p:tgtEl>
                                          <p:spTgt spid="41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3" presetClass="entr" presetSubtype="3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4" dur="10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3" presetClass="entr" presetSubtype="3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7" dur="10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28" dur="1000"/>
                                        <p:tgtEl>
                                          <p:spTgt spid="41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31" dur="1000"/>
                                        <p:tgtEl>
                                          <p:spTgt spid="41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34" dur="1000"/>
                                        <p:tgtEl>
                                          <p:spTgt spid="41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83" grpId="0" animBg="1"/>
      <p:bldP spid="412683" grpId="1" animBg="1"/>
      <p:bldP spid="412684" grpId="0" animBg="1"/>
      <p:bldP spid="412684" grpId="1" animBg="1"/>
      <p:bldP spid="412685" grpId="0" animBg="1"/>
      <p:bldP spid="412685" grpId="1" animBg="1"/>
      <p:bldP spid="412685" grpId="2" animBg="1"/>
      <p:bldP spid="412685" grpId="3" animBg="1"/>
      <p:bldP spid="412685" grpId="4" animBg="1"/>
      <p:bldP spid="412685" grpId="5" animBg="1"/>
      <p:bldP spid="412686" grpId="0" animBg="1"/>
      <p:bldP spid="412686" grpId="1" animBg="1"/>
      <p:bldP spid="412686" grpId="2" animBg="1"/>
      <p:bldP spid="412686" grpId="3" animBg="1"/>
      <p:bldP spid="412686" grpId="4" animBg="1"/>
      <p:bldP spid="412686" grpId="5" animBg="1"/>
      <p:bldP spid="412687" grpId="0" animBg="1"/>
      <p:bldP spid="412687" grpId="1" animBg="1"/>
      <p:bldP spid="412687" grpId="2" animBg="1"/>
      <p:bldP spid="412687" grpId="3" animBg="1"/>
      <p:bldP spid="412687" grpId="4" animBg="1"/>
      <p:bldP spid="412687" grpId="5" animBg="1"/>
      <p:bldP spid="412690" grpId="0" animBg="1"/>
      <p:bldP spid="412690" grpId="1" animBg="1"/>
      <p:bldP spid="412691" grpId="0" animBg="1"/>
      <p:bldP spid="412691" grpId="1" animBg="1"/>
      <p:bldP spid="412691" grpId="2" animBg="1"/>
      <p:bldP spid="412692" grpId="0" animBg="1"/>
      <p:bldP spid="412692" grpId="1" animBg="1"/>
      <p:bldP spid="412692" grpId="2" animBg="1"/>
      <p:bldP spid="412693" grpId="0" animBg="1"/>
      <p:bldP spid="412693" grpId="1" animBg="1"/>
      <p:bldP spid="412693" grpId="2" animBg="1"/>
      <p:bldP spid="412694" grpId="0" animBg="1"/>
      <p:bldP spid="412694" grpId="1" animBg="1"/>
      <p:bldP spid="412695" grpId="0" animBg="1"/>
      <p:bldP spid="412695" grpId="1" animBg="1"/>
      <p:bldP spid="20" grpId="0"/>
      <p:bldP spid="21" grpId="0"/>
      <p:bldP spid="22" grpId="0"/>
      <p:bldP spid="23" grpId="0"/>
      <p:bldP spid="2" grpId="0"/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closure</a:t>
            </a:r>
            <a:r>
              <a:rPr lang="zh-CN" altLang="en-US"/>
              <a:t>函数的计算</a:t>
            </a:r>
            <a:endParaRPr lang="zh-CN" altLang="en-US"/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en-US" altLang="zh-CN" sz="2800" dirty="0"/>
              <a:t>I</a:t>
            </a:r>
            <a:r>
              <a:rPr lang="zh-CN" altLang="en-US" sz="2800" dirty="0"/>
              <a:t>为项目集，则</a:t>
            </a:r>
            <a:r>
              <a:rPr lang="en-US" altLang="zh-CN" sz="2800" dirty="0"/>
              <a:t>closure(I)</a:t>
            </a:r>
            <a:r>
              <a:rPr lang="zh-CN" altLang="en-US" sz="2800" dirty="0"/>
              <a:t>为按下列规则构造的项目集：</a:t>
            </a:r>
            <a:endParaRPr lang="zh-CN" altLang="en-US" sz="28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dirty="0"/>
              <a:t>初始，</a:t>
            </a:r>
            <a:r>
              <a:rPr lang="en-US" altLang="zh-CN" sz="2400" dirty="0"/>
              <a:t>I</a:t>
            </a:r>
            <a:r>
              <a:rPr lang="zh-CN" altLang="en-US" sz="2400" dirty="0"/>
              <a:t>中项目都加入</a:t>
            </a:r>
            <a:r>
              <a:rPr lang="en-US" altLang="zh-CN" sz="2400" dirty="0"/>
              <a:t>closure(I)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zh-CN" sz="2400" dirty="0" err="1"/>
              <a:t>A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4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·B</a:t>
            </a:r>
            <a:r>
              <a:rPr kumimoji="0" lang="en-US" altLang="zh-CN" sz="24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400" dirty="0" err="1">
                <a:latin typeface="+mj-lt"/>
                <a:sym typeface="Symbol" panose="05050102010706020507" pitchFamily="18" charset="2"/>
              </a:rPr>
              <a:t>∈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closure</a:t>
            </a:r>
            <a:r>
              <a:rPr kumimoji="0" lang="en-US" altLang="zh-CN" sz="2400" dirty="0">
                <a:sym typeface="Symbol" panose="05050102010706020507" pitchFamily="18" charset="2"/>
              </a:rPr>
              <a:t>(I)</a:t>
            </a:r>
            <a:r>
              <a:rPr kumimoji="0" lang="zh-CN" altLang="en-US" sz="2400" dirty="0">
                <a:sym typeface="Symbol" panose="05050102010706020507" pitchFamily="18" charset="2"/>
              </a:rPr>
              <a:t>，存在产生式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B</a:t>
            </a:r>
            <a:r>
              <a:rPr kumimoji="0" lang="en-US" altLang="zh-CN" sz="2400" dirty="0" err="1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，</a:t>
            </a:r>
            <a:r>
              <a:rPr kumimoji="0" lang="zh-CN" altLang="en-US" sz="2400" dirty="0">
                <a:latin typeface="Symbol" panose="05050102010706020507" pitchFamily="18" charset="2"/>
                <a:sym typeface="Wingdings" panose="05000000000000000000" pitchFamily="2" charset="2"/>
              </a:rPr>
              <a:t>则将 </a:t>
            </a:r>
            <a:r>
              <a:rPr kumimoji="0" lang="en-US" altLang="zh-CN" sz="2400" dirty="0">
                <a:sym typeface="Symbol" panose="05050102010706020507" pitchFamily="18" charset="2"/>
              </a:rPr>
              <a:t>B·</a:t>
            </a:r>
            <a:r>
              <a:rPr kumimoji="0"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添加进</a:t>
            </a:r>
            <a:r>
              <a:rPr kumimoji="0" lang="en-US" altLang="zh-CN" sz="2400" dirty="0">
                <a:sym typeface="Symbol" panose="05050102010706020507" pitchFamily="18" charset="2"/>
              </a:rPr>
              <a:t>closure(I) 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400" dirty="0">
                <a:sym typeface="Symbol" panose="05050102010706020507" pitchFamily="18" charset="2"/>
              </a:rPr>
              <a:t>重复</a:t>
            </a:r>
            <a:r>
              <a:rPr kumimoji="0" lang="en-US" altLang="zh-CN" sz="2400" dirty="0">
                <a:sym typeface="Symbol" panose="05050102010706020507" pitchFamily="18" charset="2"/>
              </a:rPr>
              <a:t>2</a:t>
            </a:r>
            <a:r>
              <a:rPr kumimoji="0" lang="zh-CN" altLang="en-US" sz="2400" dirty="0">
                <a:sym typeface="Symbol" panose="05050102010706020507" pitchFamily="18" charset="2"/>
              </a:rPr>
              <a:t>直至没有新的项目加入闭包。</a:t>
            </a:r>
            <a:endParaRPr kumimoji="0" lang="zh-CN" altLang="en-US" sz="24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dirty="0">
                <a:solidFill>
                  <a:schemeClr val="hlink"/>
                </a:solidFill>
                <a:sym typeface="Symbol" panose="05050102010706020507" pitchFamily="18" charset="2"/>
              </a:rPr>
              <a:t>-closure</a:t>
            </a:r>
            <a:r>
              <a:rPr kumimoji="0" lang="zh-CN" altLang="en-US" sz="2400" dirty="0">
                <a:solidFill>
                  <a:schemeClr val="hlink"/>
                </a:solidFill>
                <a:sym typeface="Symbol" panose="05050102010706020507" pitchFamily="18" charset="2"/>
              </a:rPr>
              <a:t>闭包！</a:t>
            </a:r>
            <a:endParaRPr kumimoji="0" lang="zh-CN" altLang="en-US" sz="2400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marL="609600" indent="-609600" eaLnBrk="1" hangingPunct="1">
              <a:defRPr/>
            </a:pPr>
            <a:r>
              <a:rPr lang="en-US" altLang="zh-CN" sz="2800" dirty="0" err="1"/>
              <a:t>A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·B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800" dirty="0">
                <a:sym typeface="Symbol" panose="05050102010706020507" pitchFamily="18" charset="2"/>
              </a:rPr>
              <a:t>——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期待用输入缓冲中内容拼出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Bb</a:t>
            </a:r>
            <a:b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</a:b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存在产生式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B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kumimoji="0" lang="en-US" altLang="zh-CN" sz="2800" dirty="0">
                <a:latin typeface="Symbol" panose="05050102010706020507" pitchFamily="18" charset="2"/>
                <a:sym typeface="Wingdings" panose="05000000000000000000" pitchFamily="2" charset="2"/>
              </a:rPr>
              <a:t> </a:t>
            </a:r>
            <a:r>
              <a:rPr kumimoji="0" lang="zh-CN" altLang="en-US" sz="2800" dirty="0">
                <a:latin typeface="Symbol" panose="05050102010706020507" pitchFamily="18" charset="2"/>
                <a:sym typeface="Wingdings" panose="05000000000000000000" pitchFamily="2" charset="2"/>
              </a:rPr>
              <a:t>先考虑拼出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，再拼出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endParaRPr kumimoji="0" lang="en-US" altLang="zh-CN" sz="2800" dirty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-180975" y="3213100"/>
            <a:ext cx="1931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18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两者间有</a:t>
            </a:r>
            <a:r>
              <a:rPr kumimoji="0" lang="en-US" altLang="zh-CN" sz="18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1800">
                <a:solidFill>
                  <a:schemeClr val="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边！</a:t>
            </a:r>
            <a:endParaRPr kumimoji="0" lang="zh-CN" altLang="en-US" sz="1800">
              <a:solidFill>
                <a:schemeClr val="hlink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cxnSp>
        <p:nvCxnSpPr>
          <p:cNvPr id="4" name="直接箭头连接符 3"/>
          <p:cNvCxnSpPr>
            <a:cxnSpLocks noChangeShapeType="1"/>
            <a:stCxn id="2" idx="3"/>
          </p:cNvCxnSpPr>
          <p:nvPr/>
        </p:nvCxnSpPr>
        <p:spPr bwMode="auto">
          <a:xfrm flipV="1">
            <a:off x="1751013" y="2971800"/>
            <a:ext cx="517525" cy="42545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箭头连接符 8"/>
          <p:cNvCxnSpPr>
            <a:cxnSpLocks noChangeShapeType="1"/>
            <a:stCxn id="2" idx="3"/>
          </p:cNvCxnSpPr>
          <p:nvPr/>
        </p:nvCxnSpPr>
        <p:spPr bwMode="auto">
          <a:xfrm>
            <a:off x="1751013" y="3397250"/>
            <a:ext cx="517525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closure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Function closure(I)</a:t>
            </a:r>
            <a:endParaRPr lang="en-US" altLang="zh-CN" sz="24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{	J=I;</a:t>
            </a:r>
            <a:endParaRPr lang="en-US" altLang="zh-CN" sz="24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	repeat</a:t>
            </a:r>
            <a:endParaRPr lang="en-US" altLang="zh-CN" sz="24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		for</a:t>
            </a:r>
            <a:r>
              <a:rPr lang="en-US" altLang="zh-CN" sz="2400">
                <a:latin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J</a:t>
            </a:r>
            <a:r>
              <a:rPr lang="zh-CN" altLang="en-US" sz="2400">
                <a:sym typeface="Symbol" panose="05050102010706020507" pitchFamily="18" charset="2"/>
              </a:rPr>
              <a:t>中每个</a:t>
            </a: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 .B </a:t>
            </a:r>
            <a:r>
              <a:rPr lang="zh-CN" altLang="en-US" sz="2400">
                <a:sym typeface="Symbol" panose="05050102010706020507" pitchFamily="18" charset="2"/>
              </a:rPr>
              <a:t>和</a:t>
            </a:r>
            <a:endParaRPr lang="zh-CN" altLang="en-US" sz="240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ym typeface="Symbol" panose="05050102010706020507" pitchFamily="18" charset="2"/>
              </a:rPr>
              <a:t>		       </a:t>
            </a:r>
            <a:r>
              <a:rPr lang="en-US" altLang="zh-CN" sz="2400">
                <a:sym typeface="Symbol" panose="05050102010706020507" pitchFamily="18" charset="2"/>
              </a:rPr>
              <a:t>G</a:t>
            </a:r>
            <a:r>
              <a:rPr lang="zh-CN" altLang="en-US" sz="2400">
                <a:sym typeface="Symbol" panose="05050102010706020507" pitchFamily="18" charset="2"/>
              </a:rPr>
              <a:t>的每个产生式</a:t>
            </a:r>
            <a:r>
              <a:rPr lang="en-US" altLang="zh-CN" sz="2400" b="1">
                <a:sym typeface="Symbol" panose="05050102010706020507" pitchFamily="18" charset="2"/>
              </a:rPr>
              <a:t>B</a:t>
            </a:r>
            <a:r>
              <a:rPr lang="zh-CN" altLang="en-US" sz="2400">
                <a:sym typeface="Symbol" panose="05050102010706020507" pitchFamily="18" charset="2"/>
              </a:rPr>
              <a:t>，</a:t>
            </a:r>
            <a:r>
              <a:rPr lang="en-US" altLang="zh-CN" sz="2400" b="1">
                <a:sym typeface="Symbol" panose="05050102010706020507" pitchFamily="18" charset="2"/>
              </a:rPr>
              <a:t>B.</a:t>
            </a:r>
            <a:r>
              <a:rPr lang="zh-CN" altLang="en-US" sz="2400">
                <a:sym typeface="Symbol" panose="05050102010706020507" pitchFamily="18" charset="2"/>
              </a:rPr>
              <a:t>不在</a:t>
            </a:r>
            <a:r>
              <a:rPr lang="en-US" altLang="zh-CN" sz="2400">
                <a:sym typeface="Symbol" panose="05050102010706020507" pitchFamily="18" charset="2"/>
              </a:rPr>
              <a:t>J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endParaRPr lang="zh-CN" altLang="en-US" sz="240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ym typeface="Symbol" panose="05050102010706020507" pitchFamily="18" charset="2"/>
              </a:rPr>
              <a:t>			将</a:t>
            </a:r>
            <a:r>
              <a:rPr lang="en-US" altLang="zh-CN" sz="2400" b="1">
                <a:sym typeface="Symbol" panose="05050102010706020507" pitchFamily="18" charset="2"/>
              </a:rPr>
              <a:t>B.</a:t>
            </a:r>
            <a:r>
              <a:rPr lang="zh-CN" altLang="en-US" sz="2400">
                <a:sym typeface="Symbol" panose="05050102010706020507" pitchFamily="18" charset="2"/>
              </a:rPr>
              <a:t>加入</a:t>
            </a:r>
            <a:r>
              <a:rPr lang="en-US" altLang="zh-CN" sz="2400" b="1">
                <a:sym typeface="Symbol" panose="05050102010706020507" pitchFamily="18" charset="2"/>
              </a:rPr>
              <a:t>J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	until </a:t>
            </a:r>
            <a:r>
              <a:rPr lang="zh-CN" altLang="en-US" sz="2400">
                <a:sym typeface="Symbol" panose="05050102010706020507" pitchFamily="18" charset="2"/>
              </a:rPr>
              <a:t>没有新的项目加入</a:t>
            </a:r>
            <a:r>
              <a:rPr lang="en-US" altLang="zh-CN" sz="2400" b="1">
                <a:sym typeface="Symbol" panose="05050102010706020507" pitchFamily="18" charset="2"/>
              </a:rPr>
              <a:t>J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	return J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}</a:t>
            </a:r>
            <a:endParaRPr lang="en-US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4.34</a:t>
            </a: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E’ </a:t>
            </a:r>
            <a:r>
              <a:rPr kumimoji="0" lang="en-US" altLang="zh-CN" sz="2800">
                <a:sym typeface="Symbol" panose="05050102010706020507" pitchFamily="18" charset="2"/>
              </a:rPr>
              <a:t> 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 E + T  |  T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  T * F  |  F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F   ( E )  | id</a:t>
            </a:r>
            <a:endParaRPr lang="en-US" altLang="zh-CN" sz="280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I = {</a:t>
            </a:r>
            <a:r>
              <a:rPr kumimoji="0" lang="en-US" altLang="zh-CN" sz="2800"/>
              <a:t>E’ </a:t>
            </a:r>
            <a:r>
              <a:rPr kumimoji="0" lang="en-US" altLang="zh-CN" sz="2800">
                <a:sym typeface="Symbol" panose="05050102010706020507" pitchFamily="18" charset="2"/>
              </a:rPr>
              <a:t> ·E}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closure(I) = {</a:t>
            </a:r>
            <a:r>
              <a:rPr kumimoji="0" lang="en-US" altLang="zh-CN" sz="2800"/>
              <a:t>E’</a:t>
            </a:r>
            <a:r>
              <a:rPr kumimoji="0" lang="en-US" altLang="zh-CN" sz="2800">
                <a:sym typeface="Symbol" panose="05050102010706020507" pitchFamily="18" charset="2"/>
              </a:rPr>
              <a:t>·E,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</a:t>
            </a: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·E+T, </a:t>
            </a: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·T,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T·T * F, T·F,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F·( E ), F · id }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核心（</a:t>
            </a:r>
            <a:r>
              <a:rPr lang="en-US" altLang="zh-CN">
                <a:solidFill>
                  <a:schemeClr val="hlink"/>
                </a:solidFill>
              </a:rPr>
              <a:t>kernel</a:t>
            </a:r>
            <a:r>
              <a:rPr lang="zh-CN" altLang="en-US"/>
              <a:t>）项目</a:t>
            </a:r>
            <a:endParaRPr lang="zh-CN" alt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kumimoji="0" lang="en-US" altLang="zh-CN" sz="2800" dirty="0">
                <a:sym typeface="Symbol" panose="05050102010706020507" pitchFamily="18" charset="2"/>
              </a:rPr>
              <a:t>B·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（</a:t>
            </a:r>
            <a:r>
              <a:rPr kumimoji="0" lang="zh-CN" altLang="en-US" sz="2800" dirty="0">
                <a:sym typeface="Symbol" panose="05050102010706020507" pitchFamily="18" charset="2"/>
              </a:rPr>
              <a:t>‘</a:t>
            </a:r>
            <a:r>
              <a:rPr kumimoji="0" lang="en-US" altLang="zh-CN" sz="2800" dirty="0">
                <a:sym typeface="Symbol" panose="05050102010706020507" pitchFamily="18" charset="2"/>
              </a:rPr>
              <a:t>·</a:t>
            </a:r>
            <a:r>
              <a:rPr kumimoji="0" lang="zh-CN" altLang="en-US" sz="2800" dirty="0">
                <a:sym typeface="Symbol" panose="05050102010706020507" pitchFamily="18" charset="2"/>
              </a:rPr>
              <a:t>’在最左边）</a:t>
            </a:r>
            <a:r>
              <a:rPr lang="zh-CN" altLang="en-US" sz="2800" dirty="0"/>
              <a:t>加入</a:t>
            </a:r>
            <a:r>
              <a:rPr lang="en-US" altLang="zh-CN" sz="2800" dirty="0"/>
              <a:t>closure(I)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所有类似产生式（项目）都加入</a:t>
            </a:r>
            <a:r>
              <a:rPr lang="en-US" altLang="zh-CN" sz="2800" dirty="0"/>
              <a:t>closure(I)</a:t>
            </a:r>
            <a:endParaRPr lang="en-US" altLang="zh-CN" sz="2800" dirty="0"/>
          </a:p>
          <a:p>
            <a:pPr marL="609600" indent="-609600" eaLnBrk="1" hangingPunct="1"/>
            <a:r>
              <a:rPr lang="zh-CN" altLang="en-US" sz="2800" dirty="0"/>
              <a:t>实际上不必一一列出，用</a:t>
            </a:r>
            <a:r>
              <a:rPr lang="en-US" altLang="zh-CN" sz="2800" dirty="0"/>
              <a:t>B</a:t>
            </a:r>
            <a:r>
              <a:rPr lang="zh-CN" altLang="en-US" sz="2800" dirty="0"/>
              <a:t>表示即可</a:t>
            </a:r>
            <a:endParaRPr lang="zh-CN" altLang="en-US" sz="2800" dirty="0"/>
          </a:p>
          <a:p>
            <a:pPr marL="609600" indent="-609600" eaLnBrk="1" hangingPunct="1"/>
            <a:r>
              <a:rPr lang="zh-CN" altLang="en-US" sz="2800" dirty="0"/>
              <a:t>所有项目可分为两大类：</a:t>
            </a:r>
            <a:endParaRPr lang="zh-CN" altLang="en-US" sz="28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核心项目：</a:t>
            </a:r>
            <a:r>
              <a:rPr lang="en-US" altLang="zh-CN" sz="2400" dirty="0">
                <a:sym typeface="Wingdings" panose="05000000000000000000" pitchFamily="2" charset="2"/>
              </a:rPr>
              <a:t>S’</a:t>
            </a:r>
            <a:r>
              <a:rPr kumimoji="0" lang="en-US" altLang="zh-CN" sz="2400" dirty="0">
                <a:sym typeface="Symbol" panose="05050102010706020507" pitchFamily="18" charset="2"/>
              </a:rPr>
              <a:t>·S</a:t>
            </a:r>
            <a:r>
              <a:rPr kumimoji="0" lang="zh-CN" altLang="en-US" sz="2400" dirty="0">
                <a:sym typeface="Symbol" panose="05050102010706020507" pitchFamily="18" charset="2"/>
              </a:rPr>
              <a:t>和‘</a:t>
            </a:r>
            <a:r>
              <a:rPr kumimoji="0" lang="en-US" altLang="zh-CN" sz="2400" dirty="0">
                <a:sym typeface="Symbol" panose="05050102010706020507" pitchFamily="18" charset="2"/>
              </a:rPr>
              <a:t>·</a:t>
            </a:r>
            <a:r>
              <a:rPr kumimoji="0" lang="zh-CN" altLang="en-US" sz="2400" dirty="0">
                <a:sym typeface="Symbol" panose="05050102010706020507" pitchFamily="18" charset="2"/>
              </a:rPr>
              <a:t>’不在最左边的项目</a:t>
            </a:r>
            <a:endParaRPr kumimoji="0" lang="zh-CN" altLang="en-US" sz="24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 dirty="0">
                <a:sym typeface="Symbol" panose="05050102010706020507" pitchFamily="18" charset="2"/>
              </a:rPr>
              <a:t>非核心项目：其他‘</a:t>
            </a:r>
            <a:r>
              <a:rPr kumimoji="0" lang="en-US" altLang="zh-CN" sz="2400" dirty="0">
                <a:sym typeface="Symbol" panose="05050102010706020507" pitchFamily="18" charset="2"/>
              </a:rPr>
              <a:t>·</a:t>
            </a:r>
            <a:r>
              <a:rPr kumimoji="0" lang="zh-CN" altLang="en-US" sz="2400" dirty="0">
                <a:sym typeface="Symbol" panose="05050102010706020507" pitchFamily="18" charset="2"/>
              </a:rPr>
              <a:t>’在最左边的项目（</a:t>
            </a:r>
            <a:r>
              <a:rPr kumimoji="0"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边！</a:t>
            </a:r>
            <a:r>
              <a:rPr kumimoji="0" lang="zh-CN" altLang="en-US" sz="2400" dirty="0">
                <a:sym typeface="Symbol" panose="05050102010706020507" pitchFamily="18" charset="2"/>
              </a:rPr>
              <a:t>）</a:t>
            </a:r>
            <a:endParaRPr kumimoji="0" lang="zh-CN" altLang="en-US" sz="2400" dirty="0"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kumimoji="0" lang="zh-CN" altLang="en-US" sz="2800" dirty="0">
                <a:sym typeface="Symbol" panose="05050102010706020507" pitchFamily="18" charset="2"/>
              </a:rPr>
              <a:t>项目集中实际只关心核心项目</a:t>
            </a:r>
            <a:endParaRPr kumimoji="0" lang="zh-CN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函数的计算</a:t>
            </a:r>
            <a:endParaRPr lang="zh-CN" altLang="en-US"/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goto(I, X)=closure({</a:t>
            </a:r>
            <a:r>
              <a:rPr lang="en-US" altLang="zh-CN">
                <a:sym typeface="Symbol" panose="05050102010706020507" pitchFamily="18" charset="2"/>
              </a:rPr>
              <a:t>AX· | A·X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>
                <a:sym typeface="Symbol" panose="05050102010706020507" pitchFamily="18" charset="2"/>
              </a:rPr>
              <a:t>I})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_closure(</a:t>
            </a:r>
            <a:r>
              <a:rPr lang="en-US" altLang="zh-CN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(I, X))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！</a:t>
            </a:r>
            <a:endParaRPr lang="zh-CN" altLang="en-US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：活前缀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对应</a:t>
            </a:r>
            <a:r>
              <a:rPr lang="zh-CN" altLang="en-US">
                <a:sym typeface="Symbol" panose="05050102010706020507" pitchFamily="18" charset="2"/>
              </a:rPr>
              <a:t>的有效项目集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goto(I, X)</a:t>
            </a:r>
            <a:r>
              <a:rPr lang="zh-CN" altLang="en-US">
                <a:sym typeface="Wingdings" panose="05000000000000000000" pitchFamily="2" charset="2"/>
              </a:rPr>
              <a:t>：活前缀</a:t>
            </a:r>
            <a:r>
              <a:rPr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g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对应的有效项目集</a:t>
            </a:r>
            <a:endParaRPr lang="zh-CN" altLang="en-US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例</a:t>
            </a:r>
            <a:r>
              <a:rPr lang="en-US" altLang="zh-CN">
                <a:sym typeface="Wingdings" panose="05000000000000000000" pitchFamily="2" charset="2"/>
              </a:rPr>
              <a:t>4.35</a:t>
            </a:r>
            <a:r>
              <a:rPr lang="zh-CN" altLang="en-US">
                <a:sym typeface="Wingdings" panose="05000000000000000000" pitchFamily="2" charset="2"/>
              </a:rPr>
              <a:t>：</a:t>
            </a:r>
            <a:r>
              <a:rPr lang="en-US" altLang="zh-CN">
                <a:sym typeface="Wingdings" panose="05000000000000000000" pitchFamily="2" charset="2"/>
              </a:rPr>
              <a:t>I = { </a:t>
            </a:r>
            <a:r>
              <a:rPr kumimoji="0" lang="en-US" altLang="zh-CN" sz="2800"/>
              <a:t>E’</a:t>
            </a:r>
            <a:r>
              <a:rPr kumimoji="0" lang="en-US" altLang="zh-CN" sz="2800">
                <a:sym typeface="Symbol" panose="05050102010706020507" pitchFamily="18" charset="2"/>
              </a:rPr>
              <a:t>·E, </a:t>
            </a: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E·+T }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goto(I, +) = { </a:t>
            </a: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E+·T,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     T·T*F, T·F,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     F·(E), F·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 }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项目集规范族的构造</a:t>
            </a:r>
            <a:endParaRPr lang="zh-CN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Procedure Items(G’:</a:t>
            </a:r>
            <a:r>
              <a:rPr kumimoji="0" lang="en-US" altLang="zh-CN" sz="2000" i="1">
                <a:latin typeface="Lucida Sans Unicode" panose="020B0602030504020204" pitchFamily="34" charset="0"/>
                <a:sym typeface="Symbol" panose="05050102010706020507" pitchFamily="18" charset="2"/>
              </a:rPr>
              <a:t>augmented grammar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) </a:t>
            </a:r>
            <a:endParaRPr kumimoji="0" lang="en-US" altLang="zh-CN" sz="20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{	C:={ closure [S’ </a:t>
            </a:r>
            <a:r>
              <a:rPr kumimoji="0" lang="en-US" altLang="zh-CN" sz="2000" b="1">
                <a:sym typeface="Symbol" panose="05050102010706020507" pitchFamily="18" charset="2"/>
              </a:rPr>
              <a:t> .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S] 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	repeat</a:t>
            </a:r>
            <a:endParaRPr kumimoji="0" lang="en-US" altLang="zh-CN" sz="20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		for C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中每个项目集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I 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和</a:t>
            </a:r>
            <a:endParaRPr kumimoji="0" lang="zh-CN" altLang="en-US" sz="2000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		      每个文法符号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kumimoji="0" lang="zh-CN" altLang="en-US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，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goto(I,X)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不空且不在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C</a:t>
            </a:r>
            <a:r>
              <a:rPr kumimoji="0" lang="zh-CN" altLang="en-US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中</a:t>
            </a:r>
            <a:endParaRPr kumimoji="0" lang="zh-CN" altLang="en-US" sz="20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			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将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goto(I,X)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加入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C</a:t>
            </a:r>
            <a:endParaRPr kumimoji="0" lang="en-US" altLang="zh-CN" sz="20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	until 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没有新的项目集加入</a:t>
            </a:r>
            <a:r>
              <a:rPr kumimoji="0" lang="en-US" altLang="zh-CN" sz="2000">
                <a:latin typeface="Lucida Sans Unicode" panose="020B0602030504020204" pitchFamily="34" charset="0"/>
                <a:sym typeface="Symbol" panose="05050102010706020507" pitchFamily="18" charset="2"/>
              </a:rPr>
              <a:t>C</a:t>
            </a:r>
            <a:endParaRPr kumimoji="0" lang="en-US" altLang="zh-CN" sz="20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}</a:t>
            </a:r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ltGray">
          <a:xfrm>
            <a:off x="6172200" y="17526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初始项目集</a:t>
            </a:r>
            <a:endParaRPr lang="zh-CN" altLang="en-US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72709" name="Line 5"/>
          <p:cNvSpPr>
            <a:spLocks noChangeShapeType="1"/>
          </p:cNvSpPr>
          <p:nvPr/>
        </p:nvSpPr>
        <p:spPr bwMode="ltGray">
          <a:xfrm flipH="1" flipV="1">
            <a:off x="4419600" y="1752600"/>
            <a:ext cx="21336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ltGray">
          <a:xfrm>
            <a:off x="4724400" y="3629025"/>
            <a:ext cx="3962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子集构造法类似过程，由初始项目集开始，对每个项目集和文法符号计算</a:t>
            </a: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goto</a:t>
            </a: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函数，直至不再产生新的项目集</a:t>
            </a:r>
            <a:endParaRPr lang="zh-CN" altLang="en-US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72711" name="Line 7"/>
          <p:cNvSpPr>
            <a:spLocks noChangeShapeType="1"/>
          </p:cNvSpPr>
          <p:nvPr/>
        </p:nvSpPr>
        <p:spPr bwMode="ltGray">
          <a:xfrm flipH="1" flipV="1">
            <a:off x="5334000" y="3124200"/>
            <a:ext cx="13716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4.36</a:t>
            </a:r>
            <a:endParaRPr lang="en-US" altLang="zh-CN"/>
          </a:p>
        </p:txBody>
      </p:sp>
      <p:sp>
        <p:nvSpPr>
          <p:cNvPr id="73731" name="Text Box 4"/>
          <p:cNvSpPr txBox="1">
            <a:spLocks noChangeArrowheads="1"/>
          </p:cNvSpPr>
          <p:nvPr/>
        </p:nvSpPr>
        <p:spPr bwMode="auto">
          <a:xfrm>
            <a:off x="990600" y="1524000"/>
            <a:ext cx="176688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·E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·T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/>
          </a:p>
        </p:txBody>
      </p:sp>
      <p:sp>
        <p:nvSpPr>
          <p:cNvPr id="73732" name="Text Box 5"/>
          <p:cNvSpPr txBox="1">
            <a:spLocks noChangeArrowheads="1"/>
          </p:cNvSpPr>
          <p:nvPr/>
        </p:nvSpPr>
        <p:spPr bwMode="auto">
          <a:xfrm>
            <a:off x="3189288" y="1524000"/>
            <a:ext cx="20732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E·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73733" name="Text Box 6"/>
          <p:cNvSpPr txBox="1">
            <a:spLocks noChangeArrowheads="1"/>
          </p:cNvSpPr>
          <p:nvPr/>
        </p:nvSpPr>
        <p:spPr bwMode="auto">
          <a:xfrm>
            <a:off x="6008688" y="1524000"/>
            <a:ext cx="2073275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T)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T·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73734" name="Text Box 7"/>
          <p:cNvSpPr txBox="1">
            <a:spLocks noChangeArrowheads="1"/>
          </p:cNvSpPr>
          <p:nvPr/>
        </p:nvSpPr>
        <p:spPr bwMode="auto">
          <a:xfrm>
            <a:off x="3200400" y="2971800"/>
            <a:ext cx="2057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3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F)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F·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4.36</a:t>
            </a:r>
            <a:endParaRPr lang="en-US" altLang="zh-CN"/>
          </a:p>
        </p:txBody>
      </p:sp>
      <p:sp>
        <p:nvSpPr>
          <p:cNvPr id="74755" name="Text Box 7"/>
          <p:cNvSpPr txBox="1">
            <a:spLocks noChangeArrowheads="1"/>
          </p:cNvSpPr>
          <p:nvPr/>
        </p:nvSpPr>
        <p:spPr bwMode="auto">
          <a:xfrm>
            <a:off x="1219200" y="1600200"/>
            <a:ext cx="1989138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()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·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·T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74756" name="Text Box 8"/>
          <p:cNvSpPr txBox="1">
            <a:spLocks noChangeArrowheads="1"/>
          </p:cNvSpPr>
          <p:nvPr/>
        </p:nvSpPr>
        <p:spPr bwMode="auto">
          <a:xfrm>
            <a:off x="3505200" y="1600200"/>
            <a:ext cx="2141538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5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id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id·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74757" name="Text Box 9"/>
          <p:cNvSpPr txBox="1">
            <a:spLocks noChangeArrowheads="1"/>
          </p:cNvSpPr>
          <p:nvPr/>
        </p:nvSpPr>
        <p:spPr bwMode="auto">
          <a:xfrm>
            <a:off x="5791200" y="1609725"/>
            <a:ext cx="2058988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, +)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·T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75779" name="Text Box 7"/>
          <p:cNvSpPr txBox="1">
            <a:spLocks noChangeArrowheads="1"/>
          </p:cNvSpPr>
          <p:nvPr/>
        </p:nvSpPr>
        <p:spPr bwMode="auto">
          <a:xfrm>
            <a:off x="1219200" y="1600200"/>
            <a:ext cx="2039938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400">
                <a:solidFill>
                  <a:srgbClr val="3333CC"/>
                </a:solidFill>
              </a:rPr>
              <a:t>, *)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·F 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75780" name="Text Box 10"/>
          <p:cNvSpPr txBox="1">
            <a:spLocks noChangeArrowheads="1"/>
          </p:cNvSpPr>
          <p:nvPr/>
        </p:nvSpPr>
        <p:spPr bwMode="auto">
          <a:xfrm>
            <a:off x="3421063" y="1600200"/>
            <a:ext cx="2073275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8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r>
              <a:rPr kumimoji="0" lang="en-US" altLang="zh-CN" sz="2400">
                <a:solidFill>
                  <a:srgbClr val="3333CC"/>
                </a:solidFill>
              </a:rPr>
              <a:t>, E) 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75781" name="Text Box 11"/>
          <p:cNvSpPr txBox="1">
            <a:spLocks noChangeArrowheads="1"/>
          </p:cNvSpPr>
          <p:nvPr/>
        </p:nvSpPr>
        <p:spPr bwMode="auto">
          <a:xfrm>
            <a:off x="6019800" y="1604963"/>
            <a:ext cx="207327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9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r>
              <a:rPr kumimoji="0" lang="en-US" altLang="zh-CN" sz="2400">
                <a:solidFill>
                  <a:srgbClr val="3333CC"/>
                </a:solidFill>
              </a:rPr>
              <a:t>, T) 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T·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T·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75782" name="Text Box 12"/>
          <p:cNvSpPr txBox="1">
            <a:spLocks noChangeArrowheads="1"/>
          </p:cNvSpPr>
          <p:nvPr/>
        </p:nvSpPr>
        <p:spPr bwMode="auto">
          <a:xfrm>
            <a:off x="1219200" y="3429000"/>
            <a:ext cx="2159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10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, F)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F· 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75783" name="Text Box 13"/>
          <p:cNvSpPr txBox="1">
            <a:spLocks noChangeArrowheads="1"/>
          </p:cNvSpPr>
          <p:nvPr/>
        </p:nvSpPr>
        <p:spPr bwMode="auto">
          <a:xfrm>
            <a:off x="3421063" y="3433763"/>
            <a:ext cx="2166937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11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8</a:t>
            </a:r>
            <a:r>
              <a:rPr kumimoji="0" lang="en-US" altLang="zh-CN" sz="2400">
                <a:solidFill>
                  <a:srgbClr val="3333CC"/>
                </a:solidFill>
              </a:rPr>
              <a:t>, ) ) 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)·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4.36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76803" name="Picture 8" descr="sl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1295400"/>
            <a:ext cx="3951288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411760" y="5924550"/>
            <a:ext cx="31951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</a:rPr>
              <a:t>初态</a:t>
            </a:r>
            <a:r>
              <a:rPr lang="en-US" altLang="zh-CN" sz="2000" dirty="0">
                <a:solidFill>
                  <a:srgbClr val="FF0000"/>
                </a:solidFill>
              </a:rPr>
              <a:t>I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0</a:t>
            </a:r>
            <a:r>
              <a:rPr lang="zh-CN" altLang="en-US" sz="2000" dirty="0">
                <a:solidFill>
                  <a:srgbClr val="FF0000"/>
                </a:solidFill>
              </a:rPr>
              <a:t>，所有状态都是终态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有效项目（</a:t>
            </a:r>
            <a:r>
              <a:rPr lang="en-US" altLang="zh-CN">
                <a:solidFill>
                  <a:schemeClr val="hlink"/>
                </a:solidFill>
              </a:rPr>
              <a:t>valid items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/>
              <a:t>称项目</a:t>
            </a:r>
            <a:r>
              <a:rPr lang="en-US" altLang="zh-CN" dirty="0">
                <a:sym typeface="Symbol" panose="05050102010706020507" pitchFamily="18" charset="2"/>
              </a:rPr>
              <a:t>A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·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对活前缀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b="1" dirty="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有效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br>
              <a:rPr lang="zh-CN" altLang="en-US" dirty="0">
                <a:sym typeface="Symbol" panose="05050102010706020507" pitchFamily="18" charset="2"/>
              </a:rPr>
            </a:br>
            <a:r>
              <a:rPr lang="zh-CN" altLang="en-US" dirty="0">
                <a:sym typeface="Symbol" panose="05050102010706020507" pitchFamily="18" charset="2"/>
              </a:rPr>
              <a:t>当存在一个最右推导</a:t>
            </a:r>
            <a:br>
              <a:rPr lang="zh-CN" altLang="en-US" dirty="0">
                <a:sym typeface="Symbol" panose="05050102010706020507" pitchFamily="18" charset="2"/>
              </a:rPr>
            </a:br>
            <a:r>
              <a:rPr kumimoji="0" lang="en-US" altLang="zh-CN" dirty="0"/>
              <a:t>S</a:t>
            </a:r>
            <a:r>
              <a:rPr kumimoji="0" lang="en-US" altLang="zh-CN" dirty="0">
                <a:sym typeface="Symbol" panose="05050102010706020507" pitchFamily="18" charset="2"/>
              </a:rPr>
              <a:t>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Aw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w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ym typeface="Symbol" panose="05050102010706020507" pitchFamily="18" charset="2"/>
              </a:rPr>
              <a:t>哪个产生式产生了此活前缀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ym typeface="Symbol" panose="05050102010706020507" pitchFamily="18" charset="2"/>
              </a:rPr>
              <a:t>一个项目可对很多活前缀有效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1898650" y="23780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  <a:endParaRPr kumimoji="0" lang="en-US" altLang="zh-CN" sz="2000"/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1820863" y="2590800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3048000" y="25908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有效项目（</a:t>
            </a:r>
            <a:r>
              <a:rPr lang="en-US" altLang="zh-CN">
                <a:solidFill>
                  <a:schemeClr val="hlink"/>
                </a:solidFill>
              </a:rPr>
              <a:t>valid items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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位于栈顶，帮助确定移进</a:t>
            </a:r>
            <a:r>
              <a:rPr lang="en-US" altLang="zh-CN" dirty="0">
                <a:sym typeface="Symbol" panose="05050102010706020507" pitchFamily="18" charset="2"/>
              </a:rPr>
              <a:t>/</a:t>
            </a:r>
            <a:r>
              <a:rPr lang="zh-CN" altLang="en-US" dirty="0">
                <a:sym typeface="Symbol" panose="05050102010706020507" pitchFamily="18" charset="2"/>
              </a:rPr>
              <a:t>归约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，未形成句柄，移进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A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为句柄，归约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对同一活前缀，项目集中不同有效项目可能有不同建议</a:t>
            </a:r>
            <a:r>
              <a:rPr lang="en-US" altLang="zh-CN" dirty="0">
                <a:sym typeface="Symbol" panose="05050102010706020507" pitchFamily="18" charset="2"/>
              </a:rPr>
              <a:t>——</a:t>
            </a:r>
            <a:r>
              <a:rPr lang="zh-CN" altLang="en-US" dirty="0">
                <a:sym typeface="Symbol" panose="05050102010706020507" pitchFamily="18" charset="2"/>
              </a:rPr>
              <a:t>向前搜索解决，或冲突！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LR</a:t>
            </a:r>
            <a:r>
              <a:rPr lang="zh-CN" altLang="en-US" dirty="0">
                <a:sym typeface="Symbol" panose="05050102010706020507" pitchFamily="18" charset="2"/>
              </a:rPr>
              <a:t>分析法核心理论：活前缀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dirty="0">
                <a:latin typeface="Symbol" panose="05050102010706020507" pitchFamily="18" charset="2"/>
                <a:sym typeface="Symbol" panose="05050102010706020507" pitchFamily="18" charset="2"/>
              </a:rPr>
              <a:t>的有效项目集</a:t>
            </a:r>
            <a:r>
              <a:rPr kumimoji="0" lang="zh-CN" altLang="en-US" dirty="0">
                <a:sym typeface="Symbol" panose="05050102010706020507" pitchFamily="18" charset="2"/>
              </a:rPr>
              <a:t>≡</a:t>
            </a:r>
            <a:r>
              <a:rPr kumimoji="0" lang="en-US" altLang="zh-CN" dirty="0">
                <a:sym typeface="Symbol" panose="05050102010706020507" pitchFamily="18" charset="2"/>
              </a:rPr>
              <a:t>DFA</a:t>
            </a:r>
            <a:r>
              <a:rPr kumimoji="0" lang="zh-CN" altLang="en-US" dirty="0">
                <a:sym typeface="Symbol" panose="05050102010706020507" pitchFamily="18" charset="2"/>
              </a:rPr>
              <a:t>读入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dirty="0">
                <a:latin typeface="Symbol" panose="05050102010706020507" pitchFamily="18" charset="2"/>
                <a:sym typeface="Symbol" panose="05050102010706020507" pitchFamily="18" charset="2"/>
              </a:rPr>
              <a:t>后达到的状态</a:t>
            </a:r>
            <a:endParaRPr kumimoji="0" lang="zh-CN" altLang="en-US" dirty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4.37</a:t>
            </a:r>
            <a:endParaRPr lang="en-US" altLang="zh-CN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zh-CN" sz="2800"/>
              <a:t>E+T*</a:t>
            </a:r>
            <a:r>
              <a:rPr lang="zh-CN" altLang="en-US" sz="2800"/>
              <a:t>是一个活前缀，对应状态集</a:t>
            </a:r>
            <a:r>
              <a:rPr lang="en-US" altLang="zh-CN" sz="2800"/>
              <a:t>I</a:t>
            </a:r>
            <a:r>
              <a:rPr lang="en-US" altLang="zh-CN" sz="2800" baseline="-25000"/>
              <a:t>7</a:t>
            </a:r>
            <a:endParaRPr lang="en-US" altLang="zh-CN" sz="2800"/>
          </a:p>
          <a:p>
            <a:pPr eaLnBrk="1" hangingPunct="1"/>
            <a:r>
              <a:rPr lang="zh-CN" altLang="en-US" sz="2800"/>
              <a:t>包括：</a:t>
            </a:r>
            <a:r>
              <a:rPr lang="en-US" altLang="zh-CN" sz="2800"/>
              <a:t>T </a:t>
            </a:r>
            <a:r>
              <a:rPr lang="en-US" altLang="zh-CN" sz="2800">
                <a:sym typeface="Symbol" panose="05050102010706020507" pitchFamily="18" charset="2"/>
              </a:rPr>
              <a:t> T*·F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en-US" altLang="zh-CN" sz="2800">
                <a:sym typeface="Symbol" panose="05050102010706020507" pitchFamily="18" charset="2"/>
              </a:rPr>
              <a:t>	      </a:t>
            </a:r>
            <a:r>
              <a:rPr lang="en-US" altLang="zh-CN" sz="2800"/>
              <a:t>F </a:t>
            </a:r>
            <a:r>
              <a:rPr lang="en-US" altLang="zh-CN" sz="2800">
                <a:sym typeface="Symbol" panose="05050102010706020507" pitchFamily="18" charset="2"/>
              </a:rPr>
              <a:t> ·(E)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en-US" altLang="zh-CN" sz="2800">
                <a:sym typeface="Symbol" panose="05050102010706020507" pitchFamily="18" charset="2"/>
              </a:rPr>
              <a:t>            </a:t>
            </a:r>
            <a:r>
              <a:rPr lang="en-US" altLang="zh-CN" sz="2800"/>
              <a:t>F </a:t>
            </a:r>
            <a:r>
              <a:rPr lang="en-US" altLang="zh-CN" sz="2800">
                <a:sym typeface="Symbol" panose="05050102010706020507" pitchFamily="18" charset="2"/>
              </a:rPr>
              <a:t> ·id	 </a:t>
            </a:r>
            <a:r>
              <a:rPr lang="en-US" altLang="zh-CN" sz="2800"/>
              <a:t>E+T*</a:t>
            </a:r>
            <a:r>
              <a:rPr lang="zh-CN" altLang="en-US" sz="2800"/>
              <a:t>的有效项目</a:t>
            </a:r>
            <a:endParaRPr lang="zh-CN" altLang="en-US" sz="2800"/>
          </a:p>
          <a:p>
            <a:pPr eaLnBrk="1" hangingPunct="1"/>
            <a:r>
              <a:rPr lang="en-US" altLang="zh-CN" sz="2800">
                <a:sym typeface="Symbol" panose="05050102010706020507" pitchFamily="18" charset="2"/>
              </a:rPr>
              <a:t>E’=&gt;E=&gt;E+T=&gt;</a:t>
            </a:r>
            <a:r>
              <a:rPr lang="en-US" altLang="zh-CN" sz="2800" u="sng">
                <a:solidFill>
                  <a:schemeClr val="accent2"/>
                </a:solidFill>
                <a:sym typeface="Symbol" panose="05050102010706020507" pitchFamily="18" charset="2"/>
              </a:rPr>
              <a:t>E+</a:t>
            </a:r>
            <a:r>
              <a:rPr lang="en-US" altLang="zh-CN" sz="2800" u="sng">
                <a:solidFill>
                  <a:schemeClr val="hlink"/>
                </a:solidFill>
                <a:sym typeface="Symbol" panose="05050102010706020507" pitchFamily="18" charset="2"/>
              </a:rPr>
              <a:t>T*</a:t>
            </a:r>
            <a:r>
              <a:rPr lang="en-US" altLang="zh-CN" sz="2800">
                <a:sym typeface="Symbol" panose="05050102010706020507" pitchFamily="18" charset="2"/>
              </a:rPr>
              <a:t>F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en-US" altLang="zh-CN" sz="2800">
                <a:sym typeface="Symbol" panose="05050102010706020507" pitchFamily="18" charset="2"/>
              </a:rPr>
              <a:t>E’=&gt;E=&gt;E+T=&gt;E+T*F=&gt;</a:t>
            </a:r>
            <a:r>
              <a:rPr lang="en-US" altLang="zh-CN" sz="2800" u="sng">
                <a:solidFill>
                  <a:schemeClr val="hlink"/>
                </a:solidFill>
                <a:sym typeface="Symbol" panose="05050102010706020507" pitchFamily="18" charset="2"/>
              </a:rPr>
              <a:t>E+T*</a:t>
            </a:r>
            <a:r>
              <a:rPr lang="en-US" altLang="zh-CN" sz="2800">
                <a:sym typeface="Symbol" panose="05050102010706020507" pitchFamily="18" charset="2"/>
              </a:rPr>
              <a:t>(E)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en-US" altLang="zh-CN" sz="2800">
                <a:sym typeface="Symbol" panose="05050102010706020507" pitchFamily="18" charset="2"/>
              </a:rPr>
              <a:t>E’=&gt;E=&gt;E+T=&gt;E+T*F=&gt;</a:t>
            </a:r>
            <a:r>
              <a:rPr lang="en-US" altLang="zh-CN" sz="2800" u="sng">
                <a:solidFill>
                  <a:schemeClr val="hlink"/>
                </a:solidFill>
                <a:sym typeface="Symbol" panose="05050102010706020507" pitchFamily="18" charset="2"/>
              </a:rPr>
              <a:t>E+T*</a:t>
            </a:r>
            <a:r>
              <a:rPr lang="en-US" altLang="zh-CN" sz="2800">
                <a:sym typeface="Symbol" panose="05050102010706020507" pitchFamily="18" charset="2"/>
              </a:rPr>
              <a:t>id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zh-CN" altLang="en-US" sz="2800">
                <a:sym typeface="Symbol" panose="05050102010706020507" pitchFamily="18" charset="2"/>
              </a:rPr>
              <a:t>分别验证了三个项目的有效性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/>
              <a:t>无其他有效项目</a:t>
            </a:r>
            <a:endParaRPr lang="zh-CN" altLang="en-US" sz="2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4.8</a:t>
            </a:r>
            <a:r>
              <a:rPr lang="zh-CN" altLang="en-US"/>
              <a:t>：构造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  <a:endParaRPr lang="zh-CN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输入：拓广文法</a:t>
            </a:r>
            <a:r>
              <a:rPr lang="en-US" altLang="zh-CN" sz="2800" dirty="0"/>
              <a:t>G’</a:t>
            </a:r>
            <a:endParaRPr lang="en-US" altLang="zh-CN" sz="28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输出：</a:t>
            </a:r>
            <a:r>
              <a:rPr lang="en-US" altLang="zh-CN" sz="2800" dirty="0"/>
              <a:t>G’</a:t>
            </a:r>
            <a:r>
              <a:rPr lang="zh-CN" altLang="en-US" sz="2800" dirty="0"/>
              <a:t>的</a:t>
            </a:r>
            <a:r>
              <a:rPr lang="en-US" altLang="zh-CN" sz="2800" dirty="0"/>
              <a:t>SLR</a:t>
            </a:r>
            <a:r>
              <a:rPr lang="zh-CN" altLang="en-US" sz="2800" dirty="0"/>
              <a:t>分析表</a:t>
            </a:r>
            <a:r>
              <a:rPr lang="en-US" altLang="zh-CN" sz="2800" dirty="0"/>
              <a:t>——action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goto</a:t>
            </a:r>
            <a:r>
              <a:rPr lang="zh-CN" altLang="en-US" sz="2800" dirty="0"/>
              <a:t>函数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方法：</a:t>
            </a:r>
            <a:endParaRPr lang="zh-CN" altLang="en-US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构造</a:t>
            </a:r>
            <a:r>
              <a:rPr lang="en-US" altLang="zh-CN" sz="2800" dirty="0"/>
              <a:t>G’</a:t>
            </a:r>
            <a:r>
              <a:rPr lang="zh-CN" altLang="en-US" sz="2800" dirty="0"/>
              <a:t>的</a:t>
            </a:r>
            <a:r>
              <a:rPr lang="en-US" altLang="zh-CN" sz="2800" dirty="0"/>
              <a:t>LR(0)</a:t>
            </a:r>
            <a:r>
              <a:rPr lang="zh-CN" altLang="en-US" sz="2800" dirty="0"/>
              <a:t>项目集规范族</a:t>
            </a:r>
            <a:r>
              <a:rPr lang="en-US" altLang="zh-CN" sz="2800" dirty="0"/>
              <a:t>C={I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, I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…, I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}</a:t>
            </a:r>
            <a:endParaRPr lang="en-US" altLang="zh-CN" sz="28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由</a:t>
            </a:r>
            <a:r>
              <a:rPr lang="en-US" altLang="zh-CN" sz="2800" dirty="0" err="1"/>
              <a:t>I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构造状态</a:t>
            </a:r>
            <a:r>
              <a:rPr lang="en-US" altLang="zh-CN" sz="2800" dirty="0" err="1"/>
              <a:t>i</a:t>
            </a:r>
            <a:r>
              <a:rPr lang="zh-CN" altLang="en-US" sz="2800" dirty="0"/>
              <a:t>：</a:t>
            </a:r>
            <a:endParaRPr lang="zh-CN" altLang="en-US" sz="2800" dirty="0"/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若</a:t>
            </a:r>
            <a:r>
              <a:rPr lang="en-US" altLang="zh-CN" sz="2400" dirty="0">
                <a:sym typeface="Symbol" panose="05050102010706020507" pitchFamily="18" charset="2"/>
              </a:rPr>
              <a:t>[A·a] </a:t>
            </a:r>
            <a:r>
              <a:rPr lang="zh-CN" altLang="en-US" sz="2400" dirty="0">
                <a:sym typeface="Symbol" panose="05050102010706020507" pitchFamily="18" charset="2"/>
              </a:rPr>
              <a:t>在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ym typeface="Symbol" panose="05050102010706020507" pitchFamily="18" charset="2"/>
              </a:rPr>
              <a:t>中，且</a:t>
            </a:r>
            <a:r>
              <a:rPr lang="en-US" altLang="zh-CN" sz="2400" dirty="0" err="1">
                <a:sym typeface="Symbol" panose="05050102010706020507" pitchFamily="18" charset="2"/>
              </a:rPr>
              <a:t>goto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, a)=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ym typeface="Symbol" panose="05050102010706020507" pitchFamily="18" charset="2"/>
              </a:rPr>
              <a:t>，则</a:t>
            </a:r>
            <a:r>
              <a:rPr lang="en-US" altLang="zh-CN" sz="2400" dirty="0">
                <a:sym typeface="Symbol" panose="05050102010706020507" pitchFamily="18" charset="2"/>
              </a:rPr>
              <a:t>action[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, a]=“</a:t>
            </a:r>
            <a:r>
              <a:rPr lang="zh-CN" altLang="en-US" sz="2400" dirty="0">
                <a:sym typeface="Symbol" panose="05050102010706020507" pitchFamily="18" charset="2"/>
              </a:rPr>
              <a:t>移进</a:t>
            </a:r>
            <a:r>
              <a:rPr lang="en-US" altLang="zh-CN" sz="2400" dirty="0">
                <a:sym typeface="Symbol" panose="05050102010706020507" pitchFamily="18" charset="2"/>
              </a:rPr>
              <a:t>j”</a:t>
            </a:r>
            <a:r>
              <a:rPr lang="zh-CN" altLang="en-US" sz="2400" dirty="0">
                <a:sym typeface="Symbol" panose="05050102010706020507" pitchFamily="18" charset="2"/>
              </a:rPr>
              <a:t>，此处</a:t>
            </a:r>
            <a:r>
              <a:rPr lang="en-US" altLang="zh-CN" sz="2400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为终结符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若</a:t>
            </a:r>
            <a:r>
              <a:rPr lang="en-US" altLang="zh-CN" sz="2400" dirty="0">
                <a:sym typeface="Symbol" panose="05050102010706020507" pitchFamily="18" charset="2"/>
              </a:rPr>
              <a:t>[A·] </a:t>
            </a:r>
            <a:r>
              <a:rPr lang="zh-CN" altLang="en-US" sz="2400" dirty="0">
                <a:sym typeface="Symbol" panose="05050102010706020507" pitchFamily="18" charset="2"/>
              </a:rPr>
              <a:t>在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ym typeface="Symbol" panose="05050102010706020507" pitchFamily="18" charset="2"/>
              </a:rPr>
              <a:t>中，对所有</a:t>
            </a:r>
            <a:r>
              <a:rPr lang="en-US" altLang="zh-CN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FOLLOW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(A)</a:t>
            </a:r>
            <a:r>
              <a:rPr lang="zh-CN" altLang="en-US" sz="2400" dirty="0">
                <a:sym typeface="Symbol" panose="05050102010706020507" pitchFamily="18" charset="2"/>
              </a:rPr>
              <a:t>，令</a:t>
            </a:r>
            <a:r>
              <a:rPr lang="en-US" altLang="zh-CN" sz="2400" dirty="0">
                <a:sym typeface="Symbol" panose="05050102010706020507" pitchFamily="18" charset="2"/>
              </a:rPr>
              <a:t>action[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, a]=“</a:t>
            </a:r>
            <a:r>
              <a:rPr lang="zh-CN" altLang="en-US" sz="2400" dirty="0">
                <a:sym typeface="Symbol" panose="05050102010706020507" pitchFamily="18" charset="2"/>
              </a:rPr>
              <a:t>归约</a:t>
            </a:r>
            <a:r>
              <a:rPr lang="en-US" altLang="zh-CN" sz="2400" dirty="0">
                <a:sym typeface="Symbol" panose="05050102010706020507" pitchFamily="18" charset="2"/>
              </a:rPr>
              <a:t>A”</a:t>
            </a:r>
            <a:r>
              <a:rPr lang="zh-CN" altLang="en-US" sz="2400" dirty="0">
                <a:sym typeface="Symbol" panose="05050102010706020507" pitchFamily="18" charset="2"/>
              </a:rPr>
              <a:t>，此处</a:t>
            </a:r>
            <a:r>
              <a:rPr lang="en-US" altLang="zh-CN" sz="2400" dirty="0"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ea typeface="Arial Unicode MS" pitchFamily="34" charset="-122"/>
                <a:sym typeface="Symbol" panose="05050102010706020507" pitchFamily="18" charset="2"/>
              </a:rPr>
              <a:t>≠</a:t>
            </a:r>
            <a:r>
              <a:rPr lang="en-US" altLang="zh-CN" sz="2400" dirty="0">
                <a:sym typeface="Symbol" panose="05050102010706020507" pitchFamily="18" charset="2"/>
              </a:rPr>
              <a:t>S’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4.8</a:t>
            </a:r>
            <a:r>
              <a:rPr lang="zh-CN" altLang="en-US"/>
              <a:t>：构造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>
              <a:buFont typeface="Wingdings" panose="05000000000000000000" pitchFamily="2" charset="2"/>
              <a:buAutoNum type="alphaLcParenR" startAt="3"/>
            </a:pPr>
            <a:r>
              <a:rPr lang="zh-CN" altLang="en-US" dirty="0"/>
              <a:t>若</a:t>
            </a:r>
            <a:r>
              <a:rPr lang="en-US" altLang="zh-CN" dirty="0">
                <a:sym typeface="Symbol" panose="05050102010706020507" pitchFamily="18" charset="2"/>
              </a:rPr>
              <a:t>[S’S·] </a:t>
            </a:r>
            <a:r>
              <a:rPr lang="zh-CN" altLang="en-US" dirty="0">
                <a:sym typeface="Symbol" panose="05050102010706020507" pitchFamily="18" charset="2"/>
              </a:rPr>
              <a:t>在</a:t>
            </a:r>
            <a:r>
              <a:rPr lang="en-US" altLang="zh-CN" dirty="0"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中，则令</a:t>
            </a:r>
            <a:r>
              <a:rPr lang="en-US" altLang="zh-CN" dirty="0">
                <a:sym typeface="Symbol" panose="05050102010706020507" pitchFamily="18" charset="2"/>
              </a:rPr>
              <a:t>action[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$]=</a:t>
            </a:r>
            <a:r>
              <a:rPr lang="zh-CN" altLang="en-US" dirty="0">
                <a:sym typeface="Symbol" panose="05050102010706020507" pitchFamily="18" charset="2"/>
              </a:rPr>
              <a:t>“接受”</a:t>
            </a:r>
            <a:endParaRPr lang="zh-CN" altLang="en-US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Symbol" panose="05050102010706020507" pitchFamily="18" charset="2"/>
              </a:rPr>
              <a:t>利用</a:t>
            </a:r>
            <a:r>
              <a:rPr lang="en-US" altLang="zh-CN" dirty="0">
                <a:sym typeface="Symbol" panose="05050102010706020507" pitchFamily="18" charset="2"/>
              </a:rPr>
              <a:t>DFA</a:t>
            </a:r>
            <a:r>
              <a:rPr lang="zh-CN" altLang="en-US" dirty="0">
                <a:sym typeface="Symbol" panose="05050102010706020507" pitchFamily="18" charset="2"/>
              </a:rPr>
              <a:t>的状态转移函数构造状态的</a:t>
            </a:r>
            <a:r>
              <a:rPr lang="en-US" altLang="zh-CN" dirty="0" err="1">
                <a:sym typeface="Symbol" panose="05050102010706020507" pitchFamily="18" charset="2"/>
              </a:rPr>
              <a:t>goto</a:t>
            </a:r>
            <a:r>
              <a:rPr lang="zh-CN" altLang="en-US" dirty="0">
                <a:sym typeface="Symbol" panose="05050102010706020507" pitchFamily="18" charset="2"/>
              </a:rPr>
              <a:t>函数：</a:t>
            </a:r>
            <a:r>
              <a:rPr lang="en-US" altLang="zh-CN" dirty="0" err="1">
                <a:sym typeface="Symbol" panose="05050102010706020507" pitchFamily="18" charset="2"/>
              </a:rPr>
              <a:t>goto</a:t>
            </a:r>
            <a:r>
              <a:rPr lang="en-US" altLang="zh-CN" dirty="0">
                <a:sym typeface="Symbol" panose="05050102010706020507" pitchFamily="18" charset="2"/>
              </a:rPr>
              <a:t>(I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A)=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en-US" altLang="zh-CN" dirty="0" err="1">
                <a:sym typeface="Wingdings" panose="05000000000000000000" pitchFamily="2" charset="2"/>
              </a:rPr>
              <a:t>goto</a:t>
            </a:r>
            <a:r>
              <a:rPr lang="en-US" altLang="zh-CN" dirty="0">
                <a:sym typeface="Wingdings" panose="05000000000000000000" pitchFamily="2" charset="2"/>
              </a:rPr>
              <a:t>[</a:t>
            </a:r>
            <a:r>
              <a:rPr lang="en-US" altLang="zh-CN" dirty="0" err="1">
                <a:sym typeface="Wingdings" panose="05000000000000000000" pitchFamily="2" charset="2"/>
              </a:rPr>
              <a:t>i</a:t>
            </a:r>
            <a:r>
              <a:rPr lang="en-US" altLang="zh-CN" dirty="0">
                <a:sym typeface="Wingdings" panose="05000000000000000000" pitchFamily="2" charset="2"/>
              </a:rPr>
              <a:t>, A]=j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3</a:t>
            </a:r>
            <a:r>
              <a:rPr lang="zh-CN" altLang="en-US" dirty="0">
                <a:sym typeface="Wingdings" panose="05000000000000000000" pitchFamily="2" charset="2"/>
              </a:rPr>
              <a:t>未定义的表项为错误项</a:t>
            </a:r>
            <a:endParaRPr lang="zh-CN" altLang="en-US" dirty="0">
              <a:sym typeface="Wingdings" panose="05000000000000000000" pitchFamily="2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Wingdings" panose="05000000000000000000" pitchFamily="2" charset="2"/>
              </a:rPr>
              <a:t>分析器的初态，设定为包含</a:t>
            </a:r>
            <a:r>
              <a:rPr lang="en-US" altLang="zh-CN" dirty="0">
                <a:sym typeface="Symbol" panose="05050102010706020507" pitchFamily="18" charset="2"/>
              </a:rPr>
              <a:t>[S’S·]</a:t>
            </a:r>
            <a:r>
              <a:rPr lang="zh-CN" altLang="en-US" dirty="0">
                <a:sym typeface="Symbol" panose="05050102010706020507" pitchFamily="18" charset="2"/>
              </a:rPr>
              <a:t>的项目集</a:t>
            </a:r>
            <a:r>
              <a:rPr lang="en-US" altLang="zh-CN" dirty="0"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endParaRPr lang="en-US" altLang="zh-CN"/>
          </a:p>
        </p:txBody>
      </p:sp>
      <p:sp>
        <p:nvSpPr>
          <p:cNvPr id="83971" name="Text Box 4"/>
          <p:cNvSpPr txBox="1">
            <a:spLocks noChangeArrowheads="1"/>
          </p:cNvSpPr>
          <p:nvPr/>
        </p:nvSpPr>
        <p:spPr bwMode="auto">
          <a:xfrm>
            <a:off x="1066800" y="1219200"/>
            <a:ext cx="176688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 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·E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·T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/>
          </a:p>
        </p:txBody>
      </p:sp>
      <p:sp>
        <p:nvSpPr>
          <p:cNvPr id="83972" name="Text Box 5"/>
          <p:cNvSpPr txBox="1">
            <a:spLocks noChangeArrowheads="1"/>
          </p:cNvSpPr>
          <p:nvPr/>
        </p:nvSpPr>
        <p:spPr bwMode="auto">
          <a:xfrm>
            <a:off x="3252788" y="1676400"/>
            <a:ext cx="5360987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,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/>
              <a:t>goto(I</a:t>
            </a:r>
            <a:r>
              <a:rPr kumimoji="0" lang="en-US" altLang="zh-CN" sz="2400" baseline="-25000"/>
              <a:t>0</a:t>
            </a:r>
            <a:r>
              <a:rPr kumimoji="0" lang="en-US" altLang="zh-CN" sz="2400"/>
              <a:t>, ( )=I</a:t>
            </a:r>
            <a:r>
              <a:rPr kumimoji="0" lang="en-US" altLang="zh-CN" sz="2400" baseline="-25000"/>
              <a:t>4</a:t>
            </a:r>
            <a:r>
              <a:rPr kumimoji="0" lang="en-US" altLang="zh-CN" sz="2400">
                <a:sym typeface="Wingdings" panose="05000000000000000000" pitchFamily="2" charset="2"/>
              </a:rPr>
              <a:t>action[0, (]=s4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, goto(I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0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)=I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5</a:t>
            </a:r>
            <a:r>
              <a:rPr kumimoji="0" lang="en-US" altLang="zh-CN" sz="2400">
                <a:sym typeface="Wingdings" panose="05000000000000000000" pitchFamily="2" charset="2"/>
              </a:rPr>
              <a:t>action[0, </a:t>
            </a:r>
            <a:r>
              <a:rPr kumimoji="0" lang="en-US" altLang="zh-CN" sz="2400" b="1">
                <a:sym typeface="Wingdings" panose="05000000000000000000" pitchFamily="2" charset="2"/>
              </a:rPr>
              <a:t>id</a:t>
            </a:r>
            <a:r>
              <a:rPr kumimoji="0" lang="en-US" altLang="zh-CN" sz="2400">
                <a:sym typeface="Wingdings" panose="05000000000000000000" pitchFamily="2" charset="2"/>
              </a:rPr>
              <a:t>]=s5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goto[0, E] = 1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goto[0, T] = 2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goto[0, F] = 3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83973" name="Text Box 6"/>
          <p:cNvSpPr txBox="1">
            <a:spLocks noChangeArrowheads="1"/>
          </p:cNvSpPr>
          <p:nvPr/>
        </p:nvSpPr>
        <p:spPr bwMode="auto">
          <a:xfrm>
            <a:off x="1066800" y="4419600"/>
            <a:ext cx="172878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 </a:t>
            </a:r>
            <a:br>
              <a:rPr kumimoji="0" lang="en-US" altLang="zh-CN" sz="2400"/>
            </a:b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E·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3974" name="Text Box 7"/>
          <p:cNvSpPr txBox="1">
            <a:spLocks noChangeArrowheads="1"/>
          </p:cNvSpPr>
          <p:nvPr/>
        </p:nvSpPr>
        <p:spPr bwMode="auto">
          <a:xfrm>
            <a:off x="2590800" y="2338388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3975" name="Text Box 8"/>
          <p:cNvSpPr txBox="1">
            <a:spLocks noChangeArrowheads="1"/>
          </p:cNvSpPr>
          <p:nvPr/>
        </p:nvSpPr>
        <p:spPr bwMode="auto">
          <a:xfrm>
            <a:off x="3405188" y="4664075"/>
            <a:ext cx="56181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E·</a:t>
            </a:r>
            <a:r>
              <a:rPr kumimoji="0" lang="en-US" altLang="zh-CN" sz="2400">
                <a:sym typeface="Wingdings" panose="05000000000000000000" pitchFamily="2" charset="2"/>
              </a:rPr>
              <a:t>action[1, $]=acc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</a:t>
            </a:r>
            <a:r>
              <a:rPr kumimoji="0" lang="en-US" altLang="zh-CN" sz="2400">
                <a:sym typeface="Symbol" panose="05050102010706020507" pitchFamily="18" charset="2"/>
              </a:rPr>
              <a:t>, goto(I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)=I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6</a:t>
            </a:r>
            <a:r>
              <a:rPr kumimoji="0" lang="en-US" altLang="zh-CN" sz="2400">
                <a:sym typeface="Wingdings" panose="05000000000000000000" pitchFamily="2" charset="2"/>
              </a:rPr>
              <a:t>action[1, </a:t>
            </a:r>
            <a:r>
              <a:rPr kumimoji="0" lang="en-US" altLang="zh-CN" sz="2400" b="1">
                <a:sym typeface="Wingdings" panose="05000000000000000000" pitchFamily="2" charset="2"/>
              </a:rPr>
              <a:t>+</a:t>
            </a:r>
            <a:r>
              <a:rPr kumimoji="0" lang="en-US" altLang="zh-CN" sz="2400">
                <a:sym typeface="Wingdings" panose="05000000000000000000" pitchFamily="2" charset="2"/>
              </a:rPr>
              <a:t>]=s6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3976" name="Text Box 9"/>
          <p:cNvSpPr txBox="1">
            <a:spLocks noChangeArrowheads="1"/>
          </p:cNvSpPr>
          <p:nvPr/>
        </p:nvSpPr>
        <p:spPr bwMode="auto">
          <a:xfrm>
            <a:off x="2743200" y="5202238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1066800" y="1219200"/>
            <a:ext cx="1763713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endParaRPr kumimoji="0" lang="en-US" altLang="zh-CN" sz="2400" baseline="-250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T·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3303588" y="1273175"/>
            <a:ext cx="553561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T·,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/>
              <a:t>FOLLOW(E)={$, +, )}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action[2,$]=action[2,+]= action[2,)]=r2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</a:t>
            </a:r>
            <a:r>
              <a:rPr kumimoji="0" lang="en-US" altLang="zh-CN" sz="2400">
                <a:sym typeface="Symbol" panose="05050102010706020507" pitchFamily="18" charset="2"/>
              </a:rPr>
              <a:t>, goto(I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*</a:t>
            </a:r>
            <a:r>
              <a:rPr kumimoji="0" lang="en-US" altLang="zh-CN" sz="2400">
                <a:sym typeface="Symbol" panose="05050102010706020507" pitchFamily="18" charset="2"/>
              </a:rPr>
              <a:t>)=I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7</a:t>
            </a:r>
            <a:r>
              <a:rPr kumimoji="0" lang="en-US" altLang="zh-CN" sz="2400">
                <a:sym typeface="Wingdings" panose="05000000000000000000" pitchFamily="2" charset="2"/>
              </a:rPr>
              <a:t>action[2,*]=s7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1066800" y="2667000"/>
            <a:ext cx="10271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3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F·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2641600" y="1600200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3276600" y="2590800"/>
            <a:ext cx="43370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F·, </a:t>
            </a:r>
            <a:r>
              <a:rPr kumimoji="0" lang="en-US" altLang="zh-CN" sz="2400">
                <a:sym typeface="Symbol" panose="05050102010706020507" pitchFamily="18" charset="2"/>
              </a:rPr>
              <a:t>FOLLOW(T)={$, +, *, 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action[3, $/+/*/)]=r4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2590800" y="277336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6019" name="Text Box 9"/>
          <p:cNvSpPr txBox="1">
            <a:spLocks noChangeArrowheads="1"/>
          </p:cNvSpPr>
          <p:nvPr/>
        </p:nvSpPr>
        <p:spPr bwMode="auto">
          <a:xfrm>
            <a:off x="1066800" y="1300163"/>
            <a:ext cx="1766888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·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·T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86020" name="Text Box 10"/>
          <p:cNvSpPr txBox="1">
            <a:spLocks noChangeArrowheads="1"/>
          </p:cNvSpPr>
          <p:nvPr/>
        </p:nvSpPr>
        <p:spPr bwMode="auto">
          <a:xfrm>
            <a:off x="3429000" y="2262188"/>
            <a:ext cx="40798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action[4, (]=s4, action[4,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]=s5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goto[4, E] = 8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goto[4, T] = 2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goto[4, F] = 3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6021" name="Text Box 11"/>
          <p:cNvSpPr txBox="1">
            <a:spLocks noChangeArrowheads="1"/>
          </p:cNvSpPr>
          <p:nvPr/>
        </p:nvSpPr>
        <p:spPr bwMode="auto">
          <a:xfrm>
            <a:off x="2743200" y="2778125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066800" y="1219200"/>
            <a:ext cx="1154113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5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id·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3303588" y="1463675"/>
            <a:ext cx="4448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id·</a:t>
            </a:r>
            <a:r>
              <a:rPr kumimoji="0" lang="en-US" altLang="zh-CN" sz="2400" b="1">
                <a:sym typeface="Symbol" panose="05050102010706020507" pitchFamily="18" charset="2"/>
              </a:rPr>
              <a:t>,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FOLLOW(F)={$, +, *, )}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action[5, $/+/*/)]=r6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1066800" y="2274888"/>
            <a:ext cx="1763713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·T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2641600" y="1600200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3276600" y="3144838"/>
            <a:ext cx="40798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action[6, (]=s4, action[6,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]=s5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goto[6, T] = 9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goto[6, F] = 3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87048" name="Text Box 8"/>
          <p:cNvSpPr txBox="1">
            <a:spLocks noChangeArrowheads="1"/>
          </p:cNvSpPr>
          <p:nvPr/>
        </p:nvSpPr>
        <p:spPr bwMode="auto">
          <a:xfrm>
            <a:off x="2590800" y="3321050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8067" name="Text Box 9"/>
          <p:cNvSpPr txBox="1">
            <a:spLocks noChangeArrowheads="1"/>
          </p:cNvSpPr>
          <p:nvPr/>
        </p:nvSpPr>
        <p:spPr bwMode="auto">
          <a:xfrm>
            <a:off x="1219200" y="1295400"/>
            <a:ext cx="1766888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 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·F 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/>
          </a:p>
        </p:txBody>
      </p:sp>
      <p:sp>
        <p:nvSpPr>
          <p:cNvPr id="88068" name="Text Box 10"/>
          <p:cNvSpPr txBox="1">
            <a:spLocks noChangeArrowheads="1"/>
          </p:cNvSpPr>
          <p:nvPr/>
        </p:nvSpPr>
        <p:spPr bwMode="auto">
          <a:xfrm>
            <a:off x="3581400" y="1435100"/>
            <a:ext cx="4079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action[7, (]=s4, action[7,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]=s5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goto[7, F] = 10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8069" name="Text Box 11"/>
          <p:cNvSpPr txBox="1">
            <a:spLocks noChangeArrowheads="1"/>
          </p:cNvSpPr>
          <p:nvPr/>
        </p:nvSpPr>
        <p:spPr bwMode="auto">
          <a:xfrm>
            <a:off x="2895600" y="155416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8070" name="Text Box 12"/>
          <p:cNvSpPr txBox="1">
            <a:spLocks noChangeArrowheads="1"/>
          </p:cNvSpPr>
          <p:nvPr/>
        </p:nvSpPr>
        <p:spPr bwMode="auto">
          <a:xfrm>
            <a:off x="1219200" y="2971800"/>
            <a:ext cx="172878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8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8071" name="Text Box 13"/>
          <p:cNvSpPr txBox="1">
            <a:spLocks noChangeArrowheads="1"/>
          </p:cNvSpPr>
          <p:nvPr/>
        </p:nvSpPr>
        <p:spPr bwMode="auto">
          <a:xfrm>
            <a:off x="3455988" y="3222625"/>
            <a:ext cx="21320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action[8, (]=s11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action[8, +]=s6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88072" name="Text Box 14"/>
          <p:cNvSpPr txBox="1">
            <a:spLocks noChangeArrowheads="1"/>
          </p:cNvSpPr>
          <p:nvPr/>
        </p:nvSpPr>
        <p:spPr bwMode="auto">
          <a:xfrm>
            <a:off x="1219200" y="4349750"/>
            <a:ext cx="1763713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9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T· 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T·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8073" name="Text Box 15"/>
          <p:cNvSpPr txBox="1">
            <a:spLocks noChangeArrowheads="1"/>
          </p:cNvSpPr>
          <p:nvPr/>
        </p:nvSpPr>
        <p:spPr bwMode="auto">
          <a:xfrm>
            <a:off x="2794000" y="3352800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8074" name="Text Box 16"/>
          <p:cNvSpPr txBox="1">
            <a:spLocks noChangeArrowheads="1"/>
          </p:cNvSpPr>
          <p:nvPr/>
        </p:nvSpPr>
        <p:spPr bwMode="auto">
          <a:xfrm>
            <a:off x="3429000" y="4451350"/>
            <a:ext cx="46577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T·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/>
              <a:t>FOLLOW(E)={$, +, )}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action[9, $/+/)]=r1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action[9, *] = 7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8075" name="Text Box 17"/>
          <p:cNvSpPr txBox="1">
            <a:spLocks noChangeArrowheads="1"/>
          </p:cNvSpPr>
          <p:nvPr/>
        </p:nvSpPr>
        <p:spPr bwMode="auto">
          <a:xfrm>
            <a:off x="2743200" y="478631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9091" name="Text Box 9"/>
          <p:cNvSpPr txBox="1">
            <a:spLocks noChangeArrowheads="1"/>
          </p:cNvSpPr>
          <p:nvPr/>
        </p:nvSpPr>
        <p:spPr bwMode="auto">
          <a:xfrm>
            <a:off x="1066800" y="1443038"/>
            <a:ext cx="1766888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10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F· 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9092" name="Text Box 10"/>
          <p:cNvSpPr txBox="1">
            <a:spLocks noChangeArrowheads="1"/>
          </p:cNvSpPr>
          <p:nvPr/>
        </p:nvSpPr>
        <p:spPr bwMode="auto">
          <a:xfrm>
            <a:off x="3276600" y="1539875"/>
            <a:ext cx="49244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F·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/>
              <a:t>FOLLOW(T)={</a:t>
            </a:r>
            <a:r>
              <a:rPr kumimoji="0" lang="en-US" altLang="zh-CN" sz="2400">
                <a:sym typeface="Symbol" panose="05050102010706020507" pitchFamily="18" charset="2"/>
              </a:rPr>
              <a:t>$, +, *, )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action[10, $/+/*/)]=r3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9093" name="Text Box 11"/>
          <p:cNvSpPr txBox="1">
            <a:spLocks noChangeArrowheads="1"/>
          </p:cNvSpPr>
          <p:nvPr/>
        </p:nvSpPr>
        <p:spPr bwMode="auto">
          <a:xfrm>
            <a:off x="2590800" y="159861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9094" name="Text Box 12"/>
          <p:cNvSpPr txBox="1">
            <a:spLocks noChangeArrowheads="1"/>
          </p:cNvSpPr>
          <p:nvPr/>
        </p:nvSpPr>
        <p:spPr bwMode="auto">
          <a:xfrm>
            <a:off x="1066800" y="2738438"/>
            <a:ext cx="1538288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11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)·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9095" name="Text Box 13"/>
          <p:cNvSpPr txBox="1">
            <a:spLocks noChangeArrowheads="1"/>
          </p:cNvSpPr>
          <p:nvPr/>
        </p:nvSpPr>
        <p:spPr bwMode="auto">
          <a:xfrm>
            <a:off x="3276600" y="2835275"/>
            <a:ext cx="4756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)·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/>
              <a:t>FOLLOW(F)={</a:t>
            </a:r>
            <a:r>
              <a:rPr kumimoji="0" lang="en-US" altLang="zh-CN" sz="2400">
                <a:sym typeface="Symbol" panose="05050102010706020507" pitchFamily="18" charset="2"/>
              </a:rPr>
              <a:t>$, +, *, )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action[11, $/+/*/)]=r5</a:t>
            </a:r>
            <a:endParaRPr kumimoji="0" lang="en-US" altLang="zh-CN" sz="2400">
              <a:sym typeface="Wingdings" panose="05000000000000000000" pitchFamily="2" charset="2"/>
            </a:endParaRPr>
          </a:p>
        </p:txBody>
      </p:sp>
      <p:sp>
        <p:nvSpPr>
          <p:cNvPr id="89096" name="Text Box 14"/>
          <p:cNvSpPr txBox="1">
            <a:spLocks noChangeArrowheads="1"/>
          </p:cNvSpPr>
          <p:nvPr/>
        </p:nvSpPr>
        <p:spPr bwMode="auto">
          <a:xfrm>
            <a:off x="2590800" y="289401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90115" name="Line 15"/>
          <p:cNvSpPr>
            <a:spLocks noChangeShapeType="1"/>
          </p:cNvSpPr>
          <p:nvPr/>
        </p:nvSpPr>
        <p:spPr bwMode="auto">
          <a:xfrm>
            <a:off x="1219200" y="1371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6" name="Line 16"/>
          <p:cNvSpPr>
            <a:spLocks noChangeShapeType="1"/>
          </p:cNvSpPr>
          <p:nvPr/>
        </p:nvSpPr>
        <p:spPr bwMode="auto">
          <a:xfrm>
            <a:off x="1219200" y="14478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7" name="Line 17"/>
          <p:cNvSpPr>
            <a:spLocks noChangeShapeType="1"/>
          </p:cNvSpPr>
          <p:nvPr/>
        </p:nvSpPr>
        <p:spPr bwMode="auto">
          <a:xfrm>
            <a:off x="1905000" y="1828800"/>
            <a:ext cx="7161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8" name="Line 18"/>
          <p:cNvSpPr>
            <a:spLocks noChangeShapeType="1"/>
          </p:cNvSpPr>
          <p:nvPr/>
        </p:nvSpPr>
        <p:spPr bwMode="auto">
          <a:xfrm>
            <a:off x="1219200" y="2133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9" name="Line 19"/>
          <p:cNvSpPr>
            <a:spLocks noChangeShapeType="1"/>
          </p:cNvSpPr>
          <p:nvPr/>
        </p:nvSpPr>
        <p:spPr bwMode="auto">
          <a:xfrm>
            <a:off x="90678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0" name="Line 20"/>
          <p:cNvSpPr>
            <a:spLocks noChangeShapeType="1"/>
          </p:cNvSpPr>
          <p:nvPr/>
        </p:nvSpPr>
        <p:spPr bwMode="auto">
          <a:xfrm>
            <a:off x="19050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1" name="Line 21"/>
          <p:cNvSpPr>
            <a:spLocks noChangeShapeType="1"/>
          </p:cNvSpPr>
          <p:nvPr/>
        </p:nvSpPr>
        <p:spPr bwMode="auto">
          <a:xfrm>
            <a:off x="70104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2" name="Text Box 22"/>
          <p:cNvSpPr txBox="1">
            <a:spLocks noChangeArrowheads="1"/>
          </p:cNvSpPr>
          <p:nvPr/>
        </p:nvSpPr>
        <p:spPr bwMode="auto">
          <a:xfrm>
            <a:off x="1219200" y="1600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  <a:endParaRPr kumimoji="0" lang="zh-CN" altLang="en-US" sz="2000" b="1"/>
          </a:p>
        </p:txBody>
      </p:sp>
      <p:sp>
        <p:nvSpPr>
          <p:cNvPr id="90123" name="Text Box 23"/>
          <p:cNvSpPr txBox="1">
            <a:spLocks noChangeArrowheads="1"/>
          </p:cNvSpPr>
          <p:nvPr/>
        </p:nvSpPr>
        <p:spPr bwMode="auto">
          <a:xfrm>
            <a:off x="4038600" y="1447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  <a:endParaRPr kumimoji="0" lang="en-US" altLang="zh-CN" sz="2000" b="1"/>
          </a:p>
        </p:txBody>
      </p:sp>
      <p:sp>
        <p:nvSpPr>
          <p:cNvPr id="90124" name="Text Box 24"/>
          <p:cNvSpPr txBox="1">
            <a:spLocks noChangeArrowheads="1"/>
          </p:cNvSpPr>
          <p:nvPr/>
        </p:nvSpPr>
        <p:spPr bwMode="auto">
          <a:xfrm>
            <a:off x="20574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  <a:endParaRPr kumimoji="0" lang="en-US" altLang="zh-CN" sz="2000" b="1"/>
          </a:p>
        </p:txBody>
      </p:sp>
      <p:sp>
        <p:nvSpPr>
          <p:cNvPr id="90125" name="Text Box 25"/>
          <p:cNvSpPr txBox="1">
            <a:spLocks noChangeArrowheads="1"/>
          </p:cNvSpPr>
          <p:nvPr/>
        </p:nvSpPr>
        <p:spPr bwMode="auto">
          <a:xfrm>
            <a:off x="2909888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90126" name="Text Box 26"/>
          <p:cNvSpPr txBox="1">
            <a:spLocks noChangeArrowheads="1"/>
          </p:cNvSpPr>
          <p:nvPr/>
        </p:nvSpPr>
        <p:spPr bwMode="auto">
          <a:xfrm>
            <a:off x="3763963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  <a:endParaRPr kumimoji="0" lang="en-US" altLang="zh-CN" sz="2000" b="1"/>
          </a:p>
        </p:txBody>
      </p:sp>
      <p:sp>
        <p:nvSpPr>
          <p:cNvPr id="90127" name="Text Box 27"/>
          <p:cNvSpPr txBox="1">
            <a:spLocks noChangeArrowheads="1"/>
          </p:cNvSpPr>
          <p:nvPr/>
        </p:nvSpPr>
        <p:spPr bwMode="auto">
          <a:xfrm>
            <a:off x="461645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  <a:endParaRPr kumimoji="0" lang="en-US" altLang="zh-CN" sz="2000" b="1"/>
          </a:p>
        </p:txBody>
      </p:sp>
      <p:sp>
        <p:nvSpPr>
          <p:cNvPr id="90128" name="Text Box 28"/>
          <p:cNvSpPr txBox="1">
            <a:spLocks noChangeArrowheads="1"/>
          </p:cNvSpPr>
          <p:nvPr/>
        </p:nvSpPr>
        <p:spPr bwMode="auto">
          <a:xfrm>
            <a:off x="5470525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  <a:endParaRPr kumimoji="0" lang="en-US" altLang="zh-CN" sz="2000" b="1"/>
          </a:p>
        </p:txBody>
      </p:sp>
      <p:sp>
        <p:nvSpPr>
          <p:cNvPr id="90129" name="Text Box 29"/>
          <p:cNvSpPr txBox="1">
            <a:spLocks noChangeArrowheads="1"/>
          </p:cNvSpPr>
          <p:nvPr/>
        </p:nvSpPr>
        <p:spPr bwMode="auto">
          <a:xfrm>
            <a:off x="63246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90130" name="Text Box 30"/>
          <p:cNvSpPr txBox="1">
            <a:spLocks noChangeArrowheads="1"/>
          </p:cNvSpPr>
          <p:nvPr/>
        </p:nvSpPr>
        <p:spPr bwMode="auto">
          <a:xfrm>
            <a:off x="1371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  <a:endParaRPr kumimoji="0" lang="en-US" altLang="zh-CN" sz="2000" b="1"/>
          </a:p>
        </p:txBody>
      </p:sp>
      <p:sp>
        <p:nvSpPr>
          <p:cNvPr id="90131" name="Text Box 31"/>
          <p:cNvSpPr txBox="1">
            <a:spLocks noChangeArrowheads="1"/>
          </p:cNvSpPr>
          <p:nvPr/>
        </p:nvSpPr>
        <p:spPr bwMode="auto">
          <a:xfrm>
            <a:off x="13716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  <a:endParaRPr kumimoji="0" lang="en-US" altLang="zh-CN" sz="2000" b="1"/>
          </a:p>
        </p:txBody>
      </p:sp>
      <p:sp>
        <p:nvSpPr>
          <p:cNvPr id="90132" name="Text Box 32"/>
          <p:cNvSpPr txBox="1">
            <a:spLocks noChangeArrowheads="1"/>
          </p:cNvSpPr>
          <p:nvPr/>
        </p:nvSpPr>
        <p:spPr bwMode="auto">
          <a:xfrm>
            <a:off x="13716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  <a:endParaRPr kumimoji="0" lang="en-US" altLang="zh-CN" sz="2000" b="1"/>
          </a:p>
        </p:txBody>
      </p:sp>
      <p:sp>
        <p:nvSpPr>
          <p:cNvPr id="90133" name="Text Box 33"/>
          <p:cNvSpPr txBox="1">
            <a:spLocks noChangeArrowheads="1"/>
          </p:cNvSpPr>
          <p:nvPr/>
        </p:nvSpPr>
        <p:spPr bwMode="auto">
          <a:xfrm>
            <a:off x="13716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  <a:endParaRPr kumimoji="0" lang="en-US" altLang="zh-CN" sz="2000" b="1"/>
          </a:p>
        </p:txBody>
      </p:sp>
      <p:sp>
        <p:nvSpPr>
          <p:cNvPr id="90134" name="Text Box 34"/>
          <p:cNvSpPr txBox="1">
            <a:spLocks noChangeArrowheads="1"/>
          </p:cNvSpPr>
          <p:nvPr/>
        </p:nvSpPr>
        <p:spPr bwMode="auto">
          <a:xfrm>
            <a:off x="13716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  <a:endParaRPr kumimoji="0" lang="en-US" altLang="zh-CN" sz="2000" b="1"/>
          </a:p>
        </p:txBody>
      </p:sp>
      <p:sp>
        <p:nvSpPr>
          <p:cNvPr id="90135" name="Line 35"/>
          <p:cNvSpPr>
            <a:spLocks noChangeShapeType="1"/>
          </p:cNvSpPr>
          <p:nvPr/>
        </p:nvSpPr>
        <p:spPr bwMode="auto">
          <a:xfrm>
            <a:off x="12192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6" name="Text Box 36"/>
          <p:cNvSpPr txBox="1">
            <a:spLocks noChangeArrowheads="1"/>
          </p:cNvSpPr>
          <p:nvPr/>
        </p:nvSpPr>
        <p:spPr bwMode="auto">
          <a:xfrm>
            <a:off x="13716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  <a:endParaRPr kumimoji="0" lang="en-US" altLang="zh-CN" sz="2000" b="1"/>
          </a:p>
        </p:txBody>
      </p:sp>
      <p:sp>
        <p:nvSpPr>
          <p:cNvPr id="90137" name="Text Box 37"/>
          <p:cNvSpPr txBox="1">
            <a:spLocks noChangeArrowheads="1"/>
          </p:cNvSpPr>
          <p:nvPr/>
        </p:nvSpPr>
        <p:spPr bwMode="auto">
          <a:xfrm>
            <a:off x="1371600" y="4403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  <a:endParaRPr kumimoji="0" lang="en-US" altLang="zh-CN" sz="2000" b="1"/>
          </a:p>
        </p:txBody>
      </p:sp>
      <p:sp>
        <p:nvSpPr>
          <p:cNvPr id="90138" name="Text Box 38"/>
          <p:cNvSpPr txBox="1">
            <a:spLocks noChangeArrowheads="1"/>
          </p:cNvSpPr>
          <p:nvPr/>
        </p:nvSpPr>
        <p:spPr bwMode="auto">
          <a:xfrm>
            <a:off x="13716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  <a:endParaRPr kumimoji="0" lang="en-US" altLang="zh-CN" sz="2000" b="1"/>
          </a:p>
        </p:txBody>
      </p:sp>
      <p:sp>
        <p:nvSpPr>
          <p:cNvPr id="90139" name="Text Box 39"/>
          <p:cNvSpPr txBox="1">
            <a:spLocks noChangeArrowheads="1"/>
          </p:cNvSpPr>
          <p:nvPr/>
        </p:nvSpPr>
        <p:spPr bwMode="auto">
          <a:xfrm>
            <a:off x="13716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  <a:endParaRPr kumimoji="0" lang="en-US" altLang="zh-CN" sz="2000" b="1"/>
          </a:p>
        </p:txBody>
      </p:sp>
      <p:sp>
        <p:nvSpPr>
          <p:cNvPr id="90140" name="Text Box 40"/>
          <p:cNvSpPr txBox="1">
            <a:spLocks noChangeArrowheads="1"/>
          </p:cNvSpPr>
          <p:nvPr/>
        </p:nvSpPr>
        <p:spPr bwMode="auto">
          <a:xfrm>
            <a:off x="13716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  <a:endParaRPr kumimoji="0" lang="en-US" altLang="zh-CN" sz="2000" b="1"/>
          </a:p>
        </p:txBody>
      </p:sp>
      <p:sp>
        <p:nvSpPr>
          <p:cNvPr id="90141" name="Text Box 41"/>
          <p:cNvSpPr txBox="1">
            <a:spLocks noChangeArrowheads="1"/>
          </p:cNvSpPr>
          <p:nvPr/>
        </p:nvSpPr>
        <p:spPr bwMode="auto">
          <a:xfrm>
            <a:off x="12192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10</a:t>
            </a:r>
            <a:endParaRPr kumimoji="0" lang="en-US" altLang="zh-CN" sz="2000" b="1"/>
          </a:p>
        </p:txBody>
      </p:sp>
      <p:sp>
        <p:nvSpPr>
          <p:cNvPr id="90142" name="Line 42"/>
          <p:cNvSpPr>
            <a:spLocks noChangeShapeType="1"/>
          </p:cNvSpPr>
          <p:nvPr/>
        </p:nvSpPr>
        <p:spPr bwMode="auto">
          <a:xfrm>
            <a:off x="1219200" y="6689725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3" name="Text Box 43"/>
          <p:cNvSpPr txBox="1">
            <a:spLocks noChangeArrowheads="1"/>
          </p:cNvSpPr>
          <p:nvPr/>
        </p:nvSpPr>
        <p:spPr bwMode="auto">
          <a:xfrm>
            <a:off x="1143000" y="63087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11</a:t>
            </a:r>
            <a:endParaRPr kumimoji="0" lang="en-US" altLang="zh-CN" sz="2000" b="1"/>
          </a:p>
        </p:txBody>
      </p:sp>
      <p:sp>
        <p:nvSpPr>
          <p:cNvPr id="90144" name="Text Box 44"/>
          <p:cNvSpPr txBox="1">
            <a:spLocks noChangeArrowheads="1"/>
          </p:cNvSpPr>
          <p:nvPr/>
        </p:nvSpPr>
        <p:spPr bwMode="auto">
          <a:xfrm>
            <a:off x="70866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endParaRPr kumimoji="0" lang="en-US" altLang="zh-CN" sz="2000" b="1"/>
          </a:p>
        </p:txBody>
      </p:sp>
      <p:sp>
        <p:nvSpPr>
          <p:cNvPr id="90145" name="Text Box 45"/>
          <p:cNvSpPr txBox="1">
            <a:spLocks noChangeArrowheads="1"/>
          </p:cNvSpPr>
          <p:nvPr/>
        </p:nvSpPr>
        <p:spPr bwMode="auto">
          <a:xfrm>
            <a:off x="7788275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endParaRPr kumimoji="0" lang="en-US" altLang="zh-CN" sz="2000" b="1"/>
          </a:p>
        </p:txBody>
      </p:sp>
      <p:sp>
        <p:nvSpPr>
          <p:cNvPr id="90146" name="Text Box 46"/>
          <p:cNvSpPr txBox="1">
            <a:spLocks noChangeArrowheads="1"/>
          </p:cNvSpPr>
          <p:nvPr/>
        </p:nvSpPr>
        <p:spPr bwMode="auto">
          <a:xfrm>
            <a:off x="84582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endParaRPr kumimoji="0" lang="en-US" altLang="zh-CN" sz="2000" b="1"/>
          </a:p>
        </p:txBody>
      </p:sp>
      <p:sp>
        <p:nvSpPr>
          <p:cNvPr id="90147" name="Text Box 47"/>
          <p:cNvSpPr txBox="1">
            <a:spLocks noChangeArrowheads="1"/>
          </p:cNvSpPr>
          <p:nvPr/>
        </p:nvSpPr>
        <p:spPr bwMode="auto">
          <a:xfrm>
            <a:off x="7696200" y="1447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  <a:endParaRPr kumimoji="0" lang="en-US" altLang="zh-CN" sz="2000" b="1"/>
          </a:p>
        </p:txBody>
      </p:sp>
      <p:sp>
        <p:nvSpPr>
          <p:cNvPr id="90148" name="Text Box 48"/>
          <p:cNvSpPr txBox="1">
            <a:spLocks noChangeArrowheads="1"/>
          </p:cNvSpPr>
          <p:nvPr/>
        </p:nvSpPr>
        <p:spPr bwMode="auto">
          <a:xfrm>
            <a:off x="20574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90149" name="Text Box 49"/>
          <p:cNvSpPr txBox="1">
            <a:spLocks noChangeArrowheads="1"/>
          </p:cNvSpPr>
          <p:nvPr/>
        </p:nvSpPr>
        <p:spPr bwMode="auto">
          <a:xfrm>
            <a:off x="46482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90150" name="Text Box 50"/>
          <p:cNvSpPr txBox="1">
            <a:spLocks noChangeArrowheads="1"/>
          </p:cNvSpPr>
          <p:nvPr/>
        </p:nvSpPr>
        <p:spPr bwMode="auto">
          <a:xfrm>
            <a:off x="70866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  <a:endParaRPr kumimoji="0" lang="en-US" altLang="zh-CN" sz="2000"/>
          </a:p>
        </p:txBody>
      </p:sp>
      <p:sp>
        <p:nvSpPr>
          <p:cNvPr id="90151" name="Text Box 51"/>
          <p:cNvSpPr txBox="1">
            <a:spLocks noChangeArrowheads="1"/>
          </p:cNvSpPr>
          <p:nvPr/>
        </p:nvSpPr>
        <p:spPr bwMode="auto">
          <a:xfrm>
            <a:off x="7788275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90152" name="Text Box 52"/>
          <p:cNvSpPr txBox="1">
            <a:spLocks noChangeArrowheads="1"/>
          </p:cNvSpPr>
          <p:nvPr/>
        </p:nvSpPr>
        <p:spPr bwMode="auto">
          <a:xfrm>
            <a:off x="84582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90153" name="Text Box 53"/>
          <p:cNvSpPr txBox="1">
            <a:spLocks noChangeArrowheads="1"/>
          </p:cNvSpPr>
          <p:nvPr/>
        </p:nvSpPr>
        <p:spPr bwMode="auto">
          <a:xfrm>
            <a:off x="2909888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90154" name="Text Box 54"/>
          <p:cNvSpPr txBox="1">
            <a:spLocks noChangeArrowheads="1"/>
          </p:cNvSpPr>
          <p:nvPr/>
        </p:nvSpPr>
        <p:spPr bwMode="auto">
          <a:xfrm>
            <a:off x="6248400" y="25177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  <a:endParaRPr kumimoji="0" lang="en-US" altLang="zh-CN" sz="2000"/>
          </a:p>
        </p:txBody>
      </p:sp>
      <p:sp>
        <p:nvSpPr>
          <p:cNvPr id="90155" name="Text Box 55"/>
          <p:cNvSpPr txBox="1">
            <a:spLocks noChangeArrowheads="1"/>
          </p:cNvSpPr>
          <p:nvPr/>
        </p:nvSpPr>
        <p:spPr bwMode="auto">
          <a:xfrm>
            <a:off x="2909888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90156" name="Text Box 56"/>
          <p:cNvSpPr txBox="1">
            <a:spLocks noChangeArrowheads="1"/>
          </p:cNvSpPr>
          <p:nvPr/>
        </p:nvSpPr>
        <p:spPr bwMode="auto">
          <a:xfrm>
            <a:off x="3763963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  <a:endParaRPr kumimoji="0" lang="en-US" altLang="zh-CN" sz="2000"/>
          </a:p>
        </p:txBody>
      </p:sp>
      <p:sp>
        <p:nvSpPr>
          <p:cNvPr id="90157" name="Text Box 57"/>
          <p:cNvSpPr txBox="1">
            <a:spLocks noChangeArrowheads="1"/>
          </p:cNvSpPr>
          <p:nvPr/>
        </p:nvSpPr>
        <p:spPr bwMode="auto">
          <a:xfrm>
            <a:off x="5470525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90158" name="Text Box 58"/>
          <p:cNvSpPr txBox="1">
            <a:spLocks noChangeArrowheads="1"/>
          </p:cNvSpPr>
          <p:nvPr/>
        </p:nvSpPr>
        <p:spPr bwMode="auto">
          <a:xfrm>
            <a:off x="63246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90159" name="Text Box 59"/>
          <p:cNvSpPr txBox="1">
            <a:spLocks noChangeArrowheads="1"/>
          </p:cNvSpPr>
          <p:nvPr/>
        </p:nvSpPr>
        <p:spPr bwMode="auto">
          <a:xfrm>
            <a:off x="2909888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90160" name="Text Box 60"/>
          <p:cNvSpPr txBox="1">
            <a:spLocks noChangeArrowheads="1"/>
          </p:cNvSpPr>
          <p:nvPr/>
        </p:nvSpPr>
        <p:spPr bwMode="auto">
          <a:xfrm>
            <a:off x="3763963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90161" name="Text Box 61"/>
          <p:cNvSpPr txBox="1">
            <a:spLocks noChangeArrowheads="1"/>
          </p:cNvSpPr>
          <p:nvPr/>
        </p:nvSpPr>
        <p:spPr bwMode="auto">
          <a:xfrm>
            <a:off x="5470525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90162" name="Text Box 62"/>
          <p:cNvSpPr txBox="1">
            <a:spLocks noChangeArrowheads="1"/>
          </p:cNvSpPr>
          <p:nvPr/>
        </p:nvSpPr>
        <p:spPr bwMode="auto">
          <a:xfrm>
            <a:off x="6324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90163" name="Text Box 63"/>
          <p:cNvSpPr txBox="1">
            <a:spLocks noChangeArrowheads="1"/>
          </p:cNvSpPr>
          <p:nvPr/>
        </p:nvSpPr>
        <p:spPr bwMode="auto">
          <a:xfrm>
            <a:off x="205740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90164" name="Text Box 64"/>
          <p:cNvSpPr txBox="1">
            <a:spLocks noChangeArrowheads="1"/>
          </p:cNvSpPr>
          <p:nvPr/>
        </p:nvSpPr>
        <p:spPr bwMode="auto">
          <a:xfrm>
            <a:off x="461645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90165" name="Text Box 65"/>
          <p:cNvSpPr txBox="1">
            <a:spLocks noChangeArrowheads="1"/>
          </p:cNvSpPr>
          <p:nvPr/>
        </p:nvSpPr>
        <p:spPr bwMode="auto">
          <a:xfrm>
            <a:off x="70866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  <a:endParaRPr kumimoji="0" lang="en-US" altLang="zh-CN" sz="2000"/>
          </a:p>
        </p:txBody>
      </p:sp>
      <p:sp>
        <p:nvSpPr>
          <p:cNvPr id="90166" name="Text Box 66"/>
          <p:cNvSpPr txBox="1">
            <a:spLocks noChangeArrowheads="1"/>
          </p:cNvSpPr>
          <p:nvPr/>
        </p:nvSpPr>
        <p:spPr bwMode="auto">
          <a:xfrm>
            <a:off x="7788275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90167" name="Text Box 67"/>
          <p:cNvSpPr txBox="1">
            <a:spLocks noChangeArrowheads="1"/>
          </p:cNvSpPr>
          <p:nvPr/>
        </p:nvSpPr>
        <p:spPr bwMode="auto">
          <a:xfrm>
            <a:off x="84582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90168" name="Text Box 68"/>
          <p:cNvSpPr txBox="1">
            <a:spLocks noChangeArrowheads="1"/>
          </p:cNvSpPr>
          <p:nvPr/>
        </p:nvSpPr>
        <p:spPr bwMode="auto">
          <a:xfrm>
            <a:off x="2909888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90169" name="Text Box 69"/>
          <p:cNvSpPr txBox="1">
            <a:spLocks noChangeArrowheads="1"/>
          </p:cNvSpPr>
          <p:nvPr/>
        </p:nvSpPr>
        <p:spPr bwMode="auto">
          <a:xfrm>
            <a:off x="3763963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90170" name="Text Box 70"/>
          <p:cNvSpPr txBox="1">
            <a:spLocks noChangeArrowheads="1"/>
          </p:cNvSpPr>
          <p:nvPr/>
        </p:nvSpPr>
        <p:spPr bwMode="auto">
          <a:xfrm>
            <a:off x="5470525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90171" name="Text Box 71"/>
          <p:cNvSpPr txBox="1">
            <a:spLocks noChangeArrowheads="1"/>
          </p:cNvSpPr>
          <p:nvPr/>
        </p:nvSpPr>
        <p:spPr bwMode="auto">
          <a:xfrm>
            <a:off x="6324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90172" name="Text Box 72"/>
          <p:cNvSpPr txBox="1">
            <a:spLocks noChangeArrowheads="1"/>
          </p:cNvSpPr>
          <p:nvPr/>
        </p:nvSpPr>
        <p:spPr bwMode="auto">
          <a:xfrm>
            <a:off x="20574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90173" name="Text Box 73"/>
          <p:cNvSpPr txBox="1">
            <a:spLocks noChangeArrowheads="1"/>
          </p:cNvSpPr>
          <p:nvPr/>
        </p:nvSpPr>
        <p:spPr bwMode="auto">
          <a:xfrm>
            <a:off x="461645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90174" name="Text Box 74"/>
          <p:cNvSpPr txBox="1">
            <a:spLocks noChangeArrowheads="1"/>
          </p:cNvSpPr>
          <p:nvPr/>
        </p:nvSpPr>
        <p:spPr bwMode="auto">
          <a:xfrm>
            <a:off x="7788275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  <a:endParaRPr kumimoji="0" lang="en-US" altLang="zh-CN" sz="2000"/>
          </a:p>
        </p:txBody>
      </p:sp>
      <p:sp>
        <p:nvSpPr>
          <p:cNvPr id="90175" name="Text Box 75"/>
          <p:cNvSpPr txBox="1">
            <a:spLocks noChangeArrowheads="1"/>
          </p:cNvSpPr>
          <p:nvPr/>
        </p:nvSpPr>
        <p:spPr bwMode="auto">
          <a:xfrm>
            <a:off x="84582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90176" name="Text Box 76"/>
          <p:cNvSpPr txBox="1">
            <a:spLocks noChangeArrowheads="1"/>
          </p:cNvSpPr>
          <p:nvPr/>
        </p:nvSpPr>
        <p:spPr bwMode="auto">
          <a:xfrm>
            <a:off x="20574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90177" name="Text Box 77"/>
          <p:cNvSpPr txBox="1">
            <a:spLocks noChangeArrowheads="1"/>
          </p:cNvSpPr>
          <p:nvPr/>
        </p:nvSpPr>
        <p:spPr bwMode="auto">
          <a:xfrm>
            <a:off x="461645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90178" name="Text Box 78"/>
          <p:cNvSpPr txBox="1">
            <a:spLocks noChangeArrowheads="1"/>
          </p:cNvSpPr>
          <p:nvPr/>
        </p:nvSpPr>
        <p:spPr bwMode="auto">
          <a:xfrm>
            <a:off x="84582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10</a:t>
            </a:r>
            <a:endParaRPr kumimoji="0" lang="en-US" altLang="zh-CN" sz="2000"/>
          </a:p>
        </p:txBody>
      </p:sp>
      <p:sp>
        <p:nvSpPr>
          <p:cNvPr id="90179" name="Text Box 79"/>
          <p:cNvSpPr txBox="1">
            <a:spLocks noChangeArrowheads="1"/>
          </p:cNvSpPr>
          <p:nvPr/>
        </p:nvSpPr>
        <p:spPr bwMode="auto">
          <a:xfrm>
            <a:off x="2909888" y="5146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90180" name="Text Box 80"/>
          <p:cNvSpPr txBox="1">
            <a:spLocks noChangeArrowheads="1"/>
          </p:cNvSpPr>
          <p:nvPr/>
        </p:nvSpPr>
        <p:spPr bwMode="auto">
          <a:xfrm>
            <a:off x="5410200" y="514667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s11</a:t>
            </a:r>
            <a:endParaRPr kumimoji="0" lang="en-US" altLang="zh-CN" sz="2000"/>
          </a:p>
        </p:txBody>
      </p:sp>
      <p:sp>
        <p:nvSpPr>
          <p:cNvPr id="90181" name="Text Box 81"/>
          <p:cNvSpPr txBox="1">
            <a:spLocks noChangeArrowheads="1"/>
          </p:cNvSpPr>
          <p:nvPr/>
        </p:nvSpPr>
        <p:spPr bwMode="auto">
          <a:xfrm>
            <a:off x="2909888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90182" name="Text Box 82"/>
          <p:cNvSpPr txBox="1">
            <a:spLocks noChangeArrowheads="1"/>
          </p:cNvSpPr>
          <p:nvPr/>
        </p:nvSpPr>
        <p:spPr bwMode="auto">
          <a:xfrm>
            <a:off x="3763963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  <a:endParaRPr kumimoji="0" lang="en-US" altLang="zh-CN" sz="2000"/>
          </a:p>
        </p:txBody>
      </p:sp>
      <p:sp>
        <p:nvSpPr>
          <p:cNvPr id="90183" name="Text Box 83"/>
          <p:cNvSpPr txBox="1">
            <a:spLocks noChangeArrowheads="1"/>
          </p:cNvSpPr>
          <p:nvPr/>
        </p:nvSpPr>
        <p:spPr bwMode="auto">
          <a:xfrm>
            <a:off x="5470525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90184" name="Text Box 84"/>
          <p:cNvSpPr txBox="1">
            <a:spLocks noChangeArrowheads="1"/>
          </p:cNvSpPr>
          <p:nvPr/>
        </p:nvSpPr>
        <p:spPr bwMode="auto">
          <a:xfrm>
            <a:off x="6324600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90185" name="Text Box 85"/>
          <p:cNvSpPr txBox="1">
            <a:spLocks noChangeArrowheads="1"/>
          </p:cNvSpPr>
          <p:nvPr/>
        </p:nvSpPr>
        <p:spPr bwMode="auto">
          <a:xfrm>
            <a:off x="2909888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90186" name="Text Box 86"/>
          <p:cNvSpPr txBox="1">
            <a:spLocks noChangeArrowheads="1"/>
          </p:cNvSpPr>
          <p:nvPr/>
        </p:nvSpPr>
        <p:spPr bwMode="auto">
          <a:xfrm>
            <a:off x="3763963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90187" name="Text Box 87"/>
          <p:cNvSpPr txBox="1">
            <a:spLocks noChangeArrowheads="1"/>
          </p:cNvSpPr>
          <p:nvPr/>
        </p:nvSpPr>
        <p:spPr bwMode="auto">
          <a:xfrm>
            <a:off x="5470525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90188" name="Text Box 88"/>
          <p:cNvSpPr txBox="1">
            <a:spLocks noChangeArrowheads="1"/>
          </p:cNvSpPr>
          <p:nvPr/>
        </p:nvSpPr>
        <p:spPr bwMode="auto">
          <a:xfrm>
            <a:off x="63246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90189" name="Text Box 89"/>
          <p:cNvSpPr txBox="1">
            <a:spLocks noChangeArrowheads="1"/>
          </p:cNvSpPr>
          <p:nvPr/>
        </p:nvSpPr>
        <p:spPr bwMode="auto">
          <a:xfrm>
            <a:off x="2909888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90190" name="Text Box 90"/>
          <p:cNvSpPr txBox="1">
            <a:spLocks noChangeArrowheads="1"/>
          </p:cNvSpPr>
          <p:nvPr/>
        </p:nvSpPr>
        <p:spPr bwMode="auto">
          <a:xfrm>
            <a:off x="3763963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90191" name="Text Box 91"/>
          <p:cNvSpPr txBox="1">
            <a:spLocks noChangeArrowheads="1"/>
          </p:cNvSpPr>
          <p:nvPr/>
        </p:nvSpPr>
        <p:spPr bwMode="auto">
          <a:xfrm>
            <a:off x="5470525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90192" name="Text Box 92"/>
          <p:cNvSpPr txBox="1">
            <a:spLocks noChangeArrowheads="1"/>
          </p:cNvSpPr>
          <p:nvPr/>
        </p:nvSpPr>
        <p:spPr bwMode="auto">
          <a:xfrm>
            <a:off x="6324600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4.39  SLR(1)</a:t>
            </a:r>
            <a:r>
              <a:rPr lang="zh-CN" altLang="en-US"/>
              <a:t>分析表冲突</a:t>
            </a: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二义性文法肯定不是</a:t>
            </a:r>
            <a:r>
              <a:rPr lang="en-US" altLang="zh-CN" sz="2800"/>
              <a:t>SLR(1)</a:t>
            </a:r>
            <a:r>
              <a:rPr lang="zh-CN" altLang="en-US" sz="2800"/>
              <a:t>文法，非二义性文法不都是</a:t>
            </a:r>
            <a:r>
              <a:rPr lang="en-US" altLang="zh-CN" sz="2800"/>
              <a:t>SLR(1)</a:t>
            </a:r>
            <a:r>
              <a:rPr lang="zh-CN" altLang="en-US" sz="2800"/>
              <a:t>文法</a:t>
            </a:r>
            <a:endParaRPr lang="zh-CN" altLang="en-US" sz="2800"/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(0)  S’ </a:t>
            </a:r>
            <a:r>
              <a:rPr kumimoji="0" lang="en-US" altLang="zh-CN" sz="2800">
                <a:sym typeface="Symbol" panose="05050102010706020507" pitchFamily="18" charset="2"/>
              </a:rPr>
              <a:t> S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(1)  S </a:t>
            </a:r>
            <a:r>
              <a:rPr kumimoji="0" lang="en-US" altLang="zh-CN" sz="2800">
                <a:sym typeface="Symbol" panose="05050102010706020507" pitchFamily="18" charset="2"/>
              </a:rPr>
              <a:t> L 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>
                <a:sym typeface="Symbol" panose="05050102010706020507" pitchFamily="18" charset="2"/>
              </a:rPr>
              <a:t> R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(2)</a:t>
            </a:r>
            <a:r>
              <a:rPr kumimoji="0" lang="en-US" altLang="zh-CN" sz="2800">
                <a:sym typeface="Symbol" panose="05050102010706020507" pitchFamily="18" charset="2"/>
              </a:rPr>
              <a:t>  </a:t>
            </a: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R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(3)</a:t>
            </a:r>
            <a:r>
              <a:rPr kumimoji="0" lang="en-US" altLang="zh-CN" sz="2800">
                <a:sym typeface="Symbol" panose="05050102010706020507" pitchFamily="18" charset="2"/>
              </a:rPr>
              <a:t>  L  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800">
                <a:sym typeface="Symbol" panose="05050102010706020507" pitchFamily="18" charset="2"/>
              </a:rPr>
              <a:t> R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(4)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  </a:t>
            </a:r>
            <a:r>
              <a:rPr kumimoji="0" lang="en-US" altLang="zh-CN" sz="2800">
                <a:sym typeface="Symbol" panose="05050102010706020507" pitchFamily="18" charset="2"/>
              </a:rPr>
              <a:t>L 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 id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(5)</a:t>
            </a:r>
            <a:r>
              <a:rPr kumimoji="0" lang="en-US" altLang="zh-CN" sz="2800">
                <a:sym typeface="Symbol" panose="05050102010706020507" pitchFamily="18" charset="2"/>
              </a:rPr>
              <a:t>  R  L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4.39  SLR(1)</a:t>
            </a:r>
            <a:r>
              <a:rPr lang="zh-CN" altLang="en-US"/>
              <a:t>分析表冲突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0</a:t>
            </a:r>
            <a:r>
              <a:rPr kumimoji="0" lang="en-US" altLang="zh-CN" sz="2400" dirty="0"/>
              <a:t>={</a:t>
            </a:r>
            <a:r>
              <a:rPr kumimoji="0" lang="en-US" altLang="zh-CN" sz="2400" b="1" dirty="0"/>
              <a:t>S’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·S , </a:t>
            </a:r>
            <a:r>
              <a:rPr kumimoji="0" lang="en-US" altLang="zh-CN" sz="2400" b="1" dirty="0"/>
              <a:t>S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·L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, </a:t>
            </a:r>
            <a:r>
              <a:rPr kumimoji="0" lang="en-US" altLang="zh-CN" sz="2400" b="1" dirty="0"/>
              <a:t>S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·R , L·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, 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		L·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, R·L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1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S’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S· 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>
                <a:solidFill>
                  <a:srgbClr val="FF0000"/>
                </a:solidFill>
              </a:rPr>
              <a:t>I</a:t>
            </a:r>
            <a:r>
              <a:rPr kumimoji="0" lang="en-US" altLang="zh-CN" sz="2400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400" dirty="0">
                <a:solidFill>
                  <a:srgbClr val="FF0000"/>
                </a:solidFill>
              </a:rPr>
              <a:t> = {</a:t>
            </a:r>
            <a:r>
              <a:rPr kumimoji="0" lang="en-US" altLang="zh-CN" sz="2400" b="1" dirty="0">
                <a:solidFill>
                  <a:srgbClr val="FF0000"/>
                </a:solidFill>
              </a:rPr>
              <a:t>S </a:t>
            </a:r>
            <a:r>
              <a:rPr kumimoji="0"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 L · = R , R  L · </a:t>
            </a:r>
            <a:r>
              <a:rPr kumimoji="0" lang="en-US" altLang="zh-CN" sz="2400" dirty="0">
                <a:solidFill>
                  <a:srgbClr val="FF0000"/>
                </a:solidFill>
              </a:rPr>
              <a:t>}</a:t>
            </a:r>
            <a:endParaRPr kumimoji="0" lang="en-US" altLang="zh-CN" sz="2400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3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R·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4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L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·R , R  ·L , L  ·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, L ·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5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>
                <a:sym typeface="Symbol" panose="05050102010706020507" pitchFamily="18" charset="2"/>
              </a:rPr>
              <a:t>L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· 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6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L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= </a:t>
            </a:r>
            <a:r>
              <a:rPr kumimoji="0" lang="en-US" altLang="zh-CN" sz="2400" b="1" dirty="0">
                <a:sym typeface="Symbol" panose="05050102010706020507" pitchFamily="18" charset="2"/>
              </a:rPr>
              <a:t>· R , R  ·L , L  ·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, L ·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7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>
                <a:sym typeface="Symbol" panose="05050102010706020507" pitchFamily="18" charset="2"/>
              </a:rPr>
              <a:t>L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R·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8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>
                <a:sym typeface="Symbol" panose="05050102010706020507" pitchFamily="18" charset="2"/>
              </a:rPr>
              <a:t>R  L ·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9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S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L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R·</a:t>
            </a:r>
            <a:r>
              <a:rPr kumimoji="0" lang="en-US" altLang="zh-CN" sz="2400" dirty="0"/>
              <a:t>}</a:t>
            </a:r>
            <a:endParaRPr kumimoji="0" lang="en-US" altLang="zh-CN" sz="2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4.39  SLR(1)</a:t>
            </a:r>
            <a:r>
              <a:rPr lang="zh-CN" altLang="en-US"/>
              <a:t>分析表冲突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marL="381000" indent="-381000" eaLnBrk="1" hangingPunct="1"/>
            <a:r>
              <a:rPr kumimoji="0" lang="en-US" altLang="zh-CN" sz="2800" dirty="0"/>
              <a:t>I</a:t>
            </a:r>
            <a:r>
              <a:rPr kumimoji="0" lang="en-US" altLang="zh-CN" sz="2800" baseline="-25000" dirty="0"/>
              <a:t>2</a:t>
            </a:r>
            <a:r>
              <a:rPr kumimoji="0" lang="en-US" altLang="zh-CN" sz="2800" dirty="0"/>
              <a:t> = {</a:t>
            </a:r>
            <a:r>
              <a:rPr kumimoji="0" lang="en-US" altLang="zh-CN" sz="2800" b="1" dirty="0"/>
              <a:t>S </a:t>
            </a:r>
            <a:r>
              <a:rPr kumimoji="0" lang="en-US" altLang="zh-CN" sz="2800" b="1" dirty="0">
                <a:sym typeface="Symbol" panose="05050102010706020507" pitchFamily="18" charset="2"/>
              </a:rPr>
              <a:t> L · 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dirty="0">
                <a:sym typeface="Symbol" panose="05050102010706020507" pitchFamily="18" charset="2"/>
              </a:rPr>
              <a:t> R , R  L · </a:t>
            </a:r>
            <a:r>
              <a:rPr kumimoji="0" lang="en-US" altLang="zh-CN" sz="2800" dirty="0"/>
              <a:t>}</a:t>
            </a:r>
            <a:endParaRPr kumimoji="0" lang="en-US" altLang="zh-CN" sz="2800" dirty="0"/>
          </a:p>
          <a:p>
            <a:pPr marL="857250" lvl="1" eaLnBrk="1" hangingPunct="1"/>
            <a:r>
              <a:rPr kumimoji="0" lang="en-US" altLang="zh-CN" sz="2400" b="1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L ·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</a:t>
            </a:r>
            <a:r>
              <a:rPr kumimoji="0" lang="en-US" altLang="zh-CN" sz="2400" dirty="0">
                <a:sym typeface="Wingdings" panose="05000000000000000000" pitchFamily="2" charset="2"/>
              </a:rPr>
              <a:t> action[2, =] = s6</a:t>
            </a:r>
            <a:endParaRPr kumimoji="0" lang="en-US" altLang="zh-CN" sz="2400" dirty="0">
              <a:sym typeface="Wingdings" panose="05000000000000000000" pitchFamily="2" charset="2"/>
            </a:endParaRPr>
          </a:p>
          <a:p>
            <a:pPr marL="857250" lvl="1" eaLnBrk="1" hangingPunct="1"/>
            <a:r>
              <a:rPr kumimoji="0" lang="en-US" altLang="zh-CN" sz="2400" b="1" dirty="0">
                <a:sym typeface="Symbol" panose="05050102010706020507" pitchFamily="18" charset="2"/>
              </a:rPr>
              <a:t>R  L ·</a:t>
            </a:r>
            <a:r>
              <a:rPr kumimoji="0" lang="en-US" altLang="zh-CN" sz="2400" dirty="0">
                <a:sym typeface="Symbol" panose="05050102010706020507" pitchFamily="18" charset="2"/>
              </a:rPr>
              <a:t>, =</a:t>
            </a:r>
            <a:r>
              <a:rPr kumimoji="0"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 dirty="0">
                <a:sym typeface="Symbol" panose="05050102010706020507" pitchFamily="18" charset="2"/>
              </a:rPr>
              <a:t>FOLLOW(R)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Wingdings" panose="05000000000000000000" pitchFamily="2" charset="2"/>
              </a:rPr>
              <a:t> action[2, =] = r5</a:t>
            </a:r>
            <a:endParaRPr kumimoji="0" lang="en-US" altLang="zh-CN" sz="2400" dirty="0">
              <a:sym typeface="Wingdings" panose="05000000000000000000" pitchFamily="2" charset="2"/>
            </a:endParaRPr>
          </a:p>
          <a:p>
            <a:pPr marL="857250" lvl="1" eaLnBrk="1" hangingPunct="1"/>
            <a:r>
              <a:rPr kumimoji="0" lang="zh-CN" altLang="en-US" sz="2400" dirty="0">
                <a:sym typeface="Wingdings" panose="05000000000000000000" pitchFamily="2" charset="2"/>
              </a:rPr>
              <a:t>移进</a:t>
            </a:r>
            <a:r>
              <a:rPr kumimoji="0" lang="en-US" altLang="zh-CN" sz="2400" dirty="0">
                <a:sym typeface="Wingdings" panose="05000000000000000000" pitchFamily="2" charset="2"/>
              </a:rPr>
              <a:t>/</a:t>
            </a:r>
            <a:r>
              <a:rPr kumimoji="0" lang="zh-CN" altLang="en-US" sz="2400" dirty="0">
                <a:sym typeface="Wingdings" panose="05000000000000000000" pitchFamily="2" charset="2"/>
              </a:rPr>
              <a:t>归约冲突</a:t>
            </a:r>
            <a:endParaRPr kumimoji="0" lang="zh-CN" altLang="en-US" sz="2400" dirty="0">
              <a:sym typeface="Wingdings" panose="05000000000000000000" pitchFamily="2" charset="2"/>
            </a:endParaRPr>
          </a:p>
          <a:p>
            <a:pPr marL="381000" indent="-381000" eaLnBrk="1" hangingPunct="1"/>
            <a:r>
              <a:rPr kumimoji="0" lang="zh-CN" altLang="en-US" sz="2800" dirty="0">
                <a:sym typeface="Symbol" panose="05050102010706020507" pitchFamily="18" charset="2"/>
              </a:rPr>
              <a:t>分析实例： </a:t>
            </a:r>
            <a:r>
              <a:rPr lang="en-US" altLang="zh-CN" sz="2800" b="1" dirty="0">
                <a:solidFill>
                  <a:schemeClr val="accent2"/>
                </a:solidFill>
              </a:rPr>
              <a:t>id=id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pPr marL="381000" indent="-3810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				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id=id</a:t>
            </a:r>
            <a:r>
              <a:rPr kumimoji="0" lang="en-US" altLang="zh-CN" sz="2400" b="1" dirty="0"/>
              <a:t>$			s5</a:t>
            </a:r>
            <a:endParaRPr kumimoji="0" lang="en-US" altLang="zh-CN" sz="2400" b="1" dirty="0"/>
          </a:p>
          <a:p>
            <a:pPr marL="381000" indent="-38100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id</a:t>
            </a:r>
            <a:r>
              <a:rPr kumimoji="0" lang="en-US" altLang="zh-CN" sz="2400" b="1" dirty="0"/>
              <a:t>5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	=id</a:t>
            </a:r>
            <a:r>
              <a:rPr kumimoji="0" lang="en-US" altLang="zh-CN" sz="2400" b="1" dirty="0"/>
              <a:t>$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	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r</a:t>
            </a:r>
            <a:r>
              <a:rPr kumimoji="0" lang="en-US" altLang="zh-CN" sz="2400" b="1" dirty="0"/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L 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endParaRPr kumimoji="0" lang="en-US" altLang="zh-CN" sz="2400" b="1" dirty="0"/>
          </a:p>
          <a:p>
            <a:pPr marL="381000" indent="-3810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$0L2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	=id</a:t>
            </a:r>
            <a:r>
              <a:rPr kumimoji="0" lang="en-US" altLang="zh-CN" sz="2400" b="1" dirty="0"/>
              <a:t>$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	</a:t>
            </a:r>
            <a:r>
              <a:rPr kumimoji="0" lang="zh-CN" altLang="en-US" sz="2400" b="1" dirty="0"/>
              <a:t>冲突</a:t>
            </a:r>
            <a:r>
              <a:rPr kumimoji="0" lang="en-US" altLang="zh-CN" sz="2400" b="1" dirty="0"/>
              <a:t>…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4.39  SLR(1)</a:t>
            </a:r>
            <a:r>
              <a:rPr lang="zh-CN" altLang="en-US"/>
              <a:t>分析表冲突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942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marL="381000" indent="-381000" eaLnBrk="1" hangingPunct="1"/>
            <a:r>
              <a:rPr kumimoji="0" lang="zh-CN" altLang="en-US" sz="2800" dirty="0"/>
              <a:t>应该进行哪个动作？</a:t>
            </a:r>
            <a:endParaRPr kumimoji="0" lang="zh-CN" altLang="en-US" sz="2800" dirty="0"/>
          </a:p>
          <a:p>
            <a:pPr marL="381000" indent="-381000" eaLnBrk="1" hangingPunct="1"/>
            <a:r>
              <a:rPr kumimoji="0" lang="en-US" altLang="zh-CN" sz="2800" dirty="0"/>
              <a:t>R</a:t>
            </a:r>
            <a:r>
              <a:rPr lang="en-US" altLang="zh-CN" sz="2800" b="1" dirty="0">
                <a:solidFill>
                  <a:schemeClr val="folHlink"/>
                </a:solidFill>
              </a:rPr>
              <a:t>=id</a:t>
            </a:r>
            <a:r>
              <a:rPr lang="zh-CN" altLang="en-US" sz="2800" dirty="0"/>
              <a:t>不是句型！</a:t>
            </a:r>
            <a:endParaRPr lang="zh-CN" altLang="en-US" sz="2800" dirty="0"/>
          </a:p>
          <a:p>
            <a:pPr marL="381000" indent="-381000" eaLnBrk="1" hangingPunct="1"/>
            <a:r>
              <a:rPr lang="en-US" altLang="zh-CN" sz="2800" b="1" dirty="0">
                <a:solidFill>
                  <a:schemeClr val="folHlink"/>
                </a:solidFill>
              </a:rPr>
              <a:t>=</a:t>
            </a:r>
            <a:r>
              <a:rPr lang="zh-CN" altLang="en-US" sz="2800" dirty="0"/>
              <a:t>可在</a:t>
            </a:r>
            <a:r>
              <a:rPr lang="en-US" altLang="zh-CN" sz="2800" dirty="0"/>
              <a:t>R</a:t>
            </a:r>
            <a:r>
              <a:rPr lang="zh-CN" altLang="en-US" sz="2800" dirty="0"/>
              <a:t>之后，但不是这种情况，只有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kumimoji="0" lang="zh-CN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zh-CN" altLang="en-US" sz="2800" dirty="0"/>
              <a:t>之后的情况下才会发生</a:t>
            </a:r>
            <a:r>
              <a:rPr lang="en-US" altLang="zh-CN" sz="2800" dirty="0"/>
              <a:t>——</a:t>
            </a:r>
            <a:r>
              <a:rPr kumimoji="0"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800" dirty="0"/>
              <a:t>R</a:t>
            </a:r>
            <a:r>
              <a:rPr lang="en-US" altLang="zh-CN" sz="2800" b="1" dirty="0">
                <a:solidFill>
                  <a:schemeClr val="folHlink"/>
                </a:solidFill>
              </a:rPr>
              <a:t>=id</a:t>
            </a:r>
            <a:endParaRPr lang="en-US" altLang="zh-CN" sz="2800" b="1" dirty="0">
              <a:solidFill>
                <a:schemeClr val="folHlink"/>
              </a:solidFill>
            </a:endParaRPr>
          </a:p>
          <a:p>
            <a:pPr marL="381000" indent="-381000" eaLnBrk="1" hangingPunct="1"/>
            <a:r>
              <a:rPr lang="zh-CN" altLang="en-US" sz="2800" dirty="0"/>
              <a:t>冲突原因</a:t>
            </a:r>
            <a:br>
              <a:rPr lang="zh-CN" altLang="en-US" sz="2800" dirty="0"/>
            </a:br>
            <a:r>
              <a:rPr lang="en-US" altLang="zh-CN" sz="2800" dirty="0"/>
              <a:t>SLR</a:t>
            </a:r>
            <a:r>
              <a:rPr lang="zh-CN" altLang="en-US" sz="2800" dirty="0"/>
              <a:t>分析方法</a:t>
            </a:r>
            <a:r>
              <a:rPr lang="en-US" altLang="zh-CN" sz="2800" dirty="0"/>
              <a:t>——LR(0)+FOLLOW</a:t>
            </a:r>
            <a:r>
              <a:rPr lang="zh-CN" altLang="en-US" sz="2800" dirty="0"/>
              <a:t>的方法不够强大</a:t>
            </a:r>
            <a:br>
              <a:rPr lang="zh-CN" altLang="en-US" sz="2800" dirty="0"/>
            </a:br>
            <a:r>
              <a:rPr lang="zh-CN" altLang="en-US" sz="2800" dirty="0"/>
              <a:t>规范</a:t>
            </a:r>
            <a:r>
              <a:rPr lang="en-US" altLang="zh-CN" sz="2800" dirty="0"/>
              <a:t>LR</a:t>
            </a:r>
            <a:r>
              <a:rPr lang="zh-CN" altLang="en-US" sz="2800" dirty="0"/>
              <a:t>和</a:t>
            </a:r>
            <a:r>
              <a:rPr lang="en-US" altLang="zh-CN" sz="2800" dirty="0"/>
              <a:t>LALR</a:t>
            </a:r>
            <a:r>
              <a:rPr lang="zh-CN" altLang="en-US" sz="2800" dirty="0"/>
              <a:t>均可处理此文法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4.7.4  </a:t>
            </a:r>
            <a:r>
              <a:rPr lang="zh-CN" altLang="en-US"/>
              <a:t>构造规范</a:t>
            </a:r>
            <a:r>
              <a:rPr lang="en-US" altLang="zh-CN"/>
              <a:t>LR</a:t>
            </a:r>
            <a:r>
              <a:rPr lang="zh-CN" altLang="en-US"/>
              <a:t>分析表</a:t>
            </a:r>
            <a:endParaRPr lang="zh-CN" alt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SLR</a:t>
            </a:r>
            <a:r>
              <a:rPr lang="zh-CN" altLang="en-US" sz="2800" dirty="0"/>
              <a:t>：若项目集</a:t>
            </a:r>
            <a:r>
              <a:rPr lang="en-US" altLang="zh-CN" sz="2800" dirty="0" err="1"/>
              <a:t>I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包含</a:t>
            </a:r>
            <a:r>
              <a:rPr lang="en-US" altLang="zh-CN" sz="2800" dirty="0">
                <a:sym typeface="Symbol" panose="05050102010706020507" pitchFamily="18" charset="2"/>
              </a:rPr>
              <a:t>[A·]</a:t>
            </a:r>
            <a:r>
              <a:rPr lang="zh-CN" altLang="en-US" sz="2800" dirty="0">
                <a:sym typeface="Symbol" panose="05050102010706020507" pitchFamily="18" charset="2"/>
              </a:rPr>
              <a:t>，且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在</a:t>
            </a:r>
            <a:r>
              <a:rPr lang="en-US" altLang="zh-CN" sz="2800" dirty="0">
                <a:sym typeface="Symbol" panose="05050102010706020507" pitchFamily="18" charset="2"/>
              </a:rPr>
              <a:t>FOLLOW(A)</a:t>
            </a:r>
            <a:r>
              <a:rPr lang="zh-CN" altLang="en-US" sz="2800" dirty="0">
                <a:sym typeface="Symbol" panose="05050102010706020507" pitchFamily="18" charset="2"/>
              </a:rPr>
              <a:t>中，则状态</a:t>
            </a:r>
            <a:r>
              <a:rPr lang="en-US" altLang="zh-CN" sz="2800" dirty="0" err="1">
                <a:sym typeface="Symbol" panose="05050102010706020507" pitchFamily="18" charset="2"/>
              </a:rPr>
              <a:t>i</a:t>
            </a:r>
            <a:r>
              <a:rPr lang="zh-CN" altLang="en-US" sz="2800" dirty="0">
                <a:sym typeface="Symbol" panose="05050102010706020507" pitchFamily="18" charset="2"/>
              </a:rPr>
              <a:t>进行归约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但某些情况，当状态</a:t>
            </a:r>
            <a:r>
              <a:rPr lang="en-US" altLang="zh-CN" sz="2800" dirty="0" err="1">
                <a:sym typeface="Symbol" panose="05050102010706020507" pitchFamily="18" charset="2"/>
              </a:rPr>
              <a:t>i</a:t>
            </a:r>
            <a:r>
              <a:rPr lang="zh-CN" altLang="en-US" sz="2800" dirty="0">
                <a:sym typeface="Symbol" panose="05050102010706020507" pitchFamily="18" charset="2"/>
              </a:rPr>
              <a:t>在栈顶，活前缀</a:t>
            </a:r>
            <a:r>
              <a:rPr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ba</a:t>
            </a:r>
            <a:r>
              <a:rPr lang="zh-CN" altLang="en-US" sz="2800" dirty="0">
                <a:sym typeface="Symbol" panose="05050102010706020507" pitchFamily="18" charset="2"/>
              </a:rPr>
              <a:t>在栈中时，任何最右句型，都不可能是</a:t>
            </a:r>
            <a:r>
              <a:rPr lang="en-US" altLang="zh-CN" sz="2800" dirty="0">
                <a:sym typeface="Symbol" panose="05050102010706020507" pitchFamily="18" charset="2"/>
              </a:rPr>
              <a:t>…</a:t>
            </a:r>
            <a:r>
              <a:rPr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sym typeface="Symbol" panose="05050102010706020507" pitchFamily="18" charset="2"/>
              </a:rPr>
              <a:t>Aa</a:t>
            </a:r>
            <a:r>
              <a:rPr lang="en-US" altLang="zh-CN" sz="2800" dirty="0">
                <a:sym typeface="Symbol" panose="05050102010706020507" pitchFamily="18" charset="2"/>
              </a:rPr>
              <a:t>…</a:t>
            </a:r>
            <a:r>
              <a:rPr lang="zh-CN" altLang="en-US" sz="2800" dirty="0">
                <a:sym typeface="Symbol" panose="05050102010706020507" pitchFamily="18" charset="2"/>
              </a:rPr>
              <a:t>的形式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3600" dirty="0">
                <a:solidFill>
                  <a:srgbClr val="3333CC"/>
                </a:solidFill>
                <a:sym typeface="Symbol" panose="05050102010706020507" pitchFamily="18" charset="2"/>
              </a:rPr>
              <a:t>例</a:t>
            </a:r>
            <a:r>
              <a:rPr lang="en-US" altLang="zh-CN" sz="3600" dirty="0">
                <a:solidFill>
                  <a:srgbClr val="3333CC"/>
                </a:solidFill>
                <a:sym typeface="Symbol" panose="05050102010706020507" pitchFamily="18" charset="2"/>
              </a:rPr>
              <a:t>4.40</a:t>
            </a:r>
            <a:r>
              <a:rPr lang="zh-CN" altLang="en-US" sz="3600" dirty="0">
                <a:solidFill>
                  <a:srgbClr val="3333CC"/>
                </a:solidFill>
                <a:sym typeface="Symbol" panose="05050102010706020507" pitchFamily="18" charset="2"/>
              </a:rPr>
              <a:t>：</a:t>
            </a:r>
            <a:endParaRPr lang="zh-CN" altLang="en-US" sz="36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如例</a:t>
            </a:r>
            <a:r>
              <a:rPr lang="en-US" altLang="zh-CN" sz="2400" dirty="0">
                <a:sym typeface="Symbol" panose="05050102010706020507" pitchFamily="18" charset="2"/>
              </a:rPr>
              <a:t>4.39</a:t>
            </a:r>
            <a:r>
              <a:rPr lang="zh-CN" altLang="en-US" sz="2400" dirty="0">
                <a:sym typeface="Symbol" panose="05050102010706020507" pitchFamily="18" charset="2"/>
              </a:rPr>
              <a:t>，状态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和下一符号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zh-CN" altLang="en-US" sz="2400" dirty="0">
                <a:sym typeface="Symbol" panose="05050102010706020507" pitchFamily="18" charset="2"/>
              </a:rPr>
              <a:t>，无法确定如何归约，但不存在句型</a:t>
            </a:r>
            <a:r>
              <a:rPr lang="en-US" altLang="zh-CN" sz="2400" dirty="0">
                <a:sym typeface="Symbol" panose="05050102010706020507" pitchFamily="18" charset="2"/>
              </a:rPr>
              <a:t>R=…</a:t>
            </a:r>
            <a:r>
              <a:rPr lang="zh-CN" altLang="en-US" sz="2400" dirty="0">
                <a:sym typeface="Symbol" panose="05050102010706020507" pitchFamily="18" charset="2"/>
              </a:rPr>
              <a:t>，状态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只对应活前缀‘</a:t>
            </a:r>
            <a:r>
              <a:rPr lang="en-US" altLang="zh-CN" sz="2400" dirty="0"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sym typeface="Symbol" panose="05050102010706020507" pitchFamily="18" charset="2"/>
              </a:rPr>
              <a:t>’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LR(1)</a:t>
            </a:r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每个项目携带更多信息</a:t>
            </a:r>
            <a:endParaRPr lang="zh-CN" altLang="en-US"/>
          </a:p>
          <a:p>
            <a:pPr lvl="1" eaLnBrk="1" hangingPunct="1"/>
            <a:r>
              <a:rPr lang="zh-CN" altLang="en-US"/>
              <a:t>方法：分离状态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每个状态明确指出：当哪些符号接在句柄</a:t>
            </a:r>
            <a:r>
              <a:rPr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r>
              <a:rPr lang="zh-CN" altLang="en-US">
                <a:sym typeface="Wingdings" panose="05000000000000000000" pitchFamily="2" charset="2"/>
              </a:rPr>
              <a:t>之后，才可进行</a:t>
            </a:r>
            <a:r>
              <a:rPr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r>
              <a:rPr lang="zh-CN" altLang="en-US">
                <a:sym typeface="Wingdings" panose="05000000000000000000" pitchFamily="2" charset="2"/>
              </a:rPr>
              <a:t>到</a:t>
            </a:r>
            <a:r>
              <a:rPr lang="en-US" altLang="zh-CN">
                <a:sym typeface="Wingdings" panose="05000000000000000000" pitchFamily="2" charset="2"/>
              </a:rPr>
              <a:t>A</a:t>
            </a:r>
            <a:r>
              <a:rPr lang="zh-CN" altLang="en-US">
                <a:sym typeface="Wingdings" panose="05000000000000000000" pitchFamily="2" charset="2"/>
              </a:rPr>
              <a:t>的归约</a:t>
            </a:r>
            <a:endParaRPr lang="zh-CN" altLang="en-US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LR(1)</a:t>
            </a:r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371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LR(1)</a:t>
            </a:r>
            <a:r>
              <a:rPr lang="zh-CN" altLang="en-US" sz="2800" dirty="0">
                <a:sym typeface="Wingdings" panose="05000000000000000000" pitchFamily="2" charset="2"/>
              </a:rPr>
              <a:t>项目：产生式</a:t>
            </a:r>
            <a:r>
              <a:rPr lang="en-US" altLang="zh-CN" sz="2800" dirty="0">
                <a:sym typeface="Wingdings" panose="05000000000000000000" pitchFamily="2" charset="2"/>
              </a:rPr>
              <a:t>+‘·’+</a:t>
            </a:r>
            <a:r>
              <a:rPr lang="zh-CN" altLang="en-US" sz="2800" dirty="0">
                <a:sym typeface="Wingdings" panose="05000000000000000000" pitchFamily="2" charset="2"/>
              </a:rPr>
              <a:t>终结符</a:t>
            </a:r>
            <a:br>
              <a:rPr lang="zh-CN" altLang="en-US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如</a:t>
            </a:r>
            <a:r>
              <a:rPr lang="zh-CN" altLang="en-US" dirty="0"/>
              <a:t> </a:t>
            </a:r>
            <a:r>
              <a:rPr lang="en-US" altLang="zh-CN" sz="2800" dirty="0"/>
              <a:t>[S </a:t>
            </a:r>
            <a:r>
              <a:rPr lang="en-US" altLang="zh-CN" sz="2800" dirty="0">
                <a:sym typeface="Symbol" panose="05050102010706020507" pitchFamily="18" charset="2"/>
              </a:rPr>
              <a:t> </a:t>
            </a:r>
            <a:r>
              <a:rPr lang="en-US" altLang="zh-CN" sz="2800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A·B</a:t>
            </a:r>
            <a:r>
              <a:rPr lang="en-US" altLang="zh-CN" sz="2800" dirty="0" err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 c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含义：对一个产生式</a:t>
            </a:r>
            <a:endParaRPr lang="zh-CN" altLang="en-US" sz="2400" dirty="0"/>
          </a:p>
          <a:p>
            <a:pPr lvl="2" eaLnBrk="1" hangingPunct="1"/>
            <a:r>
              <a:rPr lang="zh-CN" altLang="en-US" sz="2000" dirty="0"/>
              <a:t>栈中已形成句柄的哪些部分（</a:t>
            </a:r>
            <a:r>
              <a:rPr lang="en-US" altLang="zh-CN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000" dirty="0" err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）</a:t>
            </a:r>
            <a:r>
              <a:rPr lang="en-US" altLang="zh-CN" sz="2000" dirty="0">
                <a:sym typeface="Symbol" panose="05050102010706020507" pitchFamily="18" charset="2"/>
              </a:rPr>
              <a:t>+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000" dirty="0">
                <a:sym typeface="Symbol" panose="05050102010706020507" pitchFamily="18" charset="2"/>
              </a:rPr>
              <a:t>期待下一步构造出哪些部分（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solidFill>
                  <a:schemeClr val="folHlink"/>
                </a:solidFill>
                <a:sym typeface="Symbol" panose="05050102010706020507" pitchFamily="18" charset="2"/>
              </a:rPr>
              <a:t>e</a:t>
            </a:r>
            <a:r>
              <a:rPr lang="zh-CN" altLang="en-US" sz="2000" dirty="0">
                <a:sym typeface="Symbol" panose="05050102010706020507" pitchFamily="18" charset="2"/>
              </a:rPr>
              <a:t>）</a:t>
            </a:r>
            <a:r>
              <a:rPr lang="en-US" altLang="zh-CN" sz="2000" dirty="0">
                <a:sym typeface="Symbol" panose="05050102010706020507" pitchFamily="18" charset="2"/>
              </a:rPr>
              <a:t>+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000" dirty="0">
                <a:sym typeface="Symbol" panose="05050102010706020507" pitchFamily="18" charset="2"/>
              </a:rPr>
              <a:t>向前搜索符</a:t>
            </a:r>
            <a:r>
              <a:rPr lang="en-US" altLang="zh-CN" sz="2000" dirty="0">
                <a:sym typeface="Symbol" panose="05050102010706020507" pitchFamily="18" charset="2"/>
              </a:rPr>
              <a:t>c</a:t>
            </a:r>
            <a:r>
              <a:rPr lang="zh-CN" altLang="en-US" sz="2000" dirty="0">
                <a:sym typeface="Symbol" panose="05050102010706020507" pitchFamily="18" charset="2"/>
              </a:rPr>
              <a:t>：当在栈顶形成句柄</a:t>
            </a:r>
            <a:r>
              <a:rPr lang="en-US" altLang="zh-CN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000" dirty="0" err="1">
                <a:solidFill>
                  <a:schemeClr val="tx1"/>
                </a:solidFill>
                <a:sym typeface="Symbol" panose="05050102010706020507" pitchFamily="18" charset="2"/>
              </a:rPr>
              <a:t>AB</a:t>
            </a:r>
            <a:r>
              <a:rPr lang="en-US" altLang="zh-CN" sz="2000" dirty="0" err="1">
                <a:solidFill>
                  <a:schemeClr val="folHlink"/>
                </a:solidFill>
                <a:sym typeface="Symbol" panose="05050102010706020507" pitchFamily="18" charset="2"/>
              </a:rPr>
              <a:t>e</a:t>
            </a:r>
            <a:r>
              <a:rPr lang="zh-CN" altLang="en-US" sz="2000" dirty="0">
                <a:sym typeface="Symbol" panose="05050102010706020507" pitchFamily="18" charset="2"/>
              </a:rPr>
              <a:t>，输入缓冲区中首单词（</a:t>
            </a:r>
            <a:r>
              <a:rPr lang="zh-CN" altLang="en-US" sz="2000" dirty="0">
                <a:ea typeface="隶书" panose="02010509060101010101" pitchFamily="49" charset="-122"/>
                <a:sym typeface="Symbol" panose="05050102010706020507" pitchFamily="18" charset="2"/>
              </a:rPr>
              <a:t>跟随符号</a:t>
            </a:r>
            <a:r>
              <a:rPr lang="zh-CN" altLang="en-US" sz="2000" dirty="0">
                <a:sym typeface="Symbol" panose="05050102010706020507" pitchFamily="18" charset="2"/>
              </a:rPr>
              <a:t>）必须是</a:t>
            </a:r>
            <a:r>
              <a:rPr lang="en-US" altLang="zh-CN" sz="2000" dirty="0">
                <a:sym typeface="Symbol" panose="05050102010706020507" pitchFamily="18" charset="2"/>
              </a:rPr>
              <a:t>c</a:t>
            </a:r>
            <a:r>
              <a:rPr lang="zh-CN" altLang="en-US" sz="2000" dirty="0">
                <a:sym typeface="Symbol" panose="05050102010706020507" pitchFamily="18" charset="2"/>
              </a:rPr>
              <a:t>，才可归约为</a:t>
            </a:r>
            <a:r>
              <a:rPr lang="en-US" altLang="zh-CN" sz="2000" dirty="0"/>
              <a:t>S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000" dirty="0">
                <a:sym typeface="Symbol" panose="05050102010706020507" pitchFamily="18" charset="2"/>
              </a:rPr>
              <a:t>更好的归约判定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sym typeface="Symbol" panose="05050102010706020507" pitchFamily="18" charset="2"/>
              </a:rPr>
              <a:t>LR(1)</a:t>
            </a:r>
            <a:r>
              <a:rPr lang="zh-CN" altLang="en-US" sz="2800" dirty="0">
                <a:sym typeface="Symbol" panose="05050102010706020507" pitchFamily="18" charset="2"/>
              </a:rPr>
              <a:t>项目的核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core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ym typeface="Symbol" panose="05050102010706020507" pitchFamily="18" charset="2"/>
              </a:rPr>
              <a:t>：</a:t>
            </a:r>
            <a:r>
              <a:rPr lang="en-US" altLang="zh-CN" sz="2800" dirty="0">
                <a:sym typeface="Symbol" panose="05050102010706020507" pitchFamily="18" charset="2"/>
              </a:rPr>
              <a:t>LR(0)</a:t>
            </a:r>
            <a:r>
              <a:rPr lang="zh-CN" altLang="en-US" sz="2800" dirty="0">
                <a:sym typeface="Symbol" panose="05050102010706020507" pitchFamily="18" charset="2"/>
              </a:rPr>
              <a:t>项目</a:t>
            </a:r>
            <a:endParaRPr lang="zh-CN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LR(1)</a:t>
            </a:r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sz="2800"/>
              <a:t>只对归约起作用</a:t>
            </a:r>
            <a:endParaRPr lang="zh-CN" altLang="en-US" sz="2800"/>
          </a:p>
          <a:p>
            <a:pPr marL="990600" lvl="1" indent="-533400" eaLnBrk="1" hangingPunct="1"/>
            <a:r>
              <a:rPr lang="zh-CN" altLang="en-US" sz="2400"/>
              <a:t>当状态</a:t>
            </a:r>
            <a:r>
              <a:rPr lang="en-US" altLang="zh-CN" sz="2400"/>
              <a:t>i</a:t>
            </a:r>
            <a:r>
              <a:rPr lang="zh-CN" altLang="en-US" sz="2400"/>
              <a:t>在栈顶，</a:t>
            </a:r>
            <a:r>
              <a:rPr lang="en-US" altLang="zh-CN" sz="2400"/>
              <a:t>a</a:t>
            </a:r>
            <a:r>
              <a:rPr lang="zh-CN" altLang="en-US" sz="2400"/>
              <a:t>为下一输入符号</a:t>
            </a:r>
            <a:endParaRPr lang="zh-CN" altLang="en-US" sz="2400"/>
          </a:p>
          <a:p>
            <a:pPr marL="990600" lvl="1" indent="-533400" eaLnBrk="1" hangingPunct="1"/>
            <a:r>
              <a:rPr lang="zh-CN" altLang="en-US" sz="2400"/>
              <a:t>仅当</a:t>
            </a:r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a</a:t>
            </a:r>
            <a:r>
              <a:rPr lang="en-US" altLang="zh-CN" sz="2400"/>
              <a:t>]</a:t>
            </a:r>
            <a:r>
              <a:rPr lang="en-US" altLang="zh-CN" sz="2400">
                <a:latin typeface="宋体" panose="02010600030101010101" pitchFamily="2" charset="-122"/>
              </a:rPr>
              <a:t>∈</a:t>
            </a:r>
            <a:r>
              <a:rPr lang="en-US" altLang="zh-CN" sz="2400"/>
              <a:t>I</a:t>
            </a:r>
            <a:r>
              <a:rPr lang="en-US" altLang="zh-CN" sz="2400" baseline="-25000"/>
              <a:t>i</a:t>
            </a:r>
            <a:r>
              <a:rPr lang="zh-CN" altLang="en-US" sz="2400"/>
              <a:t>，才进行</a:t>
            </a:r>
            <a:r>
              <a:rPr lang="en-US" altLang="zh-CN" sz="2400"/>
              <a:t>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zh-CN" altLang="en-US" sz="2400">
                <a:sym typeface="Symbol" panose="05050102010706020507" pitchFamily="18" charset="2"/>
              </a:rPr>
              <a:t>归约</a:t>
            </a:r>
            <a:endParaRPr lang="zh-CN" altLang="en-US" sz="2400">
              <a:sym typeface="Symbol" panose="05050102010706020507" pitchFamily="18" charset="2"/>
            </a:endParaRPr>
          </a:p>
          <a:p>
            <a:pPr marL="990600" lvl="1" indent="-533400" eaLnBrk="1" hangingPunct="1"/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·, b</a:t>
            </a:r>
            <a:r>
              <a:rPr lang="en-US" altLang="zh-CN" sz="2400"/>
              <a:t>]</a:t>
            </a:r>
            <a:r>
              <a:rPr lang="zh-CN" altLang="en-US" sz="2400"/>
              <a:t>不能指示此情况进行归约</a:t>
            </a:r>
            <a:endParaRPr lang="zh-CN" altLang="en-US" sz="2400"/>
          </a:p>
          <a:p>
            <a:pPr marL="609600" indent="-609600" eaLnBrk="1" hangingPunct="1"/>
            <a:r>
              <a:rPr lang="zh-CN" altLang="en-US" sz="2800"/>
              <a:t>有效的概念发生改变</a:t>
            </a:r>
            <a:endParaRPr lang="zh-CN" altLang="en-US" sz="2800"/>
          </a:p>
          <a:p>
            <a:pPr marL="990600" lvl="1" indent="-533400" eaLnBrk="1" hangingPunct="1"/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a</a:t>
            </a:r>
            <a:r>
              <a:rPr lang="en-US" altLang="zh-CN" sz="2400"/>
              <a:t>]</a:t>
            </a:r>
            <a:r>
              <a:rPr lang="zh-CN" altLang="en-US" sz="2400"/>
              <a:t>对活前缀</a:t>
            </a:r>
            <a:r>
              <a:rPr lang="en-US" altLang="zh-CN" sz="2400">
                <a:latin typeface="Symbol" panose="05050102010706020507" pitchFamily="18" charset="2"/>
              </a:rPr>
              <a:t>g</a:t>
            </a:r>
            <a:r>
              <a:rPr lang="zh-CN" altLang="en-US" sz="2400"/>
              <a:t>有效，仅当存在推导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>
                <a:sym typeface="Symbol" panose="05050102010706020507" pitchFamily="18" charset="2"/>
              </a:rPr>
              <a:t>Aw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da</a:t>
            </a:r>
            <a:r>
              <a:rPr lang="en-US" altLang="zh-CN" sz="2400">
                <a:sym typeface="Symbol" panose="05050102010706020507" pitchFamily="18" charset="2"/>
              </a:rPr>
              <a:t></a:t>
            </a:r>
            <a:r>
              <a:rPr kumimoji="0" lang="en-US" altLang="zh-CN" sz="2400">
                <a:sym typeface="Symbol" panose="05050102010706020507" pitchFamily="18" charset="2"/>
              </a:rPr>
              <a:t>w</a:t>
            </a:r>
            <a:r>
              <a:rPr kumimoji="0" lang="zh-CN" altLang="en-US" sz="2400">
                <a:sym typeface="Symbol" panose="05050102010706020507" pitchFamily="18" charset="2"/>
              </a:rPr>
              <a:t>，其中</a:t>
            </a:r>
            <a:endParaRPr kumimoji="0" lang="zh-CN" altLang="en-US" sz="2400">
              <a:sym typeface="Symbol" panose="05050102010706020507" pitchFamily="18" charset="2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000">
                <a:sym typeface="Symbol" panose="05050102010706020507" pitchFamily="18" charset="2"/>
              </a:rPr>
              <a:t>=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da</a:t>
            </a:r>
            <a:r>
              <a:rPr kumimoji="0" lang="zh-CN" altLang="en-US" sz="2000">
                <a:sym typeface="Symbol" panose="05050102010706020507" pitchFamily="18" charset="2"/>
              </a:rPr>
              <a:t>，且</a:t>
            </a:r>
            <a:endParaRPr kumimoji="0" lang="zh-CN" altLang="en-US" sz="2000">
              <a:sym typeface="Symbol" panose="05050102010706020507" pitchFamily="18" charset="2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 sz="2000">
                <a:sym typeface="Symbol" panose="05050102010706020507" pitchFamily="18" charset="2"/>
              </a:rPr>
              <a:t>a</a:t>
            </a:r>
            <a:r>
              <a:rPr kumimoji="0" lang="zh-CN" altLang="en-US" sz="2000">
                <a:sym typeface="Symbol" panose="05050102010706020507" pitchFamily="18" charset="2"/>
              </a:rPr>
              <a:t>为</a:t>
            </a:r>
            <a:r>
              <a:rPr kumimoji="0" lang="en-US" altLang="zh-CN" sz="2000">
                <a:sym typeface="Symbol" panose="05050102010706020507" pitchFamily="18" charset="2"/>
              </a:rPr>
              <a:t>w</a:t>
            </a:r>
            <a:r>
              <a:rPr kumimoji="0" lang="zh-CN" altLang="en-US" sz="2000">
                <a:sym typeface="Symbol" panose="05050102010706020507" pitchFamily="18" charset="2"/>
              </a:rPr>
              <a:t>的第一个符号，或</a:t>
            </a:r>
            <a:r>
              <a:rPr kumimoji="0" lang="en-US" altLang="zh-CN" sz="2000">
                <a:sym typeface="Symbol" panose="05050102010706020507" pitchFamily="18" charset="2"/>
              </a:rPr>
              <a:t>w</a:t>
            </a:r>
            <a:r>
              <a:rPr kumimoji="0" lang="zh-CN" altLang="en-US" sz="2000">
                <a:sym typeface="Symbol" panose="05050102010706020507" pitchFamily="18" charset="2"/>
              </a:rPr>
              <a:t>为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000">
                <a:sym typeface="Symbol" panose="05050102010706020507" pitchFamily="18" charset="2"/>
              </a:rPr>
              <a:t>且</a:t>
            </a:r>
            <a:r>
              <a:rPr kumimoji="0" lang="en-US" altLang="zh-CN" sz="2000">
                <a:sym typeface="Symbol" panose="05050102010706020507" pitchFamily="18" charset="2"/>
              </a:rPr>
              <a:t>a</a:t>
            </a:r>
            <a:r>
              <a:rPr kumimoji="0" lang="zh-CN" altLang="en-US" sz="2000">
                <a:sym typeface="Symbol" panose="05050102010706020507" pitchFamily="18" charset="2"/>
              </a:rPr>
              <a:t>为</a:t>
            </a:r>
            <a:r>
              <a:rPr kumimoji="0" lang="en-US" altLang="zh-CN" sz="2000">
                <a:sym typeface="Symbol" panose="05050102010706020507" pitchFamily="18" charset="2"/>
              </a:rPr>
              <a:t>$</a:t>
            </a:r>
            <a:endParaRPr kumimoji="0" lang="en-US" altLang="zh-CN" sz="2000">
              <a:sym typeface="Symbol" panose="05050102010706020507" pitchFamily="18" charset="2"/>
            </a:endParaRP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2439988" y="4052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*</a:t>
            </a:r>
            <a:endParaRPr kumimoji="0" lang="en-US" altLang="zh-CN" sz="1800"/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2362200" y="42814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  <a:endParaRPr kumimoji="0" lang="en-US" altLang="zh-CN" sz="1800"/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auto">
          <a:xfrm>
            <a:off x="3219450" y="42814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  <a:endParaRPr kumimoji="0" lang="en-US" altLang="zh-CN" sz="18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4.41</a:t>
            </a:r>
            <a:endParaRPr lang="en-US" altLang="zh-CN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S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BB</a:t>
            </a:r>
            <a:endParaRPr lang="en-US" altLang="zh-CN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BaB | b</a:t>
            </a:r>
            <a:endParaRPr lang="en-US" altLang="zh-CN"/>
          </a:p>
          <a:p>
            <a:pPr eaLnBrk="1" hangingPunct="1"/>
            <a:r>
              <a:rPr lang="zh-CN" altLang="en-US"/>
              <a:t>存在最右推导</a:t>
            </a:r>
            <a:r>
              <a:rPr kumimoji="0" lang="en-US" altLang="zh-CN"/>
              <a:t>S</a:t>
            </a:r>
            <a:r>
              <a:rPr kumimoji="0" lang="en-US" altLang="zh-CN">
                <a:sym typeface="Symbol" panose="05050102010706020507" pitchFamily="18" charset="2"/>
              </a:rPr>
              <a:t>aa</a:t>
            </a:r>
            <a:r>
              <a:rPr kumimoji="0"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>
                <a:sym typeface="Symbol" panose="05050102010706020507" pitchFamily="18" charset="2"/>
              </a:rPr>
              <a:t>abaa</a:t>
            </a:r>
            <a:r>
              <a:rPr kumimoji="0"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aB</a:t>
            </a:r>
            <a:r>
              <a:rPr kumimoji="0" lang="en-US" altLang="zh-CN">
                <a:sym typeface="Symbol" panose="05050102010706020507" pitchFamily="18" charset="2"/>
              </a:rPr>
              <a:t>ab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>
                <a:sym typeface="Symbol" panose="05050102010706020507" pitchFamily="18" charset="2"/>
              </a:rPr>
              <a:t>令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>
                <a:sym typeface="Symbol" panose="05050102010706020507" pitchFamily="18" charset="2"/>
              </a:rPr>
              <a:t>=aaa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>
                <a:sym typeface="Symbol" panose="05050102010706020507" pitchFamily="18" charset="2"/>
              </a:rPr>
              <a:t>=aa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A=B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=a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>
                <a:sym typeface="Symbol" panose="05050102010706020507" pitchFamily="18" charset="2"/>
              </a:rPr>
              <a:t>=B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w=ab</a:t>
            </a:r>
            <a:r>
              <a:rPr kumimoji="0" lang="zh-CN" altLang="en-US">
                <a:sym typeface="Symbol" panose="05050102010706020507" pitchFamily="18" charset="2"/>
              </a:rPr>
              <a:t>，则</a:t>
            </a:r>
            <a:r>
              <a:rPr lang="en-US" altLang="zh-CN"/>
              <a:t>[B</a:t>
            </a:r>
            <a:r>
              <a:rPr lang="en-US" altLang="zh-CN">
                <a:sym typeface="Symbol" panose="05050102010706020507" pitchFamily="18" charset="2"/>
              </a:rPr>
              <a:t>a·B,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a</a:t>
            </a:r>
            <a:r>
              <a:rPr lang="en-US" altLang="zh-CN"/>
              <a:t>]</a:t>
            </a:r>
            <a:r>
              <a:rPr lang="zh-CN" altLang="en-US"/>
              <a:t>对活前缀</a:t>
            </a:r>
            <a:r>
              <a:rPr lang="en-US" altLang="zh-CN"/>
              <a:t>aaa</a:t>
            </a:r>
            <a:r>
              <a:rPr lang="zh-CN" altLang="en-US"/>
              <a:t>有效</a:t>
            </a:r>
            <a:endParaRPr lang="zh-CN" altLang="en-US"/>
          </a:p>
          <a:p>
            <a:pPr eaLnBrk="1" hangingPunct="1"/>
            <a:r>
              <a:rPr lang="zh-CN" altLang="en-US"/>
              <a:t>另存在最右推导</a:t>
            </a:r>
            <a:r>
              <a:rPr kumimoji="0" lang="en-US" altLang="zh-CN"/>
              <a:t>S</a:t>
            </a:r>
            <a:r>
              <a:rPr kumimoji="0" lang="en-US" altLang="zh-CN">
                <a:sym typeface="Symbol" panose="05050102010706020507" pitchFamily="18" charset="2"/>
              </a:rPr>
              <a:t>Ba</a:t>
            </a:r>
            <a:r>
              <a:rPr kumimoji="0"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>
                <a:sym typeface="Symbol" panose="05050102010706020507" pitchFamily="18" charset="2"/>
              </a:rPr>
              <a:t>Ba</a:t>
            </a:r>
            <a:r>
              <a:rPr kumimoji="0"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aB</a:t>
            </a:r>
            <a:endParaRPr kumimoji="0" lang="en-US" altLang="zh-CN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[B</a:t>
            </a:r>
            <a:r>
              <a:rPr lang="en-US" altLang="zh-CN">
                <a:sym typeface="Symbol" panose="05050102010706020507" pitchFamily="18" charset="2"/>
              </a:rPr>
              <a:t>a·B,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/>
              <a:t>]</a:t>
            </a:r>
            <a:r>
              <a:rPr lang="zh-CN" altLang="en-US"/>
              <a:t>对活前缀</a:t>
            </a:r>
            <a:r>
              <a:rPr lang="en-US" altLang="zh-CN"/>
              <a:t>Baa</a:t>
            </a:r>
            <a:r>
              <a:rPr lang="zh-CN" altLang="en-US"/>
              <a:t>是有效的</a:t>
            </a:r>
            <a:endParaRPr lang="zh-CN" altLang="en-US"/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4267200" y="2590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  <a:endParaRPr kumimoji="0" lang="en-US" altLang="zh-CN" sz="2000"/>
          </a:p>
        </p:txBody>
      </p:sp>
      <p:sp>
        <p:nvSpPr>
          <p:cNvPr id="99333" name="Rectangle 5"/>
          <p:cNvSpPr>
            <a:spLocks noChangeArrowheads="1"/>
          </p:cNvSpPr>
          <p:nvPr/>
        </p:nvSpPr>
        <p:spPr bwMode="auto">
          <a:xfrm>
            <a:off x="4189413" y="28035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99334" name="Rectangle 6"/>
          <p:cNvSpPr>
            <a:spLocks noChangeArrowheads="1"/>
          </p:cNvSpPr>
          <p:nvPr/>
        </p:nvSpPr>
        <p:spPr bwMode="auto">
          <a:xfrm>
            <a:off x="5602288" y="28035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99335" name="Rectangle 7"/>
          <p:cNvSpPr>
            <a:spLocks noChangeArrowheads="1"/>
          </p:cNvSpPr>
          <p:nvPr/>
        </p:nvSpPr>
        <p:spPr bwMode="auto">
          <a:xfrm>
            <a:off x="4676775" y="42672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  <a:endParaRPr kumimoji="0" lang="en-US" altLang="zh-CN" sz="2000"/>
          </a:p>
        </p:txBody>
      </p:sp>
      <p:sp>
        <p:nvSpPr>
          <p:cNvPr id="99336" name="Rectangle 8"/>
          <p:cNvSpPr>
            <a:spLocks noChangeArrowheads="1"/>
          </p:cNvSpPr>
          <p:nvPr/>
        </p:nvSpPr>
        <p:spPr bwMode="auto">
          <a:xfrm>
            <a:off x="4598988" y="44799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99337" name="Rectangle 9"/>
          <p:cNvSpPr>
            <a:spLocks noChangeArrowheads="1"/>
          </p:cNvSpPr>
          <p:nvPr/>
        </p:nvSpPr>
        <p:spPr bwMode="auto">
          <a:xfrm>
            <a:off x="5715000" y="44799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</a:t>
            </a:r>
            <a:r>
              <a:rPr lang="en-US" altLang="zh-CN"/>
              <a:t>LR(1)</a:t>
            </a:r>
            <a:r>
              <a:rPr lang="zh-CN" altLang="en-US"/>
              <a:t>项目集规范族</a:t>
            </a:r>
            <a:endParaRPr lang="zh-CN" altLang="en-US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基本方法与</a:t>
            </a:r>
            <a:r>
              <a:rPr lang="en-US" altLang="zh-CN" sz="2800"/>
              <a:t>LR(0)</a:t>
            </a:r>
            <a:r>
              <a:rPr lang="zh-CN" altLang="en-US" sz="2800"/>
              <a:t>项目集规范族构造类似</a:t>
            </a:r>
            <a:endParaRPr lang="zh-CN" altLang="en-US" sz="2800"/>
          </a:p>
          <a:p>
            <a:pPr eaLnBrk="1" hangingPunct="1"/>
            <a:r>
              <a:rPr lang="en-US" altLang="zh-CN" sz="2800"/>
              <a:t>closure</a:t>
            </a:r>
            <a:r>
              <a:rPr lang="zh-CN" altLang="en-US" sz="2800"/>
              <a:t>、</a:t>
            </a:r>
            <a:r>
              <a:rPr lang="en-US" altLang="zh-CN" sz="2800"/>
              <a:t>goto</a:t>
            </a:r>
            <a:r>
              <a:rPr lang="zh-CN" altLang="en-US" sz="2800"/>
              <a:t>的计算有变化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·B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a</a:t>
            </a:r>
            <a:r>
              <a:rPr lang="en-US" altLang="zh-CN" sz="2400"/>
              <a:t>]</a:t>
            </a:r>
            <a:r>
              <a:rPr lang="zh-CN" altLang="en-US" sz="2400"/>
              <a:t>在项目集中，项目集对活前缀</a:t>
            </a:r>
            <a:r>
              <a:rPr lang="en-US" altLang="zh-CN" sz="2400">
                <a:latin typeface="Symbol" panose="05050102010706020507" pitchFamily="18" charset="2"/>
              </a:rPr>
              <a:t>g</a:t>
            </a:r>
            <a:r>
              <a:rPr lang="zh-CN" altLang="en-US" sz="2400"/>
              <a:t>有效，则存在最右推导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ax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400">
                <a:sym typeface="Symbol" panose="05050102010706020507" pitchFamily="18" charset="2"/>
              </a:rPr>
              <a:t>ax</a:t>
            </a:r>
            <a:r>
              <a:rPr lang="zh-CN" altLang="en-US" sz="2400">
                <a:sym typeface="Symbol" panose="05050102010706020507" pitchFamily="18" charset="2"/>
              </a:rPr>
              <a:t>，其中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400">
                <a:sym typeface="Symbol" panose="05050102010706020507" pitchFamily="18" charset="2"/>
              </a:rPr>
              <a:t>=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da</a:t>
            </a:r>
            <a:endParaRPr kumimoji="0" lang="en-US" altLang="zh-CN" sz="24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sz="2400">
                <a:latin typeface="Symbol" panose="05050102010706020507" pitchFamily="18" charset="2"/>
                <a:sym typeface="Symbol" panose="05050102010706020507" pitchFamily="18" charset="2"/>
              </a:rPr>
              <a:t>假定</a:t>
            </a:r>
            <a:r>
              <a:rPr lang="zh-CN" altLang="en-US" sz="2400">
                <a:sym typeface="Symbol" panose="05050102010706020507" pitchFamily="18" charset="2"/>
              </a:rPr>
              <a:t></a:t>
            </a:r>
            <a:r>
              <a:rPr lang="en-US" altLang="zh-CN" sz="2400">
                <a:sym typeface="Symbol" panose="05050102010706020507" pitchFamily="18" charset="2"/>
              </a:rPr>
              <a:t>ax</a:t>
            </a:r>
            <a:r>
              <a:rPr kumimoji="0" lang="en-US" altLang="zh-CN" sz="2400">
                <a:sym typeface="Symbol" panose="05050102010706020507" pitchFamily="18" charset="2"/>
              </a:rPr>
              <a:t>by</a:t>
            </a:r>
            <a:r>
              <a:rPr kumimoji="0" lang="zh-CN" altLang="en-US" sz="2400">
                <a:sym typeface="Symbol" panose="05050102010706020507" pitchFamily="18" charset="2"/>
              </a:rPr>
              <a:t>，则对产生式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zh-CN" altLang="en-US" sz="2400">
                <a:sym typeface="Symbol" panose="05050102010706020507" pitchFamily="18" charset="2"/>
              </a:rPr>
              <a:t>，存在最右推导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4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by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4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en-US" altLang="zh-CN" sz="2400">
                <a:sym typeface="Symbol" panose="05050102010706020507" pitchFamily="18" charset="2"/>
              </a:rPr>
              <a:t>by</a:t>
            </a:r>
            <a:r>
              <a:rPr kumimoji="0" lang="zh-CN" altLang="en-US" sz="2400">
                <a:sym typeface="Symbol" panose="05050102010706020507" pitchFamily="18" charset="2"/>
              </a:rPr>
              <a:t>，则</a:t>
            </a:r>
            <a:r>
              <a:rPr lang="en-US" altLang="zh-CN" sz="2400"/>
              <a:t>[B</a:t>
            </a:r>
            <a:r>
              <a:rPr lang="en-US" altLang="zh-CN" sz="2400">
                <a:sym typeface="Symbol" panose="05050102010706020507" pitchFamily="18" charset="2"/>
              </a:rPr>
              <a:t>·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b</a:t>
            </a:r>
            <a:r>
              <a:rPr lang="en-US" altLang="zh-CN" sz="2400"/>
              <a:t>]</a:t>
            </a:r>
            <a:r>
              <a:rPr lang="zh-CN" altLang="en-US" sz="2400"/>
              <a:t>对</a:t>
            </a:r>
            <a:r>
              <a:rPr lang="en-US" altLang="zh-CN" sz="2400">
                <a:latin typeface="Symbol" panose="05050102010706020507" pitchFamily="18" charset="2"/>
              </a:rPr>
              <a:t>g</a:t>
            </a:r>
            <a:r>
              <a:rPr lang="zh-CN" altLang="en-US" sz="2400"/>
              <a:t>有效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因此，对</a:t>
            </a:r>
            <a:r>
              <a:rPr lang="en-US" altLang="zh-CN" sz="2400"/>
              <a:t>FIRST(</a:t>
            </a:r>
            <a:r>
              <a:rPr lang="en-US" altLang="zh-CN" sz="2400">
                <a:sym typeface="Symbol" panose="05050102010706020507" pitchFamily="18" charset="2"/>
              </a:rPr>
              <a:t>a)</a:t>
            </a:r>
            <a:r>
              <a:rPr lang="zh-CN" altLang="en-US" sz="2400">
                <a:sym typeface="Symbol" panose="05050102010706020507" pitchFamily="18" charset="2"/>
              </a:rPr>
              <a:t>中所有终结符</a:t>
            </a:r>
            <a:r>
              <a:rPr lang="en-US" altLang="zh-CN" sz="2400">
                <a:sym typeface="Symbol" panose="05050102010706020507" pitchFamily="18" charset="2"/>
              </a:rPr>
              <a:t>b</a:t>
            </a:r>
            <a:r>
              <a:rPr lang="zh-CN" altLang="en-US" sz="2400">
                <a:sym typeface="Symbol" panose="05050102010706020507" pitchFamily="18" charset="2"/>
              </a:rPr>
              <a:t>，将</a:t>
            </a:r>
            <a:r>
              <a:rPr lang="en-US" altLang="zh-CN" sz="2400"/>
              <a:t>[B</a:t>
            </a:r>
            <a:r>
              <a:rPr lang="en-US" altLang="zh-CN" sz="2400">
                <a:sym typeface="Symbol" panose="05050102010706020507" pitchFamily="18" charset="2"/>
              </a:rPr>
              <a:t>·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b</a:t>
            </a:r>
            <a:r>
              <a:rPr lang="en-US" altLang="zh-CN" sz="2400"/>
              <a:t>]</a:t>
            </a:r>
            <a:r>
              <a:rPr lang="zh-CN" altLang="en-US" sz="2400"/>
              <a:t>加入项目集</a:t>
            </a:r>
            <a:endParaRPr lang="zh-CN" altLang="en-US" sz="2400"/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4267200" y="2743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*</a:t>
            </a:r>
            <a:endParaRPr kumimoji="0" lang="en-US" altLang="zh-CN" sz="1800"/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4267200" y="2971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  <a:endParaRPr kumimoji="0" lang="en-US" altLang="zh-CN" sz="1800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5181600" y="2971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  <a:endParaRPr kumimoji="0" lang="en-US" altLang="zh-CN" sz="1800"/>
          </a:p>
        </p:txBody>
      </p:sp>
      <p:sp>
        <p:nvSpPr>
          <p:cNvPr id="100359" name="Rectangle 7"/>
          <p:cNvSpPr>
            <a:spLocks noChangeArrowheads="1"/>
          </p:cNvSpPr>
          <p:nvPr/>
        </p:nvSpPr>
        <p:spPr bwMode="auto">
          <a:xfrm>
            <a:off x="3048000" y="3200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*</a:t>
            </a:r>
            <a:endParaRPr kumimoji="0" lang="en-US" altLang="zh-CN" sz="1800"/>
          </a:p>
        </p:txBody>
      </p:sp>
      <p:sp>
        <p:nvSpPr>
          <p:cNvPr id="100360" name="Rectangle 8"/>
          <p:cNvSpPr>
            <a:spLocks noChangeArrowheads="1"/>
          </p:cNvSpPr>
          <p:nvPr/>
        </p:nvSpPr>
        <p:spPr bwMode="auto">
          <a:xfrm>
            <a:off x="2990850" y="3367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  <a:endParaRPr kumimoji="0" lang="en-US" altLang="zh-CN" sz="1800"/>
          </a:p>
        </p:txBody>
      </p:sp>
      <p:sp>
        <p:nvSpPr>
          <p:cNvPr id="100361" name="Rectangle 9"/>
          <p:cNvSpPr>
            <a:spLocks noChangeArrowheads="1"/>
          </p:cNvSpPr>
          <p:nvPr/>
        </p:nvSpPr>
        <p:spPr bwMode="auto">
          <a:xfrm>
            <a:off x="2203450" y="3519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*</a:t>
            </a:r>
            <a:endParaRPr kumimoji="0" lang="en-US" altLang="zh-CN" sz="1800"/>
          </a:p>
        </p:txBody>
      </p:sp>
      <p:sp>
        <p:nvSpPr>
          <p:cNvPr id="100362" name="Rectangle 10"/>
          <p:cNvSpPr>
            <a:spLocks noChangeArrowheads="1"/>
          </p:cNvSpPr>
          <p:nvPr/>
        </p:nvSpPr>
        <p:spPr bwMode="auto">
          <a:xfrm>
            <a:off x="2133600" y="3748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  <a:endParaRPr kumimoji="0" lang="en-US" altLang="zh-CN" sz="1800"/>
          </a:p>
        </p:txBody>
      </p:sp>
      <p:sp>
        <p:nvSpPr>
          <p:cNvPr id="100363" name="Rectangle 11"/>
          <p:cNvSpPr>
            <a:spLocks noChangeArrowheads="1"/>
          </p:cNvSpPr>
          <p:nvPr/>
        </p:nvSpPr>
        <p:spPr bwMode="auto">
          <a:xfrm>
            <a:off x="3048000" y="3748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  <a:endParaRPr kumimoji="0" lang="en-US" altLang="zh-CN" sz="18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8153400" cy="1143000"/>
          </a:xfrm>
        </p:spPr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4.9 </a:t>
            </a:r>
            <a:r>
              <a:rPr lang="zh-CN" altLang="en-US"/>
              <a:t>构造</a:t>
            </a:r>
            <a:r>
              <a:rPr lang="en-US" altLang="zh-CN"/>
              <a:t>LR(1)</a:t>
            </a:r>
            <a:r>
              <a:rPr lang="zh-CN" altLang="en-US"/>
              <a:t>项目集规范族</a:t>
            </a:r>
            <a:endParaRPr lang="zh-CN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输入：一个拓广文法</a:t>
            </a:r>
            <a:r>
              <a:rPr lang="en-US" altLang="zh-CN" sz="2400"/>
              <a:t>G’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</a:t>
            </a:r>
            <a:r>
              <a:rPr lang="en-US" altLang="zh-CN" sz="2400"/>
              <a:t>LR(1)</a:t>
            </a:r>
            <a:r>
              <a:rPr lang="zh-CN" altLang="en-US" sz="2400"/>
              <a:t>项目集规范族，项目集对</a:t>
            </a:r>
            <a:r>
              <a:rPr lang="en-US" altLang="zh-CN" sz="2400"/>
              <a:t>G’</a:t>
            </a:r>
            <a:r>
              <a:rPr lang="zh-CN" altLang="en-US" sz="2400"/>
              <a:t>的一个或多个活前缀有效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function </a:t>
            </a:r>
            <a:r>
              <a:rPr lang="en-US" altLang="zh-CN" sz="2000"/>
              <a:t>closure(I)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repeat</a:t>
            </a:r>
            <a:endParaRPr lang="en-US" altLang="zh-CN" sz="20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		for </a:t>
            </a:r>
            <a:r>
              <a:rPr lang="en-US" altLang="zh-CN" sz="2000"/>
              <a:t>I</a:t>
            </a:r>
            <a:r>
              <a:rPr lang="zh-CN" altLang="en-US" sz="2000"/>
              <a:t>中每个项目</a:t>
            </a:r>
            <a:r>
              <a:rPr lang="en-US" altLang="zh-CN" sz="2000"/>
              <a:t>[A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000">
                <a:sym typeface="Symbol" panose="05050102010706020507" pitchFamily="18" charset="2"/>
              </a:rPr>
              <a:t>·B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a</a:t>
            </a:r>
            <a:r>
              <a:rPr lang="en-US" altLang="zh-CN" sz="2000"/>
              <a:t>]</a:t>
            </a:r>
            <a:r>
              <a:rPr lang="zh-CN" altLang="en-US" sz="2000"/>
              <a:t>，</a:t>
            </a:r>
            <a:r>
              <a:rPr lang="en-US" altLang="zh-CN" sz="2000"/>
              <a:t>G’</a:t>
            </a:r>
            <a:r>
              <a:rPr lang="zh-CN" altLang="en-US" sz="2000"/>
              <a:t>中每个产生式</a:t>
            </a:r>
            <a:r>
              <a:rPr kumimoji="0" lang="en-US" altLang="zh-CN" sz="2000"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zh-CN" altLang="en-US" sz="2000">
                <a:latin typeface="Symbol" panose="05050102010706020507" pitchFamily="18" charset="2"/>
                <a:sym typeface="Symbol" panose="05050102010706020507" pitchFamily="18" charset="2"/>
              </a:rPr>
              <a:t>，</a:t>
            </a:r>
            <a:br>
              <a:rPr lang="zh-CN" altLang="en-US" sz="2000">
                <a:latin typeface="Symbol" panose="05050102010706020507" pitchFamily="18" charset="2"/>
                <a:sym typeface="Symbol" panose="05050102010706020507" pitchFamily="18" charset="2"/>
              </a:rPr>
            </a:br>
            <a:r>
              <a:rPr lang="zh-CN" altLang="en-US" sz="2000">
                <a:latin typeface="Symbol" panose="05050102010706020507" pitchFamily="18" charset="2"/>
                <a:sym typeface="Symbol" panose="05050102010706020507" pitchFamily="18" charset="2"/>
              </a:rPr>
              <a:t>			</a:t>
            </a:r>
            <a:r>
              <a:rPr lang="zh-CN" altLang="en-US" sz="2000">
                <a:sym typeface="Symbol" panose="05050102010706020507" pitchFamily="18" charset="2"/>
              </a:rPr>
              <a:t>和</a:t>
            </a:r>
            <a:r>
              <a:rPr lang="en-US" altLang="zh-CN" sz="2000">
                <a:sym typeface="Symbol" panose="05050102010706020507" pitchFamily="18" charset="2"/>
              </a:rPr>
              <a:t>FIRST(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a)</a:t>
            </a:r>
            <a:r>
              <a:rPr lang="zh-CN" altLang="en-US" sz="2000">
                <a:sym typeface="Symbol" panose="05050102010706020507" pitchFamily="18" charset="2"/>
              </a:rPr>
              <a:t>中每个终结符</a:t>
            </a:r>
            <a:r>
              <a:rPr lang="en-US" altLang="zh-CN" sz="2000">
                <a:sym typeface="Symbol" panose="05050102010706020507" pitchFamily="18" charset="2"/>
              </a:rPr>
              <a:t>b</a:t>
            </a:r>
            <a:r>
              <a:rPr lang="zh-CN" altLang="en-US" sz="2000">
                <a:sym typeface="Symbol" panose="05050102010706020507" pitchFamily="18" charset="2"/>
              </a:rPr>
              <a:t>，</a:t>
            </a:r>
            <a:br>
              <a:rPr lang="zh-CN" altLang="en-US" sz="2000">
                <a:sym typeface="Symbol" panose="05050102010706020507" pitchFamily="18" charset="2"/>
              </a:rPr>
            </a:br>
            <a:r>
              <a:rPr lang="zh-CN" altLang="en-US" sz="2000">
                <a:sym typeface="Symbol" panose="05050102010706020507" pitchFamily="18" charset="2"/>
              </a:rPr>
              <a:t>		若</a:t>
            </a:r>
            <a:r>
              <a:rPr lang="en-US" altLang="zh-CN" sz="2000"/>
              <a:t>[B</a:t>
            </a:r>
            <a:r>
              <a:rPr lang="en-US" altLang="zh-CN" sz="2000">
                <a:sym typeface="Symbol" panose="05050102010706020507" pitchFamily="18" charset="2"/>
              </a:rPr>
              <a:t>·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b</a:t>
            </a:r>
            <a:r>
              <a:rPr lang="en-US" altLang="zh-CN" sz="2000"/>
              <a:t>]</a:t>
            </a:r>
            <a:r>
              <a:rPr lang="zh-CN" altLang="en-US" sz="2000"/>
              <a:t>不在</a:t>
            </a:r>
            <a:r>
              <a:rPr lang="en-US" altLang="zh-CN" sz="2000"/>
              <a:t>I</a:t>
            </a:r>
            <a:r>
              <a:rPr lang="zh-CN" altLang="en-US" sz="2000"/>
              <a:t>中</a:t>
            </a:r>
            <a:endParaRPr lang="zh-CN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				将</a:t>
            </a:r>
            <a:r>
              <a:rPr lang="en-US" altLang="zh-CN" sz="2000"/>
              <a:t>[B</a:t>
            </a:r>
            <a:r>
              <a:rPr lang="en-US" altLang="zh-CN" sz="2000">
                <a:sym typeface="Symbol" panose="05050102010706020507" pitchFamily="18" charset="2"/>
              </a:rPr>
              <a:t>·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b</a:t>
            </a:r>
            <a:r>
              <a:rPr lang="en-US" altLang="zh-CN" sz="2000"/>
              <a:t>]</a:t>
            </a:r>
            <a:r>
              <a:rPr lang="zh-CN" altLang="en-US" sz="2000"/>
              <a:t>加入</a:t>
            </a:r>
            <a:r>
              <a:rPr lang="en-US" altLang="zh-CN" sz="2000"/>
              <a:t>I;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until </a:t>
            </a:r>
            <a:r>
              <a:rPr lang="zh-CN" altLang="en-US" sz="2000"/>
              <a:t>没有新的项目加入</a:t>
            </a:r>
            <a:r>
              <a:rPr lang="en-US" altLang="zh-CN" sz="2000"/>
              <a:t>I;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return I;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0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4.9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5638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function </a:t>
            </a:r>
            <a:r>
              <a:rPr lang="en-US" altLang="zh-CN" sz="2000"/>
              <a:t>goto(I, X)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zh-CN" altLang="en-US" sz="2000"/>
              <a:t>令</a:t>
            </a:r>
            <a:r>
              <a:rPr lang="en-US" altLang="zh-CN" sz="2000"/>
              <a:t>J</a:t>
            </a:r>
            <a:r>
              <a:rPr lang="zh-CN" altLang="en-US" sz="2000"/>
              <a:t>为项目</a:t>
            </a:r>
            <a:r>
              <a:rPr lang="en-US" altLang="zh-CN" sz="2000"/>
              <a:t>[A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000">
                <a:sym typeface="Symbol" panose="05050102010706020507" pitchFamily="18" charset="2"/>
              </a:rPr>
              <a:t>X·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a</a:t>
            </a:r>
            <a:r>
              <a:rPr lang="en-US" altLang="zh-CN" sz="2000"/>
              <a:t>]</a:t>
            </a:r>
            <a:r>
              <a:rPr lang="zh-CN" altLang="en-US" sz="2000"/>
              <a:t>的集合，</a:t>
            </a:r>
            <a:r>
              <a:rPr lang="zh-CN" altLang="en-US" sz="2000">
                <a:sym typeface="Symbol" panose="05050102010706020507" pitchFamily="18" charset="2"/>
              </a:rPr>
              <a:t>其中</a:t>
            </a:r>
            <a:r>
              <a:rPr lang="en-US" altLang="zh-CN" sz="2000"/>
              <a:t>[A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000">
                <a:sym typeface="Symbol" panose="05050102010706020507" pitchFamily="18" charset="2"/>
              </a:rPr>
              <a:t>·X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a</a:t>
            </a:r>
            <a:r>
              <a:rPr lang="en-US" altLang="zh-CN" sz="2000"/>
              <a:t>]</a:t>
            </a:r>
            <a:r>
              <a:rPr lang="zh-CN" altLang="en-US" sz="2000">
                <a:sym typeface="Symbol" panose="05050102010706020507" pitchFamily="18" charset="2"/>
              </a:rPr>
              <a:t>在</a:t>
            </a:r>
            <a:r>
              <a:rPr lang="en-US" altLang="zh-CN" sz="2000"/>
              <a:t>I</a:t>
            </a:r>
            <a:r>
              <a:rPr lang="zh-CN" altLang="en-US" sz="2000"/>
              <a:t>中</a:t>
            </a:r>
            <a:endParaRPr lang="zh-CN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return closure(J);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function </a:t>
            </a:r>
            <a:r>
              <a:rPr lang="en-US" altLang="zh-CN" sz="2000"/>
              <a:t>items(G’)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C = {closure({[S’</a:t>
            </a:r>
            <a:r>
              <a:rPr lang="en-US" altLang="zh-CN" sz="2000">
                <a:sym typeface="Symbol" panose="05050102010706020507" pitchFamily="18" charset="2"/>
              </a:rPr>
              <a:t>·S,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$</a:t>
            </a:r>
            <a:r>
              <a:rPr lang="en-US" altLang="zh-CN" sz="2000"/>
              <a:t>]})};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repeat</a:t>
            </a:r>
            <a:endParaRPr lang="en-US" altLang="zh-CN" sz="20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for</a:t>
            </a:r>
            <a:r>
              <a:rPr lang="en-US" altLang="zh-CN" sz="2000"/>
              <a:t> C</a:t>
            </a:r>
            <a:r>
              <a:rPr lang="zh-CN" altLang="en-US" sz="2000"/>
              <a:t>中每个项目集</a:t>
            </a:r>
            <a:r>
              <a:rPr lang="en-US" altLang="zh-CN" sz="2000"/>
              <a:t>I</a:t>
            </a:r>
            <a:r>
              <a:rPr lang="zh-CN" altLang="en-US" sz="2000"/>
              <a:t>，每个文法符号</a:t>
            </a:r>
            <a:r>
              <a:rPr lang="en-US" altLang="zh-CN" sz="2000"/>
              <a:t>X</a:t>
            </a:r>
            <a:r>
              <a:rPr lang="zh-CN" altLang="en-US" sz="2000"/>
              <a:t>，</a:t>
            </a:r>
            <a:r>
              <a:rPr lang="en-US" altLang="zh-CN" sz="2000"/>
              <a:t>goto(I, X)	      </a:t>
            </a:r>
            <a:r>
              <a:rPr lang="zh-CN" altLang="en-US" sz="2000"/>
              <a:t>不空且不在</a:t>
            </a:r>
            <a:r>
              <a:rPr lang="en-US" altLang="zh-CN" sz="2000"/>
              <a:t>C</a:t>
            </a:r>
            <a:r>
              <a:rPr lang="zh-CN" altLang="en-US" sz="2000"/>
              <a:t>中</a:t>
            </a:r>
            <a:endParaRPr lang="zh-CN" altLang="en-US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			将</a:t>
            </a:r>
            <a:r>
              <a:rPr lang="en-US" altLang="zh-CN" sz="2000"/>
              <a:t>goto(I, X)</a:t>
            </a:r>
            <a:r>
              <a:rPr lang="zh-CN" altLang="en-US" sz="2000"/>
              <a:t>加入</a:t>
            </a:r>
            <a:r>
              <a:rPr lang="en-US" altLang="zh-CN" sz="2000"/>
              <a:t>C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until</a:t>
            </a:r>
            <a:r>
              <a:rPr lang="en-US" altLang="zh-CN" sz="2000"/>
              <a:t> </a:t>
            </a:r>
            <a:r>
              <a:rPr lang="zh-CN" altLang="en-US" sz="2000"/>
              <a:t>没有新的项目集加入</a:t>
            </a:r>
            <a:r>
              <a:rPr lang="en-US" altLang="zh-CN" sz="2000"/>
              <a:t>C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0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endParaRPr lang="en-US" altLang="zh-CN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S’ </a:t>
            </a:r>
            <a:r>
              <a:rPr lang="en-US" altLang="zh-CN" sz="2400">
                <a:sym typeface="Symbol" panose="05050102010706020507" pitchFamily="18" charset="2"/>
              </a:rPr>
              <a:t> S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S  CC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C  cC | d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 = closure({[S’·S, $]}) = {[S’·S, $],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	[S ·CC, $], [C ·cC, c/d], [C ·d, c/d]}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, S)={[S’S·, $]}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, C)={[S C·C, $], [C ·cC, $], [C ·d, $]}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, c)={[C c·C, c/d] , [C ·cC, c/d], [C ·d, c/d]}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ltGray">
          <a:xfrm>
            <a:off x="4356100" y="1341438"/>
            <a:ext cx="36004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FIRST(S) = FIRST(C) = {c, d}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FOLLOW(S)={$}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FOLLOW(C)={$,c,d}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4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, d)={[C d·, c/d]}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5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, C)={[S CC·, $]}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, c)={[C c·C, $], [C ·cC, $], [C ·d, $]}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7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, d)={[C d·, $]}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8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, C)={[C cC·, c/d]}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goto(I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, c)=I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, goto(I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, d)=I</a:t>
            </a:r>
            <a:r>
              <a:rPr lang="en-US" altLang="zh-CN" sz="2400" baseline="-25000">
                <a:sym typeface="Symbol" panose="05050102010706020507" pitchFamily="18" charset="2"/>
              </a:rPr>
              <a:t>4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9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, C)={[C cC·, $]}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goto(I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, c)=I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, goto(I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, d)=I</a:t>
            </a:r>
            <a:r>
              <a:rPr lang="en-US" altLang="zh-CN" sz="2400" baseline="-25000">
                <a:sym typeface="Symbol" panose="05050102010706020507" pitchFamily="18" charset="2"/>
              </a:rPr>
              <a:t>7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/>
          </a:p>
        </p:txBody>
      </p:sp>
      <p:pic>
        <p:nvPicPr>
          <p:cNvPr id="105476" name="Picture 6" descr="cl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295400"/>
            <a:ext cx="5815012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7" name="Text Box 8"/>
          <p:cNvSpPr txBox="1">
            <a:spLocks noChangeArrowheads="1"/>
          </p:cNvSpPr>
          <p:nvPr/>
        </p:nvSpPr>
        <p:spPr bwMode="ltGray">
          <a:xfrm>
            <a:off x="6705600" y="3657600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这里为什么是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$</a:t>
            </a:r>
            <a:endParaRPr lang="en-US" altLang="zh-CN" sz="20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05478" name="Line 9"/>
          <p:cNvSpPr>
            <a:spLocks noChangeShapeType="1"/>
          </p:cNvSpPr>
          <p:nvPr/>
        </p:nvSpPr>
        <p:spPr bwMode="ltGray">
          <a:xfrm flipH="1" flipV="1">
            <a:off x="6400800" y="3733800"/>
            <a:ext cx="533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9" name="Line 13"/>
          <p:cNvSpPr>
            <a:spLocks noChangeShapeType="1"/>
          </p:cNvSpPr>
          <p:nvPr/>
        </p:nvSpPr>
        <p:spPr bwMode="ltGray">
          <a:xfrm flipH="1">
            <a:off x="4876800" y="3886200"/>
            <a:ext cx="19812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0" name="Text Box 14"/>
          <p:cNvSpPr txBox="1">
            <a:spLocks noChangeArrowheads="1"/>
          </p:cNvSpPr>
          <p:nvPr/>
        </p:nvSpPr>
        <p:spPr bwMode="ltGray">
          <a:xfrm>
            <a:off x="5015442" y="5304472"/>
            <a:ext cx="392853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要向“前”看</a:t>
            </a:r>
            <a:b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</a:b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上面项目里的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来自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S-&gt;CC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的第二个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，后面只可能跟随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$</a:t>
            </a:r>
            <a:b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</a:b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下面的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来自来自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S-&gt;CC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的第一个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，只会跟随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d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FIRST(C)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）</a:t>
            </a:r>
            <a:endParaRPr lang="en-US" altLang="zh-CN" sz="18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05481" name="Line 15"/>
          <p:cNvSpPr>
            <a:spLocks noChangeShapeType="1"/>
          </p:cNvSpPr>
          <p:nvPr/>
        </p:nvSpPr>
        <p:spPr bwMode="ltGray">
          <a:xfrm flipH="1">
            <a:off x="4876800" y="4403725"/>
            <a:ext cx="1219200" cy="10064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2" name="Line 16"/>
          <p:cNvSpPr>
            <a:spLocks noChangeShapeType="1"/>
          </p:cNvSpPr>
          <p:nvPr/>
        </p:nvSpPr>
        <p:spPr bwMode="ltGray">
          <a:xfrm flipH="1">
            <a:off x="3352800" y="4403725"/>
            <a:ext cx="2601912" cy="1920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83300" y="4169847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这里又为什么是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c/d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/>
      <p:bldP spid="105478" grpId="0" animBg="1"/>
      <p:bldP spid="105479" grpId="0" animBg="1"/>
      <p:bldP spid="105480" grpId="0"/>
      <p:bldP spid="105481" grpId="0" animBg="1"/>
      <p:bldP spid="105482" grpId="0" animBg="1"/>
      <p:bldP spid="1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4.10 </a:t>
            </a:r>
            <a:r>
              <a:rPr lang="zh-CN" altLang="en-US"/>
              <a:t>规范</a:t>
            </a:r>
            <a:r>
              <a:rPr lang="en-US" altLang="zh-CN"/>
              <a:t>LR</a:t>
            </a:r>
            <a:r>
              <a:rPr lang="zh-CN" altLang="en-US"/>
              <a:t>分析表的构造</a:t>
            </a:r>
            <a:endParaRPr lang="zh-CN" alt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输入：一个拓广文法</a:t>
            </a:r>
            <a:r>
              <a:rPr lang="en-US" altLang="zh-CN" sz="2400"/>
              <a:t>G’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</a:t>
            </a:r>
            <a:r>
              <a:rPr lang="en-US" altLang="zh-CN" sz="2400"/>
              <a:t>G’</a:t>
            </a:r>
            <a:r>
              <a:rPr lang="zh-CN" altLang="en-US" sz="2400"/>
              <a:t>的规范</a:t>
            </a:r>
            <a:r>
              <a:rPr lang="en-US" altLang="zh-CN" sz="2400"/>
              <a:t>LR</a:t>
            </a:r>
            <a:r>
              <a:rPr lang="zh-CN" altLang="en-US" sz="2400"/>
              <a:t>分析表，函数</a:t>
            </a:r>
            <a:r>
              <a:rPr lang="en-US" altLang="zh-CN" sz="2400"/>
              <a:t>action</a:t>
            </a:r>
            <a:r>
              <a:rPr lang="zh-CN" altLang="en-US" sz="2400"/>
              <a:t>和</a:t>
            </a:r>
            <a:r>
              <a:rPr lang="en-US" altLang="zh-CN" sz="2400"/>
              <a:t>goto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  <a:endParaRPr lang="zh-CN" altLang="en-US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构造</a:t>
            </a:r>
            <a:r>
              <a:rPr lang="en-US" altLang="zh-CN" sz="2400"/>
              <a:t>LR(1)</a:t>
            </a:r>
            <a:r>
              <a:rPr lang="zh-CN" altLang="en-US" sz="2400"/>
              <a:t>项目集规范族</a:t>
            </a:r>
            <a:r>
              <a:rPr lang="en-US" altLang="zh-CN" sz="2400"/>
              <a:t>C={I</a:t>
            </a:r>
            <a:r>
              <a:rPr lang="en-US" altLang="zh-CN" sz="2400" baseline="-25000"/>
              <a:t>0</a:t>
            </a:r>
            <a:r>
              <a:rPr lang="en-US" altLang="zh-CN" sz="2400"/>
              <a:t>, I</a:t>
            </a:r>
            <a:r>
              <a:rPr lang="en-US" altLang="zh-CN" sz="2400" baseline="-25000"/>
              <a:t>1</a:t>
            </a:r>
            <a:r>
              <a:rPr lang="en-US" altLang="zh-CN" sz="2400"/>
              <a:t>, …, I</a:t>
            </a:r>
            <a:r>
              <a:rPr lang="en-US" altLang="zh-CN" sz="2400" baseline="-25000"/>
              <a:t>n</a:t>
            </a:r>
            <a:r>
              <a:rPr lang="en-US" altLang="zh-CN" sz="2400"/>
              <a:t>}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由</a:t>
            </a:r>
            <a:r>
              <a:rPr lang="en-US" altLang="zh-CN" sz="2400"/>
              <a:t>I</a:t>
            </a:r>
            <a:r>
              <a:rPr lang="en-US" altLang="zh-CN" sz="2400" baseline="-25000"/>
              <a:t>i</a:t>
            </a:r>
            <a:r>
              <a:rPr lang="zh-CN" altLang="en-US" sz="2400"/>
              <a:t>构造状态</a:t>
            </a:r>
            <a:r>
              <a:rPr lang="en-US" altLang="zh-CN" sz="2400"/>
              <a:t>i</a:t>
            </a:r>
            <a:r>
              <a:rPr lang="zh-CN" altLang="en-US" sz="2400"/>
              <a:t>：</a:t>
            </a:r>
            <a:endParaRPr lang="zh-CN" altLang="en-US" sz="2400"/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/>
              <a:t>若</a:t>
            </a:r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·a, b</a:t>
            </a:r>
            <a:r>
              <a:rPr lang="en-US" altLang="zh-CN" sz="2400"/>
              <a:t>]</a:t>
            </a:r>
            <a:r>
              <a:rPr lang="zh-CN" altLang="en-US" sz="2400"/>
              <a:t>在</a:t>
            </a:r>
            <a:r>
              <a:rPr lang="en-US" altLang="zh-CN" sz="2400"/>
              <a:t>I</a:t>
            </a:r>
            <a:r>
              <a:rPr lang="en-US" altLang="zh-CN" sz="2400" baseline="-25000"/>
              <a:t>i</a:t>
            </a:r>
            <a:r>
              <a:rPr lang="zh-CN" altLang="en-US" sz="2400"/>
              <a:t>中，且</a:t>
            </a:r>
            <a:r>
              <a:rPr lang="en-US" altLang="zh-CN" sz="2400"/>
              <a:t>goto(I</a:t>
            </a:r>
            <a:r>
              <a:rPr lang="en-US" altLang="zh-CN" sz="2400" baseline="-25000"/>
              <a:t>i</a:t>
            </a:r>
            <a:r>
              <a:rPr lang="en-US" altLang="zh-CN" sz="2400"/>
              <a:t>, a)=I</a:t>
            </a:r>
            <a:r>
              <a:rPr lang="en-US" altLang="zh-CN" sz="2400" baseline="-25000"/>
              <a:t>j</a:t>
            </a:r>
            <a:r>
              <a:rPr lang="zh-CN" altLang="en-US" sz="2400"/>
              <a:t>，令</a:t>
            </a:r>
            <a:r>
              <a:rPr lang="en-US" altLang="zh-CN" sz="2400"/>
              <a:t>action[i, a]=“</a:t>
            </a:r>
            <a:r>
              <a:rPr lang="zh-CN" altLang="en-US" sz="2400"/>
              <a:t>移进</a:t>
            </a:r>
            <a:r>
              <a:rPr lang="en-US" altLang="zh-CN" sz="2400"/>
              <a:t>j”</a:t>
            </a:r>
            <a:r>
              <a:rPr lang="zh-CN" altLang="en-US" sz="2400"/>
              <a:t>，此处</a:t>
            </a:r>
            <a:r>
              <a:rPr lang="en-US" altLang="zh-CN" sz="2400"/>
              <a:t>a</a:t>
            </a:r>
            <a:r>
              <a:rPr lang="zh-CN" altLang="en-US" sz="2400"/>
              <a:t>为终结符</a:t>
            </a:r>
            <a:endParaRPr lang="zh-CN" altLang="en-US" sz="2400"/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/>
              <a:t>若</a:t>
            </a:r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·, a</a:t>
            </a:r>
            <a:r>
              <a:rPr lang="en-US" altLang="zh-CN" sz="2400"/>
              <a:t>]</a:t>
            </a:r>
            <a:r>
              <a:rPr lang="zh-CN" altLang="en-US" sz="2400"/>
              <a:t>在</a:t>
            </a:r>
            <a:r>
              <a:rPr lang="en-US" altLang="zh-CN" sz="2400"/>
              <a:t>I</a:t>
            </a:r>
            <a:r>
              <a:rPr lang="en-US" altLang="zh-CN" sz="2400" baseline="-25000"/>
              <a:t>i</a:t>
            </a:r>
            <a:r>
              <a:rPr lang="zh-CN" altLang="en-US" sz="2400"/>
              <a:t>中，</a:t>
            </a:r>
            <a:r>
              <a:rPr lang="en-US" altLang="zh-CN" sz="2400"/>
              <a:t>A</a:t>
            </a:r>
            <a:r>
              <a:rPr lang="en-US" altLang="zh-CN" sz="2400">
                <a:ea typeface="Arial Unicode MS" pitchFamily="34" charset="-122"/>
              </a:rPr>
              <a:t>≠</a:t>
            </a:r>
            <a:r>
              <a:rPr lang="en-US" altLang="zh-CN" sz="2400"/>
              <a:t>S’</a:t>
            </a:r>
            <a:r>
              <a:rPr lang="zh-CN" altLang="en-US" sz="2400"/>
              <a:t>，则令</a:t>
            </a:r>
            <a:br>
              <a:rPr lang="zh-CN" altLang="en-US" sz="2400"/>
            </a:br>
            <a:r>
              <a:rPr lang="en-US" altLang="zh-CN" sz="2400"/>
              <a:t>action[i, a] = “</a:t>
            </a:r>
            <a:r>
              <a:rPr lang="zh-CN" altLang="en-US" sz="2400"/>
              <a:t>归约</a:t>
            </a:r>
            <a:r>
              <a:rPr lang="en-US" altLang="zh-CN" sz="2400"/>
              <a:t>A</a:t>
            </a:r>
            <a:r>
              <a:rPr lang="en-US" altLang="zh-CN" sz="2400">
                <a:sym typeface="Symbol" panose="05050102010706020507" pitchFamily="18" charset="2"/>
              </a:rPr>
              <a:t>”</a:t>
            </a:r>
            <a:endParaRPr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4.10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>
              <a:buFont typeface="Wingdings" panose="05000000000000000000" pitchFamily="2" charset="2"/>
              <a:buAutoNum type="alphaLcParenR" startAt="3"/>
            </a:pPr>
            <a:r>
              <a:rPr lang="zh-CN" altLang="en-US" dirty="0"/>
              <a:t>若</a:t>
            </a:r>
            <a:r>
              <a:rPr lang="en-US" altLang="zh-CN" dirty="0"/>
              <a:t>[S’</a:t>
            </a:r>
            <a:r>
              <a:rPr lang="en-US" altLang="zh-CN" dirty="0">
                <a:sym typeface="Symbol" panose="05050102010706020507" pitchFamily="18" charset="2"/>
              </a:rPr>
              <a:t>S· , $</a:t>
            </a:r>
            <a:r>
              <a:rPr lang="en-US" altLang="zh-CN" dirty="0"/>
              <a:t>]</a:t>
            </a:r>
            <a:r>
              <a:rPr lang="zh-CN" altLang="en-US" dirty="0"/>
              <a:t>在</a:t>
            </a:r>
            <a:r>
              <a:rPr lang="en-US" altLang="zh-CN" dirty="0"/>
              <a:t>I</a:t>
            </a:r>
            <a:r>
              <a:rPr lang="en-US" altLang="zh-CN" baseline="-25000" dirty="0"/>
              <a:t>i</a:t>
            </a:r>
            <a:r>
              <a:rPr lang="zh-CN" altLang="en-US" dirty="0"/>
              <a:t>中，则令</a:t>
            </a:r>
            <a:br>
              <a:rPr lang="zh-CN" altLang="en-US" dirty="0"/>
            </a:br>
            <a:r>
              <a:rPr lang="en-US" altLang="zh-CN" dirty="0"/>
              <a:t>action[</a:t>
            </a:r>
            <a:r>
              <a:rPr lang="en-US" altLang="zh-CN" dirty="0" err="1"/>
              <a:t>i</a:t>
            </a:r>
            <a:r>
              <a:rPr lang="en-US" altLang="zh-CN" dirty="0"/>
              <a:t>, $] = </a:t>
            </a:r>
            <a:r>
              <a:rPr lang="zh-CN" altLang="en-US" dirty="0"/>
              <a:t>“接受</a:t>
            </a:r>
            <a:r>
              <a:rPr lang="zh-CN" altLang="en-US" dirty="0">
                <a:sym typeface="Symbol" panose="05050102010706020507" pitchFamily="18" charset="2"/>
              </a:rPr>
              <a:t>”</a:t>
            </a:r>
            <a:endParaRPr lang="zh-CN" altLang="en-US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Symbol" panose="05050102010706020507" pitchFamily="18" charset="2"/>
              </a:rPr>
              <a:t>若</a:t>
            </a:r>
            <a:r>
              <a:rPr lang="en-US" altLang="zh-CN" dirty="0" err="1">
                <a:sym typeface="Symbol" panose="05050102010706020507" pitchFamily="18" charset="2"/>
              </a:rPr>
              <a:t>goto</a:t>
            </a:r>
            <a:r>
              <a:rPr lang="en-US" altLang="zh-CN" dirty="0">
                <a:sym typeface="Symbol" panose="05050102010706020507" pitchFamily="18" charset="2"/>
              </a:rPr>
              <a:t>(I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A)=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  <a:r>
              <a:rPr lang="en-US" altLang="zh-CN" dirty="0" err="1">
                <a:sym typeface="Symbol" panose="05050102010706020507" pitchFamily="18" charset="2"/>
              </a:rPr>
              <a:t>goto</a:t>
            </a:r>
            <a:r>
              <a:rPr lang="en-US" altLang="zh-CN" dirty="0">
                <a:sym typeface="Symbol" panose="05050102010706020507" pitchFamily="18" charset="2"/>
              </a:rPr>
              <a:t>[I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A]=j</a:t>
            </a:r>
            <a:endParaRPr lang="en-US" altLang="zh-CN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Symbol" panose="05050102010706020507" pitchFamily="18" charset="2"/>
              </a:rPr>
              <a:t>所有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、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未定义的项为错误项</a:t>
            </a:r>
            <a:endParaRPr lang="zh-CN" altLang="en-US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Symbol" panose="05050102010706020507" pitchFamily="18" charset="2"/>
              </a:rPr>
              <a:t>分析器的初态设定为</a:t>
            </a:r>
            <a:r>
              <a:rPr lang="en-US" altLang="zh-CN" dirty="0"/>
              <a:t>[S’</a:t>
            </a:r>
            <a:r>
              <a:rPr lang="en-US" altLang="zh-CN" dirty="0">
                <a:sym typeface="Symbol" panose="05050102010706020507" pitchFamily="18" charset="2"/>
              </a:rPr>
              <a:t>·S , $</a:t>
            </a:r>
            <a:r>
              <a:rPr lang="en-US" altLang="zh-CN" dirty="0"/>
              <a:t>]</a:t>
            </a:r>
            <a:r>
              <a:rPr lang="zh-CN" altLang="en-US" dirty="0"/>
              <a:t>所在项目集</a:t>
            </a:r>
            <a:r>
              <a:rPr lang="en-US" altLang="zh-CN" dirty="0"/>
              <a:t>I</a:t>
            </a:r>
            <a:r>
              <a:rPr lang="en-US" altLang="zh-CN" baseline="-25000" dirty="0"/>
              <a:t>0</a:t>
            </a:r>
            <a:endParaRPr lang="en-US" altLang="zh-CN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4.43</a:t>
            </a:r>
            <a:endParaRPr lang="en-US" altLang="zh-CN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6096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r>
              <a:rPr lang="zh-CN" altLang="en-US"/>
              <a:t>文法规范</a:t>
            </a:r>
            <a:r>
              <a:rPr lang="en-US" altLang="zh-CN"/>
              <a:t>LR(1)</a:t>
            </a:r>
            <a:r>
              <a:rPr lang="zh-CN" altLang="en-US"/>
              <a:t>分析表如下所示</a:t>
            </a:r>
            <a:endParaRPr lang="zh-CN" altLang="en-US"/>
          </a:p>
        </p:txBody>
      </p:sp>
      <p:sp>
        <p:nvSpPr>
          <p:cNvPr id="108548" name="Line 4"/>
          <p:cNvSpPr>
            <a:spLocks noChangeShapeType="1"/>
          </p:cNvSpPr>
          <p:nvPr/>
        </p:nvSpPr>
        <p:spPr bwMode="auto">
          <a:xfrm>
            <a:off x="2209800" y="20574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9" name="Line 5"/>
          <p:cNvSpPr>
            <a:spLocks noChangeShapeType="1"/>
          </p:cNvSpPr>
          <p:nvPr/>
        </p:nvSpPr>
        <p:spPr bwMode="auto">
          <a:xfrm>
            <a:off x="2209800" y="21336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0" name="Line 6"/>
          <p:cNvSpPr>
            <a:spLocks noChangeShapeType="1"/>
          </p:cNvSpPr>
          <p:nvPr/>
        </p:nvSpPr>
        <p:spPr bwMode="auto">
          <a:xfrm>
            <a:off x="2895600" y="2514600"/>
            <a:ext cx="396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1" name="Line 7"/>
          <p:cNvSpPr>
            <a:spLocks noChangeShapeType="1"/>
          </p:cNvSpPr>
          <p:nvPr/>
        </p:nvSpPr>
        <p:spPr bwMode="auto">
          <a:xfrm>
            <a:off x="2209800" y="28194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2" name="Line 8"/>
          <p:cNvSpPr>
            <a:spLocks noChangeShapeType="1"/>
          </p:cNvSpPr>
          <p:nvPr/>
        </p:nvSpPr>
        <p:spPr bwMode="auto">
          <a:xfrm>
            <a:off x="6858000" y="20574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3" name="Line 9"/>
          <p:cNvSpPr>
            <a:spLocks noChangeShapeType="1"/>
          </p:cNvSpPr>
          <p:nvPr/>
        </p:nvSpPr>
        <p:spPr bwMode="auto">
          <a:xfrm>
            <a:off x="2895600" y="21336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4" name="Line 10"/>
          <p:cNvSpPr>
            <a:spLocks noChangeShapeType="1"/>
          </p:cNvSpPr>
          <p:nvPr/>
        </p:nvSpPr>
        <p:spPr bwMode="auto">
          <a:xfrm>
            <a:off x="5486400" y="21336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5" name="Text Box 11"/>
          <p:cNvSpPr txBox="1">
            <a:spLocks noChangeArrowheads="1"/>
          </p:cNvSpPr>
          <p:nvPr/>
        </p:nvSpPr>
        <p:spPr bwMode="auto">
          <a:xfrm>
            <a:off x="2209800" y="22860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  <a:endParaRPr kumimoji="0" lang="zh-CN" altLang="en-US" sz="2000" b="1"/>
          </a:p>
        </p:txBody>
      </p:sp>
      <p:sp>
        <p:nvSpPr>
          <p:cNvPr id="108556" name="Text Box 12"/>
          <p:cNvSpPr txBox="1">
            <a:spLocks noChangeArrowheads="1"/>
          </p:cNvSpPr>
          <p:nvPr/>
        </p:nvSpPr>
        <p:spPr bwMode="auto">
          <a:xfrm>
            <a:off x="3733800" y="213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  <a:endParaRPr kumimoji="0" lang="en-US" altLang="zh-CN" sz="2000" b="1"/>
          </a:p>
        </p:txBody>
      </p:sp>
      <p:sp>
        <p:nvSpPr>
          <p:cNvPr id="108557" name="Text Box 13"/>
          <p:cNvSpPr txBox="1">
            <a:spLocks noChangeArrowheads="1"/>
          </p:cNvSpPr>
          <p:nvPr/>
        </p:nvSpPr>
        <p:spPr bwMode="auto">
          <a:xfrm>
            <a:off x="3048000" y="2441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c</a:t>
            </a:r>
            <a:endParaRPr kumimoji="0" lang="en-US" altLang="zh-CN" sz="2000"/>
          </a:p>
        </p:txBody>
      </p:sp>
      <p:sp>
        <p:nvSpPr>
          <p:cNvPr id="108558" name="Text Box 14"/>
          <p:cNvSpPr txBox="1">
            <a:spLocks noChangeArrowheads="1"/>
          </p:cNvSpPr>
          <p:nvPr/>
        </p:nvSpPr>
        <p:spPr bwMode="auto">
          <a:xfrm>
            <a:off x="3900488" y="2441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d</a:t>
            </a:r>
            <a:endParaRPr kumimoji="0" lang="en-US" altLang="zh-CN" sz="2000"/>
          </a:p>
        </p:txBody>
      </p:sp>
      <p:sp>
        <p:nvSpPr>
          <p:cNvPr id="108559" name="Text Box 15"/>
          <p:cNvSpPr txBox="1">
            <a:spLocks noChangeArrowheads="1"/>
          </p:cNvSpPr>
          <p:nvPr/>
        </p:nvSpPr>
        <p:spPr bwMode="auto">
          <a:xfrm>
            <a:off x="4754563" y="2441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108560" name="Text Box 19"/>
          <p:cNvSpPr txBox="1">
            <a:spLocks noChangeArrowheads="1"/>
          </p:cNvSpPr>
          <p:nvPr/>
        </p:nvSpPr>
        <p:spPr bwMode="auto">
          <a:xfrm>
            <a:off x="2362200" y="2819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  <a:endParaRPr kumimoji="0" lang="en-US" altLang="zh-CN" sz="2000" b="1"/>
          </a:p>
        </p:txBody>
      </p:sp>
      <p:sp>
        <p:nvSpPr>
          <p:cNvPr id="108561" name="Text Box 20"/>
          <p:cNvSpPr txBox="1">
            <a:spLocks noChangeArrowheads="1"/>
          </p:cNvSpPr>
          <p:nvPr/>
        </p:nvSpPr>
        <p:spPr bwMode="auto">
          <a:xfrm>
            <a:off x="2362200" y="3200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  <a:endParaRPr kumimoji="0" lang="en-US" altLang="zh-CN" sz="2000" b="1"/>
          </a:p>
        </p:txBody>
      </p:sp>
      <p:sp>
        <p:nvSpPr>
          <p:cNvPr id="108562" name="Text Box 21"/>
          <p:cNvSpPr txBox="1">
            <a:spLocks noChangeArrowheads="1"/>
          </p:cNvSpPr>
          <p:nvPr/>
        </p:nvSpPr>
        <p:spPr bwMode="auto">
          <a:xfrm>
            <a:off x="2362200" y="3581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  <a:endParaRPr kumimoji="0" lang="en-US" altLang="zh-CN" sz="2000" b="1"/>
          </a:p>
        </p:txBody>
      </p:sp>
      <p:sp>
        <p:nvSpPr>
          <p:cNvPr id="108563" name="Text Box 22"/>
          <p:cNvSpPr txBox="1">
            <a:spLocks noChangeArrowheads="1"/>
          </p:cNvSpPr>
          <p:nvPr/>
        </p:nvSpPr>
        <p:spPr bwMode="auto">
          <a:xfrm>
            <a:off x="2362200" y="3962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  <a:endParaRPr kumimoji="0" lang="en-US" altLang="zh-CN" sz="2000" b="1"/>
          </a:p>
        </p:txBody>
      </p:sp>
      <p:sp>
        <p:nvSpPr>
          <p:cNvPr id="108564" name="Text Box 23"/>
          <p:cNvSpPr txBox="1">
            <a:spLocks noChangeArrowheads="1"/>
          </p:cNvSpPr>
          <p:nvPr/>
        </p:nvSpPr>
        <p:spPr bwMode="auto">
          <a:xfrm>
            <a:off x="2362200" y="4343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  <a:endParaRPr kumimoji="0" lang="en-US" altLang="zh-CN" sz="2000" b="1"/>
          </a:p>
        </p:txBody>
      </p:sp>
      <p:sp>
        <p:nvSpPr>
          <p:cNvPr id="108565" name="Line 24"/>
          <p:cNvSpPr>
            <a:spLocks noChangeShapeType="1"/>
          </p:cNvSpPr>
          <p:nvPr/>
        </p:nvSpPr>
        <p:spPr bwMode="auto">
          <a:xfrm>
            <a:off x="2209800" y="20574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6" name="Text Box 25"/>
          <p:cNvSpPr txBox="1">
            <a:spLocks noChangeArrowheads="1"/>
          </p:cNvSpPr>
          <p:nvPr/>
        </p:nvSpPr>
        <p:spPr bwMode="auto">
          <a:xfrm>
            <a:off x="2362200" y="4724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  <a:endParaRPr kumimoji="0" lang="en-US" altLang="zh-CN" sz="2000" b="1"/>
          </a:p>
        </p:txBody>
      </p:sp>
      <p:sp>
        <p:nvSpPr>
          <p:cNvPr id="108567" name="Text Box 26"/>
          <p:cNvSpPr txBox="1">
            <a:spLocks noChangeArrowheads="1"/>
          </p:cNvSpPr>
          <p:nvPr/>
        </p:nvSpPr>
        <p:spPr bwMode="auto">
          <a:xfrm>
            <a:off x="2362200" y="50895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  <a:endParaRPr kumimoji="0" lang="en-US" altLang="zh-CN" sz="2000" b="1"/>
          </a:p>
        </p:txBody>
      </p:sp>
      <p:sp>
        <p:nvSpPr>
          <p:cNvPr id="108568" name="Text Box 27"/>
          <p:cNvSpPr txBox="1">
            <a:spLocks noChangeArrowheads="1"/>
          </p:cNvSpPr>
          <p:nvPr/>
        </p:nvSpPr>
        <p:spPr bwMode="auto">
          <a:xfrm>
            <a:off x="2362200" y="54705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  <a:endParaRPr kumimoji="0" lang="en-US" altLang="zh-CN" sz="2000" b="1"/>
          </a:p>
        </p:txBody>
      </p:sp>
      <p:sp>
        <p:nvSpPr>
          <p:cNvPr id="108569" name="Text Box 28"/>
          <p:cNvSpPr txBox="1">
            <a:spLocks noChangeArrowheads="1"/>
          </p:cNvSpPr>
          <p:nvPr/>
        </p:nvSpPr>
        <p:spPr bwMode="auto">
          <a:xfrm>
            <a:off x="2362200" y="58515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  <a:endParaRPr kumimoji="0" lang="en-US" altLang="zh-CN" sz="2000" b="1"/>
          </a:p>
        </p:txBody>
      </p:sp>
      <p:sp>
        <p:nvSpPr>
          <p:cNvPr id="108570" name="Text Box 29"/>
          <p:cNvSpPr txBox="1">
            <a:spLocks noChangeArrowheads="1"/>
          </p:cNvSpPr>
          <p:nvPr/>
        </p:nvSpPr>
        <p:spPr bwMode="auto">
          <a:xfrm>
            <a:off x="2362200" y="62325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  <a:endParaRPr kumimoji="0" lang="en-US" altLang="zh-CN" sz="2000" b="1"/>
          </a:p>
        </p:txBody>
      </p:sp>
      <p:sp>
        <p:nvSpPr>
          <p:cNvPr id="108571" name="Line 31"/>
          <p:cNvSpPr>
            <a:spLocks noChangeShapeType="1"/>
          </p:cNvSpPr>
          <p:nvPr/>
        </p:nvSpPr>
        <p:spPr bwMode="auto">
          <a:xfrm>
            <a:off x="2209800" y="6537325"/>
            <a:ext cx="4648200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2" name="Text Box 33"/>
          <p:cNvSpPr txBox="1">
            <a:spLocks noChangeArrowheads="1"/>
          </p:cNvSpPr>
          <p:nvPr/>
        </p:nvSpPr>
        <p:spPr bwMode="auto">
          <a:xfrm>
            <a:off x="5562600" y="2438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  <a:endParaRPr kumimoji="0" lang="en-US" altLang="zh-CN" sz="2000" b="1"/>
          </a:p>
        </p:txBody>
      </p:sp>
      <p:sp>
        <p:nvSpPr>
          <p:cNvPr id="108573" name="Text Box 34"/>
          <p:cNvSpPr txBox="1">
            <a:spLocks noChangeArrowheads="1"/>
          </p:cNvSpPr>
          <p:nvPr/>
        </p:nvSpPr>
        <p:spPr bwMode="auto">
          <a:xfrm>
            <a:off x="6264275" y="2438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</a:t>
            </a:r>
            <a:endParaRPr kumimoji="0" lang="en-US" altLang="zh-CN" sz="2000" b="1"/>
          </a:p>
        </p:txBody>
      </p:sp>
      <p:sp>
        <p:nvSpPr>
          <p:cNvPr id="108574" name="Text Box 36"/>
          <p:cNvSpPr txBox="1">
            <a:spLocks noChangeArrowheads="1"/>
          </p:cNvSpPr>
          <p:nvPr/>
        </p:nvSpPr>
        <p:spPr bwMode="auto">
          <a:xfrm>
            <a:off x="5867400" y="2133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  <a:endParaRPr kumimoji="0" lang="en-US" altLang="zh-CN" sz="2000" b="1"/>
          </a:p>
        </p:txBody>
      </p:sp>
      <p:sp>
        <p:nvSpPr>
          <p:cNvPr id="108575" name="Text Box 37"/>
          <p:cNvSpPr txBox="1">
            <a:spLocks noChangeArrowheads="1"/>
          </p:cNvSpPr>
          <p:nvPr/>
        </p:nvSpPr>
        <p:spPr bwMode="auto">
          <a:xfrm>
            <a:off x="3048000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08576" name="Text Box 38"/>
          <p:cNvSpPr txBox="1">
            <a:spLocks noChangeArrowheads="1"/>
          </p:cNvSpPr>
          <p:nvPr/>
        </p:nvSpPr>
        <p:spPr bwMode="auto">
          <a:xfrm>
            <a:off x="3886200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08577" name="Text Box 39"/>
          <p:cNvSpPr txBox="1">
            <a:spLocks noChangeArrowheads="1"/>
          </p:cNvSpPr>
          <p:nvPr/>
        </p:nvSpPr>
        <p:spPr bwMode="auto">
          <a:xfrm>
            <a:off x="5562600" y="2819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  <a:endParaRPr kumimoji="0" lang="en-US" altLang="zh-CN" sz="2000"/>
          </a:p>
        </p:txBody>
      </p:sp>
      <p:sp>
        <p:nvSpPr>
          <p:cNvPr id="108578" name="Text Box 40"/>
          <p:cNvSpPr txBox="1">
            <a:spLocks noChangeArrowheads="1"/>
          </p:cNvSpPr>
          <p:nvPr/>
        </p:nvSpPr>
        <p:spPr bwMode="auto">
          <a:xfrm>
            <a:off x="6264275" y="2819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108579" name="Text Box 43"/>
          <p:cNvSpPr txBox="1">
            <a:spLocks noChangeArrowheads="1"/>
          </p:cNvSpPr>
          <p:nvPr/>
        </p:nvSpPr>
        <p:spPr bwMode="auto">
          <a:xfrm>
            <a:off x="4648200" y="3203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  <a:endParaRPr kumimoji="0" lang="en-US" altLang="zh-CN" sz="2000"/>
          </a:p>
        </p:txBody>
      </p:sp>
      <p:sp>
        <p:nvSpPr>
          <p:cNvPr id="108580" name="Text Box 44"/>
          <p:cNvSpPr txBox="1">
            <a:spLocks noChangeArrowheads="1"/>
          </p:cNvSpPr>
          <p:nvPr/>
        </p:nvSpPr>
        <p:spPr bwMode="auto">
          <a:xfrm>
            <a:off x="3032125" y="3565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108581" name="Text Box 45"/>
          <p:cNvSpPr txBox="1">
            <a:spLocks noChangeArrowheads="1"/>
          </p:cNvSpPr>
          <p:nvPr/>
        </p:nvSpPr>
        <p:spPr bwMode="auto">
          <a:xfrm>
            <a:off x="3886200" y="3565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  <a:endParaRPr kumimoji="0" lang="en-US" altLang="zh-CN" sz="2000"/>
          </a:p>
        </p:txBody>
      </p:sp>
      <p:sp>
        <p:nvSpPr>
          <p:cNvPr id="108582" name="Text Box 52"/>
          <p:cNvSpPr txBox="1">
            <a:spLocks noChangeArrowheads="1"/>
          </p:cNvSpPr>
          <p:nvPr/>
        </p:nvSpPr>
        <p:spPr bwMode="auto">
          <a:xfrm>
            <a:off x="3048000" y="4346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08583" name="Text Box 53"/>
          <p:cNvSpPr txBox="1">
            <a:spLocks noChangeArrowheads="1"/>
          </p:cNvSpPr>
          <p:nvPr/>
        </p:nvSpPr>
        <p:spPr bwMode="auto">
          <a:xfrm>
            <a:off x="3886200" y="4346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08584" name="Text Box 54"/>
          <p:cNvSpPr txBox="1">
            <a:spLocks noChangeArrowheads="1"/>
          </p:cNvSpPr>
          <p:nvPr/>
        </p:nvSpPr>
        <p:spPr bwMode="auto">
          <a:xfrm>
            <a:off x="6248400" y="3581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5</a:t>
            </a:r>
            <a:endParaRPr kumimoji="0" lang="en-US" altLang="zh-CN" sz="2000"/>
          </a:p>
        </p:txBody>
      </p:sp>
      <p:sp>
        <p:nvSpPr>
          <p:cNvPr id="108585" name="Text Box 55"/>
          <p:cNvSpPr txBox="1">
            <a:spLocks noChangeArrowheads="1"/>
          </p:cNvSpPr>
          <p:nvPr/>
        </p:nvSpPr>
        <p:spPr bwMode="auto">
          <a:xfrm>
            <a:off x="6248400" y="3962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  <a:endParaRPr kumimoji="0" lang="en-US" altLang="zh-CN" sz="2000"/>
          </a:p>
        </p:txBody>
      </p:sp>
      <p:sp>
        <p:nvSpPr>
          <p:cNvPr id="108586" name="Text Box 58"/>
          <p:cNvSpPr txBox="1">
            <a:spLocks noChangeArrowheads="1"/>
          </p:cNvSpPr>
          <p:nvPr/>
        </p:nvSpPr>
        <p:spPr bwMode="auto">
          <a:xfrm>
            <a:off x="4754563" y="4727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08587" name="Text Box 63"/>
          <p:cNvSpPr txBox="1">
            <a:spLocks noChangeArrowheads="1"/>
          </p:cNvSpPr>
          <p:nvPr/>
        </p:nvSpPr>
        <p:spPr bwMode="auto">
          <a:xfrm>
            <a:off x="6264275" y="50863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  <a:endParaRPr kumimoji="0" lang="en-US" altLang="zh-CN" sz="2000"/>
          </a:p>
        </p:txBody>
      </p:sp>
      <p:sp>
        <p:nvSpPr>
          <p:cNvPr id="108588" name="Text Box 65"/>
          <p:cNvSpPr txBox="1">
            <a:spLocks noChangeArrowheads="1"/>
          </p:cNvSpPr>
          <p:nvPr/>
        </p:nvSpPr>
        <p:spPr bwMode="auto">
          <a:xfrm>
            <a:off x="4724400" y="5470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08589" name="Text Box 70"/>
          <p:cNvSpPr txBox="1">
            <a:spLocks noChangeArrowheads="1"/>
          </p:cNvSpPr>
          <p:nvPr/>
        </p:nvSpPr>
        <p:spPr bwMode="auto">
          <a:xfrm>
            <a:off x="4724400" y="62134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08590" name="Text Box 82"/>
          <p:cNvSpPr txBox="1">
            <a:spLocks noChangeArrowheads="1"/>
          </p:cNvSpPr>
          <p:nvPr/>
        </p:nvSpPr>
        <p:spPr bwMode="auto">
          <a:xfrm>
            <a:off x="3048000" y="3962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08591" name="Text Box 83"/>
          <p:cNvSpPr txBox="1">
            <a:spLocks noChangeArrowheads="1"/>
          </p:cNvSpPr>
          <p:nvPr/>
        </p:nvSpPr>
        <p:spPr bwMode="auto">
          <a:xfrm>
            <a:off x="3886200" y="3962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08592" name="Text Box 84"/>
          <p:cNvSpPr txBox="1">
            <a:spLocks noChangeArrowheads="1"/>
          </p:cNvSpPr>
          <p:nvPr/>
        </p:nvSpPr>
        <p:spPr bwMode="auto">
          <a:xfrm>
            <a:off x="3032125" y="5089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108593" name="Text Box 85"/>
          <p:cNvSpPr txBox="1">
            <a:spLocks noChangeArrowheads="1"/>
          </p:cNvSpPr>
          <p:nvPr/>
        </p:nvSpPr>
        <p:spPr bwMode="auto">
          <a:xfrm>
            <a:off x="3886200" y="5089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  <a:endParaRPr kumimoji="0" lang="en-US" altLang="zh-CN" sz="2000"/>
          </a:p>
        </p:txBody>
      </p:sp>
      <p:sp>
        <p:nvSpPr>
          <p:cNvPr id="108594" name="Text Box 86"/>
          <p:cNvSpPr txBox="1">
            <a:spLocks noChangeArrowheads="1"/>
          </p:cNvSpPr>
          <p:nvPr/>
        </p:nvSpPr>
        <p:spPr bwMode="auto">
          <a:xfrm>
            <a:off x="3048000" y="5851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08595" name="Text Box 87"/>
          <p:cNvSpPr txBox="1">
            <a:spLocks noChangeArrowheads="1"/>
          </p:cNvSpPr>
          <p:nvPr/>
        </p:nvSpPr>
        <p:spPr bwMode="auto">
          <a:xfrm>
            <a:off x="3886200" y="5851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4.7.5  </a:t>
            </a:r>
            <a:r>
              <a:rPr lang="zh-CN" altLang="en-US"/>
              <a:t>构造</a:t>
            </a:r>
            <a:r>
              <a:rPr lang="en-US" altLang="zh-CN"/>
              <a:t>LALR</a:t>
            </a:r>
            <a:r>
              <a:rPr lang="zh-CN" altLang="en-US"/>
              <a:t>分析表</a:t>
            </a:r>
            <a:endParaRPr lang="zh-CN" altLang="en-US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hlink"/>
                </a:solidFill>
              </a:rPr>
              <a:t>lookahead LR</a:t>
            </a:r>
            <a:endParaRPr lang="en-US" altLang="zh-CN">
              <a:solidFill>
                <a:schemeClr val="hlink"/>
              </a:solidFill>
            </a:endParaRPr>
          </a:p>
          <a:p>
            <a:pPr eaLnBrk="1" hangingPunct="1"/>
            <a:r>
              <a:rPr lang="zh-CN" altLang="en-US"/>
              <a:t>比规范</a:t>
            </a:r>
            <a:r>
              <a:rPr lang="en-US" altLang="zh-CN"/>
              <a:t>LR</a:t>
            </a:r>
            <a:r>
              <a:rPr lang="zh-CN" altLang="en-US"/>
              <a:t>分析表小，但对应程序设计语言的翻译，其描述能力足够</a:t>
            </a:r>
            <a:endParaRPr lang="zh-CN" altLang="en-US"/>
          </a:p>
          <a:p>
            <a:pPr eaLnBrk="1" hangingPunct="1"/>
            <a:r>
              <a:rPr lang="zh-CN" altLang="en-US"/>
              <a:t>状态数与</a:t>
            </a:r>
            <a:r>
              <a:rPr lang="en-US" altLang="zh-CN"/>
              <a:t>SLR</a:t>
            </a:r>
            <a:r>
              <a:rPr lang="zh-CN" altLang="en-US"/>
              <a:t>相同</a:t>
            </a:r>
            <a:endParaRPr lang="zh-CN" altLang="en-US"/>
          </a:p>
          <a:p>
            <a:pPr lvl="1" eaLnBrk="1" hangingPunct="1"/>
            <a:r>
              <a:rPr lang="en-US" altLang="zh-CN"/>
              <a:t>Pascal</a:t>
            </a:r>
            <a:r>
              <a:rPr lang="zh-CN" altLang="en-US"/>
              <a:t>语言，几百个</a:t>
            </a:r>
            <a:endParaRPr lang="zh-CN" altLang="en-US"/>
          </a:p>
          <a:p>
            <a:pPr lvl="1" eaLnBrk="1" hangingPunct="1"/>
            <a:r>
              <a:rPr lang="zh-CN" altLang="en-US"/>
              <a:t>规范</a:t>
            </a:r>
            <a:r>
              <a:rPr lang="en-US" altLang="zh-CN"/>
              <a:t>LR</a:t>
            </a:r>
            <a:r>
              <a:rPr lang="zh-CN" altLang="en-US"/>
              <a:t>，几千个</a:t>
            </a:r>
            <a:endParaRPr lang="zh-CN" alt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“同心”</a:t>
            </a:r>
            <a:endParaRPr lang="zh-CN" altLang="en-US" dirty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考虑同心（</a:t>
            </a:r>
            <a:r>
              <a:rPr lang="en-US" altLang="zh-CN">
                <a:solidFill>
                  <a:schemeClr val="hlink"/>
                </a:solidFill>
              </a:rPr>
              <a:t>core</a:t>
            </a:r>
            <a:r>
              <a:rPr lang="zh-CN" altLang="en-US"/>
              <a:t>，</a:t>
            </a:r>
            <a:r>
              <a:rPr lang="en-US" altLang="zh-CN"/>
              <a:t>LR(0)</a:t>
            </a:r>
            <a:r>
              <a:rPr lang="zh-CN" altLang="en-US"/>
              <a:t>项目集）的</a:t>
            </a:r>
            <a:r>
              <a:rPr lang="en-US" altLang="zh-CN"/>
              <a:t>LR(1)</a:t>
            </a:r>
            <a:r>
              <a:rPr lang="zh-CN" altLang="en-US"/>
              <a:t>项目集</a:t>
            </a:r>
            <a:endParaRPr lang="zh-CN" altLang="en-US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S’ </a:t>
            </a:r>
            <a:r>
              <a:rPr lang="en-US" altLang="zh-CN">
                <a:sym typeface="Symbol" panose="05050102010706020507" pitchFamily="18" charset="2"/>
              </a:rPr>
              <a:t> S</a:t>
            </a:r>
            <a:endParaRPr lang="en-US" altLang="zh-CN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S  CC</a:t>
            </a:r>
            <a:endParaRPr lang="en-US" altLang="zh-CN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C  cC | d</a:t>
            </a:r>
            <a:endParaRPr lang="en-US" altLang="zh-CN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I</a:t>
            </a:r>
            <a:r>
              <a:rPr lang="en-US" altLang="zh-CN" baseline="-25000">
                <a:sym typeface="Symbol" panose="05050102010706020507" pitchFamily="18" charset="2"/>
              </a:rPr>
              <a:t>4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>
                <a:sym typeface="Symbol" panose="05050102010706020507" pitchFamily="18" charset="2"/>
              </a:rPr>
              <a:t>I</a:t>
            </a:r>
            <a:r>
              <a:rPr lang="en-US" altLang="zh-CN" baseline="-25000">
                <a:sym typeface="Symbol" panose="05050102010706020507" pitchFamily="18" charset="2"/>
              </a:rPr>
              <a:t>7</a:t>
            </a:r>
            <a:r>
              <a:rPr lang="zh-CN" altLang="en-US">
                <a:sym typeface="Symbol" panose="05050102010706020507" pitchFamily="18" charset="2"/>
              </a:rPr>
              <a:t>，心</a:t>
            </a:r>
            <a:r>
              <a:rPr lang="en-US" altLang="zh-CN">
                <a:sym typeface="Symbol" panose="05050102010706020507" pitchFamily="18" charset="2"/>
              </a:rPr>
              <a:t>C d·</a:t>
            </a:r>
            <a:r>
              <a:rPr lang="zh-CN" altLang="en-US">
                <a:sym typeface="Symbol" panose="05050102010706020507" pitchFamily="18" charset="2"/>
              </a:rPr>
              <a:t>相同，仅搜索符不同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同心集合并</a:t>
            </a:r>
            <a:endParaRPr lang="zh-CN" alt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ym typeface="Symbol" panose="05050102010706020507" pitchFamily="18" charset="2"/>
              </a:rPr>
              <a:t>I</a:t>
            </a:r>
            <a:r>
              <a:rPr lang="en-US" altLang="zh-CN" sz="2800" baseline="-25000" dirty="0">
                <a:sym typeface="Symbol" panose="05050102010706020507" pitchFamily="18" charset="2"/>
              </a:rPr>
              <a:t>4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I</a:t>
            </a:r>
            <a:r>
              <a:rPr lang="en-US" altLang="zh-CN" sz="2800" baseline="-25000" dirty="0">
                <a:sym typeface="Symbol" panose="05050102010706020507" pitchFamily="18" charset="2"/>
              </a:rPr>
              <a:t>7</a:t>
            </a:r>
            <a:r>
              <a:rPr lang="zh-CN" altLang="en-US" sz="2800" dirty="0">
                <a:sym typeface="Symbol" panose="05050102010706020507" pitchFamily="18" charset="2"/>
              </a:rPr>
              <a:t>区别？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文法生成正规式</a:t>
            </a:r>
            <a:r>
              <a:rPr lang="en-US" altLang="zh-CN" sz="2400" dirty="0">
                <a:sym typeface="Symbol" panose="05050102010706020507" pitchFamily="18" charset="2"/>
              </a:rPr>
              <a:t>c</a:t>
            </a:r>
            <a:r>
              <a:rPr lang="en-US" altLang="zh-CN" sz="2400" baseline="30000" dirty="0">
                <a:sym typeface="Symbol" panose="05050102010706020507" pitchFamily="18" charset="2"/>
              </a:rPr>
              <a:t>*</a:t>
            </a:r>
            <a:r>
              <a:rPr lang="en-US" altLang="zh-CN" sz="2400" dirty="0">
                <a:sym typeface="Symbol" panose="05050102010706020507" pitchFamily="18" charset="2"/>
              </a:rPr>
              <a:t>dc</a:t>
            </a:r>
            <a:r>
              <a:rPr lang="en-US" altLang="zh-CN" sz="2400" baseline="30000" dirty="0">
                <a:sym typeface="Symbol" panose="05050102010706020507" pitchFamily="18" charset="2"/>
              </a:rPr>
              <a:t>*</a:t>
            </a:r>
            <a:r>
              <a:rPr lang="en-US" altLang="zh-CN" sz="2400" dirty="0">
                <a:sym typeface="Symbol" panose="05050102010706020507" pitchFamily="18" charset="2"/>
              </a:rPr>
              <a:t>d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4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r>
              <a:rPr lang="zh-CN" altLang="en-US" sz="2400" dirty="0"/>
              <a:t>“</a:t>
            </a:r>
            <a:r>
              <a:rPr lang="zh-CN" altLang="en-US" sz="2400" dirty="0">
                <a:sym typeface="Symbol" panose="05050102010706020507" pitchFamily="18" charset="2"/>
              </a:rPr>
              <a:t>第一个</a:t>
            </a:r>
            <a:r>
              <a:rPr lang="en-US" altLang="zh-CN" sz="2400" dirty="0">
                <a:sym typeface="Symbol" panose="05050102010706020507" pitchFamily="18" charset="2"/>
              </a:rPr>
              <a:t>d</a:t>
            </a:r>
            <a:r>
              <a:rPr lang="zh-CN" altLang="en-US" sz="2400" dirty="0">
                <a:sym typeface="Symbol" panose="05050102010706020507" pitchFamily="18" charset="2"/>
              </a:rPr>
              <a:t>”，后面需接</a:t>
            </a:r>
            <a:r>
              <a:rPr lang="en-US" altLang="zh-CN" sz="2400" dirty="0">
                <a:sym typeface="Symbol" panose="05050102010706020507" pitchFamily="18" charset="2"/>
              </a:rPr>
              <a:t>c</a:t>
            </a:r>
            <a:r>
              <a:rPr lang="zh-CN" altLang="en-US" sz="2400" dirty="0"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sym typeface="Symbol" panose="05050102010706020507" pitchFamily="18" charset="2"/>
              </a:rPr>
              <a:t>d</a:t>
            </a:r>
            <a:r>
              <a:rPr lang="zh-CN" altLang="en-US" sz="2400" dirty="0">
                <a:sym typeface="Symbol" panose="05050102010706020507" pitchFamily="18" charset="2"/>
              </a:rPr>
              <a:t>，不能接</a:t>
            </a:r>
            <a:r>
              <a:rPr lang="en-US" altLang="zh-CN" sz="2400" dirty="0">
                <a:sym typeface="Symbol" panose="05050102010706020507" pitchFamily="18" charset="2"/>
              </a:rPr>
              <a:t>$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7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r>
              <a:rPr lang="zh-CN" altLang="en-US" sz="2400" dirty="0"/>
              <a:t>“</a:t>
            </a:r>
            <a:r>
              <a:rPr lang="zh-CN" altLang="en-US" sz="2400" dirty="0">
                <a:sym typeface="Symbol" panose="05050102010706020507" pitchFamily="18" charset="2"/>
              </a:rPr>
              <a:t>第二个</a:t>
            </a:r>
            <a:r>
              <a:rPr lang="en-US" altLang="zh-CN" sz="2400" dirty="0">
                <a:sym typeface="Symbol" panose="05050102010706020507" pitchFamily="18" charset="2"/>
              </a:rPr>
              <a:t>d</a:t>
            </a:r>
            <a:r>
              <a:rPr lang="zh-CN" altLang="en-US" sz="2400" dirty="0">
                <a:sym typeface="Symbol" panose="05050102010706020507" pitchFamily="18" charset="2"/>
              </a:rPr>
              <a:t>”，接受，后接</a:t>
            </a:r>
            <a:r>
              <a:rPr lang="en-US" altLang="zh-CN" sz="2400" dirty="0">
                <a:sym typeface="Symbol" panose="05050102010706020507" pitchFamily="18" charset="2"/>
              </a:rPr>
              <a:t>$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合并</a:t>
            </a:r>
            <a:r>
              <a:rPr lang="en-US" altLang="zh-CN" sz="2400" dirty="0">
                <a:sym typeface="Symbol" panose="05050102010706020507" pitchFamily="18" charset="2"/>
              </a:rPr>
              <a:t>:I</a:t>
            </a:r>
            <a:r>
              <a:rPr lang="en-US" altLang="zh-CN" sz="2400" baseline="-25000" dirty="0">
                <a:sym typeface="Symbol" panose="05050102010706020507" pitchFamily="18" charset="2"/>
              </a:rPr>
              <a:t>47</a:t>
            </a:r>
            <a:r>
              <a:rPr lang="en-US" altLang="zh-CN" sz="2400" dirty="0">
                <a:sym typeface="Symbol" panose="05050102010706020507" pitchFamily="18" charset="2"/>
              </a:rPr>
              <a:t>={[C d·, c/d/$]}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sym typeface="Symbol" panose="05050102010706020507" pitchFamily="18" charset="2"/>
              </a:rPr>
              <a:t>goto</a:t>
            </a:r>
            <a:r>
              <a:rPr lang="en-US" altLang="zh-CN" sz="2400" dirty="0">
                <a:sym typeface="Symbol" panose="05050102010706020507" pitchFamily="18" charset="2"/>
              </a:rPr>
              <a:t>(I</a:t>
            </a:r>
            <a:r>
              <a:rPr lang="en-US" altLang="zh-CN" sz="2400" baseline="-25000" dirty="0">
                <a:sym typeface="Symbol" panose="05050102010706020507" pitchFamily="18" charset="2"/>
              </a:rPr>
              <a:t>0/3/2/6</a:t>
            </a:r>
            <a:r>
              <a:rPr lang="en-US" altLang="zh-CN" sz="2400" dirty="0">
                <a:sym typeface="Symbol" panose="05050102010706020507" pitchFamily="18" charset="2"/>
              </a:rPr>
              <a:t>, d)=I</a:t>
            </a:r>
            <a:r>
              <a:rPr lang="en-US" altLang="zh-CN" sz="2400" baseline="-25000" dirty="0">
                <a:sym typeface="Symbol" panose="05050102010706020507" pitchFamily="18" charset="2"/>
              </a:rPr>
              <a:t>47</a:t>
            </a:r>
            <a:endParaRPr lang="en-US" altLang="zh-CN" sz="2400" baseline="-250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47</a:t>
            </a:r>
            <a:r>
              <a:rPr lang="zh-CN" altLang="en-US" sz="2400" dirty="0">
                <a:sym typeface="Symbol" panose="05050102010706020507" pitchFamily="18" charset="2"/>
              </a:rPr>
              <a:t>对任何输入符号都进行归约</a:t>
            </a:r>
            <a:r>
              <a:rPr lang="en-US" altLang="zh-CN" sz="2400" dirty="0">
                <a:sym typeface="Symbol" panose="05050102010706020507" pitchFamily="18" charset="2"/>
              </a:rPr>
              <a:t>——</a:t>
            </a:r>
            <a:r>
              <a:rPr lang="zh-CN" altLang="en-US" sz="2400" dirty="0">
                <a:sym typeface="Symbol" panose="05050102010706020507" pitchFamily="18" charset="2"/>
              </a:rPr>
              <a:t>错误不会遗漏，</a:t>
            </a:r>
            <a:r>
              <a:rPr lang="en-US" altLang="zh-CN" sz="2400" dirty="0" err="1">
                <a:sym typeface="Symbol" panose="05050102010706020507" pitchFamily="18" charset="2"/>
              </a:rPr>
              <a:t>ccd</a:t>
            </a:r>
            <a:r>
              <a:rPr lang="zh-CN" altLang="en-US" sz="2400" dirty="0">
                <a:sym typeface="Symbol" panose="05050102010706020507" pitchFamily="18" charset="2"/>
              </a:rPr>
              <a:t>、</a:t>
            </a:r>
            <a:r>
              <a:rPr lang="en-US" altLang="zh-CN" sz="2400" dirty="0" err="1">
                <a:sym typeface="Symbol" panose="05050102010706020507" pitchFamily="18" charset="2"/>
              </a:rPr>
              <a:t>cdcdc</a:t>
            </a:r>
            <a:r>
              <a:rPr lang="zh-CN" altLang="en-US" sz="2400" dirty="0">
                <a:sym typeface="Symbol" panose="05050102010706020507" pitchFamily="18" charset="2"/>
              </a:rPr>
              <a:t>，延迟</a:t>
            </a:r>
            <a:r>
              <a:rPr lang="en-US" altLang="zh-CN" sz="2400" dirty="0">
                <a:sym typeface="Symbol" panose="05050102010706020507" pitchFamily="18" charset="2"/>
              </a:rPr>
              <a:t>——</a:t>
            </a:r>
            <a:r>
              <a:rPr lang="zh-CN" altLang="en-US" sz="2400" dirty="0">
                <a:sym typeface="Symbol" panose="05050102010706020507" pitchFamily="18" charset="2"/>
              </a:rPr>
              <a:t>下个移进时捕捉到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同心集合并，</a:t>
            </a:r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36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89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合并后的</a:t>
            </a:r>
            <a:r>
              <a:rPr lang="en-US" altLang="zh-CN"/>
              <a:t>action</a:t>
            </a:r>
            <a:r>
              <a:rPr lang="zh-CN" altLang="en-US"/>
              <a:t>和</a:t>
            </a:r>
            <a:r>
              <a:rPr lang="en-US" altLang="zh-CN"/>
              <a:t>goto</a:t>
            </a:r>
            <a:endParaRPr lang="en-US" altLang="zh-CN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仅依赖心，自然合并，没有问题</a:t>
            </a:r>
            <a:endParaRPr lang="zh-CN" altLang="en-US"/>
          </a:p>
          <a:p>
            <a:pPr eaLnBrk="1" hangingPunct="1"/>
            <a:r>
              <a:rPr lang="zh-CN" altLang="en-US"/>
              <a:t>原</a:t>
            </a:r>
            <a:r>
              <a:rPr lang="en-US" altLang="zh-CN"/>
              <a:t>LR(1)</a:t>
            </a:r>
            <a:r>
              <a:rPr lang="zh-CN" altLang="en-US"/>
              <a:t>分析表无冲突，合并后</a:t>
            </a:r>
            <a:r>
              <a:rPr lang="en-US" altLang="zh-CN"/>
              <a:t>action</a:t>
            </a:r>
            <a:r>
              <a:rPr lang="zh-CN" altLang="en-US"/>
              <a:t>会产生新的冲突吗？</a:t>
            </a:r>
            <a:endParaRPr lang="zh-CN" altLang="en-US"/>
          </a:p>
          <a:p>
            <a:pPr lvl="1" eaLnBrk="1" hangingPunct="1"/>
            <a:r>
              <a:rPr lang="zh-CN" altLang="en-US"/>
              <a:t>假定产生移进</a:t>
            </a:r>
            <a:r>
              <a:rPr lang="en-US" altLang="zh-CN"/>
              <a:t>/</a:t>
            </a:r>
            <a:r>
              <a:rPr lang="zh-CN" altLang="en-US"/>
              <a:t>归约冲突</a:t>
            </a:r>
            <a:endParaRPr lang="zh-CN" altLang="en-US"/>
          </a:p>
          <a:p>
            <a:pPr lvl="2" eaLnBrk="1" hangingPunct="1"/>
            <a:r>
              <a:rPr lang="en-US" altLang="zh-CN">
                <a:sym typeface="Symbol" panose="05050102010706020507" pitchFamily="18" charset="2"/>
              </a:rPr>
              <a:t>{ [B 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·a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, b], [A 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·, a], </a:t>
            </a:r>
            <a:r>
              <a:rPr lang="en-US" altLang="zh-CN">
                <a:sym typeface="Wingdings" panose="05000000000000000000" pitchFamily="2" charset="2"/>
              </a:rPr>
              <a:t>… }</a:t>
            </a:r>
            <a:endParaRPr lang="en-US" altLang="zh-CN"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>
                <a:sym typeface="Wingdings" panose="05000000000000000000" pitchFamily="2" charset="2"/>
              </a:rPr>
              <a:t>原项目集：</a:t>
            </a:r>
            <a:r>
              <a:rPr lang="en-US" altLang="zh-CN">
                <a:sym typeface="Wingdings" panose="05000000000000000000" pitchFamily="2" charset="2"/>
              </a:rPr>
              <a:t>{</a:t>
            </a:r>
            <a:r>
              <a:rPr lang="en-US" altLang="zh-CN">
                <a:sym typeface="Symbol" panose="05050102010706020507" pitchFamily="18" charset="2"/>
              </a:rPr>
              <a:t>[A 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·, a], [B 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·a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, c], …}</a:t>
            </a:r>
            <a:endParaRPr lang="en-US" altLang="zh-CN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>
                <a:sym typeface="Symbol" panose="05050102010706020507" pitchFamily="18" charset="2"/>
              </a:rPr>
              <a:t>原</a:t>
            </a:r>
            <a:r>
              <a:rPr lang="en-US" altLang="zh-CN">
                <a:sym typeface="Symbol" panose="05050102010706020507" pitchFamily="18" charset="2"/>
              </a:rPr>
              <a:t>LR(1)</a:t>
            </a:r>
            <a:r>
              <a:rPr lang="zh-CN" altLang="en-US">
                <a:sym typeface="Symbol" panose="05050102010706020507" pitchFamily="18" charset="2"/>
              </a:rPr>
              <a:t>也有分析表冲突！不可能</a:t>
            </a:r>
            <a:endParaRPr lang="zh-CN" altLang="en-US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>
                <a:sym typeface="Symbol" panose="05050102010706020507" pitchFamily="18" charset="2"/>
              </a:rPr>
              <a:t>可能产生归约</a:t>
            </a:r>
            <a:r>
              <a:rPr lang="en-US" altLang="zh-CN">
                <a:sym typeface="Symbol" panose="05050102010706020507" pitchFamily="18" charset="2"/>
              </a:rPr>
              <a:t>/</a:t>
            </a:r>
            <a:r>
              <a:rPr lang="zh-CN" altLang="en-US">
                <a:sym typeface="Symbol" panose="05050102010706020507" pitchFamily="18" charset="2"/>
              </a:rPr>
              <a:t>归约冲突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ltGray">
          <a:xfrm>
            <a:off x="5867400" y="29718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移进	归约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12645" name="Line 5"/>
          <p:cNvSpPr>
            <a:spLocks noChangeShapeType="1"/>
          </p:cNvSpPr>
          <p:nvPr/>
        </p:nvSpPr>
        <p:spPr bwMode="ltGray">
          <a:xfrm flipH="1">
            <a:off x="3505200" y="3352800"/>
            <a:ext cx="28956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6" name="Line 6"/>
          <p:cNvSpPr>
            <a:spLocks noChangeShapeType="1"/>
          </p:cNvSpPr>
          <p:nvPr/>
        </p:nvSpPr>
        <p:spPr bwMode="ltGray">
          <a:xfrm flipH="1">
            <a:off x="5105400" y="3352800"/>
            <a:ext cx="22098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ltGray">
          <a:xfrm>
            <a:off x="6629400" y="48768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移进	归约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12648" name="Line 8"/>
          <p:cNvSpPr>
            <a:spLocks noChangeShapeType="1"/>
          </p:cNvSpPr>
          <p:nvPr/>
        </p:nvSpPr>
        <p:spPr bwMode="ltGray">
          <a:xfrm flipH="1" flipV="1">
            <a:off x="6781800" y="4419600"/>
            <a:ext cx="2286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9" name="Line 9"/>
          <p:cNvSpPr>
            <a:spLocks noChangeShapeType="1"/>
          </p:cNvSpPr>
          <p:nvPr/>
        </p:nvSpPr>
        <p:spPr bwMode="ltGray">
          <a:xfrm flipH="1" flipV="1">
            <a:off x="5410200" y="4343400"/>
            <a:ext cx="2590800" cy="609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4.44</a:t>
            </a:r>
            <a:endParaRPr lang="en-US" altLang="zh-CN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800"/>
              <a:t>考虑文法</a:t>
            </a:r>
            <a:endParaRPr lang="zh-CN" altLang="en-US" sz="28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 </a:t>
            </a:r>
            <a:r>
              <a:rPr lang="en-US" altLang="zh-CN" sz="2400"/>
              <a:t>S’ </a:t>
            </a:r>
            <a:r>
              <a:rPr lang="en-US" altLang="zh-CN" sz="2400">
                <a:sym typeface="Symbol" panose="05050102010706020507" pitchFamily="18" charset="2"/>
              </a:rPr>
              <a:t> S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S  aAd | bBd | aBe | bAe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A  c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B  c		</a:t>
            </a:r>
            <a:r>
              <a:rPr lang="zh-CN" altLang="en-US" sz="2400">
                <a:sym typeface="Symbol" panose="05050102010706020507" pitchFamily="18" charset="2"/>
              </a:rPr>
              <a:t>产生符号串</a:t>
            </a:r>
            <a:r>
              <a:rPr lang="en-US" altLang="zh-CN" sz="2400">
                <a:sym typeface="Symbol" panose="05050102010706020507" pitchFamily="18" charset="2"/>
              </a:rPr>
              <a:t>acd, ace, bcd, bce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/>
              <a:t>构造</a:t>
            </a:r>
            <a:r>
              <a:rPr lang="en-US" altLang="zh-CN" sz="2800"/>
              <a:t>LR(1)</a:t>
            </a:r>
            <a:r>
              <a:rPr lang="zh-CN" altLang="en-US" sz="2800"/>
              <a:t>项目集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{[</a:t>
            </a:r>
            <a:r>
              <a:rPr lang="en-US" altLang="zh-CN" sz="2400">
                <a:sym typeface="Symbol" panose="05050102010706020507" pitchFamily="18" charset="2"/>
              </a:rPr>
              <a:t>A  c·, d], </a:t>
            </a:r>
            <a:r>
              <a:rPr lang="en-US" altLang="zh-CN" sz="2400"/>
              <a:t>[</a:t>
            </a:r>
            <a:r>
              <a:rPr lang="en-US" altLang="zh-CN" sz="2400">
                <a:sym typeface="Symbol" panose="05050102010706020507" pitchFamily="18" charset="2"/>
              </a:rPr>
              <a:t>B  c·, e]}</a:t>
            </a:r>
            <a:r>
              <a:rPr lang="zh-CN" altLang="en-US" sz="2400">
                <a:sym typeface="Symbol" panose="05050102010706020507" pitchFamily="18" charset="2"/>
              </a:rPr>
              <a:t>对活前缀</a:t>
            </a:r>
            <a:r>
              <a:rPr lang="en-US" altLang="zh-CN" sz="2400">
                <a:sym typeface="Symbol" panose="05050102010706020507" pitchFamily="18" charset="2"/>
              </a:rPr>
              <a:t>ac</a:t>
            </a:r>
            <a:r>
              <a:rPr lang="zh-CN" altLang="en-US" sz="2400">
                <a:sym typeface="Symbol" panose="05050102010706020507" pitchFamily="18" charset="2"/>
              </a:rPr>
              <a:t>有效</a:t>
            </a:r>
            <a:endParaRPr lang="zh-CN" altLang="en-US" sz="240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/>
              <a:t>{[</a:t>
            </a:r>
            <a:r>
              <a:rPr lang="en-US" altLang="zh-CN" sz="2400">
                <a:sym typeface="Symbol" panose="05050102010706020507" pitchFamily="18" charset="2"/>
              </a:rPr>
              <a:t>A  c·, e], </a:t>
            </a:r>
            <a:r>
              <a:rPr lang="en-US" altLang="zh-CN" sz="2400"/>
              <a:t>[</a:t>
            </a:r>
            <a:r>
              <a:rPr lang="en-US" altLang="zh-CN" sz="2400">
                <a:sym typeface="Symbol" panose="05050102010706020507" pitchFamily="18" charset="2"/>
              </a:rPr>
              <a:t>B  c·, d]}</a:t>
            </a:r>
            <a:r>
              <a:rPr lang="zh-CN" altLang="en-US" sz="2400">
                <a:sym typeface="Symbol" panose="05050102010706020507" pitchFamily="18" charset="2"/>
              </a:rPr>
              <a:t>对活前缀</a:t>
            </a:r>
            <a:r>
              <a:rPr lang="en-US" altLang="zh-CN" sz="2400">
                <a:sym typeface="Symbol" panose="05050102010706020507" pitchFamily="18" charset="2"/>
              </a:rPr>
              <a:t>bc</a:t>
            </a:r>
            <a:r>
              <a:rPr lang="zh-CN" altLang="en-US" sz="2400">
                <a:sym typeface="Symbol" panose="05050102010706020507" pitchFamily="18" charset="2"/>
              </a:rPr>
              <a:t>有效</a:t>
            </a:r>
            <a:endParaRPr lang="zh-CN" altLang="en-US" sz="240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>
                <a:sym typeface="Symbol" panose="05050102010706020507" pitchFamily="18" charset="2"/>
              </a:rPr>
              <a:t>无冲突，合并</a:t>
            </a:r>
            <a:r>
              <a:rPr lang="en-US" altLang="zh-CN" sz="2400"/>
              <a:t>{[</a:t>
            </a:r>
            <a:r>
              <a:rPr lang="en-US" altLang="zh-CN" sz="2400">
                <a:sym typeface="Symbol" panose="05050102010706020507" pitchFamily="18" charset="2"/>
              </a:rPr>
              <a:t>A  c·, d/e], </a:t>
            </a:r>
            <a:r>
              <a:rPr lang="en-US" altLang="zh-CN" sz="2400"/>
              <a:t>[</a:t>
            </a:r>
            <a:r>
              <a:rPr lang="en-US" altLang="zh-CN" sz="2400">
                <a:sym typeface="Symbol" panose="05050102010706020507" pitchFamily="18" charset="2"/>
              </a:rPr>
              <a:t>B  c·, d/e]}</a:t>
            </a:r>
            <a:r>
              <a:rPr lang="zh-CN" altLang="en-US" sz="2400">
                <a:sym typeface="Symbol" panose="05050102010706020507" pitchFamily="18" charset="2"/>
              </a:rPr>
              <a:t>，产生归约</a:t>
            </a:r>
            <a:r>
              <a:rPr lang="en-US" altLang="zh-CN" sz="2400">
                <a:sym typeface="Symbol" panose="05050102010706020507" pitchFamily="18" charset="2"/>
              </a:rPr>
              <a:t>/</a:t>
            </a:r>
            <a:r>
              <a:rPr lang="zh-CN" altLang="en-US" sz="2400">
                <a:sym typeface="Symbol" panose="05050102010706020507" pitchFamily="18" charset="2"/>
              </a:rPr>
              <a:t>归约冲突</a:t>
            </a:r>
            <a:endParaRPr lang="zh-CN" altLang="en-US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4.11 LALR</a:t>
            </a:r>
            <a:r>
              <a:rPr lang="zh-CN" altLang="en-US"/>
              <a:t>分析表构造算法</a:t>
            </a:r>
            <a:endParaRPr lang="zh-CN" altLang="en-US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输入：一个拓广文法</a:t>
            </a:r>
            <a:r>
              <a:rPr lang="en-US" altLang="zh-CN" sz="2400"/>
              <a:t>G’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</a:t>
            </a:r>
            <a:r>
              <a:rPr lang="en-US" altLang="zh-CN" sz="2400"/>
              <a:t>G’</a:t>
            </a:r>
            <a:r>
              <a:rPr lang="zh-CN" altLang="en-US" sz="2400"/>
              <a:t>的</a:t>
            </a:r>
            <a:r>
              <a:rPr lang="en-US" altLang="zh-CN" sz="2400"/>
              <a:t>LALR</a:t>
            </a:r>
            <a:r>
              <a:rPr lang="zh-CN" altLang="en-US" sz="2400"/>
              <a:t>分析表，</a:t>
            </a:r>
            <a:r>
              <a:rPr lang="en-US" altLang="zh-CN" sz="2400"/>
              <a:t>action</a:t>
            </a:r>
            <a:r>
              <a:rPr lang="zh-CN" altLang="en-US" sz="2400"/>
              <a:t>和</a:t>
            </a:r>
            <a:r>
              <a:rPr lang="en-US" altLang="zh-CN" sz="2400"/>
              <a:t>goto</a:t>
            </a:r>
            <a:r>
              <a:rPr lang="zh-CN" altLang="en-US" sz="2400"/>
              <a:t>函数</a:t>
            </a:r>
            <a:endParaRPr lang="zh-CN" altLang="en-US" sz="24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  <a:endParaRPr lang="zh-CN" altLang="en-US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构造</a:t>
            </a:r>
            <a:r>
              <a:rPr lang="en-US" altLang="zh-CN" sz="2400"/>
              <a:t>LR(1)</a:t>
            </a:r>
            <a:r>
              <a:rPr lang="zh-CN" altLang="en-US" sz="2400"/>
              <a:t>项目集规范族</a:t>
            </a:r>
            <a:r>
              <a:rPr lang="en-US" altLang="zh-CN" sz="2400"/>
              <a:t>C={I</a:t>
            </a:r>
            <a:r>
              <a:rPr lang="en-US" altLang="zh-CN" sz="2400" baseline="-25000"/>
              <a:t>0</a:t>
            </a:r>
            <a:r>
              <a:rPr lang="en-US" altLang="zh-CN" sz="2400"/>
              <a:t>, I</a:t>
            </a:r>
            <a:r>
              <a:rPr lang="en-US" altLang="zh-CN" sz="2400" baseline="-25000"/>
              <a:t>1</a:t>
            </a:r>
            <a:r>
              <a:rPr lang="en-US" altLang="zh-CN" sz="2400"/>
              <a:t>, …, I</a:t>
            </a:r>
            <a:r>
              <a:rPr lang="en-US" altLang="zh-CN" sz="2400" baseline="-25000"/>
              <a:t>n</a:t>
            </a:r>
            <a:r>
              <a:rPr lang="en-US" altLang="zh-CN" sz="2400"/>
              <a:t>}</a:t>
            </a:r>
            <a:endParaRPr lang="en-US" altLang="zh-CN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将同心集合并</a:t>
            </a:r>
            <a:endParaRPr lang="zh-CN" altLang="en-US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令</a:t>
            </a:r>
            <a:r>
              <a:rPr lang="en-US" altLang="zh-CN" sz="2400"/>
              <a:t>C’={J</a:t>
            </a:r>
            <a:r>
              <a:rPr lang="en-US" altLang="zh-CN" sz="2400" baseline="-25000"/>
              <a:t>0</a:t>
            </a:r>
            <a:r>
              <a:rPr lang="en-US" altLang="zh-CN" sz="2400"/>
              <a:t>, J</a:t>
            </a:r>
            <a:r>
              <a:rPr lang="en-US" altLang="zh-CN" sz="2400" baseline="-25000"/>
              <a:t>1</a:t>
            </a:r>
            <a:r>
              <a:rPr lang="en-US" altLang="zh-CN" sz="2400"/>
              <a:t>, …, J</a:t>
            </a:r>
            <a:r>
              <a:rPr lang="en-US" altLang="zh-CN" sz="2400" baseline="-25000"/>
              <a:t>m</a:t>
            </a:r>
            <a:r>
              <a:rPr lang="en-US" altLang="zh-CN" sz="2400"/>
              <a:t>}</a:t>
            </a:r>
            <a:r>
              <a:rPr lang="zh-CN" altLang="en-US" sz="2400"/>
              <a:t>为合并后项目集，</a:t>
            </a:r>
            <a:r>
              <a:rPr lang="en-US" altLang="zh-CN" sz="2400"/>
              <a:t>action</a:t>
            </a:r>
            <a:r>
              <a:rPr lang="zh-CN" altLang="en-US" sz="2400"/>
              <a:t>函数的构造同算法</a:t>
            </a:r>
            <a:r>
              <a:rPr lang="en-US" altLang="zh-CN" sz="2400"/>
              <a:t>4.10</a:t>
            </a:r>
            <a:r>
              <a:rPr lang="zh-CN" altLang="en-US" sz="2400"/>
              <a:t>，若有冲突，失败</a:t>
            </a:r>
            <a:endParaRPr lang="zh-CN" altLang="en-US" sz="24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令</a:t>
            </a:r>
            <a:r>
              <a:rPr lang="en-US" altLang="zh-CN" sz="2400"/>
              <a:t>J=I</a:t>
            </a:r>
            <a:r>
              <a:rPr lang="en-US" altLang="zh-CN" sz="2400" baseline="-25000"/>
              <a:t>1</a:t>
            </a:r>
            <a:r>
              <a:rPr lang="en-US" altLang="zh-CN" sz="2400"/>
              <a:t>∪I</a:t>
            </a:r>
            <a:r>
              <a:rPr lang="en-US" altLang="zh-CN" sz="2400" baseline="-25000"/>
              <a:t>2</a:t>
            </a:r>
            <a:r>
              <a:rPr lang="en-US" altLang="zh-CN" sz="2400"/>
              <a:t>∪…∪I</a:t>
            </a:r>
            <a:r>
              <a:rPr lang="en-US" altLang="zh-CN" sz="2400" baseline="-25000"/>
              <a:t>k</a:t>
            </a:r>
            <a:r>
              <a:rPr lang="zh-CN" altLang="en-US" sz="2400"/>
              <a:t>，</a:t>
            </a:r>
            <a:r>
              <a:rPr lang="en-US" altLang="zh-CN" sz="2400"/>
              <a:t>I</a:t>
            </a:r>
            <a:r>
              <a:rPr lang="en-US" altLang="zh-CN" sz="2400" baseline="-25000"/>
              <a:t>1</a:t>
            </a:r>
            <a:r>
              <a:rPr lang="en-US" altLang="zh-CN" sz="2400"/>
              <a:t>,I</a:t>
            </a:r>
            <a:r>
              <a:rPr lang="en-US" altLang="zh-CN" sz="2400" baseline="-25000"/>
              <a:t>2</a:t>
            </a:r>
            <a:r>
              <a:rPr lang="en-US" altLang="zh-CN" sz="2400"/>
              <a:t>,…,I</a:t>
            </a:r>
            <a:r>
              <a:rPr lang="en-US" altLang="zh-CN" sz="2400" baseline="-25000"/>
              <a:t>k</a:t>
            </a:r>
            <a:r>
              <a:rPr lang="zh-CN" altLang="en-US" sz="2400"/>
              <a:t>心相同，因此</a:t>
            </a:r>
            <a:r>
              <a:rPr lang="en-US" altLang="zh-CN" sz="2400"/>
              <a:t>goto(I</a:t>
            </a:r>
            <a:r>
              <a:rPr lang="en-US" altLang="zh-CN" sz="2400" baseline="-25000"/>
              <a:t>1</a:t>
            </a:r>
            <a:r>
              <a:rPr lang="en-US" altLang="zh-CN" sz="2400"/>
              <a:t>,X), goto(I</a:t>
            </a:r>
            <a:r>
              <a:rPr lang="en-US" altLang="zh-CN" sz="2400" baseline="-25000"/>
              <a:t>2</a:t>
            </a:r>
            <a:r>
              <a:rPr lang="en-US" altLang="zh-CN" sz="2400"/>
              <a:t>,X),…,goto(I</a:t>
            </a:r>
            <a:r>
              <a:rPr lang="en-US" altLang="zh-CN" sz="2400" baseline="-25000"/>
              <a:t>k</a:t>
            </a:r>
            <a:r>
              <a:rPr lang="en-US" altLang="zh-CN" sz="2400"/>
              <a:t>,X)</a:t>
            </a:r>
            <a:r>
              <a:rPr lang="zh-CN" altLang="en-US" sz="2400"/>
              <a:t>心也相同，令它们合并结果为</a:t>
            </a:r>
            <a:r>
              <a:rPr lang="en-US" altLang="zh-CN" sz="2400"/>
              <a:t>K</a:t>
            </a:r>
            <a:r>
              <a:rPr lang="zh-CN" altLang="en-US" sz="2400"/>
              <a:t>，则</a:t>
            </a:r>
            <a:r>
              <a:rPr lang="en-US" altLang="zh-CN" sz="2400"/>
              <a:t>goto(J, X)=K</a:t>
            </a:r>
            <a:endParaRPr lang="en-US" altLang="zh-CN" sz="24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4.45</a:t>
            </a:r>
            <a:endParaRPr lang="en-US" altLang="zh-CN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r>
              <a:rPr lang="zh-CN" altLang="en-US"/>
              <a:t>文法，三对项目集合并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36</a:t>
            </a:r>
            <a:r>
              <a:rPr lang="en-US" altLang="zh-CN" sz="2400">
                <a:sym typeface="Symbol" panose="05050102010706020507" pitchFamily="18" charset="2"/>
              </a:rPr>
              <a:t>={[C c·C, c/d/$], [C ·cC, c/d/$],[C ·d, c/d/$]}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47</a:t>
            </a:r>
            <a:r>
              <a:rPr lang="en-US" altLang="zh-CN" sz="2400">
                <a:sym typeface="Symbol" panose="05050102010706020507" pitchFamily="18" charset="2"/>
              </a:rPr>
              <a:t>={[C d·, c/d/$]}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89</a:t>
            </a:r>
            <a:r>
              <a:rPr lang="en-US" altLang="zh-CN" sz="2400">
                <a:sym typeface="Symbol" panose="05050102010706020507" pitchFamily="18" charset="2"/>
              </a:rPr>
              <a:t>={[C cC·, c/d/$]}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115716" name="Line 4"/>
          <p:cNvSpPr>
            <a:spLocks noChangeShapeType="1"/>
          </p:cNvSpPr>
          <p:nvPr/>
        </p:nvSpPr>
        <p:spPr bwMode="auto">
          <a:xfrm>
            <a:off x="4460875" y="24384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7" name="Line 5"/>
          <p:cNvSpPr>
            <a:spLocks noChangeShapeType="1"/>
          </p:cNvSpPr>
          <p:nvPr/>
        </p:nvSpPr>
        <p:spPr bwMode="auto">
          <a:xfrm>
            <a:off x="4460875" y="25146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>
            <a:off x="5146675" y="2895600"/>
            <a:ext cx="396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>
            <a:off x="4460875" y="32004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0" name="Line 8"/>
          <p:cNvSpPr>
            <a:spLocks noChangeShapeType="1"/>
          </p:cNvSpPr>
          <p:nvPr/>
        </p:nvSpPr>
        <p:spPr bwMode="auto">
          <a:xfrm>
            <a:off x="9109075" y="2438400"/>
            <a:ext cx="0" cy="335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1" name="Line 9"/>
          <p:cNvSpPr>
            <a:spLocks noChangeShapeType="1"/>
          </p:cNvSpPr>
          <p:nvPr/>
        </p:nvSpPr>
        <p:spPr bwMode="auto">
          <a:xfrm>
            <a:off x="5146675" y="25146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2" name="Line 10"/>
          <p:cNvSpPr>
            <a:spLocks noChangeShapeType="1"/>
          </p:cNvSpPr>
          <p:nvPr/>
        </p:nvSpPr>
        <p:spPr bwMode="auto">
          <a:xfrm>
            <a:off x="7737475" y="25146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4460875" y="26670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  <a:endParaRPr kumimoji="0" lang="zh-CN" altLang="en-US" sz="2000" b="1"/>
          </a:p>
        </p:txBody>
      </p:sp>
      <p:sp>
        <p:nvSpPr>
          <p:cNvPr id="115724" name="Text Box 12"/>
          <p:cNvSpPr txBox="1">
            <a:spLocks noChangeArrowheads="1"/>
          </p:cNvSpPr>
          <p:nvPr/>
        </p:nvSpPr>
        <p:spPr bwMode="auto">
          <a:xfrm>
            <a:off x="5984875" y="2514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  <a:endParaRPr kumimoji="0" lang="en-US" altLang="zh-CN" sz="2000" b="1"/>
          </a:p>
        </p:txBody>
      </p:sp>
      <p:sp>
        <p:nvSpPr>
          <p:cNvPr id="115725" name="Text Box 13"/>
          <p:cNvSpPr txBox="1">
            <a:spLocks noChangeArrowheads="1"/>
          </p:cNvSpPr>
          <p:nvPr/>
        </p:nvSpPr>
        <p:spPr bwMode="auto">
          <a:xfrm>
            <a:off x="5299075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c</a:t>
            </a:r>
            <a:endParaRPr kumimoji="0" lang="en-US" altLang="zh-CN" sz="2000"/>
          </a:p>
        </p:txBody>
      </p:sp>
      <p:sp>
        <p:nvSpPr>
          <p:cNvPr id="115726" name="Text Box 14"/>
          <p:cNvSpPr txBox="1">
            <a:spLocks noChangeArrowheads="1"/>
          </p:cNvSpPr>
          <p:nvPr/>
        </p:nvSpPr>
        <p:spPr bwMode="auto">
          <a:xfrm>
            <a:off x="6151563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d</a:t>
            </a:r>
            <a:endParaRPr kumimoji="0" lang="en-US" altLang="zh-CN" sz="2000"/>
          </a:p>
        </p:txBody>
      </p:sp>
      <p:sp>
        <p:nvSpPr>
          <p:cNvPr id="115727" name="Text Box 15"/>
          <p:cNvSpPr txBox="1">
            <a:spLocks noChangeArrowheads="1"/>
          </p:cNvSpPr>
          <p:nvPr/>
        </p:nvSpPr>
        <p:spPr bwMode="auto">
          <a:xfrm>
            <a:off x="7005638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115728" name="Text Box 16"/>
          <p:cNvSpPr txBox="1">
            <a:spLocks noChangeArrowheads="1"/>
          </p:cNvSpPr>
          <p:nvPr/>
        </p:nvSpPr>
        <p:spPr bwMode="auto">
          <a:xfrm>
            <a:off x="4613275" y="3200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  <a:endParaRPr kumimoji="0" lang="en-US" altLang="zh-CN" sz="2000" b="1"/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4613275" y="3581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  <a:endParaRPr kumimoji="0" lang="en-US" altLang="zh-CN" sz="2000" b="1"/>
          </a:p>
        </p:txBody>
      </p:sp>
      <p:sp>
        <p:nvSpPr>
          <p:cNvPr id="115730" name="Text Box 18"/>
          <p:cNvSpPr txBox="1">
            <a:spLocks noChangeArrowheads="1"/>
          </p:cNvSpPr>
          <p:nvPr/>
        </p:nvSpPr>
        <p:spPr bwMode="auto">
          <a:xfrm>
            <a:off x="4613275" y="3962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  <a:endParaRPr kumimoji="0" lang="en-US" altLang="zh-CN" sz="2000" b="1"/>
          </a:p>
        </p:txBody>
      </p:sp>
      <p:sp>
        <p:nvSpPr>
          <p:cNvPr id="115731" name="Text Box 19"/>
          <p:cNvSpPr txBox="1">
            <a:spLocks noChangeArrowheads="1"/>
          </p:cNvSpPr>
          <p:nvPr/>
        </p:nvSpPr>
        <p:spPr bwMode="auto">
          <a:xfrm>
            <a:off x="4537075" y="4343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36</a:t>
            </a:r>
            <a:endParaRPr kumimoji="0" lang="en-US" altLang="zh-CN" sz="2000" b="1"/>
          </a:p>
        </p:txBody>
      </p:sp>
      <p:sp>
        <p:nvSpPr>
          <p:cNvPr id="115732" name="Text Box 20"/>
          <p:cNvSpPr txBox="1">
            <a:spLocks noChangeArrowheads="1"/>
          </p:cNvSpPr>
          <p:nvPr/>
        </p:nvSpPr>
        <p:spPr bwMode="auto">
          <a:xfrm>
            <a:off x="4489450" y="4724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47</a:t>
            </a:r>
            <a:endParaRPr kumimoji="0" lang="en-US" altLang="zh-CN" sz="2000" b="1"/>
          </a:p>
        </p:txBody>
      </p:sp>
      <p:sp>
        <p:nvSpPr>
          <p:cNvPr id="115733" name="Line 21"/>
          <p:cNvSpPr>
            <a:spLocks noChangeShapeType="1"/>
          </p:cNvSpPr>
          <p:nvPr/>
        </p:nvSpPr>
        <p:spPr bwMode="auto">
          <a:xfrm>
            <a:off x="4460875" y="2438400"/>
            <a:ext cx="0" cy="335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34" name="Text Box 22"/>
          <p:cNvSpPr txBox="1">
            <a:spLocks noChangeArrowheads="1"/>
          </p:cNvSpPr>
          <p:nvPr/>
        </p:nvSpPr>
        <p:spPr bwMode="auto">
          <a:xfrm>
            <a:off x="4613275" y="5105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  <a:endParaRPr kumimoji="0" lang="en-US" altLang="zh-CN" sz="2000" b="1"/>
          </a:p>
        </p:txBody>
      </p:sp>
      <p:sp>
        <p:nvSpPr>
          <p:cNvPr id="115735" name="Text Box 25"/>
          <p:cNvSpPr txBox="1">
            <a:spLocks noChangeArrowheads="1"/>
          </p:cNvSpPr>
          <p:nvPr/>
        </p:nvSpPr>
        <p:spPr bwMode="auto">
          <a:xfrm>
            <a:off x="4518025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89</a:t>
            </a:r>
            <a:endParaRPr kumimoji="0" lang="en-US" altLang="zh-CN" sz="2000" b="1"/>
          </a:p>
        </p:txBody>
      </p:sp>
      <p:sp>
        <p:nvSpPr>
          <p:cNvPr id="115736" name="Line 27"/>
          <p:cNvSpPr>
            <a:spLocks noChangeShapeType="1"/>
          </p:cNvSpPr>
          <p:nvPr/>
        </p:nvSpPr>
        <p:spPr bwMode="auto">
          <a:xfrm>
            <a:off x="4460875" y="5791200"/>
            <a:ext cx="4648200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37" name="Text Box 28"/>
          <p:cNvSpPr txBox="1">
            <a:spLocks noChangeArrowheads="1"/>
          </p:cNvSpPr>
          <p:nvPr/>
        </p:nvSpPr>
        <p:spPr bwMode="auto">
          <a:xfrm>
            <a:off x="7813675" y="2819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  <a:endParaRPr kumimoji="0" lang="en-US" altLang="zh-CN" sz="2000" b="1"/>
          </a:p>
        </p:txBody>
      </p:sp>
      <p:sp>
        <p:nvSpPr>
          <p:cNvPr id="115738" name="Text Box 29"/>
          <p:cNvSpPr txBox="1">
            <a:spLocks noChangeArrowheads="1"/>
          </p:cNvSpPr>
          <p:nvPr/>
        </p:nvSpPr>
        <p:spPr bwMode="auto">
          <a:xfrm>
            <a:off x="8515350" y="2819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</a:t>
            </a:r>
            <a:endParaRPr kumimoji="0" lang="en-US" altLang="zh-CN" sz="2000" b="1"/>
          </a:p>
        </p:txBody>
      </p:sp>
      <p:sp>
        <p:nvSpPr>
          <p:cNvPr id="115739" name="Text Box 30"/>
          <p:cNvSpPr txBox="1">
            <a:spLocks noChangeArrowheads="1"/>
          </p:cNvSpPr>
          <p:nvPr/>
        </p:nvSpPr>
        <p:spPr bwMode="auto">
          <a:xfrm>
            <a:off x="8118475" y="2514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  <a:endParaRPr kumimoji="0" lang="en-US" altLang="zh-CN" sz="2000" b="1"/>
          </a:p>
        </p:txBody>
      </p:sp>
      <p:sp>
        <p:nvSpPr>
          <p:cNvPr id="115740" name="Text Box 31"/>
          <p:cNvSpPr txBox="1">
            <a:spLocks noChangeArrowheads="1"/>
          </p:cNvSpPr>
          <p:nvPr/>
        </p:nvSpPr>
        <p:spPr bwMode="auto">
          <a:xfrm>
            <a:off x="5222875" y="3203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s36</a:t>
            </a:r>
            <a:endParaRPr kumimoji="0" lang="en-US" altLang="zh-CN" sz="2000"/>
          </a:p>
        </p:txBody>
      </p:sp>
      <p:sp>
        <p:nvSpPr>
          <p:cNvPr id="115741" name="Text Box 32"/>
          <p:cNvSpPr txBox="1">
            <a:spLocks noChangeArrowheads="1"/>
          </p:cNvSpPr>
          <p:nvPr/>
        </p:nvSpPr>
        <p:spPr bwMode="auto">
          <a:xfrm>
            <a:off x="6061075" y="3203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s47</a:t>
            </a:r>
            <a:endParaRPr kumimoji="0" lang="en-US" altLang="zh-CN" sz="2000"/>
          </a:p>
        </p:txBody>
      </p:sp>
      <p:sp>
        <p:nvSpPr>
          <p:cNvPr id="115742" name="Text Box 33"/>
          <p:cNvSpPr txBox="1">
            <a:spLocks noChangeArrowheads="1"/>
          </p:cNvSpPr>
          <p:nvPr/>
        </p:nvSpPr>
        <p:spPr bwMode="auto">
          <a:xfrm>
            <a:off x="7813675" y="3200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  <a:endParaRPr kumimoji="0" lang="en-US" altLang="zh-CN" sz="2000"/>
          </a:p>
        </p:txBody>
      </p:sp>
      <p:sp>
        <p:nvSpPr>
          <p:cNvPr id="115743" name="Text Box 34"/>
          <p:cNvSpPr txBox="1">
            <a:spLocks noChangeArrowheads="1"/>
          </p:cNvSpPr>
          <p:nvPr/>
        </p:nvSpPr>
        <p:spPr bwMode="auto">
          <a:xfrm>
            <a:off x="8515350" y="3200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115744" name="Text Box 35"/>
          <p:cNvSpPr txBox="1">
            <a:spLocks noChangeArrowheads="1"/>
          </p:cNvSpPr>
          <p:nvPr/>
        </p:nvSpPr>
        <p:spPr bwMode="auto">
          <a:xfrm>
            <a:off x="6899275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  <a:endParaRPr kumimoji="0" lang="en-US" altLang="zh-CN" sz="2000"/>
          </a:p>
        </p:txBody>
      </p:sp>
      <p:sp>
        <p:nvSpPr>
          <p:cNvPr id="115745" name="Text Box 36"/>
          <p:cNvSpPr txBox="1">
            <a:spLocks noChangeArrowheads="1"/>
          </p:cNvSpPr>
          <p:nvPr/>
        </p:nvSpPr>
        <p:spPr bwMode="auto">
          <a:xfrm>
            <a:off x="5238750" y="394652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s36</a:t>
            </a:r>
            <a:endParaRPr kumimoji="0" lang="en-US" altLang="zh-CN" sz="2000"/>
          </a:p>
        </p:txBody>
      </p:sp>
      <p:sp>
        <p:nvSpPr>
          <p:cNvPr id="115746" name="Text Box 37"/>
          <p:cNvSpPr txBox="1">
            <a:spLocks noChangeArrowheads="1"/>
          </p:cNvSpPr>
          <p:nvPr/>
        </p:nvSpPr>
        <p:spPr bwMode="auto">
          <a:xfrm>
            <a:off x="6061075" y="39465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s47</a:t>
            </a:r>
            <a:endParaRPr kumimoji="0" lang="en-US" altLang="zh-CN" sz="2000"/>
          </a:p>
        </p:txBody>
      </p:sp>
      <p:sp>
        <p:nvSpPr>
          <p:cNvPr id="115747" name="Text Box 39"/>
          <p:cNvSpPr txBox="1">
            <a:spLocks noChangeArrowheads="1"/>
          </p:cNvSpPr>
          <p:nvPr/>
        </p:nvSpPr>
        <p:spPr bwMode="auto">
          <a:xfrm>
            <a:off x="5299075" y="4727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15748" name="Text Box 40"/>
          <p:cNvSpPr txBox="1">
            <a:spLocks noChangeArrowheads="1"/>
          </p:cNvSpPr>
          <p:nvPr/>
        </p:nvSpPr>
        <p:spPr bwMode="auto">
          <a:xfrm>
            <a:off x="6137275" y="4727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15749" name="Text Box 41"/>
          <p:cNvSpPr txBox="1">
            <a:spLocks noChangeArrowheads="1"/>
          </p:cNvSpPr>
          <p:nvPr/>
        </p:nvSpPr>
        <p:spPr bwMode="auto">
          <a:xfrm>
            <a:off x="8499475" y="3962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5</a:t>
            </a:r>
            <a:endParaRPr kumimoji="0" lang="en-US" altLang="zh-CN" sz="2000"/>
          </a:p>
        </p:txBody>
      </p:sp>
      <p:sp>
        <p:nvSpPr>
          <p:cNvPr id="115750" name="Text Box 42"/>
          <p:cNvSpPr txBox="1">
            <a:spLocks noChangeArrowheads="1"/>
          </p:cNvSpPr>
          <p:nvPr/>
        </p:nvSpPr>
        <p:spPr bwMode="auto">
          <a:xfrm>
            <a:off x="8499475" y="4343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89</a:t>
            </a:r>
            <a:endParaRPr kumimoji="0" lang="en-US" altLang="zh-CN" sz="2000"/>
          </a:p>
        </p:txBody>
      </p:sp>
      <p:sp>
        <p:nvSpPr>
          <p:cNvPr id="115751" name="Text Box 43"/>
          <p:cNvSpPr txBox="1">
            <a:spLocks noChangeArrowheads="1"/>
          </p:cNvSpPr>
          <p:nvPr/>
        </p:nvSpPr>
        <p:spPr bwMode="auto">
          <a:xfrm>
            <a:off x="7005638" y="5108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15752" name="Text Box 46"/>
          <p:cNvSpPr txBox="1">
            <a:spLocks noChangeArrowheads="1"/>
          </p:cNvSpPr>
          <p:nvPr/>
        </p:nvSpPr>
        <p:spPr bwMode="auto">
          <a:xfrm>
            <a:off x="6975475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15753" name="Text Box 47"/>
          <p:cNvSpPr txBox="1">
            <a:spLocks noChangeArrowheads="1"/>
          </p:cNvSpPr>
          <p:nvPr/>
        </p:nvSpPr>
        <p:spPr bwMode="auto">
          <a:xfrm>
            <a:off x="5222875" y="43434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s36</a:t>
            </a:r>
            <a:endParaRPr kumimoji="0" lang="en-US" altLang="zh-CN" sz="2000"/>
          </a:p>
        </p:txBody>
      </p:sp>
      <p:sp>
        <p:nvSpPr>
          <p:cNvPr id="115754" name="Text Box 48"/>
          <p:cNvSpPr txBox="1">
            <a:spLocks noChangeArrowheads="1"/>
          </p:cNvSpPr>
          <p:nvPr/>
        </p:nvSpPr>
        <p:spPr bwMode="auto">
          <a:xfrm>
            <a:off x="6061075" y="43434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s47</a:t>
            </a:r>
            <a:endParaRPr kumimoji="0" lang="en-US" altLang="zh-CN" sz="2000"/>
          </a:p>
        </p:txBody>
      </p:sp>
      <p:sp>
        <p:nvSpPr>
          <p:cNvPr id="115755" name="Text Box 51"/>
          <p:cNvSpPr txBox="1">
            <a:spLocks noChangeArrowheads="1"/>
          </p:cNvSpPr>
          <p:nvPr/>
        </p:nvSpPr>
        <p:spPr bwMode="auto">
          <a:xfrm>
            <a:off x="5299075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15756" name="Text Box 52"/>
          <p:cNvSpPr txBox="1">
            <a:spLocks noChangeArrowheads="1"/>
          </p:cNvSpPr>
          <p:nvPr/>
        </p:nvSpPr>
        <p:spPr bwMode="auto">
          <a:xfrm>
            <a:off x="6137275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15757" name="Text Box 53"/>
          <p:cNvSpPr txBox="1">
            <a:spLocks noChangeArrowheads="1"/>
          </p:cNvSpPr>
          <p:nvPr/>
        </p:nvSpPr>
        <p:spPr bwMode="auto">
          <a:xfrm>
            <a:off x="6975475" y="4724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15758" name="Line 4"/>
          <p:cNvSpPr>
            <a:spLocks noChangeShapeType="1"/>
          </p:cNvSpPr>
          <p:nvPr/>
        </p:nvSpPr>
        <p:spPr bwMode="auto">
          <a:xfrm>
            <a:off x="34925" y="3300413"/>
            <a:ext cx="42433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59" name="Line 5"/>
          <p:cNvSpPr>
            <a:spLocks noChangeShapeType="1"/>
          </p:cNvSpPr>
          <p:nvPr/>
        </p:nvSpPr>
        <p:spPr bwMode="auto">
          <a:xfrm>
            <a:off x="34925" y="3376613"/>
            <a:ext cx="42592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0" name="Line 6"/>
          <p:cNvSpPr>
            <a:spLocks noChangeShapeType="1"/>
          </p:cNvSpPr>
          <p:nvPr/>
        </p:nvSpPr>
        <p:spPr bwMode="auto">
          <a:xfrm>
            <a:off x="720725" y="3757613"/>
            <a:ext cx="3552825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1" name="Line 7"/>
          <p:cNvSpPr>
            <a:spLocks noChangeShapeType="1"/>
          </p:cNvSpPr>
          <p:nvPr/>
        </p:nvSpPr>
        <p:spPr bwMode="auto">
          <a:xfrm>
            <a:off x="34925" y="4062413"/>
            <a:ext cx="4238625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2" name="Line 8"/>
          <p:cNvSpPr>
            <a:spLocks noChangeShapeType="1"/>
          </p:cNvSpPr>
          <p:nvPr/>
        </p:nvSpPr>
        <p:spPr bwMode="auto">
          <a:xfrm>
            <a:off x="4284663" y="3300413"/>
            <a:ext cx="0" cy="335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3" name="Line 9"/>
          <p:cNvSpPr>
            <a:spLocks noChangeShapeType="1"/>
          </p:cNvSpPr>
          <p:nvPr/>
        </p:nvSpPr>
        <p:spPr bwMode="auto">
          <a:xfrm>
            <a:off x="720725" y="3376613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4" name="Line 10"/>
          <p:cNvSpPr>
            <a:spLocks noChangeShapeType="1"/>
          </p:cNvSpPr>
          <p:nvPr/>
        </p:nvSpPr>
        <p:spPr bwMode="auto">
          <a:xfrm>
            <a:off x="3059113" y="3376613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5" name="Text Box 11"/>
          <p:cNvSpPr txBox="1">
            <a:spLocks noChangeArrowheads="1"/>
          </p:cNvSpPr>
          <p:nvPr/>
        </p:nvSpPr>
        <p:spPr bwMode="auto">
          <a:xfrm>
            <a:off x="34925" y="3529013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  <a:endParaRPr kumimoji="0" lang="zh-CN" altLang="en-US" sz="2000" b="1"/>
          </a:p>
        </p:txBody>
      </p:sp>
      <p:sp>
        <p:nvSpPr>
          <p:cNvPr id="115766" name="Text Box 12"/>
          <p:cNvSpPr txBox="1">
            <a:spLocks noChangeArrowheads="1"/>
          </p:cNvSpPr>
          <p:nvPr/>
        </p:nvSpPr>
        <p:spPr bwMode="auto">
          <a:xfrm>
            <a:off x="1558925" y="3376613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  <a:endParaRPr kumimoji="0" lang="en-US" altLang="zh-CN" sz="2000" b="1"/>
          </a:p>
        </p:txBody>
      </p:sp>
      <p:sp>
        <p:nvSpPr>
          <p:cNvPr id="115767" name="Text Box 13"/>
          <p:cNvSpPr txBox="1">
            <a:spLocks noChangeArrowheads="1"/>
          </p:cNvSpPr>
          <p:nvPr/>
        </p:nvSpPr>
        <p:spPr bwMode="auto">
          <a:xfrm>
            <a:off x="873125" y="3684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c</a:t>
            </a:r>
            <a:endParaRPr kumimoji="0" lang="en-US" altLang="zh-CN" sz="2000"/>
          </a:p>
        </p:txBody>
      </p:sp>
      <p:sp>
        <p:nvSpPr>
          <p:cNvPr id="115768" name="Text Box 14"/>
          <p:cNvSpPr txBox="1">
            <a:spLocks noChangeArrowheads="1"/>
          </p:cNvSpPr>
          <p:nvPr/>
        </p:nvSpPr>
        <p:spPr bwMode="auto">
          <a:xfrm>
            <a:off x="1725613" y="3684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d</a:t>
            </a:r>
            <a:endParaRPr kumimoji="0" lang="en-US" altLang="zh-CN" sz="2000"/>
          </a:p>
        </p:txBody>
      </p:sp>
      <p:sp>
        <p:nvSpPr>
          <p:cNvPr id="115769" name="Text Box 15"/>
          <p:cNvSpPr txBox="1">
            <a:spLocks noChangeArrowheads="1"/>
          </p:cNvSpPr>
          <p:nvPr/>
        </p:nvSpPr>
        <p:spPr bwMode="auto">
          <a:xfrm>
            <a:off x="2579688" y="3684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115770" name="Text Box 16"/>
          <p:cNvSpPr txBox="1">
            <a:spLocks noChangeArrowheads="1"/>
          </p:cNvSpPr>
          <p:nvPr/>
        </p:nvSpPr>
        <p:spPr bwMode="auto">
          <a:xfrm>
            <a:off x="187325" y="40624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  <a:endParaRPr kumimoji="0" lang="en-US" altLang="zh-CN" sz="2000" b="1"/>
          </a:p>
        </p:txBody>
      </p:sp>
      <p:sp>
        <p:nvSpPr>
          <p:cNvPr id="115771" name="Text Box 17"/>
          <p:cNvSpPr txBox="1">
            <a:spLocks noChangeArrowheads="1"/>
          </p:cNvSpPr>
          <p:nvPr/>
        </p:nvSpPr>
        <p:spPr bwMode="auto">
          <a:xfrm>
            <a:off x="187325" y="44434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  <a:endParaRPr kumimoji="0" lang="en-US" altLang="zh-CN" sz="2000" b="1"/>
          </a:p>
        </p:txBody>
      </p:sp>
      <p:sp>
        <p:nvSpPr>
          <p:cNvPr id="115772" name="Text Box 18"/>
          <p:cNvSpPr txBox="1">
            <a:spLocks noChangeArrowheads="1"/>
          </p:cNvSpPr>
          <p:nvPr/>
        </p:nvSpPr>
        <p:spPr bwMode="auto">
          <a:xfrm>
            <a:off x="187325" y="48244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  <a:endParaRPr kumimoji="0" lang="en-US" altLang="zh-CN" sz="2000" b="1"/>
          </a:p>
        </p:txBody>
      </p:sp>
      <p:sp>
        <p:nvSpPr>
          <p:cNvPr id="115773" name="Text Box 19"/>
          <p:cNvSpPr txBox="1">
            <a:spLocks noChangeArrowheads="1"/>
          </p:cNvSpPr>
          <p:nvPr/>
        </p:nvSpPr>
        <p:spPr bwMode="auto">
          <a:xfrm>
            <a:off x="111125" y="5205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  <a:endParaRPr kumimoji="0" lang="en-US" altLang="zh-CN" sz="2000" b="1"/>
          </a:p>
        </p:txBody>
      </p:sp>
      <p:sp>
        <p:nvSpPr>
          <p:cNvPr id="115774" name="Text Box 20"/>
          <p:cNvSpPr txBox="1">
            <a:spLocks noChangeArrowheads="1"/>
          </p:cNvSpPr>
          <p:nvPr/>
        </p:nvSpPr>
        <p:spPr bwMode="auto">
          <a:xfrm>
            <a:off x="63500" y="5586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  <a:endParaRPr kumimoji="0" lang="en-US" altLang="zh-CN" sz="2000" b="1"/>
          </a:p>
        </p:txBody>
      </p:sp>
      <p:sp>
        <p:nvSpPr>
          <p:cNvPr id="115775" name="Line 21"/>
          <p:cNvSpPr>
            <a:spLocks noChangeShapeType="1"/>
          </p:cNvSpPr>
          <p:nvPr/>
        </p:nvSpPr>
        <p:spPr bwMode="auto">
          <a:xfrm>
            <a:off x="34925" y="3300413"/>
            <a:ext cx="0" cy="335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76" name="Text Box 22"/>
          <p:cNvSpPr txBox="1">
            <a:spLocks noChangeArrowheads="1"/>
          </p:cNvSpPr>
          <p:nvPr/>
        </p:nvSpPr>
        <p:spPr bwMode="auto">
          <a:xfrm>
            <a:off x="187325" y="59674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  <a:endParaRPr kumimoji="0" lang="en-US" altLang="zh-CN" sz="2000" b="1"/>
          </a:p>
        </p:txBody>
      </p:sp>
      <p:sp>
        <p:nvSpPr>
          <p:cNvPr id="115777" name="Text Box 25"/>
          <p:cNvSpPr txBox="1">
            <a:spLocks noChangeArrowheads="1"/>
          </p:cNvSpPr>
          <p:nvPr/>
        </p:nvSpPr>
        <p:spPr bwMode="auto">
          <a:xfrm>
            <a:off x="92075" y="62722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  <a:endParaRPr kumimoji="0" lang="en-US" altLang="zh-CN" sz="2000" b="1"/>
          </a:p>
        </p:txBody>
      </p:sp>
      <p:sp>
        <p:nvSpPr>
          <p:cNvPr id="115778" name="Line 27"/>
          <p:cNvSpPr>
            <a:spLocks noChangeShapeType="1"/>
          </p:cNvSpPr>
          <p:nvPr/>
        </p:nvSpPr>
        <p:spPr bwMode="auto">
          <a:xfrm>
            <a:off x="34925" y="6653213"/>
            <a:ext cx="4249738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79" name="Text Box 28"/>
          <p:cNvSpPr txBox="1">
            <a:spLocks noChangeArrowheads="1"/>
          </p:cNvSpPr>
          <p:nvPr/>
        </p:nvSpPr>
        <p:spPr bwMode="auto">
          <a:xfrm>
            <a:off x="3059113" y="3681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  <a:endParaRPr kumimoji="0" lang="en-US" altLang="zh-CN" sz="2000" b="1"/>
          </a:p>
        </p:txBody>
      </p:sp>
      <p:sp>
        <p:nvSpPr>
          <p:cNvPr id="115780" name="Text Box 29"/>
          <p:cNvSpPr txBox="1">
            <a:spLocks noChangeArrowheads="1"/>
          </p:cNvSpPr>
          <p:nvPr/>
        </p:nvSpPr>
        <p:spPr bwMode="auto">
          <a:xfrm>
            <a:off x="3760788" y="3681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</a:t>
            </a:r>
            <a:endParaRPr kumimoji="0" lang="en-US" altLang="zh-CN" sz="2000" b="1"/>
          </a:p>
        </p:txBody>
      </p:sp>
      <p:sp>
        <p:nvSpPr>
          <p:cNvPr id="115781" name="Text Box 30"/>
          <p:cNvSpPr txBox="1">
            <a:spLocks noChangeArrowheads="1"/>
          </p:cNvSpPr>
          <p:nvPr/>
        </p:nvSpPr>
        <p:spPr bwMode="auto">
          <a:xfrm>
            <a:off x="3363913" y="33766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  <a:endParaRPr kumimoji="0" lang="en-US" altLang="zh-CN" sz="2000" b="1"/>
          </a:p>
        </p:txBody>
      </p:sp>
      <p:sp>
        <p:nvSpPr>
          <p:cNvPr id="115782" name="Text Box 31"/>
          <p:cNvSpPr txBox="1">
            <a:spLocks noChangeArrowheads="1"/>
          </p:cNvSpPr>
          <p:nvPr/>
        </p:nvSpPr>
        <p:spPr bwMode="auto">
          <a:xfrm>
            <a:off x="796925" y="40655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15783" name="Text Box 32"/>
          <p:cNvSpPr txBox="1">
            <a:spLocks noChangeArrowheads="1"/>
          </p:cNvSpPr>
          <p:nvPr/>
        </p:nvSpPr>
        <p:spPr bwMode="auto">
          <a:xfrm>
            <a:off x="1635125" y="40655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15784" name="Text Box 33"/>
          <p:cNvSpPr txBox="1">
            <a:spLocks noChangeArrowheads="1"/>
          </p:cNvSpPr>
          <p:nvPr/>
        </p:nvSpPr>
        <p:spPr bwMode="auto">
          <a:xfrm>
            <a:off x="3059113" y="4062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  <a:endParaRPr kumimoji="0" lang="en-US" altLang="zh-CN" sz="2000"/>
          </a:p>
        </p:txBody>
      </p:sp>
      <p:sp>
        <p:nvSpPr>
          <p:cNvPr id="115785" name="Text Box 34"/>
          <p:cNvSpPr txBox="1">
            <a:spLocks noChangeArrowheads="1"/>
          </p:cNvSpPr>
          <p:nvPr/>
        </p:nvSpPr>
        <p:spPr bwMode="auto">
          <a:xfrm>
            <a:off x="3760788" y="4062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115786" name="Text Box 35"/>
          <p:cNvSpPr txBox="1">
            <a:spLocks noChangeArrowheads="1"/>
          </p:cNvSpPr>
          <p:nvPr/>
        </p:nvSpPr>
        <p:spPr bwMode="auto">
          <a:xfrm>
            <a:off x="2473325" y="44465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  <a:endParaRPr kumimoji="0" lang="en-US" altLang="zh-CN" sz="2000"/>
          </a:p>
        </p:txBody>
      </p:sp>
      <p:sp>
        <p:nvSpPr>
          <p:cNvPr id="115787" name="Text Box 36"/>
          <p:cNvSpPr txBox="1">
            <a:spLocks noChangeArrowheads="1"/>
          </p:cNvSpPr>
          <p:nvPr/>
        </p:nvSpPr>
        <p:spPr bwMode="auto">
          <a:xfrm>
            <a:off x="812800" y="4808538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15788" name="Text Box 37"/>
          <p:cNvSpPr txBox="1">
            <a:spLocks noChangeArrowheads="1"/>
          </p:cNvSpPr>
          <p:nvPr/>
        </p:nvSpPr>
        <p:spPr bwMode="auto">
          <a:xfrm>
            <a:off x="1635125" y="480853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15789" name="Text Box 39"/>
          <p:cNvSpPr txBox="1">
            <a:spLocks noChangeArrowheads="1"/>
          </p:cNvSpPr>
          <p:nvPr/>
        </p:nvSpPr>
        <p:spPr bwMode="auto">
          <a:xfrm>
            <a:off x="873125" y="5589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15790" name="Text Box 40"/>
          <p:cNvSpPr txBox="1">
            <a:spLocks noChangeArrowheads="1"/>
          </p:cNvSpPr>
          <p:nvPr/>
        </p:nvSpPr>
        <p:spPr bwMode="auto">
          <a:xfrm>
            <a:off x="1711325" y="5589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15791" name="Text Box 41"/>
          <p:cNvSpPr txBox="1">
            <a:spLocks noChangeArrowheads="1"/>
          </p:cNvSpPr>
          <p:nvPr/>
        </p:nvSpPr>
        <p:spPr bwMode="auto">
          <a:xfrm>
            <a:off x="3744913" y="4824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5</a:t>
            </a:r>
            <a:endParaRPr kumimoji="0" lang="en-US" altLang="zh-CN" sz="2000"/>
          </a:p>
        </p:txBody>
      </p:sp>
      <p:sp>
        <p:nvSpPr>
          <p:cNvPr id="115792" name="Text Box 42"/>
          <p:cNvSpPr txBox="1">
            <a:spLocks noChangeArrowheads="1"/>
          </p:cNvSpPr>
          <p:nvPr/>
        </p:nvSpPr>
        <p:spPr bwMode="auto">
          <a:xfrm>
            <a:off x="3744913" y="5205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6</a:t>
            </a:r>
            <a:endParaRPr kumimoji="0" lang="en-US" altLang="zh-CN" sz="2000"/>
          </a:p>
        </p:txBody>
      </p:sp>
      <p:sp>
        <p:nvSpPr>
          <p:cNvPr id="115793" name="Text Box 43"/>
          <p:cNvSpPr txBox="1">
            <a:spLocks noChangeArrowheads="1"/>
          </p:cNvSpPr>
          <p:nvPr/>
        </p:nvSpPr>
        <p:spPr bwMode="auto">
          <a:xfrm>
            <a:off x="2579688" y="5970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15794" name="Text Box 46"/>
          <p:cNvSpPr txBox="1">
            <a:spLocks noChangeArrowheads="1"/>
          </p:cNvSpPr>
          <p:nvPr/>
        </p:nvSpPr>
        <p:spPr bwMode="auto">
          <a:xfrm>
            <a:off x="2549525" y="62722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15795" name="Text Box 47"/>
          <p:cNvSpPr txBox="1">
            <a:spLocks noChangeArrowheads="1"/>
          </p:cNvSpPr>
          <p:nvPr/>
        </p:nvSpPr>
        <p:spPr bwMode="auto">
          <a:xfrm>
            <a:off x="796925" y="52054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15796" name="Text Box 48"/>
          <p:cNvSpPr txBox="1">
            <a:spLocks noChangeArrowheads="1"/>
          </p:cNvSpPr>
          <p:nvPr/>
        </p:nvSpPr>
        <p:spPr bwMode="auto">
          <a:xfrm>
            <a:off x="1635125" y="52054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15797" name="Text Box 51"/>
          <p:cNvSpPr txBox="1">
            <a:spLocks noChangeArrowheads="1"/>
          </p:cNvSpPr>
          <p:nvPr/>
        </p:nvSpPr>
        <p:spPr bwMode="auto">
          <a:xfrm>
            <a:off x="873125" y="62722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15798" name="Text Box 52"/>
          <p:cNvSpPr txBox="1">
            <a:spLocks noChangeArrowheads="1"/>
          </p:cNvSpPr>
          <p:nvPr/>
        </p:nvSpPr>
        <p:spPr bwMode="auto">
          <a:xfrm>
            <a:off x="1711325" y="62722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15799" name="Text Box 53"/>
          <p:cNvSpPr txBox="1">
            <a:spLocks noChangeArrowheads="1"/>
          </p:cNvSpPr>
          <p:nvPr/>
        </p:nvSpPr>
        <p:spPr bwMode="auto">
          <a:xfrm>
            <a:off x="2549525" y="5586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分析过程</a:t>
            </a:r>
            <a:endParaRPr lang="zh-CN" alt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对正确输入，</a:t>
            </a:r>
            <a:r>
              <a:rPr lang="en-US" altLang="zh-CN" sz="2800" dirty="0"/>
              <a:t>LALR</a:t>
            </a:r>
            <a:r>
              <a:rPr lang="zh-CN" altLang="en-US" sz="2800" dirty="0"/>
              <a:t>分析器与规范</a:t>
            </a:r>
            <a:r>
              <a:rPr lang="en-US" altLang="zh-CN" sz="2800" dirty="0"/>
              <a:t>LR</a:t>
            </a:r>
            <a:r>
              <a:rPr lang="zh-CN" altLang="en-US" sz="2800" dirty="0"/>
              <a:t>分析器分析过程完全一样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对错误输入，</a:t>
            </a:r>
            <a:r>
              <a:rPr lang="en-US" altLang="zh-CN" sz="2800" dirty="0"/>
              <a:t>LALR</a:t>
            </a:r>
            <a:r>
              <a:rPr lang="zh-CN" altLang="en-US" sz="2800" dirty="0"/>
              <a:t>会延迟报告错误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例</a:t>
            </a:r>
            <a:r>
              <a:rPr lang="en-US" altLang="zh-CN" sz="2400" dirty="0"/>
              <a:t>4.42</a:t>
            </a:r>
            <a:r>
              <a:rPr lang="zh-CN" altLang="en-US" sz="2400" dirty="0"/>
              <a:t>文法，输入串</a:t>
            </a:r>
            <a:r>
              <a:rPr lang="en-US" altLang="zh-CN" sz="2400" dirty="0" err="1"/>
              <a:t>ccd</a:t>
            </a:r>
            <a:r>
              <a:rPr lang="en-US" altLang="zh-CN" sz="2400" dirty="0"/>
              <a:t>$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规范</a:t>
            </a:r>
            <a:r>
              <a:rPr lang="en-US" altLang="zh-CN" sz="2400" dirty="0"/>
              <a:t>LR</a:t>
            </a:r>
            <a:r>
              <a:rPr lang="zh-CN" altLang="en-US" sz="2400" dirty="0"/>
              <a:t>：</a:t>
            </a:r>
            <a:r>
              <a:rPr lang="en-US" altLang="zh-CN" sz="2400" dirty="0"/>
              <a:t>0 c 3 c 3 d 4</a:t>
            </a:r>
            <a:r>
              <a:rPr lang="zh-CN" altLang="en-US" sz="2400" dirty="0"/>
              <a:t>，状态</a:t>
            </a:r>
            <a:r>
              <a:rPr lang="en-US" altLang="zh-CN" sz="2400" dirty="0"/>
              <a:t>4</a:t>
            </a:r>
            <a:r>
              <a:rPr lang="zh-CN" altLang="en-US" sz="2400" dirty="0"/>
              <a:t>发现错误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LALR</a:t>
            </a:r>
            <a:br>
              <a:rPr lang="en-US" altLang="zh-CN" sz="2400" dirty="0"/>
            </a:br>
            <a:r>
              <a:rPr lang="en-US" altLang="zh-CN" sz="2400" dirty="0"/>
              <a:t>0 c 36 c 36 d 47</a:t>
            </a:r>
            <a:r>
              <a:rPr lang="en-US" altLang="zh-CN" sz="2400" dirty="0">
                <a:sym typeface="Wingdings" panose="05000000000000000000" pitchFamily="2" charset="2"/>
              </a:rPr>
              <a:t>0 c 36 c 36 C 89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0 c 36 C 890 C 2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状态</a:t>
            </a:r>
            <a:r>
              <a:rPr lang="en-US" altLang="zh-CN" sz="2400" dirty="0"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ym typeface="Wingdings" panose="05000000000000000000" pitchFamily="2" charset="2"/>
              </a:rPr>
              <a:t>发现错误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4.7.6  LALR</a:t>
            </a:r>
            <a:r>
              <a:rPr lang="zh-CN" altLang="en-US" sz="3600"/>
              <a:t>分析表的高效构造方法</a:t>
            </a:r>
            <a:endParaRPr lang="zh-CN" altLang="en-US" sz="360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/>
              <a:t>状态集</a:t>
            </a:r>
            <a:r>
              <a:rPr lang="en-US" altLang="zh-CN"/>
              <a:t>I</a:t>
            </a:r>
            <a:r>
              <a:rPr lang="zh-CN" altLang="en-US"/>
              <a:t>可用其中的核项目表示</a:t>
            </a:r>
            <a:endParaRPr lang="zh-CN" altLang="en-US"/>
          </a:p>
          <a:p>
            <a:pPr eaLnBrk="1" hangingPunct="1"/>
            <a:r>
              <a:rPr lang="zh-CN" altLang="en-US"/>
              <a:t>分析表的计算可仅依赖核项目</a:t>
            </a:r>
            <a:endParaRPr lang="zh-CN" altLang="en-US"/>
          </a:p>
          <a:p>
            <a:pPr lvl="1" eaLnBrk="1" hangingPunct="1"/>
            <a:r>
              <a:rPr lang="en-US" altLang="zh-CN"/>
              <a:t>action</a:t>
            </a:r>
            <a:endParaRPr lang="en-US" altLang="zh-CN"/>
          </a:p>
          <a:p>
            <a:pPr lvl="2" eaLnBrk="1" hangingPunct="1"/>
            <a:r>
              <a:rPr lang="zh-CN" altLang="en-US">
                <a:sym typeface="Symbol" panose="05050102010706020507" pitchFamily="18" charset="2"/>
              </a:rPr>
              <a:t>归约</a:t>
            </a:r>
            <a:r>
              <a:rPr lang="en-US" altLang="zh-CN">
                <a:sym typeface="Symbol" panose="05050102010706020507" pitchFamily="18" charset="2"/>
              </a:rPr>
              <a:t>A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zh-CN" altLang="en-US">
                <a:sym typeface="Symbol" panose="05050102010706020507" pitchFamily="18" charset="2"/>
              </a:rPr>
              <a:t>，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>
                <a:ea typeface="Arial Unicode MS" pitchFamily="34" charset="-122"/>
                <a:sym typeface="Symbol" panose="05050102010706020507" pitchFamily="18" charset="2"/>
              </a:rPr>
              <a:t>≠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，必为核项目</a:t>
            </a:r>
            <a:endParaRPr lang="zh-CN" altLang="en-US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>
                <a:sym typeface="Symbol" panose="05050102010706020507" pitchFamily="18" charset="2"/>
              </a:rPr>
              <a:t>对输入符号</a:t>
            </a:r>
            <a:r>
              <a:rPr lang="en-US" altLang="zh-CN">
                <a:sym typeface="Symbol" panose="05050102010706020507" pitchFamily="18" charset="2"/>
              </a:rPr>
              <a:t>a</a:t>
            </a:r>
            <a:r>
              <a:rPr lang="zh-CN" altLang="en-US">
                <a:sym typeface="Symbol" panose="05050102010706020507" pitchFamily="18" charset="2"/>
              </a:rPr>
              <a:t>归约</a:t>
            </a:r>
            <a:r>
              <a:rPr lang="en-US" altLang="zh-CN">
                <a:sym typeface="Symbol" panose="05050102010706020507" pitchFamily="18" charset="2"/>
              </a:rPr>
              <a:t>A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，当且仅当有核项目</a:t>
            </a:r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</a:t>
            </a:r>
            <a:r>
              <a:rPr lang="zh-CN" altLang="en-US">
                <a:sym typeface="Symbol" panose="05050102010706020507" pitchFamily="18" charset="2"/>
              </a:rPr>
              <a:t>， 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kumimoji="0" lang="en-US" altLang="zh-CN">
                <a:sym typeface="Symbol" panose="05050102010706020507" pitchFamily="18" charset="2"/>
              </a:rPr>
              <a:t>A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zh-CN" altLang="en-US">
                <a:sym typeface="Symbol" panose="05050102010706020507" pitchFamily="18" charset="2"/>
              </a:rPr>
              <a:t>，且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FIRST(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hd</a:t>
            </a:r>
            <a:r>
              <a:rPr kumimoji="0" lang="en-US" altLang="zh-CN">
                <a:sym typeface="Symbol" panose="05050102010706020507" pitchFamily="18" charset="2"/>
              </a:rPr>
              <a:t>b)</a:t>
            </a:r>
            <a:endParaRPr kumimoji="0" lang="en-US" altLang="zh-CN">
              <a:sym typeface="Symbol" panose="05050102010706020507" pitchFamily="18" charset="2"/>
            </a:endParaRPr>
          </a:p>
          <a:p>
            <a:pPr lvl="2" eaLnBrk="1" hangingPunct="1"/>
            <a:r>
              <a:rPr kumimoji="0" lang="zh-CN" altLang="en-US">
                <a:sym typeface="Symbol" panose="05050102010706020507" pitchFamily="18" charset="2"/>
              </a:rPr>
              <a:t>若有核项目</a:t>
            </a:r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</a:t>
            </a:r>
            <a:r>
              <a:rPr lang="zh-CN" altLang="en-US">
                <a:sym typeface="Symbol" panose="05050102010706020507" pitchFamily="18" charset="2"/>
              </a:rPr>
              <a:t>，存在推导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kumimoji="0" lang="en-US" altLang="zh-CN">
                <a:sym typeface="Symbol" panose="05050102010706020507" pitchFamily="18" charset="2"/>
              </a:rPr>
              <a:t>ax</a:t>
            </a:r>
            <a:r>
              <a:rPr kumimoji="0" lang="zh-CN" altLang="en-US">
                <a:sym typeface="Symbol" panose="05050102010706020507" pitchFamily="18" charset="2"/>
              </a:rPr>
              <a:t>，其最后一步不使用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产生式</a:t>
            </a:r>
            <a:r>
              <a:rPr lang="zh-CN" altLang="en-US">
                <a:sym typeface="Wingdings" panose="05000000000000000000" pitchFamily="2" charset="2"/>
              </a:rPr>
              <a:t>移进</a:t>
            </a:r>
            <a:r>
              <a:rPr lang="en-US" altLang="zh-CN">
                <a:sym typeface="Wingdings" panose="05000000000000000000" pitchFamily="2" charset="2"/>
              </a:rPr>
              <a:t>a</a:t>
            </a:r>
            <a:endParaRPr lang="en-US" altLang="zh-CN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goto</a:t>
            </a:r>
            <a:endParaRPr lang="en-US" altLang="zh-CN"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·X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b]—I</a:t>
            </a:r>
            <a:r>
              <a:rPr lang="zh-CN" altLang="en-US">
                <a:sym typeface="Symbol" panose="05050102010706020507" pitchFamily="18" charset="2"/>
              </a:rPr>
              <a:t>的核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———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X·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b]—</a:t>
            </a:r>
            <a:r>
              <a:rPr lang="zh-CN" altLang="en-US">
                <a:sym typeface="Symbol" panose="05050102010706020507" pitchFamily="18" charset="2"/>
              </a:rPr>
              <a:t>核</a:t>
            </a:r>
            <a:endParaRPr lang="zh-CN" altLang="en-US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b], C</a:t>
            </a:r>
            <a:r>
              <a:rPr kumimoji="0" lang="en-US" altLang="zh-CN">
                <a:sym typeface="Symbol" panose="05050102010706020507" pitchFamily="18" charset="2"/>
              </a:rPr>
              <a:t>A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———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Symbol" panose="05050102010706020507" pitchFamily="18" charset="2"/>
              </a:rPr>
              <a:t>[AX·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, a]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4495800" y="37941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  <a:endParaRPr kumimoji="0" lang="en-US" altLang="zh-CN" sz="2000"/>
          </a:p>
        </p:txBody>
      </p:sp>
      <p:sp>
        <p:nvSpPr>
          <p:cNvPr id="117765" name="Rectangle 5"/>
          <p:cNvSpPr>
            <a:spLocks noChangeArrowheads="1"/>
          </p:cNvSpPr>
          <p:nvPr/>
        </p:nvSpPr>
        <p:spPr bwMode="auto">
          <a:xfrm>
            <a:off x="4419600" y="40227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117766" name="Rectangle 6"/>
          <p:cNvSpPr>
            <a:spLocks noChangeArrowheads="1"/>
          </p:cNvSpPr>
          <p:nvPr/>
        </p:nvSpPr>
        <p:spPr bwMode="auto">
          <a:xfrm>
            <a:off x="7197725" y="42386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  <a:endParaRPr kumimoji="0" lang="en-US" altLang="zh-CN" sz="2000"/>
          </a:p>
        </p:txBody>
      </p:sp>
      <p:sp>
        <p:nvSpPr>
          <p:cNvPr id="117767" name="Rectangle 7"/>
          <p:cNvSpPr>
            <a:spLocks noChangeArrowheads="1"/>
          </p:cNvSpPr>
          <p:nvPr/>
        </p:nvSpPr>
        <p:spPr bwMode="auto">
          <a:xfrm>
            <a:off x="7162800" y="44799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117768" name="Rectangle 8"/>
          <p:cNvSpPr>
            <a:spLocks noChangeArrowheads="1"/>
          </p:cNvSpPr>
          <p:nvPr/>
        </p:nvSpPr>
        <p:spPr bwMode="auto">
          <a:xfrm>
            <a:off x="4905375" y="5486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folHlink"/>
                </a:solidFill>
              </a:rPr>
              <a:t>goto(I,X)</a:t>
            </a:r>
            <a:endParaRPr kumimoji="0" lang="en-US" altLang="zh-CN" sz="2000" b="1">
              <a:solidFill>
                <a:schemeClr val="folHlink"/>
              </a:solidFill>
            </a:endParaRPr>
          </a:p>
        </p:txBody>
      </p:sp>
      <p:sp>
        <p:nvSpPr>
          <p:cNvPr id="117769" name="Rectangle 9"/>
          <p:cNvSpPr>
            <a:spLocks noChangeArrowheads="1"/>
          </p:cNvSpPr>
          <p:nvPr/>
        </p:nvSpPr>
        <p:spPr bwMode="auto">
          <a:xfrm>
            <a:off x="4330700" y="59769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  <a:endParaRPr kumimoji="0" lang="en-US" altLang="zh-CN" sz="2000"/>
          </a:p>
        </p:txBody>
      </p:sp>
      <p:sp>
        <p:nvSpPr>
          <p:cNvPr id="117770" name="Rectangle 10"/>
          <p:cNvSpPr>
            <a:spLocks noChangeArrowheads="1"/>
          </p:cNvSpPr>
          <p:nvPr/>
        </p:nvSpPr>
        <p:spPr bwMode="auto">
          <a:xfrm>
            <a:off x="4252913" y="6189663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117771" name="Rectangle 11"/>
          <p:cNvSpPr>
            <a:spLocks noChangeArrowheads="1"/>
          </p:cNvSpPr>
          <p:nvPr/>
        </p:nvSpPr>
        <p:spPr bwMode="auto">
          <a:xfrm>
            <a:off x="4953000" y="59150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folHlink"/>
                </a:solidFill>
              </a:rPr>
              <a:t>goto(I,X)</a:t>
            </a:r>
            <a:endParaRPr kumimoji="0" lang="en-US" altLang="zh-CN" sz="2000" b="1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4.46</a:t>
            </a:r>
            <a:endParaRPr lang="en-US" altLang="zh-CN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</a:pPr>
            <a:r>
              <a:rPr kumimoji="0" lang="zh-CN" altLang="en-US"/>
              <a:t>考虑文法</a:t>
            </a:r>
            <a:endParaRPr kumimoji="0" lang="zh-CN" altLang="en-US"/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/>
              <a:t>(0)  S’ </a:t>
            </a:r>
            <a:r>
              <a:rPr kumimoji="0" lang="en-US" altLang="zh-CN">
                <a:sym typeface="Symbol" panose="05050102010706020507" pitchFamily="18" charset="2"/>
              </a:rPr>
              <a:t> S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/>
              <a:t>(1)  S </a:t>
            </a:r>
            <a:r>
              <a:rPr kumimoji="0" lang="en-US" altLang="zh-CN">
                <a:sym typeface="Symbol" panose="05050102010706020507" pitchFamily="18" charset="2"/>
              </a:rPr>
              <a:t> L </a:t>
            </a:r>
            <a:r>
              <a:rPr kumimoji="0"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>
                <a:sym typeface="Symbol" panose="05050102010706020507" pitchFamily="18" charset="2"/>
              </a:rPr>
              <a:t> R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/>
              <a:t>(2)</a:t>
            </a:r>
            <a:r>
              <a:rPr kumimoji="0" lang="en-US" altLang="zh-CN">
                <a:sym typeface="Symbol" panose="05050102010706020507" pitchFamily="18" charset="2"/>
              </a:rPr>
              <a:t>  </a:t>
            </a:r>
            <a:r>
              <a:rPr kumimoji="0" lang="en-US" altLang="zh-CN"/>
              <a:t>S </a:t>
            </a:r>
            <a:r>
              <a:rPr kumimoji="0" lang="en-US" altLang="zh-CN">
                <a:sym typeface="Symbol" panose="05050102010706020507" pitchFamily="18" charset="2"/>
              </a:rPr>
              <a:t> R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(3)</a:t>
            </a:r>
            <a:r>
              <a:rPr kumimoji="0" lang="en-US" altLang="zh-CN">
                <a:sym typeface="Symbol" panose="05050102010706020507" pitchFamily="18" charset="2"/>
              </a:rPr>
              <a:t>  L  </a:t>
            </a:r>
            <a:r>
              <a:rPr kumimoji="0"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>
                <a:sym typeface="Symbol" panose="05050102010706020507" pitchFamily="18" charset="2"/>
              </a:rPr>
              <a:t> R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(4)</a:t>
            </a:r>
            <a:r>
              <a:rPr kumimoji="0"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  </a:t>
            </a:r>
            <a:r>
              <a:rPr kumimoji="0" lang="en-US" altLang="zh-CN">
                <a:sym typeface="Symbol" panose="05050102010706020507" pitchFamily="18" charset="2"/>
              </a:rPr>
              <a:t>L </a:t>
            </a:r>
            <a:r>
              <a:rPr kumimoji="0"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 id</a:t>
            </a: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(5)</a:t>
            </a:r>
            <a:r>
              <a:rPr kumimoji="0" lang="en-US" altLang="zh-CN">
                <a:sym typeface="Symbol" panose="05050102010706020507" pitchFamily="18" charset="2"/>
              </a:rPr>
              <a:t>  R  L</a:t>
            </a:r>
            <a:endParaRPr lang="en-US" altLang="zh-CN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4.46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LR(0)</a:t>
            </a:r>
            <a:r>
              <a:rPr kumimoji="0" lang="zh-CN" altLang="en-US" sz="2400"/>
              <a:t>项目集的核，这些核项目的搜索符怎么得到？考察搜索符的产生方式</a:t>
            </a:r>
            <a:endParaRPr kumimoji="0"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0</a:t>
            </a:r>
            <a:r>
              <a:rPr kumimoji="0" lang="en-US" altLang="zh-CN" sz="2400"/>
              <a:t>={</a:t>
            </a:r>
            <a:r>
              <a:rPr kumimoji="0" lang="en-US" altLang="zh-CN" sz="2400" b="1"/>
              <a:t>S’</a:t>
            </a:r>
            <a:r>
              <a:rPr kumimoji="0" lang="en-US" altLang="zh-CN" sz="2400" b="1">
                <a:sym typeface="Symbol" panose="05050102010706020507" pitchFamily="18" charset="2"/>
              </a:rPr>
              <a:t>·S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1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S’ </a:t>
            </a:r>
            <a:r>
              <a:rPr kumimoji="0" lang="en-US" altLang="zh-CN" sz="2400" b="1">
                <a:sym typeface="Symbol" panose="05050102010706020507" pitchFamily="18" charset="2"/>
              </a:rPr>
              <a:t> S· 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2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 </a:t>
            </a:r>
            <a:r>
              <a:rPr kumimoji="0" lang="en-US" altLang="zh-CN" sz="2400" b="1">
                <a:sym typeface="Symbol" panose="05050102010706020507" pitchFamily="18" charset="2"/>
              </a:rPr>
              <a:t> L ·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>
                <a:sym typeface="Symbol" panose="05050102010706020507" pitchFamily="18" charset="2"/>
              </a:rPr>
              <a:t> R , R  L · 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3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 </a:t>
            </a:r>
            <a:r>
              <a:rPr kumimoji="0" lang="en-US" altLang="zh-CN" sz="2400" b="1">
                <a:sym typeface="Symbol" panose="05050102010706020507" pitchFamily="18" charset="2"/>
              </a:rPr>
              <a:t> R·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4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L </a:t>
            </a:r>
            <a:r>
              <a:rPr kumimoji="0" lang="en-US" altLang="zh-CN" sz="2400" b="1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·R 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5</a:t>
            </a:r>
            <a:r>
              <a:rPr kumimoji="0" lang="en-US" altLang="zh-CN" sz="2400"/>
              <a:t> = {</a:t>
            </a:r>
            <a:r>
              <a:rPr kumimoji="0" lang="en-US" altLang="zh-CN" sz="2400" b="1">
                <a:sym typeface="Symbol" panose="05050102010706020507" pitchFamily="18" charset="2"/>
              </a:rPr>
              <a:t>L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>
                <a:sym typeface="Symbol" panose="05050102010706020507" pitchFamily="18" charset="2"/>
              </a:rPr>
              <a:t>· 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6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 </a:t>
            </a:r>
            <a:r>
              <a:rPr kumimoji="0" lang="en-US" altLang="zh-CN" sz="2400" b="1">
                <a:sym typeface="Symbol" panose="05050102010706020507" pitchFamily="18" charset="2"/>
              </a:rPr>
              <a:t> L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= </a:t>
            </a:r>
            <a:r>
              <a:rPr kumimoji="0" lang="en-US" altLang="zh-CN" sz="2400" b="1">
                <a:sym typeface="Symbol" panose="05050102010706020507" pitchFamily="18" charset="2"/>
              </a:rPr>
              <a:t>· R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7</a:t>
            </a:r>
            <a:r>
              <a:rPr kumimoji="0" lang="en-US" altLang="zh-CN" sz="2400"/>
              <a:t> = {</a:t>
            </a:r>
            <a:r>
              <a:rPr kumimoji="0" lang="en-US" altLang="zh-CN" sz="2400" b="1">
                <a:sym typeface="Symbol" panose="05050102010706020507" pitchFamily="18" charset="2"/>
              </a:rPr>
              <a:t>L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R·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8</a:t>
            </a:r>
            <a:r>
              <a:rPr kumimoji="0" lang="en-US" altLang="zh-CN" sz="2400"/>
              <a:t> = {</a:t>
            </a:r>
            <a:r>
              <a:rPr kumimoji="0" lang="en-US" altLang="zh-CN" sz="2400" b="1">
                <a:sym typeface="Symbol" panose="05050102010706020507" pitchFamily="18" charset="2"/>
              </a:rPr>
              <a:t>R  L ·</a:t>
            </a:r>
            <a:r>
              <a:rPr kumimoji="0" lang="en-US" altLang="zh-CN" sz="2400"/>
              <a:t>}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9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</a:t>
            </a:r>
            <a:r>
              <a:rPr kumimoji="0" lang="en-US" altLang="zh-CN" sz="2400" b="1">
                <a:sym typeface="Symbol" panose="05050102010706020507" pitchFamily="18" charset="2"/>
              </a:rPr>
              <a:t>L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>
                <a:sym typeface="Symbol" panose="05050102010706020507" pitchFamily="18" charset="2"/>
              </a:rPr>
              <a:t> R·</a:t>
            </a:r>
            <a:r>
              <a:rPr kumimoji="0" lang="en-US" altLang="zh-CN" sz="2400"/>
              <a:t>}</a:t>
            </a:r>
            <a:endParaRPr kumimoji="0" lang="en-US" altLang="zh-CN" sz="24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4.46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kumimoji="0" lang="zh-CN" altLang="en-US"/>
              <a:t>扩展搜索符，搜索符如何“传播”？</a:t>
            </a:r>
            <a:endParaRPr kumimoji="0" lang="zh-CN" altLang="en-US"/>
          </a:p>
          <a:p>
            <a:pPr lvl="1" eaLnBrk="1" hangingPunct="1"/>
            <a:r>
              <a:rPr kumimoji="0" lang="zh-CN" altLang="en-US"/>
              <a:t>对</a:t>
            </a:r>
            <a:r>
              <a:rPr kumimoji="0" lang="en-US" altLang="zh-CN"/>
              <a:t>LR(0)</a:t>
            </a:r>
            <a:r>
              <a:rPr kumimoji="0" lang="zh-CN" altLang="en-US"/>
              <a:t>项目，若</a:t>
            </a:r>
            <a:r>
              <a:rPr lang="en-US" altLang="zh-CN">
                <a:sym typeface="Symbol" panose="05050102010706020507" pitchFamily="18" charset="2"/>
              </a:rPr>
              <a:t>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在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I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中，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kumimoji="0" lang="en-US" altLang="zh-CN">
                <a:sym typeface="Symbol" panose="05050102010706020507" pitchFamily="18" charset="2"/>
              </a:rPr>
              <a:t>A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zh-CN" altLang="en-US">
                <a:latin typeface="Symbol" panose="05050102010706020507" pitchFamily="18" charset="2"/>
                <a:sym typeface="Symbol" panose="05050102010706020507" pitchFamily="18" charset="2"/>
              </a:rPr>
              <a:t>， 存在</a:t>
            </a:r>
            <a:r>
              <a:rPr lang="en-US" altLang="zh-CN">
                <a:sym typeface="Symbol" panose="05050102010706020507" pitchFamily="18" charset="2"/>
              </a:rPr>
              <a:t>AX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，则</a:t>
            </a:r>
            <a:r>
              <a:rPr lang="en-US" altLang="zh-CN">
                <a:sym typeface="Symbol" panose="05050102010706020507" pitchFamily="18" charset="2"/>
              </a:rPr>
              <a:t>AX·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在</a:t>
            </a:r>
            <a:r>
              <a:rPr lang="en-US" altLang="zh-CN">
                <a:sym typeface="Symbol" panose="05050102010706020507" pitchFamily="18" charset="2"/>
              </a:rPr>
              <a:t>goto(I, X)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endParaRPr lang="zh-CN" altLang="en-US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>
                <a:sym typeface="Symbol" panose="05050102010706020507" pitchFamily="18" charset="2"/>
              </a:rPr>
              <a:t>考虑</a:t>
            </a:r>
            <a:r>
              <a:rPr lang="en-US" altLang="zh-CN">
                <a:sym typeface="Symbol" panose="05050102010706020507" pitchFamily="18" charset="2"/>
              </a:rPr>
              <a:t>LR(1)</a:t>
            </a:r>
            <a:r>
              <a:rPr lang="zh-CN" altLang="en-US">
                <a:sym typeface="Symbol" panose="05050102010706020507" pitchFamily="18" charset="2"/>
              </a:rPr>
              <a:t>项目， </a:t>
            </a:r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d, </a:t>
            </a:r>
            <a:r>
              <a:rPr lang="en-US" altLang="zh-CN">
                <a:sym typeface="Symbol" panose="05050102010706020507" pitchFamily="18" charset="2"/>
              </a:rPr>
              <a:t>b]</a:t>
            </a:r>
            <a:r>
              <a:rPr lang="zh-CN" altLang="en-US">
                <a:sym typeface="Symbol" panose="05050102010706020507" pitchFamily="18" charset="2"/>
              </a:rPr>
              <a:t>在</a:t>
            </a:r>
            <a:r>
              <a:rPr lang="en-US" altLang="zh-CN">
                <a:sym typeface="Symbol" panose="05050102010706020507" pitchFamily="18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中，什么样的搜索符</a:t>
            </a:r>
            <a:r>
              <a:rPr lang="en-US" altLang="zh-CN">
                <a:sym typeface="Symbol" panose="05050102010706020507" pitchFamily="18" charset="2"/>
              </a:rPr>
              <a:t>a</a:t>
            </a:r>
            <a:r>
              <a:rPr lang="zh-CN" altLang="en-US">
                <a:sym typeface="Symbol" panose="05050102010706020507" pitchFamily="18" charset="2"/>
              </a:rPr>
              <a:t>，使</a:t>
            </a:r>
            <a:r>
              <a:rPr lang="en-US" altLang="zh-CN">
                <a:sym typeface="Symbol" panose="05050102010706020507" pitchFamily="18" charset="2"/>
              </a:rPr>
              <a:t>[AX·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b, </a:t>
            </a:r>
            <a:r>
              <a:rPr lang="en-US" altLang="zh-CN">
                <a:sym typeface="Symbol" panose="05050102010706020507" pitchFamily="18" charset="2"/>
              </a:rPr>
              <a:t>a]</a:t>
            </a:r>
            <a:r>
              <a:rPr lang="zh-CN" altLang="en-US">
                <a:sym typeface="Symbol" panose="05050102010706020507" pitchFamily="18" charset="2"/>
              </a:rPr>
              <a:t>在</a:t>
            </a:r>
            <a:r>
              <a:rPr lang="en-US" altLang="zh-CN">
                <a:sym typeface="Symbol" panose="05050102010706020507" pitchFamily="18" charset="2"/>
              </a:rPr>
              <a:t>goto(I, X)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endParaRPr lang="zh-CN" altLang="en-US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z="2800">
                <a:sym typeface="Symbol" panose="05050102010706020507" pitchFamily="18" charset="2"/>
              </a:rPr>
              <a:t>a</a:t>
            </a:r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 sz="2800">
                <a:sym typeface="Symbol" panose="05050102010706020507" pitchFamily="18" charset="2"/>
              </a:rPr>
              <a:t>FIRST(</a:t>
            </a:r>
            <a:r>
              <a:rPr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hd</a:t>
            </a:r>
            <a:r>
              <a:rPr lang="en-US" altLang="zh-CN" sz="2800">
                <a:sym typeface="Symbol" panose="05050102010706020507" pitchFamily="18" charset="2"/>
              </a:rPr>
              <a:t>)</a:t>
            </a:r>
            <a:r>
              <a:rPr lang="zh-CN" altLang="en-US" sz="2800">
                <a:sym typeface="Symbol" panose="05050102010706020507" pitchFamily="18" charset="2"/>
              </a:rPr>
              <a:t>，自生的（</a:t>
            </a:r>
            <a:r>
              <a:rPr lang="en-US" altLang="zh-CN" sz="2800">
                <a:sym typeface="Symbol" panose="05050102010706020507" pitchFamily="18" charset="2"/>
              </a:rPr>
              <a:t>spontaneously</a:t>
            </a:r>
            <a:r>
              <a:rPr lang="zh-CN" altLang="en-US" sz="2800">
                <a:sym typeface="Symbol" panose="05050102010706020507" pitchFamily="18" charset="2"/>
              </a:rPr>
              <a:t>）</a:t>
            </a:r>
            <a:endParaRPr lang="zh-CN" altLang="en-US" sz="2800">
              <a:sym typeface="Symbol" panose="05050102010706020507" pitchFamily="18" charset="2"/>
            </a:endParaRPr>
          </a:p>
          <a:p>
            <a:pPr lvl="2" eaLnBrk="1" hangingPunct="1"/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hd</a:t>
            </a: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zh-CN" altLang="en-US" sz="2800">
                <a:sym typeface="Symbol" panose="05050102010706020507" pitchFamily="18" charset="2"/>
              </a:rPr>
              <a:t>，则</a:t>
            </a:r>
            <a:r>
              <a:rPr lang="en-US" altLang="zh-CN" sz="2800">
                <a:sym typeface="Symbol" panose="05050102010706020507" pitchFamily="18" charset="2"/>
              </a:rPr>
              <a:t>a=b</a:t>
            </a:r>
            <a:r>
              <a:rPr lang="zh-CN" altLang="en-US" sz="2800">
                <a:sym typeface="Symbol" panose="05050102010706020507" pitchFamily="18" charset="2"/>
              </a:rPr>
              <a:t>，传播的（</a:t>
            </a:r>
            <a:r>
              <a:rPr lang="en-US" altLang="zh-CN" sz="2800">
                <a:sym typeface="Symbol" panose="05050102010706020507" pitchFamily="18" charset="2"/>
              </a:rPr>
              <a:t>propagate</a:t>
            </a:r>
            <a:r>
              <a:rPr lang="zh-CN" altLang="en-US" sz="2800">
                <a:sym typeface="Symbol" panose="05050102010706020507" pitchFamily="18" charset="2"/>
              </a:rPr>
              <a:t>）</a:t>
            </a:r>
            <a:endParaRPr lang="zh-CN" altLang="en-US" sz="2800">
              <a:sym typeface="Symbol" panose="05050102010706020507" pitchFamily="18" charset="2"/>
            </a:endParaRPr>
          </a:p>
        </p:txBody>
      </p:sp>
      <p:sp>
        <p:nvSpPr>
          <p:cNvPr id="120836" name="Rectangle 4"/>
          <p:cNvSpPr>
            <a:spLocks noChangeArrowheads="1"/>
          </p:cNvSpPr>
          <p:nvPr/>
        </p:nvSpPr>
        <p:spPr bwMode="auto">
          <a:xfrm>
            <a:off x="7308850" y="19383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  <a:endParaRPr kumimoji="0" lang="en-US" altLang="zh-CN" sz="2000"/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7231063" y="2151063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  <a:endParaRPr kumimoji="0" lang="en-US" altLang="zh-CN" sz="2000"/>
          </a:p>
        </p:txBody>
      </p:sp>
      <p:sp>
        <p:nvSpPr>
          <p:cNvPr id="120838" name="Rectangle 6"/>
          <p:cNvSpPr>
            <a:spLocks noChangeArrowheads="1"/>
          </p:cNvSpPr>
          <p:nvPr/>
        </p:nvSpPr>
        <p:spPr bwMode="auto">
          <a:xfrm>
            <a:off x="2819400" y="43434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chemeClr val="hlink"/>
                </a:solidFill>
              </a:rPr>
              <a:t>*</a:t>
            </a:r>
            <a:endParaRPr kumimoji="0" lang="en-US" altLang="zh-CN" sz="20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4.46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38100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{[S’</a:t>
            </a:r>
            <a:r>
              <a:rPr kumimoji="0" lang="en-US" altLang="zh-CN" sz="2800" b="1">
                <a:sym typeface="Symbol" panose="05050102010706020507" pitchFamily="18" charset="2"/>
              </a:rPr>
              <a:t>·S, $]</a:t>
            </a:r>
            <a:r>
              <a:rPr kumimoji="0" lang="en-US" altLang="zh-CN" sz="2800" b="1"/>
              <a:t>}</a:t>
            </a:r>
            <a:endParaRPr kumimoji="0" lang="en-US" altLang="zh-CN" sz="2800" b="1"/>
          </a:p>
          <a:p>
            <a:pPr eaLnBrk="1" hangingPunct="1"/>
            <a:endParaRPr kumimoji="0" lang="en-US" altLang="zh-CN" sz="2800"/>
          </a:p>
          <a:p>
            <a:pPr eaLnBrk="1" hangingPunct="1"/>
            <a:endParaRPr kumimoji="0"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{…</a:t>
            </a:r>
            <a:r>
              <a:rPr kumimoji="0" lang="en-US" altLang="zh-CN" sz="2800" b="1">
                <a:sym typeface="Symbol" panose="05050102010706020507" pitchFamily="18" charset="2"/>
              </a:rPr>
              <a:t>, [</a:t>
            </a:r>
            <a:r>
              <a:rPr kumimoji="0" lang="en-US" altLang="zh-CN" sz="2800" b="1"/>
              <a:t>S</a:t>
            </a:r>
            <a:r>
              <a:rPr kumimoji="0" lang="en-US" altLang="zh-CN" sz="2800" b="1">
                <a:sym typeface="Symbol" panose="05050102010706020507" pitchFamily="18" charset="2"/>
              </a:rPr>
              <a:t>·L = R, $], …</a:t>
            </a:r>
            <a:r>
              <a:rPr kumimoji="0" lang="en-US" altLang="zh-CN" sz="2800" b="1"/>
              <a:t>}</a:t>
            </a: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{…</a:t>
            </a:r>
            <a:r>
              <a:rPr kumimoji="0" lang="en-US" altLang="zh-CN" sz="2800" b="1">
                <a:sym typeface="Symbol" panose="05050102010706020507" pitchFamily="18" charset="2"/>
              </a:rPr>
              <a:t>, [</a:t>
            </a:r>
            <a:r>
              <a:rPr kumimoji="0" lang="en-US" altLang="zh-CN" sz="2800" b="1"/>
              <a:t>S</a:t>
            </a:r>
            <a:r>
              <a:rPr kumimoji="0" lang="en-US" altLang="zh-CN" sz="2800" b="1">
                <a:sym typeface="Symbol" panose="05050102010706020507" pitchFamily="18" charset="2"/>
              </a:rPr>
              <a:t>L · = R, $], …</a:t>
            </a:r>
            <a:r>
              <a:rPr kumimoji="0" lang="en-US" altLang="zh-CN" sz="2800" b="1"/>
              <a:t>}</a:t>
            </a:r>
            <a:endParaRPr kumimoji="0" lang="en-US" altLang="zh-CN" sz="2800" b="1"/>
          </a:p>
        </p:txBody>
      </p:sp>
      <p:sp>
        <p:nvSpPr>
          <p:cNvPr id="121860" name="Rectangle 7"/>
          <p:cNvSpPr>
            <a:spLocks noChangeArrowheads="1"/>
          </p:cNvSpPr>
          <p:nvPr/>
        </p:nvSpPr>
        <p:spPr bwMode="auto">
          <a:xfrm>
            <a:off x="5029200" y="1371600"/>
            <a:ext cx="3810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{[S’</a:t>
            </a:r>
            <a:r>
              <a:rPr kumimoji="0" lang="en-US" altLang="zh-CN" sz="2800" b="1">
                <a:sym typeface="Symbol" panose="05050102010706020507" pitchFamily="18" charset="2"/>
              </a:rPr>
              <a:t>·S, $]</a:t>
            </a:r>
            <a:r>
              <a:rPr kumimoji="0" lang="en-US" altLang="zh-CN" sz="2800" b="1"/>
              <a:t>}</a:t>
            </a:r>
            <a:endParaRPr kumimoji="0" lang="en-US" altLang="zh-CN" sz="2800" b="1"/>
          </a:p>
          <a:p>
            <a:pPr eaLnBrk="1" hangingPunct="1"/>
            <a:endParaRPr kumimoji="0" lang="en-US" altLang="zh-CN" sz="2800"/>
          </a:p>
          <a:p>
            <a:pPr eaLnBrk="1" hangingPunct="1"/>
            <a:endParaRPr kumimoji="0"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{…</a:t>
            </a:r>
            <a:r>
              <a:rPr kumimoji="0" lang="en-US" altLang="zh-CN" sz="2800" b="1">
                <a:sym typeface="Symbol" panose="05050102010706020507" pitchFamily="18" charset="2"/>
              </a:rPr>
              <a:t>, [</a:t>
            </a:r>
            <a:r>
              <a:rPr kumimoji="0" lang="en-US" altLang="zh-CN" sz="2800" b="1"/>
              <a:t>S</a:t>
            </a:r>
            <a:r>
              <a:rPr kumimoji="0" lang="en-US" altLang="zh-CN" sz="2800" b="1">
                <a:sym typeface="Symbol" panose="05050102010706020507" pitchFamily="18" charset="2"/>
              </a:rPr>
              <a:t>·L = R, $], …,</a:t>
            </a:r>
            <a:br>
              <a:rPr kumimoji="0" lang="en-US" altLang="zh-CN" sz="2800" b="1">
                <a:sym typeface="Symbol" panose="05050102010706020507" pitchFamily="18" charset="2"/>
              </a:rPr>
            </a:br>
            <a:r>
              <a:rPr kumimoji="0" lang="en-US" altLang="zh-CN" sz="2800" b="1">
                <a:sym typeface="Symbol" panose="05050102010706020507" pitchFamily="18" charset="2"/>
              </a:rPr>
              <a:t>[</a:t>
            </a:r>
            <a:r>
              <a:rPr kumimoji="0" lang="en-US" altLang="zh-CN" sz="2800" b="1"/>
              <a:t>L</a:t>
            </a:r>
            <a:r>
              <a:rPr kumimoji="0" lang="en-US" altLang="zh-CN" sz="2800" b="1">
                <a:sym typeface="Symbol" panose="05050102010706020507" pitchFamily="18" charset="2"/>
              </a:rPr>
              <a:t>· * R, =], …</a:t>
            </a:r>
            <a:r>
              <a:rPr kumimoji="0" lang="en-US" altLang="zh-CN" sz="2800" b="1"/>
              <a:t>}</a:t>
            </a: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{…</a:t>
            </a:r>
            <a:r>
              <a:rPr kumimoji="0" lang="en-US" altLang="zh-CN" sz="2800" b="1">
                <a:sym typeface="Symbol" panose="05050102010706020507" pitchFamily="18" charset="2"/>
              </a:rPr>
              <a:t>, [</a:t>
            </a:r>
            <a:r>
              <a:rPr kumimoji="0" lang="en-US" altLang="zh-CN" sz="2800" b="1"/>
              <a:t>L</a:t>
            </a:r>
            <a:r>
              <a:rPr kumimoji="0" lang="en-US" altLang="zh-CN" sz="2800" b="1">
                <a:sym typeface="Symbol" panose="05050102010706020507" pitchFamily="18" charset="2"/>
              </a:rPr>
              <a:t>* · R, =], …</a:t>
            </a:r>
            <a:r>
              <a:rPr kumimoji="0" lang="en-US" altLang="zh-CN" sz="2800" b="1"/>
              <a:t>}</a:t>
            </a:r>
            <a:endParaRPr kumimoji="0" lang="en-US" altLang="zh-CN" sz="2800" b="1"/>
          </a:p>
        </p:txBody>
      </p:sp>
      <p:sp>
        <p:nvSpPr>
          <p:cNvPr id="121861" name="AutoShape 8"/>
          <p:cNvSpPr>
            <a:spLocks noChangeArrowheads="1"/>
          </p:cNvSpPr>
          <p:nvPr/>
        </p:nvSpPr>
        <p:spPr bwMode="ltGray">
          <a:xfrm>
            <a:off x="4191000" y="1752600"/>
            <a:ext cx="533400" cy="1219200"/>
          </a:xfrm>
          <a:prstGeom prst="downArrow">
            <a:avLst>
              <a:gd name="adj1" fmla="val 50000"/>
              <a:gd name="adj2" fmla="val 5714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closure</a:t>
            </a:r>
            <a:endParaRPr lang="en-US" altLang="zh-CN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21862" name="AutoShape 9"/>
          <p:cNvSpPr>
            <a:spLocks noChangeArrowheads="1"/>
          </p:cNvSpPr>
          <p:nvPr/>
        </p:nvSpPr>
        <p:spPr bwMode="ltGray">
          <a:xfrm>
            <a:off x="4191000" y="3429000"/>
            <a:ext cx="533400" cy="1219200"/>
          </a:xfrm>
          <a:prstGeom prst="downArrow">
            <a:avLst>
              <a:gd name="adj1" fmla="val 50000"/>
              <a:gd name="adj2" fmla="val 5714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goto(I, L)</a:t>
            </a:r>
            <a:endParaRPr lang="en-US" altLang="zh-CN" sz="2400">
              <a:solidFill>
                <a:schemeClr val="hlink"/>
              </a:solidFill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goto(I, *)</a:t>
            </a:r>
            <a:endParaRPr lang="en-US" altLang="zh-CN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21863" name="Line 10"/>
          <p:cNvSpPr>
            <a:spLocks noChangeShapeType="1"/>
          </p:cNvSpPr>
          <p:nvPr/>
        </p:nvSpPr>
        <p:spPr bwMode="ltGray">
          <a:xfrm>
            <a:off x="1295400" y="1752600"/>
            <a:ext cx="9906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4" name="Line 11"/>
          <p:cNvSpPr>
            <a:spLocks noChangeShapeType="1"/>
          </p:cNvSpPr>
          <p:nvPr/>
        </p:nvSpPr>
        <p:spPr bwMode="ltGray">
          <a:xfrm flipH="1">
            <a:off x="2057400" y="3276600"/>
            <a:ext cx="2286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5" name="Rectangle 12"/>
          <p:cNvSpPr>
            <a:spLocks noChangeArrowheads="1"/>
          </p:cNvSpPr>
          <p:nvPr/>
        </p:nvSpPr>
        <p:spPr bwMode="ltGray">
          <a:xfrm>
            <a:off x="947738" y="34925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Tahoma" panose="020B0604030504040204" pitchFamily="34" charset="0"/>
              </a:rPr>
              <a:t>传播</a:t>
            </a:r>
            <a:endParaRPr lang="zh-CN" altLang="en-US" sz="24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21866" name="Line 13"/>
          <p:cNvSpPr>
            <a:spLocks noChangeShapeType="1"/>
          </p:cNvSpPr>
          <p:nvPr/>
        </p:nvSpPr>
        <p:spPr bwMode="ltGray">
          <a:xfrm>
            <a:off x="5867400" y="1752600"/>
            <a:ext cx="838200" cy="1752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7" name="Line 14"/>
          <p:cNvSpPr>
            <a:spLocks noChangeShapeType="1"/>
          </p:cNvSpPr>
          <p:nvPr/>
        </p:nvSpPr>
        <p:spPr bwMode="ltGray">
          <a:xfrm flipH="1">
            <a:off x="6324600" y="3733800"/>
            <a:ext cx="2286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8" name="Rectangle 15"/>
          <p:cNvSpPr>
            <a:spLocks noChangeArrowheads="1"/>
          </p:cNvSpPr>
          <p:nvPr/>
        </p:nvSpPr>
        <p:spPr bwMode="ltGray">
          <a:xfrm>
            <a:off x="6858000" y="38100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Tahoma" panose="020B0604030504040204" pitchFamily="34" charset="0"/>
              </a:rPr>
              <a:t>自生</a:t>
            </a:r>
            <a:endParaRPr lang="zh-CN" altLang="en-US" sz="2400" b="1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4.12  </a:t>
            </a:r>
            <a:r>
              <a:rPr lang="zh-CN" altLang="en-US"/>
              <a:t>判定自生</a:t>
            </a:r>
            <a:r>
              <a:rPr lang="en-US" altLang="zh-CN"/>
              <a:t>/</a:t>
            </a:r>
            <a:r>
              <a:rPr lang="zh-CN" altLang="en-US"/>
              <a:t>传播</a:t>
            </a:r>
            <a:endParaRPr lang="zh-CN" alt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输入：</a:t>
            </a:r>
            <a:r>
              <a:rPr lang="en-US" altLang="zh-CN" sz="2800"/>
              <a:t>LR(0)</a:t>
            </a:r>
            <a:r>
              <a:rPr lang="zh-CN" altLang="en-US" sz="2800"/>
              <a:t>项目集</a:t>
            </a:r>
            <a:r>
              <a:rPr lang="en-US" altLang="zh-CN" sz="2800"/>
              <a:t>I</a:t>
            </a:r>
            <a:r>
              <a:rPr lang="zh-CN" altLang="en-US" sz="2800"/>
              <a:t>的核</a:t>
            </a:r>
            <a:r>
              <a:rPr lang="en-US" altLang="zh-CN" sz="2800"/>
              <a:t>K</a:t>
            </a:r>
            <a:r>
              <a:rPr lang="zh-CN" altLang="en-US" sz="2800"/>
              <a:t>，文法符号</a:t>
            </a:r>
            <a:r>
              <a:rPr lang="en-US" altLang="zh-CN" sz="2800"/>
              <a:t>X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输出：</a:t>
            </a:r>
            <a:r>
              <a:rPr lang="en-US" altLang="zh-CN" sz="2800"/>
              <a:t>goto(I, X)</a:t>
            </a:r>
            <a:r>
              <a:rPr lang="zh-CN" altLang="en-US" sz="2800"/>
              <a:t>的自生搜索符和传播搜索符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  <a:r>
              <a:rPr lang="en-US" altLang="zh-CN" sz="2800"/>
              <a:t>#</a:t>
            </a:r>
            <a:r>
              <a:rPr lang="zh-CN" altLang="en-US" sz="2800"/>
              <a:t>为伪搜索符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for  K</a:t>
            </a:r>
            <a:r>
              <a:rPr lang="zh-CN" altLang="en-US" sz="2400"/>
              <a:t>中每个项目</a:t>
            </a:r>
            <a:r>
              <a:rPr lang="en-US" altLang="zh-CN" sz="2400">
                <a:sym typeface="Symbol" panose="05050102010706020507" pitchFamily="18" charset="2"/>
              </a:rPr>
              <a:t>B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400">
                <a:sym typeface="Symbol" panose="05050102010706020507" pitchFamily="18" charset="2"/>
              </a:rPr>
              <a:t>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 sz="2400">
                <a:sym typeface="Symbol" panose="05050102010706020507" pitchFamily="18" charset="2"/>
              </a:rPr>
              <a:t>  {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J’=closure({[B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400">
                <a:sym typeface="Symbol" panose="05050102010706020507" pitchFamily="18" charset="2"/>
              </a:rPr>
              <a:t>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 sz="2400">
                <a:sym typeface="Symbol" panose="05050102010706020507" pitchFamily="18" charset="2"/>
              </a:rPr>
              <a:t>, #]});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if  ([A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·X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, a]</a:t>
            </a:r>
            <a:r>
              <a:rPr lang="zh-CN" altLang="en-US" sz="2400">
                <a:sym typeface="Symbol" panose="05050102010706020507" pitchFamily="18" charset="2"/>
              </a:rPr>
              <a:t>在</a:t>
            </a:r>
            <a:r>
              <a:rPr lang="en-US" altLang="zh-CN" sz="2400">
                <a:sym typeface="Symbol" panose="05050102010706020507" pitchFamily="18" charset="2"/>
              </a:rPr>
              <a:t>J’</a:t>
            </a:r>
            <a:r>
              <a:rPr lang="zh-CN" altLang="en-US" sz="2400">
                <a:sym typeface="Symbol" panose="05050102010706020507" pitchFamily="18" charset="2"/>
              </a:rPr>
              <a:t>中，而</a:t>
            </a:r>
            <a:r>
              <a:rPr lang="en-US" altLang="zh-CN" sz="2400"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Arial Unicode MS" pitchFamily="34" charset="-122"/>
                <a:sym typeface="Symbol" panose="05050102010706020507" pitchFamily="18" charset="2"/>
              </a:rPr>
              <a:t>≠</a:t>
            </a:r>
            <a:r>
              <a:rPr lang="en-US" altLang="zh-CN" sz="2400">
                <a:sym typeface="Symbol" panose="05050102010706020507" pitchFamily="18" charset="2"/>
              </a:rPr>
              <a:t>#)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	a</a:t>
            </a:r>
            <a:r>
              <a:rPr lang="zh-CN" altLang="en-US" sz="2400">
                <a:sym typeface="Symbol" panose="05050102010706020507" pitchFamily="18" charset="2"/>
              </a:rPr>
              <a:t>为</a:t>
            </a:r>
            <a:r>
              <a:rPr lang="en-US" altLang="zh-CN" sz="2400">
                <a:sym typeface="Symbol" panose="05050102010706020507" pitchFamily="18" charset="2"/>
              </a:rPr>
              <a:t>goto(I, X)</a:t>
            </a:r>
            <a:r>
              <a:rPr lang="zh-CN" altLang="en-US" sz="2400">
                <a:sym typeface="Symbol" panose="05050102010706020507" pitchFamily="18" charset="2"/>
              </a:rPr>
              <a:t>中项目</a:t>
            </a:r>
            <a:r>
              <a:rPr lang="en-US" altLang="zh-CN" sz="2400">
                <a:sym typeface="Symbol" panose="05050102010706020507" pitchFamily="18" charset="2"/>
              </a:rPr>
              <a:t>A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X·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zh-CN" altLang="en-US" sz="2400">
                <a:latin typeface="Symbol" panose="05050102010706020507" pitchFamily="18" charset="2"/>
                <a:sym typeface="Symbol" panose="05050102010706020507" pitchFamily="18" charset="2"/>
              </a:rPr>
              <a:t>的自生搜索符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;</a:t>
            </a:r>
            <a:endParaRPr lang="en-US" altLang="zh-CN" sz="24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	</a:t>
            </a:r>
            <a:r>
              <a:rPr lang="en-US" altLang="zh-CN" sz="2400">
                <a:sym typeface="Symbol" panose="05050102010706020507" pitchFamily="18" charset="2"/>
              </a:rPr>
              <a:t>if  ([A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·X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, #]</a:t>
            </a:r>
            <a:r>
              <a:rPr lang="zh-CN" altLang="en-US" sz="2400">
                <a:sym typeface="Symbol" panose="05050102010706020507" pitchFamily="18" charset="2"/>
              </a:rPr>
              <a:t>在</a:t>
            </a:r>
            <a:r>
              <a:rPr lang="en-US" altLang="zh-CN" sz="2400">
                <a:sym typeface="Symbol" panose="05050102010706020507" pitchFamily="18" charset="2"/>
              </a:rPr>
              <a:t>J’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	</a:t>
            </a:r>
            <a:r>
              <a:rPr lang="zh-CN" altLang="en-US" sz="2400">
                <a:sym typeface="Symbol" panose="05050102010706020507" pitchFamily="18" charset="2"/>
              </a:rPr>
              <a:t>搜索符从</a:t>
            </a: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en-US" altLang="zh-CN" sz="2400">
                <a:sym typeface="Symbol" panose="05050102010706020507" pitchFamily="18" charset="2"/>
              </a:rPr>
              <a:t>B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400">
                <a:sym typeface="Symbol" panose="05050102010706020507" pitchFamily="18" charset="2"/>
              </a:rPr>
              <a:t>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zh-CN" altLang="en-US" sz="2400">
                <a:latin typeface="Symbol" panose="05050102010706020507" pitchFamily="18" charset="2"/>
                <a:sym typeface="Symbol" panose="05050102010706020507" pitchFamily="18" charset="2"/>
              </a:rPr>
              <a:t>传播到</a:t>
            </a:r>
            <a:r>
              <a:rPr lang="en-US" altLang="zh-CN" sz="2400">
                <a:sym typeface="Symbol" panose="05050102010706020507" pitchFamily="18" charset="2"/>
              </a:rPr>
              <a:t>goto(I, X)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en-US" altLang="zh-CN" sz="2400">
                <a:sym typeface="Symbol" panose="05050102010706020507" pitchFamily="18" charset="2"/>
              </a:rPr>
              <a:t>A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X·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endParaRPr lang="en-US" altLang="zh-CN" sz="24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}</a:t>
            </a:r>
            <a:endParaRPr lang="en-US" altLang="zh-CN" sz="240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计算搜索符</a:t>
            </a:r>
            <a:endParaRPr lang="zh-CN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初态集核项目</a:t>
            </a:r>
            <a:r>
              <a:rPr kumimoji="0" lang="en-US" altLang="zh-CN"/>
              <a:t>S’</a:t>
            </a:r>
            <a:r>
              <a:rPr kumimoji="0" lang="en-US" altLang="zh-CN">
                <a:sym typeface="Symbol" panose="05050102010706020507" pitchFamily="18" charset="2"/>
              </a:rPr>
              <a:t>·S</a:t>
            </a:r>
            <a:r>
              <a:rPr kumimoji="0" lang="zh-CN" altLang="en-US">
                <a:sym typeface="Symbol" panose="05050102010706020507" pitchFamily="18" charset="2"/>
              </a:rPr>
              <a:t>具有搜索符</a:t>
            </a:r>
            <a:r>
              <a:rPr kumimoji="0" lang="en-US" altLang="zh-CN">
                <a:sym typeface="Symbol" panose="05050102010706020507" pitchFamily="18" charset="2"/>
              </a:rPr>
              <a:t>$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利用算法</a:t>
            </a:r>
            <a:r>
              <a:rPr kumimoji="0" lang="en-US" altLang="zh-CN">
                <a:sym typeface="Symbol" panose="05050102010706020507" pitchFamily="18" charset="2"/>
              </a:rPr>
              <a:t>4.12</a:t>
            </a:r>
            <a:r>
              <a:rPr kumimoji="0" lang="zh-CN" altLang="en-US">
                <a:sym typeface="Symbol" panose="05050102010706020507" pitchFamily="18" charset="2"/>
              </a:rPr>
              <a:t>生成所有自生搜索符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将自生搜索符进行传播，直到无法继续传播为止</a:t>
            </a:r>
            <a:endParaRPr kumimoji="0"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4.13</a:t>
            </a:r>
            <a:endParaRPr lang="en-US" altLang="zh-CN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构造</a:t>
            </a:r>
            <a:r>
              <a:rPr lang="en-US" altLang="zh-CN"/>
              <a:t>LALR(1)</a:t>
            </a:r>
            <a:r>
              <a:rPr lang="zh-CN" altLang="en-US"/>
              <a:t>项目集规范族的核</a:t>
            </a:r>
            <a:endParaRPr lang="zh-CN" altLang="en-US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输入：拓广文法</a:t>
            </a:r>
            <a:r>
              <a:rPr lang="en-US" altLang="zh-CN" sz="2800"/>
              <a:t>G’</a:t>
            </a:r>
            <a:endParaRPr lang="en-US" altLang="zh-CN" sz="28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输出：</a:t>
            </a:r>
            <a:r>
              <a:rPr lang="en-US" altLang="zh-CN" sz="2800"/>
              <a:t>G’</a:t>
            </a:r>
            <a:r>
              <a:rPr lang="zh-CN" altLang="en-US" sz="2800"/>
              <a:t>的</a:t>
            </a:r>
            <a:r>
              <a:rPr lang="en-US" altLang="zh-CN" sz="2800"/>
              <a:t>LALR(1)</a:t>
            </a:r>
            <a:r>
              <a:rPr lang="zh-CN" altLang="en-US" sz="2800"/>
              <a:t>项目集规范族的核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构造</a:t>
            </a:r>
            <a:r>
              <a:rPr lang="en-US" altLang="zh-CN" sz="2800"/>
              <a:t>LR(0)</a:t>
            </a:r>
            <a:r>
              <a:rPr lang="zh-CN" altLang="en-US" sz="2800"/>
              <a:t>项目集的核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利用算法</a:t>
            </a:r>
            <a:r>
              <a:rPr lang="en-US" altLang="zh-CN" sz="2800"/>
              <a:t>4.12</a:t>
            </a:r>
            <a:r>
              <a:rPr lang="zh-CN" altLang="en-US" sz="2800"/>
              <a:t>，对每个</a:t>
            </a:r>
            <a:r>
              <a:rPr lang="en-US" altLang="zh-CN" sz="2800"/>
              <a:t>LR(0)</a:t>
            </a:r>
            <a:r>
              <a:rPr lang="zh-CN" altLang="en-US" sz="2800"/>
              <a:t>项目</a:t>
            </a:r>
            <a:r>
              <a:rPr lang="en-US" altLang="zh-CN" sz="2800"/>
              <a:t>I</a:t>
            </a:r>
            <a:r>
              <a:rPr lang="zh-CN" altLang="en-US" sz="2800"/>
              <a:t>的核</a:t>
            </a:r>
            <a:r>
              <a:rPr lang="en-US" altLang="zh-CN" sz="2800"/>
              <a:t>K</a:t>
            </a:r>
            <a:r>
              <a:rPr lang="zh-CN" altLang="en-US" sz="2800"/>
              <a:t>和每个文法符号</a:t>
            </a:r>
            <a:r>
              <a:rPr lang="en-US" altLang="zh-CN" sz="2800"/>
              <a:t>X</a:t>
            </a:r>
            <a:r>
              <a:rPr lang="zh-CN" altLang="en-US" sz="2800"/>
              <a:t>，确定</a:t>
            </a:r>
            <a:r>
              <a:rPr lang="en-US" altLang="zh-CN" sz="2800"/>
              <a:t>goto(I, X)</a:t>
            </a:r>
            <a:r>
              <a:rPr lang="zh-CN" altLang="en-US" sz="2800"/>
              <a:t>的核项目的所有自生搜索符，以及</a:t>
            </a:r>
            <a:r>
              <a:rPr lang="en-US" altLang="zh-CN" sz="2800"/>
              <a:t>K</a:t>
            </a:r>
            <a:r>
              <a:rPr lang="zh-CN" altLang="en-US" sz="2800"/>
              <a:t>中哪些项目传播搜索符到</a:t>
            </a:r>
            <a:r>
              <a:rPr lang="en-US" altLang="zh-CN" sz="2800"/>
              <a:t>goto(I, X)</a:t>
            </a:r>
            <a:r>
              <a:rPr lang="zh-CN" altLang="en-US" sz="2800"/>
              <a:t>的核</a:t>
            </a:r>
            <a:endParaRPr lang="zh-CN" altLang="en-US" sz="28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4.13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/>
              <a:t>初始化搜索符表</a:t>
            </a:r>
            <a:r>
              <a:rPr lang="en-US" altLang="zh-CN" sz="2800"/>
              <a:t>——</a:t>
            </a:r>
            <a:r>
              <a:rPr lang="zh-CN" altLang="en-US" sz="2800"/>
              <a:t>表示每个项目集的核项目对应哪些搜索符，初始为自生搜索符集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/>
              <a:t>重复在核项目间传播搜索符：对每个项目</a:t>
            </a:r>
            <a:r>
              <a:rPr lang="en-US" altLang="zh-CN" sz="2800"/>
              <a:t>i</a:t>
            </a:r>
            <a:r>
              <a:rPr lang="zh-CN" altLang="en-US" sz="2800"/>
              <a:t>，根据</a:t>
            </a:r>
            <a:r>
              <a:rPr lang="en-US" altLang="zh-CN" sz="2800"/>
              <a:t>2</a:t>
            </a:r>
            <a:r>
              <a:rPr lang="zh-CN" altLang="en-US" sz="2800"/>
              <a:t>得出它应向哪些项目传播搜索符，将它当前搜索符集并入传播目标项目的搜索符集。重复此过程，直至没有新的传播为止。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</a:t>
            </a:r>
            <a:endParaRPr lang="en-US" altLang="zh-CN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/>
              <a:t>考虑例</a:t>
            </a:r>
            <a:r>
              <a:rPr lang="en-US" altLang="zh-CN"/>
              <a:t>4.46</a:t>
            </a:r>
            <a:r>
              <a:rPr lang="zh-CN" altLang="en-US"/>
              <a:t>文法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closure({[</a:t>
            </a:r>
            <a:r>
              <a:rPr kumimoji="0" lang="en-US" altLang="zh-CN" sz="2400"/>
              <a:t>S’</a:t>
            </a:r>
            <a:r>
              <a:rPr kumimoji="0" lang="en-US" altLang="zh-CN" sz="2400">
                <a:sym typeface="Symbol" panose="05050102010706020507" pitchFamily="18" charset="2"/>
              </a:rPr>
              <a:t>·S,#]})={[</a:t>
            </a:r>
            <a:r>
              <a:rPr kumimoji="0" lang="en-US" altLang="zh-CN" sz="2400"/>
              <a:t>S’</a:t>
            </a:r>
            <a:r>
              <a:rPr kumimoji="0" lang="en-US" altLang="zh-CN" sz="2400">
                <a:sym typeface="Symbol" panose="05050102010706020507" pitchFamily="18" charset="2"/>
              </a:rPr>
              <a:t>·S, #], [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·L = R, #],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[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·R, #], [L·* R, =/#], [L·id, =/#], [R·L, #]}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[L·* R, =]</a:t>
            </a:r>
            <a:r>
              <a:rPr kumimoji="0" lang="zh-CN" altLang="en-US" sz="2400">
                <a:sym typeface="Symbol" panose="05050102010706020507" pitchFamily="18" charset="2"/>
              </a:rPr>
              <a:t>导致</a:t>
            </a:r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4</a:t>
            </a:r>
            <a:r>
              <a:rPr kumimoji="0" lang="zh-CN" altLang="en-US" sz="2400">
                <a:sym typeface="Symbol" panose="05050102010706020507" pitchFamily="18" charset="2"/>
              </a:rPr>
              <a:t>中</a:t>
            </a:r>
            <a:r>
              <a:rPr kumimoji="0" lang="en-US" altLang="zh-CN" sz="2400">
                <a:sym typeface="Symbol" panose="05050102010706020507" pitchFamily="18" charset="2"/>
              </a:rPr>
              <a:t>L*·R</a:t>
            </a:r>
            <a:r>
              <a:rPr kumimoji="0" lang="zh-CN" altLang="en-US" sz="2400">
                <a:sym typeface="Symbol" panose="05050102010706020507" pitchFamily="18" charset="2"/>
              </a:rPr>
              <a:t>的自生搜索符</a:t>
            </a:r>
            <a:r>
              <a:rPr kumimoji="0" lang="en-US" altLang="zh-CN" sz="2400">
                <a:sym typeface="Symbol" panose="05050102010706020507" pitchFamily="18" charset="2"/>
              </a:rPr>
              <a:t>=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[L·id, =]</a:t>
            </a:r>
            <a:r>
              <a:rPr kumimoji="0" lang="zh-CN" altLang="en-US" sz="2400">
                <a:sym typeface="Symbol" panose="05050102010706020507" pitchFamily="18" charset="2"/>
              </a:rPr>
              <a:t>导致</a:t>
            </a:r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5</a:t>
            </a:r>
            <a:r>
              <a:rPr kumimoji="0" lang="zh-CN" altLang="en-US" sz="2400">
                <a:sym typeface="Symbol" panose="05050102010706020507" pitchFamily="18" charset="2"/>
              </a:rPr>
              <a:t>中</a:t>
            </a:r>
            <a:r>
              <a:rPr kumimoji="0" lang="en-US" altLang="zh-CN" sz="2400">
                <a:sym typeface="Symbol" panose="05050102010706020507" pitchFamily="18" charset="2"/>
              </a:rPr>
              <a:t>Lid·</a:t>
            </a:r>
            <a:r>
              <a:rPr kumimoji="0" lang="zh-CN" altLang="en-US" sz="2400">
                <a:sym typeface="Symbol" panose="05050102010706020507" pitchFamily="18" charset="2"/>
              </a:rPr>
              <a:t>的自生搜索符</a:t>
            </a:r>
            <a:r>
              <a:rPr kumimoji="0" lang="en-US" altLang="zh-CN" sz="2400">
                <a:sym typeface="Symbol" panose="05050102010706020507" pitchFamily="18" charset="2"/>
              </a:rPr>
              <a:t>=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传播： </a:t>
            </a:r>
            <a:r>
              <a:rPr kumimoji="0" lang="en-US" altLang="zh-CN" sz="2400"/>
              <a:t>S’</a:t>
            </a:r>
            <a:r>
              <a:rPr kumimoji="0" lang="en-US" altLang="zh-CN" sz="2400">
                <a:sym typeface="Symbol" panose="05050102010706020507" pitchFamily="18" charset="2"/>
              </a:rPr>
              <a:t>S·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,   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L·=R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,   RL·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,   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R·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3</a:t>
            </a:r>
            <a:r>
              <a:rPr kumimoji="0" lang="en-US" altLang="zh-CN" sz="2400">
                <a:sym typeface="Symbol" panose="05050102010706020507" pitchFamily="18" charset="2"/>
              </a:rPr>
              <a:t>,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 L*·R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4</a:t>
            </a:r>
            <a:r>
              <a:rPr kumimoji="0" lang="en-US" altLang="zh-CN" sz="2400">
                <a:sym typeface="Symbol" panose="05050102010706020507" pitchFamily="18" charset="2"/>
              </a:rPr>
              <a:t>,   Lid·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5</a:t>
            </a:r>
            <a:endParaRPr kumimoji="0" lang="en-US" altLang="zh-CN" sz="240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closure({[</a:t>
            </a:r>
            <a:r>
              <a:rPr kumimoji="0" lang="en-US" altLang="zh-CN" sz="2400"/>
              <a:t>S </a:t>
            </a:r>
            <a:r>
              <a:rPr kumimoji="0" lang="en-US" altLang="zh-CN" sz="2400">
                <a:sym typeface="Symbol" panose="05050102010706020507" pitchFamily="18" charset="2"/>
              </a:rPr>
              <a:t> L · = R, #]})= {[</a:t>
            </a:r>
            <a:r>
              <a:rPr kumimoji="0" lang="en-US" altLang="zh-CN" sz="2400"/>
              <a:t>S </a:t>
            </a:r>
            <a:r>
              <a:rPr kumimoji="0" lang="en-US" altLang="zh-CN" sz="2400">
                <a:sym typeface="Symbol" panose="05050102010706020507" pitchFamily="18" charset="2"/>
              </a:rPr>
              <a:t> L · = R, #]}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closure({[</a:t>
            </a:r>
            <a:r>
              <a:rPr kumimoji="0" lang="en-US" altLang="zh-CN" sz="2400"/>
              <a:t>L </a:t>
            </a:r>
            <a:r>
              <a:rPr kumimoji="0" lang="en-US" altLang="zh-CN" sz="2400">
                <a:sym typeface="Symbol" panose="05050102010706020507" pitchFamily="18" charset="2"/>
              </a:rPr>
              <a:t> *·R , #]})={[</a:t>
            </a:r>
            <a:r>
              <a:rPr kumimoji="0" lang="en-US" altLang="zh-CN" sz="2400"/>
              <a:t>L </a:t>
            </a:r>
            <a:r>
              <a:rPr kumimoji="0" lang="en-US" altLang="zh-CN" sz="2400">
                <a:sym typeface="Symbol" panose="05050102010706020507" pitchFamily="18" charset="2"/>
              </a:rPr>
              <a:t> *·R,#] , [R  ·L, #] , 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[L  ·* R, #] , [L · id, #]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closure({[</a:t>
            </a:r>
            <a:r>
              <a:rPr kumimoji="0" lang="en-US" altLang="zh-CN" sz="2400"/>
              <a:t>S </a:t>
            </a:r>
            <a:r>
              <a:rPr kumimoji="0" lang="en-US" altLang="zh-CN" sz="2400">
                <a:sym typeface="Symbol" panose="05050102010706020507" pitchFamily="18" charset="2"/>
              </a:rPr>
              <a:t> L = · R,  #]})={[</a:t>
            </a:r>
            <a:r>
              <a:rPr kumimoji="0" lang="en-US" altLang="zh-CN" sz="2400"/>
              <a:t>S </a:t>
            </a:r>
            <a:r>
              <a:rPr kumimoji="0" lang="en-US" altLang="zh-CN" sz="2400">
                <a:sym typeface="Symbol" panose="05050102010706020507" pitchFamily="18" charset="2"/>
              </a:rPr>
              <a:t> L = · R, #] , [R  ·L, #] , [L  ·* R, #] , [L · id, #]} 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9027" name="Line 5"/>
          <p:cNvSpPr>
            <a:spLocks noChangeShapeType="1"/>
          </p:cNvSpPr>
          <p:nvPr/>
        </p:nvSpPr>
        <p:spPr bwMode="auto">
          <a:xfrm>
            <a:off x="1600200" y="13716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8" name="Line 6"/>
          <p:cNvSpPr>
            <a:spLocks noChangeShapeType="1"/>
          </p:cNvSpPr>
          <p:nvPr/>
        </p:nvSpPr>
        <p:spPr bwMode="auto">
          <a:xfrm>
            <a:off x="1600200" y="14478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Line 7"/>
          <p:cNvSpPr>
            <a:spLocks noChangeShapeType="1"/>
          </p:cNvSpPr>
          <p:nvPr/>
        </p:nvSpPr>
        <p:spPr bwMode="auto">
          <a:xfrm>
            <a:off x="1600200" y="18288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0" name="Line 8"/>
          <p:cNvSpPr>
            <a:spLocks noChangeShapeType="1"/>
          </p:cNvSpPr>
          <p:nvPr/>
        </p:nvSpPr>
        <p:spPr bwMode="auto">
          <a:xfrm>
            <a:off x="1600200" y="6781800"/>
            <a:ext cx="609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1" name="Line 10"/>
          <p:cNvSpPr>
            <a:spLocks noChangeShapeType="1"/>
          </p:cNvSpPr>
          <p:nvPr/>
        </p:nvSpPr>
        <p:spPr bwMode="auto">
          <a:xfrm>
            <a:off x="4267200" y="1447800"/>
            <a:ext cx="0" cy="5326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2" name="Text Box 11"/>
          <p:cNvSpPr txBox="1">
            <a:spLocks noChangeArrowheads="1"/>
          </p:cNvSpPr>
          <p:nvPr/>
        </p:nvSpPr>
        <p:spPr bwMode="auto">
          <a:xfrm>
            <a:off x="1524000" y="1752600"/>
            <a:ext cx="243840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0</a:t>
            </a:r>
            <a:r>
              <a:rPr kumimoji="0" lang="en-US" altLang="zh-CN" sz="2000" b="1"/>
              <a:t>: 	S’</a:t>
            </a:r>
            <a:r>
              <a:rPr kumimoji="0" lang="en-US" altLang="zh-CN" sz="2000" b="1">
                <a:sym typeface="Symbol" panose="05050102010706020507" pitchFamily="18" charset="2"/>
              </a:rPr>
              <a:t>·S </a:t>
            </a:r>
            <a:endParaRPr kumimoji="0" lang="en-US" altLang="zh-CN" sz="2000" b="1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2</a:t>
            </a:r>
            <a:r>
              <a:rPr kumimoji="0" lang="en-US" altLang="zh-CN" sz="2000" b="1"/>
              <a:t>: 	S </a:t>
            </a:r>
            <a:r>
              <a:rPr kumimoji="0" lang="en-US" altLang="zh-CN" sz="2000" b="1">
                <a:sym typeface="Symbol" panose="05050102010706020507" pitchFamily="18" charset="2"/>
              </a:rPr>
              <a:t> L · = 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4</a:t>
            </a:r>
            <a:r>
              <a:rPr kumimoji="0" lang="en-US" altLang="zh-CN" sz="2000" b="1"/>
              <a:t>: 	L </a:t>
            </a:r>
            <a:r>
              <a:rPr kumimoji="0" lang="en-US" altLang="zh-CN" sz="2000" b="1">
                <a:sym typeface="Symbol" panose="05050102010706020507" pitchFamily="18" charset="2"/>
              </a:rPr>
              <a:t> *·R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6</a:t>
            </a:r>
            <a:r>
              <a:rPr kumimoji="0" lang="en-US" altLang="zh-CN" sz="2000" b="1"/>
              <a:t>: 	S </a:t>
            </a:r>
            <a:r>
              <a:rPr kumimoji="0" lang="en-US" altLang="zh-CN" sz="2000" b="1">
                <a:sym typeface="Symbol" panose="05050102010706020507" pitchFamily="18" charset="2"/>
              </a:rPr>
              <a:t> L = · R </a:t>
            </a:r>
            <a:endParaRPr kumimoji="0" lang="en-US" altLang="zh-CN" sz="2000" b="1">
              <a:sym typeface="Symbol" panose="05050102010706020507" pitchFamily="18" charset="2"/>
            </a:endParaRPr>
          </a:p>
        </p:txBody>
      </p:sp>
      <p:sp>
        <p:nvSpPr>
          <p:cNvPr id="129033" name="Text Box 12"/>
          <p:cNvSpPr txBox="1">
            <a:spLocks noChangeArrowheads="1"/>
          </p:cNvSpPr>
          <p:nvPr/>
        </p:nvSpPr>
        <p:spPr bwMode="auto">
          <a:xfrm>
            <a:off x="4495800" y="1752600"/>
            <a:ext cx="3657600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1</a:t>
            </a:r>
            <a:r>
              <a:rPr kumimoji="0" lang="en-US" altLang="zh-CN" sz="2000" b="1"/>
              <a:t>: 	 S’ </a:t>
            </a:r>
            <a:r>
              <a:rPr kumimoji="0" lang="en-US" altLang="zh-CN" sz="2000" b="1">
                <a:sym typeface="Symbol" panose="05050102010706020507" pitchFamily="18" charset="2"/>
              </a:rPr>
              <a:t> S· </a:t>
            </a:r>
            <a:endParaRPr kumimoji="0" lang="en-US" altLang="zh-CN" sz="20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2</a:t>
            </a:r>
            <a:r>
              <a:rPr kumimoji="0" lang="en-US" altLang="zh-CN" sz="2000" b="1"/>
              <a:t>: 	 S </a:t>
            </a:r>
            <a:r>
              <a:rPr kumimoji="0" lang="en-US" altLang="zh-CN" sz="2000" b="1">
                <a:sym typeface="Symbol" panose="05050102010706020507" pitchFamily="18" charset="2"/>
              </a:rPr>
              <a:t> L · = R</a:t>
            </a:r>
            <a:r>
              <a:rPr kumimoji="0" lang="en-US" altLang="zh-CN" sz="2000" b="1"/>
              <a:t> </a:t>
            </a:r>
            <a:br>
              <a:rPr kumimoji="0" lang="en-US" altLang="zh-CN" sz="2000" b="1"/>
            </a:b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2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R  L ·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3</a:t>
            </a:r>
            <a:r>
              <a:rPr kumimoji="0" lang="en-US" altLang="zh-CN" sz="2000" b="1"/>
              <a:t>: 	 S </a:t>
            </a:r>
            <a:r>
              <a:rPr kumimoji="0" lang="en-US" altLang="zh-CN" sz="2000" b="1">
                <a:sym typeface="Symbol" panose="05050102010706020507" pitchFamily="18" charset="2"/>
              </a:rPr>
              <a:t> R·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4</a:t>
            </a:r>
            <a:r>
              <a:rPr kumimoji="0" lang="en-US" altLang="zh-CN" sz="2000" b="1"/>
              <a:t>: 	 L </a:t>
            </a:r>
            <a:r>
              <a:rPr kumimoji="0" lang="en-US" altLang="zh-CN" sz="2000" b="1">
                <a:sym typeface="Symbol" panose="05050102010706020507" pitchFamily="18" charset="2"/>
              </a:rPr>
              <a:t> *·R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5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L  id·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6</a:t>
            </a:r>
            <a:r>
              <a:rPr kumimoji="0" lang="en-US" altLang="zh-CN" sz="2000" b="1"/>
              <a:t>: 	 S </a:t>
            </a:r>
            <a:r>
              <a:rPr kumimoji="0" lang="en-US" altLang="zh-CN" sz="2000" b="1">
                <a:sym typeface="Symbol" panose="05050102010706020507" pitchFamily="18" charset="2"/>
              </a:rPr>
              <a:t> L = · 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4</a:t>
            </a:r>
            <a:r>
              <a:rPr kumimoji="0" lang="en-US" altLang="zh-CN" sz="2000" b="1"/>
              <a:t>: 	 L </a:t>
            </a:r>
            <a:r>
              <a:rPr kumimoji="0" lang="en-US" altLang="zh-CN" sz="2000" b="1">
                <a:sym typeface="Symbol" panose="05050102010706020507" pitchFamily="18" charset="2"/>
              </a:rPr>
              <a:t> *·R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5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L  id·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7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L  * R·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8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R  L ·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4</a:t>
            </a:r>
            <a:r>
              <a:rPr kumimoji="0" lang="en-US" altLang="zh-CN" sz="2000" b="1"/>
              <a:t>: 	 L </a:t>
            </a:r>
            <a:r>
              <a:rPr kumimoji="0" lang="en-US" altLang="zh-CN" sz="2000" b="1">
                <a:sym typeface="Symbol" panose="05050102010706020507" pitchFamily="18" charset="2"/>
              </a:rPr>
              <a:t> *·R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5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L  id·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8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R  L ·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9</a:t>
            </a:r>
            <a:r>
              <a:rPr kumimoji="0" lang="en-US" altLang="zh-CN" sz="2000" b="1"/>
              <a:t>: 	 S</a:t>
            </a:r>
            <a:r>
              <a:rPr kumimoji="0" lang="en-US" altLang="zh-CN" sz="2000" b="1">
                <a:sym typeface="Symbol" panose="05050102010706020507" pitchFamily="18" charset="2"/>
              </a:rPr>
              <a:t>L = R·</a:t>
            </a:r>
            <a:r>
              <a:rPr kumimoji="0" lang="en-US" altLang="zh-CN" sz="2000" b="1"/>
              <a:t> 	 </a:t>
            </a:r>
            <a:endParaRPr kumimoji="0" lang="en-US" altLang="zh-CN" sz="2000" b="1"/>
          </a:p>
        </p:txBody>
      </p:sp>
      <p:sp>
        <p:nvSpPr>
          <p:cNvPr id="129034" name="Text Box 13"/>
          <p:cNvSpPr txBox="1">
            <a:spLocks noChangeArrowheads="1"/>
          </p:cNvSpPr>
          <p:nvPr/>
        </p:nvSpPr>
        <p:spPr bwMode="auto">
          <a:xfrm>
            <a:off x="5867400" y="1752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29035" name="Text Box 14"/>
          <p:cNvSpPr txBox="1">
            <a:spLocks noChangeArrowheads="1"/>
          </p:cNvSpPr>
          <p:nvPr/>
        </p:nvSpPr>
        <p:spPr bwMode="auto">
          <a:xfrm>
            <a:off x="1524000" y="1371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FROM</a:t>
            </a:r>
            <a:endParaRPr kumimoji="0" lang="en-US" altLang="zh-CN" sz="2400" b="1"/>
          </a:p>
        </p:txBody>
      </p:sp>
      <p:sp>
        <p:nvSpPr>
          <p:cNvPr id="129036" name="Text Box 15"/>
          <p:cNvSpPr txBox="1">
            <a:spLocks noChangeArrowheads="1"/>
          </p:cNvSpPr>
          <p:nvPr/>
        </p:nvSpPr>
        <p:spPr bwMode="auto">
          <a:xfrm>
            <a:off x="4648200" y="1371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TO</a:t>
            </a:r>
            <a:endParaRPr kumimoji="0" lang="en-US" altLang="zh-CN" sz="2400" b="1"/>
          </a:p>
        </p:txBody>
      </p:sp>
      <p:sp>
        <p:nvSpPr>
          <p:cNvPr id="129037" name="Line 18"/>
          <p:cNvSpPr>
            <a:spLocks noChangeShapeType="1"/>
          </p:cNvSpPr>
          <p:nvPr/>
        </p:nvSpPr>
        <p:spPr bwMode="auto">
          <a:xfrm>
            <a:off x="1600200" y="3781425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8" name="Line 19"/>
          <p:cNvSpPr>
            <a:spLocks noChangeShapeType="1"/>
          </p:cNvSpPr>
          <p:nvPr/>
        </p:nvSpPr>
        <p:spPr bwMode="auto">
          <a:xfrm>
            <a:off x="1600200" y="4129088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9" name="Line 20"/>
          <p:cNvSpPr>
            <a:spLocks noChangeShapeType="1"/>
          </p:cNvSpPr>
          <p:nvPr/>
        </p:nvSpPr>
        <p:spPr bwMode="auto">
          <a:xfrm>
            <a:off x="1600200" y="5457825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30051" name="Line 3"/>
          <p:cNvSpPr>
            <a:spLocks noChangeShapeType="1"/>
          </p:cNvSpPr>
          <p:nvPr/>
        </p:nvSpPr>
        <p:spPr bwMode="auto">
          <a:xfrm>
            <a:off x="1600200" y="13716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2" name="Line 4"/>
          <p:cNvSpPr>
            <a:spLocks noChangeShapeType="1"/>
          </p:cNvSpPr>
          <p:nvPr/>
        </p:nvSpPr>
        <p:spPr bwMode="auto">
          <a:xfrm>
            <a:off x="1600200" y="14478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3" name="Line 5"/>
          <p:cNvSpPr>
            <a:spLocks noChangeShapeType="1"/>
          </p:cNvSpPr>
          <p:nvPr/>
        </p:nvSpPr>
        <p:spPr bwMode="auto">
          <a:xfrm>
            <a:off x="1600200" y="2265363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4" name="Line 6"/>
          <p:cNvSpPr>
            <a:spLocks noChangeShapeType="1"/>
          </p:cNvSpPr>
          <p:nvPr/>
        </p:nvSpPr>
        <p:spPr bwMode="auto">
          <a:xfrm>
            <a:off x="1600200" y="6781800"/>
            <a:ext cx="609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5" name="Line 7"/>
          <p:cNvSpPr>
            <a:spLocks noChangeShapeType="1"/>
          </p:cNvSpPr>
          <p:nvPr/>
        </p:nvSpPr>
        <p:spPr bwMode="auto">
          <a:xfrm>
            <a:off x="3886200" y="1447800"/>
            <a:ext cx="0" cy="5326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6" name="Text Box 9"/>
          <p:cNvSpPr txBox="1">
            <a:spLocks noChangeArrowheads="1"/>
          </p:cNvSpPr>
          <p:nvPr/>
        </p:nvSpPr>
        <p:spPr bwMode="auto">
          <a:xfrm>
            <a:off x="1524000" y="2265363"/>
            <a:ext cx="23622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0</a:t>
            </a:r>
            <a:r>
              <a:rPr kumimoji="0" lang="en-US" altLang="zh-CN" sz="2400" b="1"/>
              <a:t>:   S’ </a:t>
            </a:r>
            <a:r>
              <a:rPr kumimoji="0" lang="en-US" altLang="zh-CN" sz="2400" b="1">
                <a:sym typeface="Symbol" panose="05050102010706020507" pitchFamily="18" charset="2"/>
              </a:rPr>
              <a:t> ·S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1</a:t>
            </a:r>
            <a:r>
              <a:rPr kumimoji="0" lang="en-US" altLang="zh-CN" sz="2400" b="1"/>
              <a:t>:   S’ </a:t>
            </a:r>
            <a:r>
              <a:rPr kumimoji="0" lang="en-US" altLang="zh-CN" sz="2400" b="1">
                <a:sym typeface="Symbol" panose="05050102010706020507" pitchFamily="18" charset="2"/>
              </a:rPr>
              <a:t> S·</a:t>
            </a: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2</a:t>
            </a:r>
            <a:r>
              <a:rPr kumimoji="0" lang="en-US" altLang="zh-CN" sz="2400" b="1"/>
              <a:t>:   S </a:t>
            </a:r>
            <a:r>
              <a:rPr kumimoji="0" lang="en-US" altLang="zh-CN" sz="2400" b="1">
                <a:sym typeface="Symbol" panose="05050102010706020507" pitchFamily="18" charset="2"/>
              </a:rPr>
              <a:t> L · = R</a:t>
            </a:r>
            <a:r>
              <a:rPr kumimoji="0" lang="en-US" altLang="zh-CN" sz="2400" b="1"/>
              <a:t> </a:t>
            </a:r>
            <a:br>
              <a:rPr kumimoji="0" lang="en-US" altLang="zh-CN" sz="2400" b="1"/>
            </a:b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2</a:t>
            </a:r>
            <a:r>
              <a:rPr kumimoji="0" lang="en-US" altLang="zh-CN" sz="2400" b="1"/>
              <a:t>:   </a:t>
            </a:r>
            <a:r>
              <a:rPr kumimoji="0" lang="en-US" altLang="zh-CN" sz="2400" b="1">
                <a:sym typeface="Symbol" panose="05050102010706020507" pitchFamily="18" charset="2"/>
              </a:rPr>
              <a:t>R  L ·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3</a:t>
            </a:r>
            <a:r>
              <a:rPr kumimoji="0" lang="en-US" altLang="zh-CN" sz="2400" b="1"/>
              <a:t>:   S </a:t>
            </a:r>
            <a:r>
              <a:rPr kumimoji="0" lang="en-US" altLang="zh-CN" sz="2400" b="1">
                <a:sym typeface="Symbol" panose="05050102010706020507" pitchFamily="18" charset="2"/>
              </a:rPr>
              <a:t> R·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4</a:t>
            </a:r>
            <a:r>
              <a:rPr kumimoji="0" lang="en-US" altLang="zh-CN" sz="2400" b="1"/>
              <a:t>:   L </a:t>
            </a:r>
            <a:r>
              <a:rPr kumimoji="0" lang="en-US" altLang="zh-CN" sz="2400" b="1">
                <a:sym typeface="Symbol" panose="05050102010706020507" pitchFamily="18" charset="2"/>
              </a:rPr>
              <a:t> *·R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5</a:t>
            </a:r>
            <a:r>
              <a:rPr kumimoji="0" lang="en-US" altLang="zh-CN" sz="2400" b="1"/>
              <a:t>:   </a:t>
            </a:r>
            <a:r>
              <a:rPr kumimoji="0" lang="en-US" altLang="zh-CN" sz="2400" b="1">
                <a:sym typeface="Symbol" panose="05050102010706020507" pitchFamily="18" charset="2"/>
              </a:rPr>
              <a:t>L  id·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6</a:t>
            </a:r>
            <a:r>
              <a:rPr kumimoji="0" lang="en-US" altLang="zh-CN" sz="2400" b="1"/>
              <a:t>:   S </a:t>
            </a:r>
            <a:r>
              <a:rPr kumimoji="0" lang="en-US" altLang="zh-CN" sz="2400" b="1">
                <a:sym typeface="Symbol" panose="05050102010706020507" pitchFamily="18" charset="2"/>
              </a:rPr>
              <a:t> L = · R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7</a:t>
            </a:r>
            <a:r>
              <a:rPr kumimoji="0" lang="en-US" altLang="zh-CN" sz="2400" b="1"/>
              <a:t>:   </a:t>
            </a:r>
            <a:r>
              <a:rPr kumimoji="0" lang="en-US" altLang="zh-CN" sz="2400" b="1">
                <a:sym typeface="Symbol" panose="05050102010706020507" pitchFamily="18" charset="2"/>
              </a:rPr>
              <a:t>L  * R·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8</a:t>
            </a:r>
            <a:r>
              <a:rPr kumimoji="0" lang="en-US" altLang="zh-CN" sz="2400" b="1"/>
              <a:t>:   </a:t>
            </a:r>
            <a:r>
              <a:rPr kumimoji="0" lang="en-US" altLang="zh-CN" sz="2400" b="1">
                <a:sym typeface="Symbol" panose="05050102010706020507" pitchFamily="18" charset="2"/>
              </a:rPr>
              <a:t>R  L ·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9</a:t>
            </a:r>
            <a:r>
              <a:rPr kumimoji="0" lang="en-US" altLang="zh-CN" sz="2400" b="1"/>
              <a:t>:   S</a:t>
            </a:r>
            <a:r>
              <a:rPr kumimoji="0" lang="en-US" altLang="zh-CN" sz="2400" b="1">
                <a:sym typeface="Symbol" panose="05050102010706020507" pitchFamily="18" charset="2"/>
              </a:rPr>
              <a:t>L = R·</a:t>
            </a:r>
            <a:r>
              <a:rPr kumimoji="0" lang="en-US" altLang="zh-CN" sz="2400" b="1"/>
              <a:t>  </a:t>
            </a:r>
            <a:endParaRPr kumimoji="0" lang="en-US" altLang="zh-CN" sz="2400" b="1"/>
          </a:p>
        </p:txBody>
      </p:sp>
      <p:sp>
        <p:nvSpPr>
          <p:cNvPr id="130057" name="Text Box 10"/>
          <p:cNvSpPr txBox="1">
            <a:spLocks noChangeArrowheads="1"/>
          </p:cNvSpPr>
          <p:nvPr/>
        </p:nvSpPr>
        <p:spPr bwMode="auto">
          <a:xfrm>
            <a:off x="5867400" y="1752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30058" name="Text Box 12"/>
          <p:cNvSpPr txBox="1">
            <a:spLocks noChangeArrowheads="1"/>
          </p:cNvSpPr>
          <p:nvPr/>
        </p:nvSpPr>
        <p:spPr bwMode="auto">
          <a:xfrm>
            <a:off x="2133600" y="1828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项目</a:t>
            </a:r>
            <a:endParaRPr kumimoji="0" lang="zh-CN" altLang="en-US" sz="2400" b="1"/>
          </a:p>
        </p:txBody>
      </p:sp>
      <p:sp>
        <p:nvSpPr>
          <p:cNvPr id="130059" name="Text Box 16"/>
          <p:cNvSpPr txBox="1">
            <a:spLocks noChangeArrowheads="1"/>
          </p:cNvSpPr>
          <p:nvPr/>
        </p:nvSpPr>
        <p:spPr bwMode="auto">
          <a:xfrm>
            <a:off x="3962400" y="2265363"/>
            <a:ext cx="6096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br>
              <a:rPr kumimoji="0" lang="en-US" altLang="zh-CN" sz="2400" b="1"/>
            </a:b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</a:t>
            </a:r>
            <a:endParaRPr kumimoji="0" lang="en-US" altLang="zh-CN" sz="2400" b="1"/>
          </a:p>
        </p:txBody>
      </p:sp>
      <p:sp>
        <p:nvSpPr>
          <p:cNvPr id="130060" name="Text Box 17"/>
          <p:cNvSpPr txBox="1">
            <a:spLocks noChangeArrowheads="1"/>
          </p:cNvSpPr>
          <p:nvPr/>
        </p:nvSpPr>
        <p:spPr bwMode="auto">
          <a:xfrm>
            <a:off x="3810000" y="1828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初始</a:t>
            </a:r>
            <a:endParaRPr kumimoji="0" lang="zh-CN" altLang="en-US" sz="2400" b="1"/>
          </a:p>
        </p:txBody>
      </p:sp>
      <p:sp>
        <p:nvSpPr>
          <p:cNvPr id="130061" name="Text Box 18"/>
          <p:cNvSpPr txBox="1">
            <a:spLocks noChangeArrowheads="1"/>
          </p:cNvSpPr>
          <p:nvPr/>
        </p:nvSpPr>
        <p:spPr bwMode="auto">
          <a:xfrm>
            <a:off x="4978400" y="2265363"/>
            <a:ext cx="6096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$</a:t>
            </a: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/>
            </a:br>
            <a:r>
              <a:rPr kumimoji="0" lang="en-US" altLang="zh-CN" sz="2400" b="1"/>
              <a:t>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</a:t>
            </a:r>
            <a:endParaRPr kumimoji="0" lang="en-US" altLang="zh-CN" sz="2400" b="1"/>
          </a:p>
        </p:txBody>
      </p:sp>
      <p:sp>
        <p:nvSpPr>
          <p:cNvPr id="130062" name="Text Box 19"/>
          <p:cNvSpPr txBox="1">
            <a:spLocks noChangeArrowheads="1"/>
          </p:cNvSpPr>
          <p:nvPr/>
        </p:nvSpPr>
        <p:spPr bwMode="auto">
          <a:xfrm>
            <a:off x="4572000" y="182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第一遍</a:t>
            </a:r>
            <a:endParaRPr kumimoji="0" lang="zh-CN" altLang="en-US" sz="2400" b="1"/>
          </a:p>
        </p:txBody>
      </p:sp>
      <p:sp>
        <p:nvSpPr>
          <p:cNvPr id="130063" name="Text Box 20"/>
          <p:cNvSpPr txBox="1">
            <a:spLocks noChangeArrowheads="1"/>
          </p:cNvSpPr>
          <p:nvPr/>
        </p:nvSpPr>
        <p:spPr bwMode="auto">
          <a:xfrm>
            <a:off x="5994400" y="2265363"/>
            <a:ext cx="6096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$</a:t>
            </a: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/>
            </a:br>
            <a:r>
              <a:rPr kumimoji="0" lang="en-US" altLang="zh-CN" sz="2400" b="1"/>
              <a:t>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</a:t>
            </a:r>
            <a:endParaRPr kumimoji="0" lang="en-US" altLang="zh-CN" sz="2400" b="1"/>
          </a:p>
        </p:txBody>
      </p:sp>
      <p:sp>
        <p:nvSpPr>
          <p:cNvPr id="130064" name="Text Box 21"/>
          <p:cNvSpPr txBox="1">
            <a:spLocks noChangeArrowheads="1"/>
          </p:cNvSpPr>
          <p:nvPr/>
        </p:nvSpPr>
        <p:spPr bwMode="auto">
          <a:xfrm>
            <a:off x="5588000" y="182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第二遍</a:t>
            </a:r>
            <a:endParaRPr kumimoji="0" lang="zh-CN" altLang="en-US" sz="2400" b="1"/>
          </a:p>
        </p:txBody>
      </p:sp>
      <p:sp>
        <p:nvSpPr>
          <p:cNvPr id="130065" name="Text Box 22"/>
          <p:cNvSpPr txBox="1">
            <a:spLocks noChangeArrowheads="1"/>
          </p:cNvSpPr>
          <p:nvPr/>
        </p:nvSpPr>
        <p:spPr bwMode="auto">
          <a:xfrm>
            <a:off x="7010400" y="2265363"/>
            <a:ext cx="6096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$</a:t>
            </a: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/>
            </a:br>
            <a:r>
              <a:rPr kumimoji="0" lang="en-US" altLang="zh-CN" sz="2400" b="1"/>
              <a:t>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$</a:t>
            </a:r>
            <a:endParaRPr kumimoji="0" lang="en-US" altLang="zh-CN" sz="2400" b="1"/>
          </a:p>
        </p:txBody>
      </p:sp>
      <p:sp>
        <p:nvSpPr>
          <p:cNvPr id="130066" name="Text Box 23"/>
          <p:cNvSpPr txBox="1">
            <a:spLocks noChangeArrowheads="1"/>
          </p:cNvSpPr>
          <p:nvPr/>
        </p:nvSpPr>
        <p:spPr bwMode="auto">
          <a:xfrm>
            <a:off x="6604000" y="182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第三遍</a:t>
            </a:r>
            <a:endParaRPr kumimoji="0" lang="zh-CN" altLang="en-US" sz="2400" b="1"/>
          </a:p>
        </p:txBody>
      </p:sp>
      <p:sp>
        <p:nvSpPr>
          <p:cNvPr id="130067" name="Line 24"/>
          <p:cNvSpPr>
            <a:spLocks noChangeShapeType="1"/>
          </p:cNvSpPr>
          <p:nvPr/>
        </p:nvSpPr>
        <p:spPr bwMode="auto">
          <a:xfrm>
            <a:off x="3886200" y="18288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68" name="Text Box 26"/>
          <p:cNvSpPr txBox="1">
            <a:spLocks noChangeArrowheads="1"/>
          </p:cNvSpPr>
          <p:nvPr/>
        </p:nvSpPr>
        <p:spPr bwMode="auto">
          <a:xfrm>
            <a:off x="5105400" y="1371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搜索符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31075" name="Line 21"/>
          <p:cNvSpPr>
            <a:spLocks noChangeShapeType="1"/>
          </p:cNvSpPr>
          <p:nvPr/>
        </p:nvSpPr>
        <p:spPr bwMode="auto">
          <a:xfrm flipV="1">
            <a:off x="2057400" y="1752600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6" name="Line 22"/>
          <p:cNvSpPr>
            <a:spLocks noChangeShapeType="1"/>
          </p:cNvSpPr>
          <p:nvPr/>
        </p:nvSpPr>
        <p:spPr bwMode="auto">
          <a:xfrm>
            <a:off x="2057400" y="1828800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7" name="Line 23"/>
          <p:cNvSpPr>
            <a:spLocks noChangeShapeType="1"/>
          </p:cNvSpPr>
          <p:nvPr/>
        </p:nvSpPr>
        <p:spPr bwMode="auto">
          <a:xfrm>
            <a:off x="2743200" y="2209800"/>
            <a:ext cx="495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8" name="Line 24"/>
          <p:cNvSpPr>
            <a:spLocks noChangeShapeType="1"/>
          </p:cNvSpPr>
          <p:nvPr/>
        </p:nvSpPr>
        <p:spPr bwMode="auto">
          <a:xfrm>
            <a:off x="2057400" y="2514600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9" name="Line 25"/>
          <p:cNvSpPr>
            <a:spLocks noChangeShapeType="1"/>
          </p:cNvSpPr>
          <p:nvPr/>
        </p:nvSpPr>
        <p:spPr bwMode="auto">
          <a:xfrm>
            <a:off x="7696200" y="17526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0" name="Line 26"/>
          <p:cNvSpPr>
            <a:spLocks noChangeShapeType="1"/>
          </p:cNvSpPr>
          <p:nvPr/>
        </p:nvSpPr>
        <p:spPr bwMode="auto">
          <a:xfrm>
            <a:off x="2743200" y="18288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1" name="Line 27"/>
          <p:cNvSpPr>
            <a:spLocks noChangeShapeType="1"/>
          </p:cNvSpPr>
          <p:nvPr/>
        </p:nvSpPr>
        <p:spPr bwMode="auto">
          <a:xfrm>
            <a:off x="5715000" y="18288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2" name="Text Box 28"/>
          <p:cNvSpPr txBox="1">
            <a:spLocks noChangeArrowheads="1"/>
          </p:cNvSpPr>
          <p:nvPr/>
        </p:nvSpPr>
        <p:spPr bwMode="auto">
          <a:xfrm>
            <a:off x="2057400" y="1981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  <a:endParaRPr kumimoji="0" lang="zh-CN" altLang="en-US" sz="2000" b="1"/>
          </a:p>
        </p:txBody>
      </p:sp>
      <p:sp>
        <p:nvSpPr>
          <p:cNvPr id="131083" name="Text Box 29"/>
          <p:cNvSpPr txBox="1">
            <a:spLocks noChangeArrowheads="1"/>
          </p:cNvSpPr>
          <p:nvPr/>
        </p:nvSpPr>
        <p:spPr bwMode="auto">
          <a:xfrm>
            <a:off x="3581400" y="1828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  <a:endParaRPr kumimoji="0" lang="en-US" altLang="zh-CN" sz="2000" b="1"/>
          </a:p>
        </p:txBody>
      </p:sp>
      <p:sp>
        <p:nvSpPr>
          <p:cNvPr id="131084" name="Text Box 30"/>
          <p:cNvSpPr txBox="1">
            <a:spLocks noChangeArrowheads="1"/>
          </p:cNvSpPr>
          <p:nvPr/>
        </p:nvSpPr>
        <p:spPr bwMode="auto">
          <a:xfrm>
            <a:off x="28956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  <a:endParaRPr kumimoji="0" lang="en-US" altLang="zh-CN" sz="2000"/>
          </a:p>
        </p:txBody>
      </p:sp>
      <p:sp>
        <p:nvSpPr>
          <p:cNvPr id="131085" name="Text Box 31"/>
          <p:cNvSpPr txBox="1">
            <a:spLocks noChangeArrowheads="1"/>
          </p:cNvSpPr>
          <p:nvPr/>
        </p:nvSpPr>
        <p:spPr bwMode="auto">
          <a:xfrm>
            <a:off x="3667125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=</a:t>
            </a:r>
            <a:endParaRPr kumimoji="0" lang="en-US" altLang="zh-CN" sz="2000"/>
          </a:p>
        </p:txBody>
      </p:sp>
      <p:sp>
        <p:nvSpPr>
          <p:cNvPr id="131086" name="Text Box 32"/>
          <p:cNvSpPr txBox="1">
            <a:spLocks noChangeArrowheads="1"/>
          </p:cNvSpPr>
          <p:nvPr/>
        </p:nvSpPr>
        <p:spPr bwMode="auto">
          <a:xfrm>
            <a:off x="443865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  <a:endParaRPr kumimoji="0" lang="en-US" altLang="zh-CN" sz="2000" b="1"/>
          </a:p>
        </p:txBody>
      </p:sp>
      <p:sp>
        <p:nvSpPr>
          <p:cNvPr id="131087" name="Text Box 33"/>
          <p:cNvSpPr txBox="1">
            <a:spLocks noChangeArrowheads="1"/>
          </p:cNvSpPr>
          <p:nvPr/>
        </p:nvSpPr>
        <p:spPr bwMode="auto">
          <a:xfrm>
            <a:off x="22098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  <a:endParaRPr kumimoji="0" lang="en-US" altLang="zh-CN" sz="2000" b="1"/>
          </a:p>
        </p:txBody>
      </p:sp>
      <p:sp>
        <p:nvSpPr>
          <p:cNvPr id="131088" name="Text Box 34"/>
          <p:cNvSpPr txBox="1">
            <a:spLocks noChangeArrowheads="1"/>
          </p:cNvSpPr>
          <p:nvPr/>
        </p:nvSpPr>
        <p:spPr bwMode="auto">
          <a:xfrm>
            <a:off x="22098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  <a:endParaRPr kumimoji="0" lang="en-US" altLang="zh-CN" sz="2000" b="1"/>
          </a:p>
        </p:txBody>
      </p:sp>
      <p:sp>
        <p:nvSpPr>
          <p:cNvPr id="131089" name="Text Box 35"/>
          <p:cNvSpPr txBox="1">
            <a:spLocks noChangeArrowheads="1"/>
          </p:cNvSpPr>
          <p:nvPr/>
        </p:nvSpPr>
        <p:spPr bwMode="auto">
          <a:xfrm>
            <a:off x="22098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  <a:endParaRPr kumimoji="0" lang="en-US" altLang="zh-CN" sz="2000" b="1"/>
          </a:p>
        </p:txBody>
      </p:sp>
      <p:sp>
        <p:nvSpPr>
          <p:cNvPr id="131090" name="Text Box 36"/>
          <p:cNvSpPr txBox="1">
            <a:spLocks noChangeArrowheads="1"/>
          </p:cNvSpPr>
          <p:nvPr/>
        </p:nvSpPr>
        <p:spPr bwMode="auto">
          <a:xfrm>
            <a:off x="22098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  <a:endParaRPr kumimoji="0" lang="en-US" altLang="zh-CN" sz="2000" b="1"/>
          </a:p>
        </p:txBody>
      </p:sp>
      <p:sp>
        <p:nvSpPr>
          <p:cNvPr id="131091" name="Text Box 37"/>
          <p:cNvSpPr txBox="1">
            <a:spLocks noChangeArrowheads="1"/>
          </p:cNvSpPr>
          <p:nvPr/>
        </p:nvSpPr>
        <p:spPr bwMode="auto">
          <a:xfrm>
            <a:off x="22098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  <a:endParaRPr kumimoji="0" lang="en-US" altLang="zh-CN" sz="2000" b="1"/>
          </a:p>
        </p:txBody>
      </p:sp>
      <p:sp>
        <p:nvSpPr>
          <p:cNvPr id="131092" name="Line 38"/>
          <p:cNvSpPr>
            <a:spLocks noChangeShapeType="1"/>
          </p:cNvSpPr>
          <p:nvPr/>
        </p:nvSpPr>
        <p:spPr bwMode="auto">
          <a:xfrm>
            <a:off x="2057400" y="17526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93" name="Text Box 39"/>
          <p:cNvSpPr txBox="1">
            <a:spLocks noChangeArrowheads="1"/>
          </p:cNvSpPr>
          <p:nvPr/>
        </p:nvSpPr>
        <p:spPr bwMode="auto">
          <a:xfrm>
            <a:off x="2209800" y="4419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  <a:endParaRPr kumimoji="0" lang="en-US" altLang="zh-CN" sz="2000" b="1"/>
          </a:p>
        </p:txBody>
      </p:sp>
      <p:sp>
        <p:nvSpPr>
          <p:cNvPr id="131094" name="Text Box 40"/>
          <p:cNvSpPr txBox="1">
            <a:spLocks noChangeArrowheads="1"/>
          </p:cNvSpPr>
          <p:nvPr/>
        </p:nvSpPr>
        <p:spPr bwMode="auto">
          <a:xfrm>
            <a:off x="22098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  <a:endParaRPr kumimoji="0" lang="en-US" altLang="zh-CN" sz="2000" b="1"/>
          </a:p>
        </p:txBody>
      </p:sp>
      <p:sp>
        <p:nvSpPr>
          <p:cNvPr id="131095" name="Text Box 41"/>
          <p:cNvSpPr txBox="1">
            <a:spLocks noChangeArrowheads="1"/>
          </p:cNvSpPr>
          <p:nvPr/>
        </p:nvSpPr>
        <p:spPr bwMode="auto">
          <a:xfrm>
            <a:off x="22098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  <a:endParaRPr kumimoji="0" lang="en-US" altLang="zh-CN" sz="2000" b="1"/>
          </a:p>
        </p:txBody>
      </p:sp>
      <p:sp>
        <p:nvSpPr>
          <p:cNvPr id="131096" name="Text Box 42"/>
          <p:cNvSpPr txBox="1">
            <a:spLocks noChangeArrowheads="1"/>
          </p:cNvSpPr>
          <p:nvPr/>
        </p:nvSpPr>
        <p:spPr bwMode="auto">
          <a:xfrm>
            <a:off x="22098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  <a:endParaRPr kumimoji="0" lang="en-US" altLang="zh-CN" sz="2000" b="1"/>
          </a:p>
        </p:txBody>
      </p:sp>
      <p:sp>
        <p:nvSpPr>
          <p:cNvPr id="131097" name="Text Box 43"/>
          <p:cNvSpPr txBox="1">
            <a:spLocks noChangeArrowheads="1"/>
          </p:cNvSpPr>
          <p:nvPr/>
        </p:nvSpPr>
        <p:spPr bwMode="auto">
          <a:xfrm>
            <a:off x="2209800" y="5927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  <a:endParaRPr kumimoji="0" lang="en-US" altLang="zh-CN" sz="2000" b="1"/>
          </a:p>
        </p:txBody>
      </p:sp>
      <p:sp>
        <p:nvSpPr>
          <p:cNvPr id="131098" name="Line 44"/>
          <p:cNvSpPr>
            <a:spLocks noChangeShapeType="1"/>
          </p:cNvSpPr>
          <p:nvPr/>
        </p:nvSpPr>
        <p:spPr bwMode="auto">
          <a:xfrm>
            <a:off x="2057400" y="6232525"/>
            <a:ext cx="5638800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99" name="Text Box 45"/>
          <p:cNvSpPr txBox="1">
            <a:spLocks noChangeArrowheads="1"/>
          </p:cNvSpPr>
          <p:nvPr/>
        </p:nvSpPr>
        <p:spPr bwMode="auto">
          <a:xfrm>
            <a:off x="57150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  <a:endParaRPr kumimoji="0" lang="en-US" altLang="zh-CN" sz="2000" b="1"/>
          </a:p>
        </p:txBody>
      </p:sp>
      <p:sp>
        <p:nvSpPr>
          <p:cNvPr id="131100" name="Text Box 46"/>
          <p:cNvSpPr txBox="1">
            <a:spLocks noChangeArrowheads="1"/>
          </p:cNvSpPr>
          <p:nvPr/>
        </p:nvSpPr>
        <p:spPr bwMode="auto">
          <a:xfrm>
            <a:off x="6416675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L</a:t>
            </a:r>
            <a:endParaRPr kumimoji="0" lang="en-US" altLang="zh-CN" sz="2000" b="1"/>
          </a:p>
        </p:txBody>
      </p:sp>
      <p:sp>
        <p:nvSpPr>
          <p:cNvPr id="131101" name="Text Box 47"/>
          <p:cNvSpPr txBox="1">
            <a:spLocks noChangeArrowheads="1"/>
          </p:cNvSpPr>
          <p:nvPr/>
        </p:nvSpPr>
        <p:spPr bwMode="auto">
          <a:xfrm>
            <a:off x="5715000" y="1828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  <a:endParaRPr kumimoji="0" lang="en-US" altLang="zh-CN" sz="2000" b="1"/>
          </a:p>
        </p:txBody>
      </p:sp>
      <p:sp>
        <p:nvSpPr>
          <p:cNvPr id="131102" name="Text Box 48"/>
          <p:cNvSpPr txBox="1">
            <a:spLocks noChangeArrowheads="1"/>
          </p:cNvSpPr>
          <p:nvPr/>
        </p:nvSpPr>
        <p:spPr bwMode="auto">
          <a:xfrm>
            <a:off x="2895600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31103" name="Text Box 49"/>
          <p:cNvSpPr txBox="1">
            <a:spLocks noChangeArrowheads="1"/>
          </p:cNvSpPr>
          <p:nvPr/>
        </p:nvSpPr>
        <p:spPr bwMode="auto">
          <a:xfrm>
            <a:off x="4419600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31104" name="Text Box 50"/>
          <p:cNvSpPr txBox="1">
            <a:spLocks noChangeArrowheads="1"/>
          </p:cNvSpPr>
          <p:nvPr/>
        </p:nvSpPr>
        <p:spPr bwMode="auto">
          <a:xfrm>
            <a:off x="57150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  <a:endParaRPr kumimoji="0" lang="en-US" altLang="zh-CN" sz="2000"/>
          </a:p>
        </p:txBody>
      </p:sp>
      <p:sp>
        <p:nvSpPr>
          <p:cNvPr id="131105" name="Text Box 51"/>
          <p:cNvSpPr txBox="1">
            <a:spLocks noChangeArrowheads="1"/>
          </p:cNvSpPr>
          <p:nvPr/>
        </p:nvSpPr>
        <p:spPr bwMode="auto">
          <a:xfrm>
            <a:off x="6416675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131106" name="Text Box 53"/>
          <p:cNvSpPr txBox="1">
            <a:spLocks noChangeArrowheads="1"/>
          </p:cNvSpPr>
          <p:nvPr/>
        </p:nvSpPr>
        <p:spPr bwMode="auto">
          <a:xfrm>
            <a:off x="3657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131107" name="Text Box 54"/>
          <p:cNvSpPr txBox="1">
            <a:spLocks noChangeArrowheads="1"/>
          </p:cNvSpPr>
          <p:nvPr/>
        </p:nvSpPr>
        <p:spPr bwMode="auto">
          <a:xfrm>
            <a:off x="5181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131108" name="Text Box 55"/>
          <p:cNvSpPr txBox="1">
            <a:spLocks noChangeArrowheads="1"/>
          </p:cNvSpPr>
          <p:nvPr/>
        </p:nvSpPr>
        <p:spPr bwMode="auto">
          <a:xfrm>
            <a:off x="2895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31109" name="Text Box 56"/>
          <p:cNvSpPr txBox="1">
            <a:spLocks noChangeArrowheads="1"/>
          </p:cNvSpPr>
          <p:nvPr/>
        </p:nvSpPr>
        <p:spPr bwMode="auto">
          <a:xfrm>
            <a:off x="4419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31110" name="Text Box 58"/>
          <p:cNvSpPr txBox="1">
            <a:spLocks noChangeArrowheads="1"/>
          </p:cNvSpPr>
          <p:nvPr/>
        </p:nvSpPr>
        <p:spPr bwMode="auto">
          <a:xfrm>
            <a:off x="6400800" y="4038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  <a:endParaRPr kumimoji="0" lang="en-US" altLang="zh-CN" sz="2000"/>
          </a:p>
        </p:txBody>
      </p:sp>
      <p:sp>
        <p:nvSpPr>
          <p:cNvPr id="131111" name="Text Box 59"/>
          <p:cNvSpPr txBox="1">
            <a:spLocks noChangeArrowheads="1"/>
          </p:cNvSpPr>
          <p:nvPr/>
        </p:nvSpPr>
        <p:spPr bwMode="auto">
          <a:xfrm>
            <a:off x="3657600" y="4422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31112" name="Text Box 60"/>
          <p:cNvSpPr txBox="1">
            <a:spLocks noChangeArrowheads="1"/>
          </p:cNvSpPr>
          <p:nvPr/>
        </p:nvSpPr>
        <p:spPr bwMode="auto">
          <a:xfrm>
            <a:off x="6416675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  <a:endParaRPr kumimoji="0" lang="en-US" altLang="zh-CN" sz="2000"/>
          </a:p>
        </p:txBody>
      </p:sp>
      <p:sp>
        <p:nvSpPr>
          <p:cNvPr id="131113" name="Text Box 61"/>
          <p:cNvSpPr txBox="1">
            <a:spLocks noChangeArrowheads="1"/>
          </p:cNvSpPr>
          <p:nvPr/>
        </p:nvSpPr>
        <p:spPr bwMode="auto">
          <a:xfrm>
            <a:off x="3657600" y="5165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31114" name="Text Box 64"/>
          <p:cNvSpPr txBox="1">
            <a:spLocks noChangeArrowheads="1"/>
          </p:cNvSpPr>
          <p:nvPr/>
        </p:nvSpPr>
        <p:spPr bwMode="auto">
          <a:xfrm>
            <a:off x="51816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31115" name="Text Box 65"/>
          <p:cNvSpPr txBox="1">
            <a:spLocks noChangeArrowheads="1"/>
          </p:cNvSpPr>
          <p:nvPr/>
        </p:nvSpPr>
        <p:spPr bwMode="auto">
          <a:xfrm>
            <a:off x="2879725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31116" name="Text Box 66"/>
          <p:cNvSpPr txBox="1">
            <a:spLocks noChangeArrowheads="1"/>
          </p:cNvSpPr>
          <p:nvPr/>
        </p:nvSpPr>
        <p:spPr bwMode="auto">
          <a:xfrm>
            <a:off x="44196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31117" name="Text Box 67"/>
          <p:cNvSpPr txBox="1">
            <a:spLocks noChangeArrowheads="1"/>
          </p:cNvSpPr>
          <p:nvPr/>
        </p:nvSpPr>
        <p:spPr bwMode="auto">
          <a:xfrm>
            <a:off x="3657600" y="5546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131118" name="Text Box 68"/>
          <p:cNvSpPr txBox="1">
            <a:spLocks noChangeArrowheads="1"/>
          </p:cNvSpPr>
          <p:nvPr/>
        </p:nvSpPr>
        <p:spPr bwMode="auto">
          <a:xfrm>
            <a:off x="5181600" y="5546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131119" name="Text Box 69"/>
          <p:cNvSpPr txBox="1">
            <a:spLocks noChangeArrowheads="1"/>
          </p:cNvSpPr>
          <p:nvPr/>
        </p:nvSpPr>
        <p:spPr bwMode="auto">
          <a:xfrm>
            <a:off x="5211763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131120" name="Text Box 70"/>
          <p:cNvSpPr txBox="1">
            <a:spLocks noChangeArrowheads="1"/>
          </p:cNvSpPr>
          <p:nvPr/>
        </p:nvSpPr>
        <p:spPr bwMode="auto">
          <a:xfrm>
            <a:off x="5105400" y="2895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  <a:endParaRPr kumimoji="0" lang="en-US" altLang="zh-CN" sz="2000"/>
          </a:p>
        </p:txBody>
      </p:sp>
      <p:sp>
        <p:nvSpPr>
          <p:cNvPr id="131121" name="Text Box 71"/>
          <p:cNvSpPr txBox="1">
            <a:spLocks noChangeArrowheads="1"/>
          </p:cNvSpPr>
          <p:nvPr/>
        </p:nvSpPr>
        <p:spPr bwMode="auto">
          <a:xfrm>
            <a:off x="5211763" y="4419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31122" name="Text Box 72"/>
          <p:cNvSpPr txBox="1">
            <a:spLocks noChangeArrowheads="1"/>
          </p:cNvSpPr>
          <p:nvPr/>
        </p:nvSpPr>
        <p:spPr bwMode="auto">
          <a:xfrm>
            <a:off x="5181600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31123" name="Text Box 73"/>
          <p:cNvSpPr txBox="1">
            <a:spLocks noChangeArrowheads="1"/>
          </p:cNvSpPr>
          <p:nvPr/>
        </p:nvSpPr>
        <p:spPr bwMode="auto">
          <a:xfrm>
            <a:off x="5181600" y="59055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31124" name="Text Box 74"/>
          <p:cNvSpPr txBox="1">
            <a:spLocks noChangeArrowheads="1"/>
          </p:cNvSpPr>
          <p:nvPr/>
        </p:nvSpPr>
        <p:spPr bwMode="auto">
          <a:xfrm>
            <a:off x="71628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R</a:t>
            </a:r>
            <a:endParaRPr kumimoji="0" lang="en-US" altLang="zh-CN" sz="2000" b="1"/>
          </a:p>
        </p:txBody>
      </p:sp>
      <p:sp>
        <p:nvSpPr>
          <p:cNvPr id="131125" name="Text Box 75"/>
          <p:cNvSpPr txBox="1">
            <a:spLocks noChangeArrowheads="1"/>
          </p:cNvSpPr>
          <p:nvPr/>
        </p:nvSpPr>
        <p:spPr bwMode="auto">
          <a:xfrm>
            <a:off x="71628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131126" name="Text Box 77"/>
          <p:cNvSpPr txBox="1">
            <a:spLocks noChangeArrowheads="1"/>
          </p:cNvSpPr>
          <p:nvPr/>
        </p:nvSpPr>
        <p:spPr bwMode="auto">
          <a:xfrm>
            <a:off x="7146925" y="4038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7</a:t>
            </a:r>
            <a:endParaRPr kumimoji="0" lang="en-US" altLang="zh-CN" sz="2000"/>
          </a:p>
        </p:txBody>
      </p:sp>
      <p:sp>
        <p:nvSpPr>
          <p:cNvPr id="131127" name="Text Box 78"/>
          <p:cNvSpPr txBox="1">
            <a:spLocks noChangeArrowheads="1"/>
          </p:cNvSpPr>
          <p:nvPr/>
        </p:nvSpPr>
        <p:spPr bwMode="auto">
          <a:xfrm>
            <a:off x="71628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4.7.7  LR</a:t>
            </a:r>
            <a:r>
              <a:rPr lang="zh-CN" altLang="en-US"/>
              <a:t>分析表的压缩</a:t>
            </a:r>
            <a:endParaRPr lang="zh-CN" alt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CN"/>
              <a:t>LALR</a:t>
            </a:r>
            <a:r>
              <a:rPr lang="zh-CN" altLang="en-US"/>
              <a:t>分析表规模</a:t>
            </a:r>
            <a:endParaRPr lang="zh-CN" altLang="en-US"/>
          </a:p>
          <a:p>
            <a:pPr lvl="1" eaLnBrk="1" hangingPunct="1"/>
            <a:r>
              <a:rPr lang="zh-CN" altLang="en-US"/>
              <a:t>对于程序设计语言的翻译，其文法规模大致为</a:t>
            </a:r>
            <a:r>
              <a:rPr lang="en-US" altLang="zh-CN"/>
              <a:t>50</a:t>
            </a:r>
            <a:r>
              <a:rPr lang="zh-CN" altLang="en-US"/>
              <a:t>－</a:t>
            </a:r>
            <a:r>
              <a:rPr lang="en-US" altLang="zh-CN"/>
              <a:t>100</a:t>
            </a:r>
            <a:r>
              <a:rPr lang="zh-CN" altLang="en-US"/>
              <a:t>个终结符，</a:t>
            </a:r>
            <a:r>
              <a:rPr lang="en-US" altLang="zh-CN"/>
              <a:t>100</a:t>
            </a:r>
            <a:r>
              <a:rPr lang="zh-CN" altLang="en-US"/>
              <a:t>个产生式</a:t>
            </a:r>
            <a:endParaRPr lang="zh-CN" altLang="en-US"/>
          </a:p>
          <a:p>
            <a:pPr lvl="1" eaLnBrk="1" hangingPunct="1"/>
            <a:r>
              <a:rPr lang="zh-CN" altLang="en-US"/>
              <a:t>得到的</a:t>
            </a:r>
            <a:r>
              <a:rPr lang="en-US" altLang="zh-CN"/>
              <a:t>LALR</a:t>
            </a:r>
            <a:r>
              <a:rPr lang="zh-CN" altLang="en-US"/>
              <a:t>分析表规模大致为几百个状态，</a:t>
            </a:r>
            <a:r>
              <a:rPr lang="en-US" altLang="zh-CN"/>
              <a:t>20000</a:t>
            </a:r>
            <a:r>
              <a:rPr lang="zh-CN" altLang="en-US"/>
              <a:t>个</a:t>
            </a:r>
            <a:r>
              <a:rPr lang="en-US" altLang="zh-CN"/>
              <a:t>action</a:t>
            </a:r>
            <a:r>
              <a:rPr lang="zh-CN" altLang="en-US"/>
              <a:t>函数项</a:t>
            </a:r>
            <a:endParaRPr lang="zh-CN" alt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action</a:t>
            </a:r>
            <a:r>
              <a:rPr lang="zh-CN" altLang="en-US"/>
              <a:t>表的压缩</a:t>
            </a:r>
            <a:endParaRPr lang="zh-CN" alt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CN"/>
              <a:t>[</a:t>
            </a:r>
            <a:r>
              <a:rPr lang="zh-CN" altLang="en-US"/>
              <a:t>状态</a:t>
            </a:r>
            <a:r>
              <a:rPr lang="en-US" altLang="zh-CN"/>
              <a:t>, </a:t>
            </a:r>
            <a:r>
              <a:rPr lang="zh-CN" altLang="en-US"/>
              <a:t>终结符</a:t>
            </a:r>
            <a:r>
              <a:rPr lang="en-US" altLang="zh-CN"/>
              <a:t>]——</a:t>
            </a:r>
            <a:r>
              <a:rPr lang="zh-CN" altLang="en-US"/>
              <a:t>二维数组</a:t>
            </a:r>
            <a:endParaRPr lang="zh-CN" altLang="en-US"/>
          </a:p>
          <a:p>
            <a:pPr eaLnBrk="1" hangingPunct="1"/>
            <a:r>
              <a:rPr lang="zh-CN" altLang="en-US"/>
              <a:t>很多行（列表）是相同的</a:t>
            </a:r>
            <a:endParaRPr lang="zh-CN" altLang="en-US"/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状态指针数组，指向一维数组（行）</a:t>
            </a:r>
            <a:endParaRPr lang="zh-CN" altLang="en-US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行列表</a:t>
            </a:r>
            <a:r>
              <a:rPr lang="en-US" altLang="zh-CN">
                <a:sym typeface="Wingdings" panose="05000000000000000000" pitchFamily="2" charset="2"/>
              </a:rPr>
              <a:t>——</a:t>
            </a:r>
            <a:r>
              <a:rPr lang="zh-CN" altLang="en-US">
                <a:sym typeface="Wingdings" panose="05000000000000000000" pitchFamily="2" charset="2"/>
              </a:rPr>
              <a:t>每个状态一个列表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/>
              <a:t>(</a:t>
            </a:r>
            <a:r>
              <a:rPr lang="zh-CN" altLang="en-US"/>
              <a:t>终结符</a:t>
            </a:r>
            <a:r>
              <a:rPr lang="en-US" altLang="zh-CN"/>
              <a:t>, </a:t>
            </a:r>
            <a:r>
              <a:rPr lang="zh-CN" altLang="en-US"/>
              <a:t>动作</a:t>
            </a:r>
            <a:r>
              <a:rPr lang="en-US" altLang="zh-CN"/>
              <a:t>)</a:t>
            </a:r>
            <a:r>
              <a:rPr lang="zh-CN" altLang="en-US"/>
              <a:t>，发生频率</a:t>
            </a:r>
            <a:r>
              <a:rPr lang="en-US" altLang="zh-CN"/>
              <a:t>——</a:t>
            </a:r>
            <a:r>
              <a:rPr lang="zh-CN" altLang="en-US"/>
              <a:t>位置</a:t>
            </a:r>
            <a:endParaRPr lang="zh-CN" altLang="en-US"/>
          </a:p>
          <a:p>
            <a:pPr lvl="1" eaLnBrk="1" hangingPunct="1"/>
            <a:r>
              <a:rPr lang="en-US" altLang="zh-CN"/>
              <a:t>any—</a:t>
            </a:r>
            <a:r>
              <a:rPr lang="zh-CN" altLang="en-US"/>
              <a:t>列表中未列出的任何其他终结符</a:t>
            </a:r>
            <a:endParaRPr lang="zh-CN" alt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4.48</a:t>
            </a:r>
            <a:endParaRPr lang="en-US" altLang="zh-CN"/>
          </a:p>
        </p:txBody>
      </p:sp>
      <p:sp>
        <p:nvSpPr>
          <p:cNvPr id="134147" name="Line 4"/>
          <p:cNvSpPr>
            <a:spLocks noChangeShapeType="1"/>
          </p:cNvSpPr>
          <p:nvPr/>
        </p:nvSpPr>
        <p:spPr bwMode="auto">
          <a:xfrm>
            <a:off x="1219200" y="1371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8" name="Line 5"/>
          <p:cNvSpPr>
            <a:spLocks noChangeShapeType="1"/>
          </p:cNvSpPr>
          <p:nvPr/>
        </p:nvSpPr>
        <p:spPr bwMode="auto">
          <a:xfrm>
            <a:off x="1219200" y="14478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9" name="Line 6"/>
          <p:cNvSpPr>
            <a:spLocks noChangeShapeType="1"/>
          </p:cNvSpPr>
          <p:nvPr/>
        </p:nvSpPr>
        <p:spPr bwMode="auto">
          <a:xfrm>
            <a:off x="1905000" y="1828800"/>
            <a:ext cx="7161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0" name="Line 7"/>
          <p:cNvSpPr>
            <a:spLocks noChangeShapeType="1"/>
          </p:cNvSpPr>
          <p:nvPr/>
        </p:nvSpPr>
        <p:spPr bwMode="auto">
          <a:xfrm>
            <a:off x="1219200" y="2133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1" name="Line 8"/>
          <p:cNvSpPr>
            <a:spLocks noChangeShapeType="1"/>
          </p:cNvSpPr>
          <p:nvPr/>
        </p:nvSpPr>
        <p:spPr bwMode="auto">
          <a:xfrm>
            <a:off x="90678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2" name="Line 9"/>
          <p:cNvSpPr>
            <a:spLocks noChangeShapeType="1"/>
          </p:cNvSpPr>
          <p:nvPr/>
        </p:nvSpPr>
        <p:spPr bwMode="auto">
          <a:xfrm>
            <a:off x="19050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3" name="Line 10"/>
          <p:cNvSpPr>
            <a:spLocks noChangeShapeType="1"/>
          </p:cNvSpPr>
          <p:nvPr/>
        </p:nvSpPr>
        <p:spPr bwMode="auto">
          <a:xfrm>
            <a:off x="70104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4" name="Text Box 11"/>
          <p:cNvSpPr txBox="1">
            <a:spLocks noChangeArrowheads="1"/>
          </p:cNvSpPr>
          <p:nvPr/>
        </p:nvSpPr>
        <p:spPr bwMode="auto">
          <a:xfrm>
            <a:off x="1219200" y="1600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  <a:endParaRPr kumimoji="0" lang="zh-CN" altLang="en-US" sz="2000" b="1"/>
          </a:p>
        </p:txBody>
      </p:sp>
      <p:sp>
        <p:nvSpPr>
          <p:cNvPr id="134155" name="Text Box 12"/>
          <p:cNvSpPr txBox="1">
            <a:spLocks noChangeArrowheads="1"/>
          </p:cNvSpPr>
          <p:nvPr/>
        </p:nvSpPr>
        <p:spPr bwMode="auto">
          <a:xfrm>
            <a:off x="4038600" y="1447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  <a:endParaRPr kumimoji="0" lang="en-US" altLang="zh-CN" sz="2000" b="1"/>
          </a:p>
        </p:txBody>
      </p:sp>
      <p:sp>
        <p:nvSpPr>
          <p:cNvPr id="134156" name="Text Box 13"/>
          <p:cNvSpPr txBox="1">
            <a:spLocks noChangeArrowheads="1"/>
          </p:cNvSpPr>
          <p:nvPr/>
        </p:nvSpPr>
        <p:spPr bwMode="auto">
          <a:xfrm>
            <a:off x="20574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  <a:endParaRPr kumimoji="0" lang="en-US" altLang="zh-CN" sz="2000" b="1"/>
          </a:p>
        </p:txBody>
      </p:sp>
      <p:sp>
        <p:nvSpPr>
          <p:cNvPr id="134157" name="Text Box 14"/>
          <p:cNvSpPr txBox="1">
            <a:spLocks noChangeArrowheads="1"/>
          </p:cNvSpPr>
          <p:nvPr/>
        </p:nvSpPr>
        <p:spPr bwMode="auto">
          <a:xfrm>
            <a:off x="2909888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134158" name="Text Box 15"/>
          <p:cNvSpPr txBox="1">
            <a:spLocks noChangeArrowheads="1"/>
          </p:cNvSpPr>
          <p:nvPr/>
        </p:nvSpPr>
        <p:spPr bwMode="auto">
          <a:xfrm>
            <a:off x="3763963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  <a:endParaRPr kumimoji="0" lang="en-US" altLang="zh-CN" sz="2000" b="1"/>
          </a:p>
        </p:txBody>
      </p:sp>
      <p:sp>
        <p:nvSpPr>
          <p:cNvPr id="134159" name="Text Box 16"/>
          <p:cNvSpPr txBox="1">
            <a:spLocks noChangeArrowheads="1"/>
          </p:cNvSpPr>
          <p:nvPr/>
        </p:nvSpPr>
        <p:spPr bwMode="auto">
          <a:xfrm>
            <a:off x="461645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  <a:endParaRPr kumimoji="0" lang="en-US" altLang="zh-CN" sz="2000" b="1"/>
          </a:p>
        </p:txBody>
      </p:sp>
      <p:sp>
        <p:nvSpPr>
          <p:cNvPr id="134160" name="Text Box 17"/>
          <p:cNvSpPr txBox="1">
            <a:spLocks noChangeArrowheads="1"/>
          </p:cNvSpPr>
          <p:nvPr/>
        </p:nvSpPr>
        <p:spPr bwMode="auto">
          <a:xfrm>
            <a:off x="5470525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  <a:endParaRPr kumimoji="0" lang="en-US" altLang="zh-CN" sz="2000" b="1"/>
          </a:p>
        </p:txBody>
      </p:sp>
      <p:sp>
        <p:nvSpPr>
          <p:cNvPr id="134161" name="Text Box 18"/>
          <p:cNvSpPr txBox="1">
            <a:spLocks noChangeArrowheads="1"/>
          </p:cNvSpPr>
          <p:nvPr/>
        </p:nvSpPr>
        <p:spPr bwMode="auto">
          <a:xfrm>
            <a:off x="63246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134162" name="Text Box 19"/>
          <p:cNvSpPr txBox="1">
            <a:spLocks noChangeArrowheads="1"/>
          </p:cNvSpPr>
          <p:nvPr/>
        </p:nvSpPr>
        <p:spPr bwMode="auto">
          <a:xfrm>
            <a:off x="1371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  <a:endParaRPr kumimoji="0" lang="en-US" altLang="zh-CN" sz="2000" b="1"/>
          </a:p>
        </p:txBody>
      </p:sp>
      <p:sp>
        <p:nvSpPr>
          <p:cNvPr id="134163" name="Text Box 20"/>
          <p:cNvSpPr txBox="1">
            <a:spLocks noChangeArrowheads="1"/>
          </p:cNvSpPr>
          <p:nvPr/>
        </p:nvSpPr>
        <p:spPr bwMode="auto">
          <a:xfrm>
            <a:off x="13716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  <a:endParaRPr kumimoji="0" lang="en-US" altLang="zh-CN" sz="2000" b="1"/>
          </a:p>
        </p:txBody>
      </p:sp>
      <p:sp>
        <p:nvSpPr>
          <p:cNvPr id="134164" name="Text Box 21"/>
          <p:cNvSpPr txBox="1">
            <a:spLocks noChangeArrowheads="1"/>
          </p:cNvSpPr>
          <p:nvPr/>
        </p:nvSpPr>
        <p:spPr bwMode="auto">
          <a:xfrm>
            <a:off x="13716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  <a:endParaRPr kumimoji="0" lang="en-US" altLang="zh-CN" sz="2000" b="1"/>
          </a:p>
        </p:txBody>
      </p:sp>
      <p:sp>
        <p:nvSpPr>
          <p:cNvPr id="134165" name="Text Box 22"/>
          <p:cNvSpPr txBox="1">
            <a:spLocks noChangeArrowheads="1"/>
          </p:cNvSpPr>
          <p:nvPr/>
        </p:nvSpPr>
        <p:spPr bwMode="auto">
          <a:xfrm>
            <a:off x="13716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  <a:endParaRPr kumimoji="0" lang="en-US" altLang="zh-CN" sz="2000" b="1"/>
          </a:p>
        </p:txBody>
      </p:sp>
      <p:sp>
        <p:nvSpPr>
          <p:cNvPr id="134166" name="Text Box 23"/>
          <p:cNvSpPr txBox="1">
            <a:spLocks noChangeArrowheads="1"/>
          </p:cNvSpPr>
          <p:nvPr/>
        </p:nvSpPr>
        <p:spPr bwMode="auto">
          <a:xfrm>
            <a:off x="13716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  <a:endParaRPr kumimoji="0" lang="en-US" altLang="zh-CN" sz="2000" b="1"/>
          </a:p>
        </p:txBody>
      </p:sp>
      <p:sp>
        <p:nvSpPr>
          <p:cNvPr id="134167" name="Line 24"/>
          <p:cNvSpPr>
            <a:spLocks noChangeShapeType="1"/>
          </p:cNvSpPr>
          <p:nvPr/>
        </p:nvSpPr>
        <p:spPr bwMode="auto">
          <a:xfrm>
            <a:off x="12192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8" name="Text Box 25"/>
          <p:cNvSpPr txBox="1">
            <a:spLocks noChangeArrowheads="1"/>
          </p:cNvSpPr>
          <p:nvPr/>
        </p:nvSpPr>
        <p:spPr bwMode="auto">
          <a:xfrm>
            <a:off x="13716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  <a:endParaRPr kumimoji="0" lang="en-US" altLang="zh-CN" sz="2000" b="1"/>
          </a:p>
        </p:txBody>
      </p:sp>
      <p:sp>
        <p:nvSpPr>
          <p:cNvPr id="134169" name="Text Box 26"/>
          <p:cNvSpPr txBox="1">
            <a:spLocks noChangeArrowheads="1"/>
          </p:cNvSpPr>
          <p:nvPr/>
        </p:nvSpPr>
        <p:spPr bwMode="auto">
          <a:xfrm>
            <a:off x="1371600" y="4403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  <a:endParaRPr kumimoji="0" lang="en-US" altLang="zh-CN" sz="2000" b="1"/>
          </a:p>
        </p:txBody>
      </p:sp>
      <p:sp>
        <p:nvSpPr>
          <p:cNvPr id="134170" name="Text Box 27"/>
          <p:cNvSpPr txBox="1">
            <a:spLocks noChangeArrowheads="1"/>
          </p:cNvSpPr>
          <p:nvPr/>
        </p:nvSpPr>
        <p:spPr bwMode="auto">
          <a:xfrm>
            <a:off x="13716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  <a:endParaRPr kumimoji="0" lang="en-US" altLang="zh-CN" sz="2000" b="1"/>
          </a:p>
        </p:txBody>
      </p:sp>
      <p:sp>
        <p:nvSpPr>
          <p:cNvPr id="134171" name="Text Box 28"/>
          <p:cNvSpPr txBox="1">
            <a:spLocks noChangeArrowheads="1"/>
          </p:cNvSpPr>
          <p:nvPr/>
        </p:nvSpPr>
        <p:spPr bwMode="auto">
          <a:xfrm>
            <a:off x="13716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  <a:endParaRPr kumimoji="0" lang="en-US" altLang="zh-CN" sz="2000" b="1"/>
          </a:p>
        </p:txBody>
      </p:sp>
      <p:sp>
        <p:nvSpPr>
          <p:cNvPr id="134172" name="Text Box 29"/>
          <p:cNvSpPr txBox="1">
            <a:spLocks noChangeArrowheads="1"/>
          </p:cNvSpPr>
          <p:nvPr/>
        </p:nvSpPr>
        <p:spPr bwMode="auto">
          <a:xfrm>
            <a:off x="13716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  <a:endParaRPr kumimoji="0" lang="en-US" altLang="zh-CN" sz="2000" b="1"/>
          </a:p>
        </p:txBody>
      </p:sp>
      <p:sp>
        <p:nvSpPr>
          <p:cNvPr id="134173" name="Text Box 30"/>
          <p:cNvSpPr txBox="1">
            <a:spLocks noChangeArrowheads="1"/>
          </p:cNvSpPr>
          <p:nvPr/>
        </p:nvSpPr>
        <p:spPr bwMode="auto">
          <a:xfrm>
            <a:off x="12192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10</a:t>
            </a:r>
            <a:endParaRPr kumimoji="0" lang="en-US" altLang="zh-CN" sz="2000" b="1"/>
          </a:p>
        </p:txBody>
      </p:sp>
      <p:sp>
        <p:nvSpPr>
          <p:cNvPr id="134174" name="Line 31"/>
          <p:cNvSpPr>
            <a:spLocks noChangeShapeType="1"/>
          </p:cNvSpPr>
          <p:nvPr/>
        </p:nvSpPr>
        <p:spPr bwMode="auto">
          <a:xfrm>
            <a:off x="1219200" y="6689725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75" name="Text Box 32"/>
          <p:cNvSpPr txBox="1">
            <a:spLocks noChangeArrowheads="1"/>
          </p:cNvSpPr>
          <p:nvPr/>
        </p:nvSpPr>
        <p:spPr bwMode="auto">
          <a:xfrm>
            <a:off x="1143000" y="63087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11</a:t>
            </a:r>
            <a:endParaRPr kumimoji="0" lang="en-US" altLang="zh-CN" sz="2000" b="1"/>
          </a:p>
        </p:txBody>
      </p:sp>
      <p:sp>
        <p:nvSpPr>
          <p:cNvPr id="134176" name="Text Box 33"/>
          <p:cNvSpPr txBox="1">
            <a:spLocks noChangeArrowheads="1"/>
          </p:cNvSpPr>
          <p:nvPr/>
        </p:nvSpPr>
        <p:spPr bwMode="auto">
          <a:xfrm>
            <a:off x="70866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endParaRPr kumimoji="0" lang="en-US" altLang="zh-CN" sz="2000" b="1"/>
          </a:p>
        </p:txBody>
      </p:sp>
      <p:sp>
        <p:nvSpPr>
          <p:cNvPr id="134177" name="Text Box 34"/>
          <p:cNvSpPr txBox="1">
            <a:spLocks noChangeArrowheads="1"/>
          </p:cNvSpPr>
          <p:nvPr/>
        </p:nvSpPr>
        <p:spPr bwMode="auto">
          <a:xfrm>
            <a:off x="7788275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  <a:endParaRPr kumimoji="0" lang="en-US" altLang="zh-CN" sz="2000" b="1"/>
          </a:p>
        </p:txBody>
      </p:sp>
      <p:sp>
        <p:nvSpPr>
          <p:cNvPr id="134178" name="Text Box 35"/>
          <p:cNvSpPr txBox="1">
            <a:spLocks noChangeArrowheads="1"/>
          </p:cNvSpPr>
          <p:nvPr/>
        </p:nvSpPr>
        <p:spPr bwMode="auto">
          <a:xfrm>
            <a:off x="84582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  <a:endParaRPr kumimoji="0" lang="en-US" altLang="zh-CN" sz="2000" b="1"/>
          </a:p>
        </p:txBody>
      </p:sp>
      <p:sp>
        <p:nvSpPr>
          <p:cNvPr id="134179" name="Text Box 36"/>
          <p:cNvSpPr txBox="1">
            <a:spLocks noChangeArrowheads="1"/>
          </p:cNvSpPr>
          <p:nvPr/>
        </p:nvSpPr>
        <p:spPr bwMode="auto">
          <a:xfrm>
            <a:off x="7696200" y="1447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  <a:endParaRPr kumimoji="0" lang="en-US" altLang="zh-CN" sz="2000" b="1"/>
          </a:p>
        </p:txBody>
      </p:sp>
      <p:sp>
        <p:nvSpPr>
          <p:cNvPr id="134180" name="Text Box 37"/>
          <p:cNvSpPr txBox="1">
            <a:spLocks noChangeArrowheads="1"/>
          </p:cNvSpPr>
          <p:nvPr/>
        </p:nvSpPr>
        <p:spPr bwMode="auto">
          <a:xfrm>
            <a:off x="20574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34181" name="Text Box 38"/>
          <p:cNvSpPr txBox="1">
            <a:spLocks noChangeArrowheads="1"/>
          </p:cNvSpPr>
          <p:nvPr/>
        </p:nvSpPr>
        <p:spPr bwMode="auto">
          <a:xfrm>
            <a:off x="46482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34182" name="Text Box 39"/>
          <p:cNvSpPr txBox="1">
            <a:spLocks noChangeArrowheads="1"/>
          </p:cNvSpPr>
          <p:nvPr/>
        </p:nvSpPr>
        <p:spPr bwMode="auto">
          <a:xfrm>
            <a:off x="70866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  <a:endParaRPr kumimoji="0" lang="en-US" altLang="zh-CN" sz="2000"/>
          </a:p>
        </p:txBody>
      </p:sp>
      <p:sp>
        <p:nvSpPr>
          <p:cNvPr id="134183" name="Text Box 40"/>
          <p:cNvSpPr txBox="1">
            <a:spLocks noChangeArrowheads="1"/>
          </p:cNvSpPr>
          <p:nvPr/>
        </p:nvSpPr>
        <p:spPr bwMode="auto">
          <a:xfrm>
            <a:off x="7788275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134184" name="Text Box 41"/>
          <p:cNvSpPr txBox="1">
            <a:spLocks noChangeArrowheads="1"/>
          </p:cNvSpPr>
          <p:nvPr/>
        </p:nvSpPr>
        <p:spPr bwMode="auto">
          <a:xfrm>
            <a:off x="84582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134185" name="Text Box 42"/>
          <p:cNvSpPr txBox="1">
            <a:spLocks noChangeArrowheads="1"/>
          </p:cNvSpPr>
          <p:nvPr/>
        </p:nvSpPr>
        <p:spPr bwMode="auto">
          <a:xfrm>
            <a:off x="2909888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134186" name="Text Box 43"/>
          <p:cNvSpPr txBox="1">
            <a:spLocks noChangeArrowheads="1"/>
          </p:cNvSpPr>
          <p:nvPr/>
        </p:nvSpPr>
        <p:spPr bwMode="auto">
          <a:xfrm>
            <a:off x="6248400" y="25177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  <a:endParaRPr kumimoji="0" lang="en-US" altLang="zh-CN" sz="2000"/>
          </a:p>
        </p:txBody>
      </p:sp>
      <p:sp>
        <p:nvSpPr>
          <p:cNvPr id="134187" name="Text Box 44"/>
          <p:cNvSpPr txBox="1">
            <a:spLocks noChangeArrowheads="1"/>
          </p:cNvSpPr>
          <p:nvPr/>
        </p:nvSpPr>
        <p:spPr bwMode="auto">
          <a:xfrm>
            <a:off x="2909888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34188" name="Text Box 45"/>
          <p:cNvSpPr txBox="1">
            <a:spLocks noChangeArrowheads="1"/>
          </p:cNvSpPr>
          <p:nvPr/>
        </p:nvSpPr>
        <p:spPr bwMode="auto">
          <a:xfrm>
            <a:off x="3763963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  <a:endParaRPr kumimoji="0" lang="en-US" altLang="zh-CN" sz="2000"/>
          </a:p>
        </p:txBody>
      </p:sp>
      <p:sp>
        <p:nvSpPr>
          <p:cNvPr id="134189" name="Text Box 46"/>
          <p:cNvSpPr txBox="1">
            <a:spLocks noChangeArrowheads="1"/>
          </p:cNvSpPr>
          <p:nvPr/>
        </p:nvSpPr>
        <p:spPr bwMode="auto">
          <a:xfrm>
            <a:off x="5470525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34190" name="Text Box 47"/>
          <p:cNvSpPr txBox="1">
            <a:spLocks noChangeArrowheads="1"/>
          </p:cNvSpPr>
          <p:nvPr/>
        </p:nvSpPr>
        <p:spPr bwMode="auto">
          <a:xfrm>
            <a:off x="63246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34191" name="Text Box 48"/>
          <p:cNvSpPr txBox="1">
            <a:spLocks noChangeArrowheads="1"/>
          </p:cNvSpPr>
          <p:nvPr/>
        </p:nvSpPr>
        <p:spPr bwMode="auto">
          <a:xfrm>
            <a:off x="2909888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34192" name="Text Box 49"/>
          <p:cNvSpPr txBox="1">
            <a:spLocks noChangeArrowheads="1"/>
          </p:cNvSpPr>
          <p:nvPr/>
        </p:nvSpPr>
        <p:spPr bwMode="auto">
          <a:xfrm>
            <a:off x="3763963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34193" name="Text Box 50"/>
          <p:cNvSpPr txBox="1">
            <a:spLocks noChangeArrowheads="1"/>
          </p:cNvSpPr>
          <p:nvPr/>
        </p:nvSpPr>
        <p:spPr bwMode="auto">
          <a:xfrm>
            <a:off x="5470525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34194" name="Text Box 51"/>
          <p:cNvSpPr txBox="1">
            <a:spLocks noChangeArrowheads="1"/>
          </p:cNvSpPr>
          <p:nvPr/>
        </p:nvSpPr>
        <p:spPr bwMode="auto">
          <a:xfrm>
            <a:off x="6324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34195" name="Text Box 52"/>
          <p:cNvSpPr txBox="1">
            <a:spLocks noChangeArrowheads="1"/>
          </p:cNvSpPr>
          <p:nvPr/>
        </p:nvSpPr>
        <p:spPr bwMode="auto">
          <a:xfrm>
            <a:off x="205740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34196" name="Text Box 53"/>
          <p:cNvSpPr txBox="1">
            <a:spLocks noChangeArrowheads="1"/>
          </p:cNvSpPr>
          <p:nvPr/>
        </p:nvSpPr>
        <p:spPr bwMode="auto">
          <a:xfrm>
            <a:off x="461645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34197" name="Text Box 54"/>
          <p:cNvSpPr txBox="1">
            <a:spLocks noChangeArrowheads="1"/>
          </p:cNvSpPr>
          <p:nvPr/>
        </p:nvSpPr>
        <p:spPr bwMode="auto">
          <a:xfrm>
            <a:off x="70866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  <a:endParaRPr kumimoji="0" lang="en-US" altLang="zh-CN" sz="2000"/>
          </a:p>
        </p:txBody>
      </p:sp>
      <p:sp>
        <p:nvSpPr>
          <p:cNvPr id="134198" name="Text Box 55"/>
          <p:cNvSpPr txBox="1">
            <a:spLocks noChangeArrowheads="1"/>
          </p:cNvSpPr>
          <p:nvPr/>
        </p:nvSpPr>
        <p:spPr bwMode="auto">
          <a:xfrm>
            <a:off x="7788275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  <a:endParaRPr kumimoji="0" lang="en-US" altLang="zh-CN" sz="2000"/>
          </a:p>
        </p:txBody>
      </p:sp>
      <p:sp>
        <p:nvSpPr>
          <p:cNvPr id="134199" name="Text Box 56"/>
          <p:cNvSpPr txBox="1">
            <a:spLocks noChangeArrowheads="1"/>
          </p:cNvSpPr>
          <p:nvPr/>
        </p:nvSpPr>
        <p:spPr bwMode="auto">
          <a:xfrm>
            <a:off x="84582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134200" name="Text Box 57"/>
          <p:cNvSpPr txBox="1">
            <a:spLocks noChangeArrowheads="1"/>
          </p:cNvSpPr>
          <p:nvPr/>
        </p:nvSpPr>
        <p:spPr bwMode="auto">
          <a:xfrm>
            <a:off x="2909888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134201" name="Text Box 58"/>
          <p:cNvSpPr txBox="1">
            <a:spLocks noChangeArrowheads="1"/>
          </p:cNvSpPr>
          <p:nvPr/>
        </p:nvSpPr>
        <p:spPr bwMode="auto">
          <a:xfrm>
            <a:off x="3763963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134202" name="Text Box 59"/>
          <p:cNvSpPr txBox="1">
            <a:spLocks noChangeArrowheads="1"/>
          </p:cNvSpPr>
          <p:nvPr/>
        </p:nvSpPr>
        <p:spPr bwMode="auto">
          <a:xfrm>
            <a:off x="5470525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134203" name="Text Box 60"/>
          <p:cNvSpPr txBox="1">
            <a:spLocks noChangeArrowheads="1"/>
          </p:cNvSpPr>
          <p:nvPr/>
        </p:nvSpPr>
        <p:spPr bwMode="auto">
          <a:xfrm>
            <a:off x="6324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  <a:endParaRPr kumimoji="0" lang="en-US" altLang="zh-CN" sz="2000"/>
          </a:p>
        </p:txBody>
      </p:sp>
      <p:sp>
        <p:nvSpPr>
          <p:cNvPr id="134204" name="Text Box 61"/>
          <p:cNvSpPr txBox="1">
            <a:spLocks noChangeArrowheads="1"/>
          </p:cNvSpPr>
          <p:nvPr/>
        </p:nvSpPr>
        <p:spPr bwMode="auto">
          <a:xfrm>
            <a:off x="20574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34205" name="Text Box 62"/>
          <p:cNvSpPr txBox="1">
            <a:spLocks noChangeArrowheads="1"/>
          </p:cNvSpPr>
          <p:nvPr/>
        </p:nvSpPr>
        <p:spPr bwMode="auto">
          <a:xfrm>
            <a:off x="461645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34206" name="Text Box 63"/>
          <p:cNvSpPr txBox="1">
            <a:spLocks noChangeArrowheads="1"/>
          </p:cNvSpPr>
          <p:nvPr/>
        </p:nvSpPr>
        <p:spPr bwMode="auto">
          <a:xfrm>
            <a:off x="7788275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  <a:endParaRPr kumimoji="0" lang="en-US" altLang="zh-CN" sz="2000"/>
          </a:p>
        </p:txBody>
      </p:sp>
      <p:sp>
        <p:nvSpPr>
          <p:cNvPr id="134207" name="Text Box 64"/>
          <p:cNvSpPr txBox="1">
            <a:spLocks noChangeArrowheads="1"/>
          </p:cNvSpPr>
          <p:nvPr/>
        </p:nvSpPr>
        <p:spPr bwMode="auto">
          <a:xfrm>
            <a:off x="84582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  <a:endParaRPr kumimoji="0" lang="en-US" altLang="zh-CN" sz="2000"/>
          </a:p>
        </p:txBody>
      </p:sp>
      <p:sp>
        <p:nvSpPr>
          <p:cNvPr id="134208" name="Text Box 65"/>
          <p:cNvSpPr txBox="1">
            <a:spLocks noChangeArrowheads="1"/>
          </p:cNvSpPr>
          <p:nvPr/>
        </p:nvSpPr>
        <p:spPr bwMode="auto">
          <a:xfrm>
            <a:off x="20574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34209" name="Text Box 66"/>
          <p:cNvSpPr txBox="1">
            <a:spLocks noChangeArrowheads="1"/>
          </p:cNvSpPr>
          <p:nvPr/>
        </p:nvSpPr>
        <p:spPr bwMode="auto">
          <a:xfrm>
            <a:off x="461645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34210" name="Text Box 67"/>
          <p:cNvSpPr txBox="1">
            <a:spLocks noChangeArrowheads="1"/>
          </p:cNvSpPr>
          <p:nvPr/>
        </p:nvSpPr>
        <p:spPr bwMode="auto">
          <a:xfrm>
            <a:off x="84582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10</a:t>
            </a:r>
            <a:endParaRPr kumimoji="0" lang="en-US" altLang="zh-CN" sz="2000"/>
          </a:p>
        </p:txBody>
      </p:sp>
      <p:sp>
        <p:nvSpPr>
          <p:cNvPr id="134211" name="Text Box 68"/>
          <p:cNvSpPr txBox="1">
            <a:spLocks noChangeArrowheads="1"/>
          </p:cNvSpPr>
          <p:nvPr/>
        </p:nvSpPr>
        <p:spPr bwMode="auto">
          <a:xfrm>
            <a:off x="2909888" y="5146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  <a:endParaRPr kumimoji="0" lang="en-US" altLang="zh-CN" sz="2000"/>
          </a:p>
        </p:txBody>
      </p:sp>
      <p:sp>
        <p:nvSpPr>
          <p:cNvPr id="134212" name="Text Box 69"/>
          <p:cNvSpPr txBox="1">
            <a:spLocks noChangeArrowheads="1"/>
          </p:cNvSpPr>
          <p:nvPr/>
        </p:nvSpPr>
        <p:spPr bwMode="auto">
          <a:xfrm>
            <a:off x="5410200" y="514667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s11</a:t>
            </a:r>
            <a:endParaRPr kumimoji="0" lang="en-US" altLang="zh-CN" sz="2000"/>
          </a:p>
        </p:txBody>
      </p:sp>
      <p:sp>
        <p:nvSpPr>
          <p:cNvPr id="134213" name="Text Box 70"/>
          <p:cNvSpPr txBox="1">
            <a:spLocks noChangeArrowheads="1"/>
          </p:cNvSpPr>
          <p:nvPr/>
        </p:nvSpPr>
        <p:spPr bwMode="auto">
          <a:xfrm>
            <a:off x="2909888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34214" name="Text Box 71"/>
          <p:cNvSpPr txBox="1">
            <a:spLocks noChangeArrowheads="1"/>
          </p:cNvSpPr>
          <p:nvPr/>
        </p:nvSpPr>
        <p:spPr bwMode="auto">
          <a:xfrm>
            <a:off x="3763963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  <a:endParaRPr kumimoji="0" lang="en-US" altLang="zh-CN" sz="2000"/>
          </a:p>
        </p:txBody>
      </p:sp>
      <p:sp>
        <p:nvSpPr>
          <p:cNvPr id="134215" name="Text Box 72"/>
          <p:cNvSpPr txBox="1">
            <a:spLocks noChangeArrowheads="1"/>
          </p:cNvSpPr>
          <p:nvPr/>
        </p:nvSpPr>
        <p:spPr bwMode="auto">
          <a:xfrm>
            <a:off x="5470525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34216" name="Text Box 73"/>
          <p:cNvSpPr txBox="1">
            <a:spLocks noChangeArrowheads="1"/>
          </p:cNvSpPr>
          <p:nvPr/>
        </p:nvSpPr>
        <p:spPr bwMode="auto">
          <a:xfrm>
            <a:off x="6324600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34217" name="Text Box 74"/>
          <p:cNvSpPr txBox="1">
            <a:spLocks noChangeArrowheads="1"/>
          </p:cNvSpPr>
          <p:nvPr/>
        </p:nvSpPr>
        <p:spPr bwMode="auto">
          <a:xfrm>
            <a:off x="2909888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34218" name="Text Box 75"/>
          <p:cNvSpPr txBox="1">
            <a:spLocks noChangeArrowheads="1"/>
          </p:cNvSpPr>
          <p:nvPr/>
        </p:nvSpPr>
        <p:spPr bwMode="auto">
          <a:xfrm>
            <a:off x="3763963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34219" name="Text Box 76"/>
          <p:cNvSpPr txBox="1">
            <a:spLocks noChangeArrowheads="1"/>
          </p:cNvSpPr>
          <p:nvPr/>
        </p:nvSpPr>
        <p:spPr bwMode="auto">
          <a:xfrm>
            <a:off x="5470525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34220" name="Text Box 77"/>
          <p:cNvSpPr txBox="1">
            <a:spLocks noChangeArrowheads="1"/>
          </p:cNvSpPr>
          <p:nvPr/>
        </p:nvSpPr>
        <p:spPr bwMode="auto">
          <a:xfrm>
            <a:off x="63246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34221" name="Text Box 78"/>
          <p:cNvSpPr txBox="1">
            <a:spLocks noChangeArrowheads="1"/>
          </p:cNvSpPr>
          <p:nvPr/>
        </p:nvSpPr>
        <p:spPr bwMode="auto">
          <a:xfrm>
            <a:off x="2909888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134222" name="Text Box 79"/>
          <p:cNvSpPr txBox="1">
            <a:spLocks noChangeArrowheads="1"/>
          </p:cNvSpPr>
          <p:nvPr/>
        </p:nvSpPr>
        <p:spPr bwMode="auto">
          <a:xfrm>
            <a:off x="3763963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134223" name="Text Box 80"/>
          <p:cNvSpPr txBox="1">
            <a:spLocks noChangeArrowheads="1"/>
          </p:cNvSpPr>
          <p:nvPr/>
        </p:nvSpPr>
        <p:spPr bwMode="auto">
          <a:xfrm>
            <a:off x="5470525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  <p:sp>
        <p:nvSpPr>
          <p:cNvPr id="134224" name="Text Box 81"/>
          <p:cNvSpPr txBox="1">
            <a:spLocks noChangeArrowheads="1"/>
          </p:cNvSpPr>
          <p:nvPr/>
        </p:nvSpPr>
        <p:spPr bwMode="auto">
          <a:xfrm>
            <a:off x="6324600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4.48  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状态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的</a:t>
            </a:r>
            <a:r>
              <a:rPr lang="en-US" altLang="zh-CN" dirty="0"/>
              <a:t>action</a:t>
            </a:r>
            <a:r>
              <a:rPr lang="zh-CN" altLang="en-US" dirty="0"/>
              <a:t>行相同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列表：</a:t>
            </a:r>
            <a:r>
              <a:rPr lang="en-US" altLang="zh-CN" dirty="0"/>
              <a:t>(</a:t>
            </a:r>
            <a:r>
              <a:rPr lang="en-US" altLang="zh-CN" b="1" dirty="0"/>
              <a:t>id</a:t>
            </a:r>
            <a:r>
              <a:rPr lang="en-US" altLang="zh-CN" dirty="0"/>
              <a:t>, s5), ( (, s4), (any, error)</a:t>
            </a:r>
            <a:endParaRPr lang="en-US" altLang="zh-CN" dirty="0"/>
          </a:p>
          <a:p>
            <a:pPr eaLnBrk="1" hangingPunct="1"/>
            <a:r>
              <a:rPr lang="zh-CN" altLang="en-US" dirty="0"/>
              <a:t>状态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sz="2800" dirty="0">
                <a:solidFill>
                  <a:srgbClr val="3333CC"/>
                </a:solidFill>
              </a:rPr>
              <a:t>(+, s6), ($, acc), (any, error)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/>
            <a:r>
              <a:rPr lang="en-US" altLang="zh-CN" dirty="0">
                <a:sym typeface="Wingdings" panose="05000000000000000000" pitchFamily="2" charset="2"/>
              </a:rPr>
              <a:t>8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sz="2800" dirty="0">
                <a:solidFill>
                  <a:srgbClr val="3333CC"/>
                </a:solidFill>
                <a:sym typeface="Wingdings" panose="05000000000000000000" pitchFamily="2" charset="2"/>
              </a:rPr>
              <a:t>(+, s6), ( ), s11), (any, error)</a:t>
            </a:r>
            <a:endParaRPr lang="en-US" altLang="zh-CN" sz="2800" dirty="0">
              <a:solidFill>
                <a:srgbClr val="3333CC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error</a:t>
            </a:r>
            <a:r>
              <a:rPr lang="en-US" altLang="zh-CN" dirty="0">
                <a:sym typeface="Wingdings" panose="05000000000000000000" pitchFamily="2" charset="2"/>
              </a:rPr>
              <a:t>r2</a:t>
            </a:r>
            <a:r>
              <a:rPr lang="zh-CN" altLang="en-US" dirty="0">
                <a:sym typeface="Wingdings" panose="05000000000000000000" pitchFamily="2" charset="2"/>
              </a:rPr>
              <a:t>，错误推迟，</a:t>
            </a:r>
            <a:r>
              <a:rPr lang="en-US" altLang="zh-CN" sz="2800" dirty="0">
                <a:solidFill>
                  <a:srgbClr val="3333CC"/>
                </a:solidFill>
              </a:rPr>
              <a:t>(*, s7), (any, r2)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eaLnBrk="1" hangingPunct="1"/>
            <a:r>
              <a:rPr lang="en-US" altLang="zh-CN" dirty="0">
                <a:sym typeface="Wingdings" panose="05000000000000000000" pitchFamily="2" charset="2"/>
              </a:rPr>
              <a:t>9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sz="2800" dirty="0">
                <a:solidFill>
                  <a:srgbClr val="3333CC"/>
                </a:solidFill>
                <a:sym typeface="Wingdings" panose="05000000000000000000" pitchFamily="2" charset="2"/>
              </a:rPr>
              <a:t>(*, s7), (any, r1)</a:t>
            </a:r>
            <a:endParaRPr lang="en-US" altLang="zh-CN" sz="2800" dirty="0">
              <a:solidFill>
                <a:srgbClr val="3333CC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error</a:t>
            </a:r>
            <a:r>
              <a:rPr lang="en-US" altLang="zh-CN" dirty="0">
                <a:sym typeface="Wingdings" panose="05000000000000000000" pitchFamily="2" charset="2"/>
              </a:rPr>
              <a:t>r4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olidFill>
                  <a:srgbClr val="3333CC"/>
                </a:solidFill>
                <a:sym typeface="Wingdings" panose="05000000000000000000" pitchFamily="2" charset="2"/>
              </a:rPr>
              <a:t>(any, r4)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ym typeface="Wingdings" panose="05000000000000000000" pitchFamily="2" charset="2"/>
              </a:rPr>
              <a:t>5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10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11</a:t>
            </a:r>
            <a:r>
              <a:rPr lang="zh-CN" altLang="en-US" dirty="0">
                <a:sym typeface="Wingdings" panose="05000000000000000000" pitchFamily="2" charset="2"/>
              </a:rPr>
              <a:t>类似</a:t>
            </a:r>
            <a:endParaRPr lang="zh-CN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表的压缩</a:t>
            </a:r>
            <a:endParaRPr lang="zh-CN" alt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pPr eaLnBrk="1" hangingPunct="1"/>
            <a:r>
              <a:rPr lang="zh-CN" altLang="en-US"/>
              <a:t>与</a:t>
            </a:r>
            <a:r>
              <a:rPr lang="en-US" altLang="zh-CN"/>
              <a:t>action</a:t>
            </a:r>
            <a:r>
              <a:rPr lang="zh-CN" altLang="en-US"/>
              <a:t>表不同，按列压缩，表的每列</a:t>
            </a:r>
            <a:r>
              <a:rPr lang="zh-CN" altLang="en-US">
                <a:sym typeface="Wingdings" panose="05000000000000000000" pitchFamily="2" charset="2"/>
              </a:rPr>
              <a:t>用列表存储，即每个非终结符一个列表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/>
              <a:t>若非终结符</a:t>
            </a:r>
            <a:r>
              <a:rPr lang="en-US" altLang="zh-CN"/>
              <a:t>A</a:t>
            </a:r>
            <a:r>
              <a:rPr lang="zh-CN" altLang="en-US"/>
              <a:t>的列表的某个表项为：</a:t>
            </a:r>
            <a:br>
              <a:rPr lang="zh-CN" altLang="en-US"/>
            </a:br>
            <a:r>
              <a:rPr lang="en-US" altLang="zh-CN"/>
              <a:t>(current_state, next_state)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表示在</a:t>
            </a:r>
            <a:r>
              <a:rPr lang="en-US" altLang="zh-CN">
                <a:sym typeface="Wingdings" panose="05000000000000000000" pitchFamily="2" charset="2"/>
              </a:rPr>
              <a:t>goto</a:t>
            </a:r>
            <a:r>
              <a:rPr lang="zh-CN" altLang="en-US">
                <a:sym typeface="Wingdings" panose="05000000000000000000" pitchFamily="2" charset="2"/>
              </a:rPr>
              <a:t>表中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goto[current_state, A] = next_state</a:t>
            </a:r>
            <a:endParaRPr lang="en-US" altLang="zh-CN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表的压缩方法的设计思路</a:t>
            </a:r>
            <a:endParaRPr lang="zh-CN" altLang="en-US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eaLnBrk="1" hangingPunct="1"/>
            <a:r>
              <a:rPr lang="zh-CN" altLang="en-US" sz="2800"/>
              <a:t>每列表项（状态）很少</a:t>
            </a:r>
            <a:endParaRPr lang="zh-CN" altLang="en-US" sz="2800"/>
          </a:p>
          <a:p>
            <a:pPr eaLnBrk="1" hangingPunct="1"/>
            <a:r>
              <a:rPr lang="en-US" altLang="zh-CN" sz="2800"/>
              <a:t>goto(I</a:t>
            </a:r>
            <a:r>
              <a:rPr lang="en-US" altLang="zh-CN" sz="2800" baseline="-25000"/>
              <a:t>i</a:t>
            </a:r>
            <a:r>
              <a:rPr lang="en-US" altLang="zh-CN" sz="2800"/>
              <a:t>, A)=I</a:t>
            </a:r>
            <a:r>
              <a:rPr lang="en-US" altLang="zh-CN" sz="2800" baseline="-25000"/>
              <a:t>j</a:t>
            </a:r>
            <a:r>
              <a:rPr lang="zh-CN" altLang="en-US" sz="2800"/>
              <a:t>，</a:t>
            </a:r>
            <a:r>
              <a:rPr lang="en-US" altLang="zh-CN" sz="2800"/>
              <a:t>I</a:t>
            </a:r>
            <a:r>
              <a:rPr lang="en-US" altLang="zh-CN" sz="2800" baseline="-25000"/>
              <a:t>j</a:t>
            </a:r>
            <a:r>
              <a:rPr lang="zh-CN" altLang="en-US" sz="2800"/>
              <a:t>某些项目中，</a:t>
            </a:r>
            <a:r>
              <a:rPr lang="en-US" altLang="zh-CN" sz="2800"/>
              <a:t>A</a:t>
            </a:r>
            <a:r>
              <a:rPr lang="zh-CN" altLang="en-US" sz="2800"/>
              <a:t>紧挨在</a:t>
            </a:r>
            <a:r>
              <a:rPr lang="en-US" altLang="zh-CN" sz="2800"/>
              <a:t>·</a:t>
            </a:r>
            <a:r>
              <a:rPr lang="zh-CN" altLang="en-US" sz="2800"/>
              <a:t>左边</a:t>
            </a:r>
            <a:br>
              <a:rPr lang="zh-CN" altLang="en-US" sz="2800"/>
            </a:br>
            <a:r>
              <a:rPr lang="zh-CN" altLang="en-US" sz="2800"/>
              <a:t>状态</a:t>
            </a:r>
            <a:r>
              <a:rPr lang="en-US" altLang="zh-CN" sz="2800"/>
              <a:t>j</a:t>
            </a:r>
            <a:r>
              <a:rPr lang="zh-CN" altLang="en-US" sz="2800"/>
              <a:t>出现在第</a:t>
            </a:r>
            <a:r>
              <a:rPr lang="en-US" altLang="zh-CN" sz="2800"/>
              <a:t>i</a:t>
            </a:r>
            <a:r>
              <a:rPr lang="zh-CN" altLang="en-US" sz="2800"/>
              <a:t>行第</a:t>
            </a:r>
            <a:r>
              <a:rPr lang="en-US" altLang="zh-CN" sz="2800"/>
              <a:t>A</a:t>
            </a:r>
            <a:r>
              <a:rPr lang="zh-CN" altLang="en-US" sz="2800"/>
              <a:t>列</a:t>
            </a:r>
            <a:br>
              <a:rPr lang="zh-CN" altLang="en-US" sz="2800"/>
            </a:br>
            <a:r>
              <a:rPr lang="zh-CN" altLang="en-US" sz="2800"/>
              <a:t>不存在项目集，对</a:t>
            </a:r>
            <a:r>
              <a:rPr lang="en-US" altLang="zh-CN" sz="2800"/>
              <a:t>X</a:t>
            </a:r>
            <a:r>
              <a:rPr lang="en-US" altLang="zh-CN" sz="2800">
                <a:ea typeface="Arial Unicode MS" pitchFamily="34" charset="-122"/>
              </a:rPr>
              <a:t>≠</a:t>
            </a:r>
            <a:r>
              <a:rPr lang="en-US" altLang="zh-CN" sz="2800"/>
              <a:t>Y</a:t>
            </a:r>
            <a:r>
              <a:rPr lang="zh-CN" altLang="en-US" sz="2800"/>
              <a:t>，既有项目</a:t>
            </a:r>
            <a:r>
              <a:rPr lang="en-US" altLang="zh-CN" sz="2800"/>
              <a:t>X</a:t>
            </a:r>
            <a:r>
              <a:rPr lang="zh-CN" altLang="en-US" sz="2800"/>
              <a:t>在</a:t>
            </a:r>
            <a:r>
              <a:rPr lang="en-US" altLang="zh-CN" sz="2800"/>
              <a:t>·</a:t>
            </a:r>
            <a:r>
              <a:rPr lang="zh-CN" altLang="en-US" sz="2800"/>
              <a:t>左边，也有项目</a:t>
            </a:r>
            <a:r>
              <a:rPr lang="en-US" altLang="zh-CN" sz="2800"/>
              <a:t>Y</a:t>
            </a:r>
            <a:r>
              <a:rPr lang="zh-CN" altLang="en-US" sz="2800"/>
              <a:t>在</a:t>
            </a:r>
            <a:r>
              <a:rPr lang="en-US" altLang="zh-CN" sz="2800"/>
              <a:t>·</a:t>
            </a:r>
            <a:r>
              <a:rPr lang="zh-CN" altLang="en-US" sz="2800"/>
              <a:t>左边</a:t>
            </a:r>
            <a:br>
              <a:rPr lang="zh-CN" altLang="en-US" sz="2800"/>
            </a:br>
            <a:r>
              <a:rPr lang="zh-CN" altLang="en-US" sz="2800">
                <a:sym typeface="Wingdings" panose="05000000000000000000" pitchFamily="2" charset="2"/>
              </a:rPr>
              <a:t></a:t>
            </a:r>
            <a:r>
              <a:rPr lang="zh-CN" altLang="en-US" sz="2800"/>
              <a:t>每个状态只在一列中出现</a:t>
            </a:r>
            <a:endParaRPr lang="zh-CN" altLang="en-US" sz="2800"/>
          </a:p>
          <a:p>
            <a:pPr eaLnBrk="1" hangingPunct="1"/>
            <a:r>
              <a:rPr lang="zh-CN" altLang="en-US" sz="2800"/>
              <a:t>正常项替换</a:t>
            </a:r>
            <a:r>
              <a:rPr lang="en-US" altLang="zh-CN" sz="2800"/>
              <a:t>error</a:t>
            </a:r>
            <a:r>
              <a:rPr lang="zh-CN" altLang="en-US" sz="2800"/>
              <a:t>项</a:t>
            </a:r>
            <a:endParaRPr lang="zh-CN" altLang="en-US" sz="280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4.49</a:t>
            </a:r>
            <a:endParaRPr lang="en-US" altLang="zh-CN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>
                <a:solidFill>
                  <a:srgbClr val="3333CC"/>
                </a:solidFill>
              </a:rPr>
              <a:t>(7, 10), (any, 3)</a:t>
            </a:r>
            <a:endParaRPr lang="en-US" altLang="zh-CN">
              <a:solidFill>
                <a:srgbClr val="3333CC"/>
              </a:solidFill>
            </a:endParaRPr>
          </a:p>
          <a:p>
            <a:pPr eaLnBrk="1" hangingPunct="1"/>
            <a:r>
              <a:rPr lang="en-US" altLang="zh-CN"/>
              <a:t>T</a:t>
            </a:r>
            <a:r>
              <a:rPr lang="zh-CN" altLang="en-US"/>
              <a:t>：</a:t>
            </a:r>
            <a:r>
              <a:rPr lang="en-US" altLang="zh-CN">
                <a:solidFill>
                  <a:srgbClr val="3333CC"/>
                </a:solidFill>
              </a:rPr>
              <a:t>(6, 9), (any, 2)</a:t>
            </a:r>
            <a:endParaRPr lang="en-US" altLang="zh-CN">
              <a:solidFill>
                <a:srgbClr val="3333CC"/>
              </a:solidFill>
            </a:endParaRPr>
          </a:p>
          <a:p>
            <a:pPr eaLnBrk="1" hangingPunct="1"/>
            <a:r>
              <a:rPr lang="en-US" altLang="zh-CN"/>
              <a:t>E</a:t>
            </a:r>
            <a:r>
              <a:rPr lang="zh-CN" altLang="en-US"/>
              <a:t>：</a:t>
            </a:r>
            <a:r>
              <a:rPr lang="en-US" altLang="zh-CN">
                <a:solidFill>
                  <a:srgbClr val="3333CC"/>
                </a:solidFill>
              </a:rPr>
              <a:t>(4, 8), (any, 1)</a:t>
            </a:r>
            <a:endParaRPr lang="en-US" altLang="zh-CN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4.8  </a:t>
            </a:r>
            <a:r>
              <a:rPr lang="zh-CN" altLang="en-US"/>
              <a:t>使用二义性文法</a:t>
            </a:r>
            <a:endParaRPr lang="zh-CN" alt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不适合</a:t>
            </a:r>
            <a:r>
              <a:rPr lang="en-US" altLang="zh-CN"/>
              <a:t>LR</a:t>
            </a:r>
            <a:r>
              <a:rPr lang="zh-CN" altLang="en-US"/>
              <a:t>，冲突：移进</a:t>
            </a:r>
            <a:r>
              <a:rPr lang="en-US" altLang="zh-CN"/>
              <a:t>/</a:t>
            </a:r>
            <a:r>
              <a:rPr lang="zh-CN" altLang="en-US"/>
              <a:t>归约</a:t>
            </a:r>
            <a:r>
              <a:rPr lang="en-US" altLang="zh-CN"/>
              <a:t>, </a:t>
            </a:r>
            <a:r>
              <a:rPr lang="zh-CN" altLang="en-US"/>
              <a:t>归约</a:t>
            </a:r>
            <a:r>
              <a:rPr lang="en-US" altLang="zh-CN"/>
              <a:t>/</a:t>
            </a:r>
            <a:r>
              <a:rPr lang="zh-CN" altLang="en-US"/>
              <a:t>归约</a:t>
            </a:r>
            <a:endParaRPr lang="zh-CN" altLang="en-US"/>
          </a:p>
          <a:p>
            <a:pPr eaLnBrk="1" hangingPunct="1"/>
            <a:r>
              <a:rPr lang="zh-CN" altLang="en-US"/>
              <a:t>某些情况下是有用的</a:t>
            </a:r>
            <a:endParaRPr lang="zh-CN" altLang="en-US"/>
          </a:p>
          <a:p>
            <a:pPr lvl="1" eaLnBrk="1" hangingPunct="1"/>
            <a:r>
              <a:rPr lang="zh-CN" altLang="en-US"/>
              <a:t>表达式，更简洁、更自然</a:t>
            </a:r>
            <a:endParaRPr lang="zh-CN" altLang="en-US"/>
          </a:p>
          <a:p>
            <a:pPr lvl="1" eaLnBrk="1" hangingPunct="1"/>
            <a:r>
              <a:rPr lang="zh-CN" altLang="en-US"/>
              <a:t>区分普通语法结构和特殊优化情况</a:t>
            </a:r>
            <a:endParaRPr lang="zh-CN" altLang="en-US"/>
          </a:p>
          <a:p>
            <a:pPr eaLnBrk="1" hangingPunct="1"/>
            <a:r>
              <a:rPr lang="zh-CN" altLang="en-US"/>
              <a:t>特殊方法使二义性文法可以使用</a:t>
            </a:r>
            <a:endParaRPr lang="zh-CN" altLang="en-US"/>
          </a:p>
          <a:p>
            <a:pPr eaLnBrk="1" hangingPunct="1"/>
            <a:r>
              <a:rPr lang="zh-CN" altLang="en-US"/>
              <a:t>文法二义性，语言描述无歧义</a:t>
            </a:r>
            <a:endParaRPr lang="zh-CN" altLang="en-US"/>
          </a:p>
          <a:p>
            <a:pPr lvl="1" eaLnBrk="1" hangingPunct="1"/>
            <a:r>
              <a:rPr lang="zh-CN" altLang="en-US"/>
              <a:t>消除歧义规则</a:t>
            </a:r>
            <a:r>
              <a:rPr lang="zh-CN" altLang="en-US">
                <a:sym typeface="Wingdings" panose="05000000000000000000" pitchFamily="2" charset="2"/>
              </a:rPr>
              <a:t>唯一语法树</a:t>
            </a:r>
            <a:endParaRPr lang="zh-CN" alt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4.8.1  </a:t>
            </a:r>
            <a:r>
              <a:rPr lang="zh-CN" altLang="en-US"/>
              <a:t>使用优先级和结合率</a:t>
            </a:r>
            <a:endParaRPr lang="zh-CN" altLang="en-US"/>
          </a:p>
        </p:txBody>
      </p:sp>
      <p:sp>
        <p:nvSpPr>
          <p:cNvPr id="14029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0" indent="0" eaLnBrk="1" hangingPunct="1">
              <a:lnSpc>
                <a:spcPct val="8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 |  T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|  F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/>
              <a:t>原始文法为</a:t>
            </a:r>
            <a:endParaRPr lang="zh-CN" altLang="en-US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1.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2.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3. 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400" b="1">
                <a:sym typeface="Symbol" panose="05050102010706020507" pitchFamily="18" charset="2"/>
              </a:rPr>
              <a:t>E)</a:t>
            </a:r>
            <a:endParaRPr lang="en-US" altLang="zh-CN" sz="2400" b="1">
              <a:sym typeface="Symbol" panose="05050102010706020507" pitchFamily="18" charset="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4. 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lang="en-US" altLang="zh-CN"/>
          </a:p>
        </p:txBody>
      </p:sp>
      <p:sp>
        <p:nvSpPr>
          <p:cNvPr id="140292" name="Rectangle 5"/>
          <p:cNvSpPr>
            <a:spLocks noChangeArrowheads="1"/>
          </p:cNvSpPr>
          <p:nvPr/>
        </p:nvSpPr>
        <p:spPr bwMode="ltGray">
          <a:xfrm>
            <a:off x="3886200" y="2486025"/>
            <a:ext cx="4572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优点：</a:t>
            </a:r>
            <a:endParaRPr lang="zh-CN" altLang="en-US" sz="2400">
              <a:solidFill>
                <a:schemeClr val="hlink"/>
              </a:solidFill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容易改变运算符优先级</a:t>
            </a:r>
            <a:endParaRPr lang="zh-CN" altLang="en-US" sz="2400">
              <a:solidFill>
                <a:schemeClr val="hlink"/>
              </a:solidFill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无</a:t>
            </a:r>
            <a:r>
              <a:rPr kumimoji="0" lang="en-US" altLang="zh-CN" sz="2400">
                <a:solidFill>
                  <a:schemeClr val="hlink"/>
                </a:solidFill>
              </a:rPr>
              <a:t>E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T</a:t>
            </a:r>
            <a:r>
              <a:rPr kumimoji="0" lang="zh-CN" altLang="en-US" sz="2400">
                <a:solidFill>
                  <a:schemeClr val="hlink"/>
                </a:solidFill>
                <a:sym typeface="Symbol" panose="05050102010706020507" pitchFamily="18" charset="2"/>
              </a:rPr>
              <a:t>、</a:t>
            </a:r>
            <a:r>
              <a:rPr kumimoji="0" lang="en-US" altLang="zh-CN" sz="2400">
                <a:solidFill>
                  <a:schemeClr val="hlink"/>
                </a:solidFill>
              </a:rPr>
              <a:t>E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T</a:t>
            </a:r>
            <a:r>
              <a:rPr kumimoji="0" lang="zh-CN" altLang="en-US" sz="2400">
                <a:solidFill>
                  <a:schemeClr val="hlink"/>
                </a:solidFill>
                <a:sym typeface="Symbol" panose="05050102010706020507" pitchFamily="18" charset="2"/>
              </a:rPr>
              <a:t>额外归约时间</a:t>
            </a:r>
            <a:endParaRPr kumimoji="0" lang="zh-CN" altLang="en-US" sz="240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</a:t>
            </a:r>
            <a:endParaRPr lang="zh-CN" altLang="en-US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I</a:t>
            </a:r>
            <a:r>
              <a:rPr lang="en-US" altLang="zh-CN" sz="2400" baseline="-25000"/>
              <a:t>0</a:t>
            </a:r>
            <a:r>
              <a:rPr lang="en-US" altLang="zh-CN" sz="2400"/>
              <a:t> 			I</a:t>
            </a:r>
            <a:r>
              <a:rPr lang="en-US" altLang="zh-CN" sz="2400" baseline="-25000"/>
              <a:t>2		</a:t>
            </a:r>
            <a:r>
              <a:rPr lang="en-US" altLang="zh-CN" sz="2400"/>
              <a:t>I</a:t>
            </a:r>
            <a:r>
              <a:rPr lang="en-US" altLang="zh-CN" sz="2400" baseline="-25000"/>
              <a:t>5		</a:t>
            </a:r>
            <a:r>
              <a:rPr lang="en-US" altLang="zh-CN" sz="2400"/>
              <a:t>I</a:t>
            </a:r>
            <a:r>
              <a:rPr lang="en-US" altLang="zh-CN" sz="2400" baseline="-25000"/>
              <a:t>8</a:t>
            </a:r>
            <a:endParaRPr lang="en-US" altLang="zh-CN" sz="2400"/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E’ </a:t>
            </a:r>
            <a:r>
              <a:rPr lang="en-US" altLang="zh-CN" sz="2000">
                <a:sym typeface="Symbol" panose="05050102010706020507" pitchFamily="18" charset="2"/>
              </a:rPr>
              <a:t> .E		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>
                <a:sym typeface="Symbol" panose="05050102010706020507" pitchFamily="18" charset="2"/>
              </a:rPr>
              <a:t> 	E 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 </a:t>
            </a:r>
            <a:r>
              <a:rPr lang="en-US" altLang="zh-CN" sz="2000">
                <a:sym typeface="Symbol" panose="05050102010706020507" pitchFamily="18" charset="2"/>
              </a:rPr>
              <a:t>. E 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.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	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	 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 	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 	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	 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>
                <a:sym typeface="Symbol" panose="05050102010706020507" pitchFamily="18" charset="2"/>
              </a:rPr>
              <a:t>	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	 </a:t>
            </a: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 	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		 </a:t>
            </a: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	</a:t>
            </a:r>
            <a:endParaRPr lang="en-US" altLang="zh-CN" sz="200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</a:t>
            </a:r>
            <a:endParaRPr lang="zh-CN" alt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533400" indent="-533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I</a:t>
            </a:r>
            <a:r>
              <a:rPr lang="en-US" altLang="zh-CN" sz="2400" baseline="-25000"/>
              <a:t>1</a:t>
            </a:r>
            <a:r>
              <a:rPr lang="en-US" altLang="zh-CN" sz="2400"/>
              <a:t> 			I</a:t>
            </a:r>
            <a:r>
              <a:rPr lang="en-US" altLang="zh-CN" sz="2400" baseline="-25000"/>
              <a:t>3		</a:t>
            </a:r>
            <a:r>
              <a:rPr lang="en-US" altLang="zh-CN" sz="2400"/>
              <a:t>I</a:t>
            </a:r>
            <a:r>
              <a:rPr lang="en-US" altLang="zh-CN" sz="2400" baseline="-25000"/>
              <a:t>6		 </a:t>
            </a:r>
            <a:r>
              <a:rPr lang="en-US" altLang="zh-CN" sz="2400"/>
              <a:t>I</a:t>
            </a:r>
            <a:r>
              <a:rPr lang="en-US" altLang="zh-CN" sz="2400" baseline="-25000"/>
              <a:t>9</a:t>
            </a:r>
            <a:endParaRPr lang="en-US" altLang="zh-CN" sz="2400"/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E’ </a:t>
            </a:r>
            <a:r>
              <a:rPr lang="en-US" altLang="zh-CN" sz="2000">
                <a:sym typeface="Symbol" panose="05050102010706020507" pitchFamily="18" charset="2"/>
              </a:rPr>
              <a:t> E.		E  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.</a:t>
            </a:r>
            <a:r>
              <a:rPr lang="en-US" altLang="zh-CN" sz="2000">
                <a:sym typeface="Symbol" panose="05050102010706020507" pitchFamily="18" charset="2"/>
              </a:rPr>
              <a:t>		 E 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>
                <a:sym typeface="Symbol" panose="05050102010706020507" pitchFamily="18" charset="2"/>
              </a:rPr>
              <a:t> 	 E 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>
                <a:sym typeface="Symbol" panose="05050102010706020507" pitchFamily="18" charset="2"/>
              </a:rPr>
              <a:t> . 	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 			 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 			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	</a:t>
            </a: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4		 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. E 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	</a:t>
            </a: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7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 . 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E  .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	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</a:t>
            </a:r>
            <a:endParaRPr lang="en-US" altLang="zh-CN" sz="2000">
              <a:sym typeface="Symbol" panose="05050102010706020507" pitchFamily="18" charset="2"/>
            </a:endParaRPr>
          </a:p>
        </p:txBody>
      </p:sp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6705600" y="2667000"/>
            <a:ext cx="21859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accent2"/>
                </a:solidFill>
              </a:rPr>
              <a:t>Follow(E’)=$</a:t>
            </a:r>
            <a:endParaRPr kumimoji="0" lang="en-US" altLang="zh-CN" sz="240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accent2"/>
                </a:solidFill>
              </a:rPr>
              <a:t>Follow(E)=+*)$</a:t>
            </a:r>
            <a:endParaRPr kumimoji="0" lang="en-US" altLang="zh-CN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SLR</a:t>
            </a:r>
            <a:r>
              <a:rPr lang="zh-CN" altLang="en-US"/>
              <a:t>分析表</a:t>
            </a:r>
            <a:endParaRPr lang="zh-CN" altLang="en-US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 u="sng"/>
              <a:t>	id	+	*	(	)	$	</a:t>
            </a:r>
            <a:r>
              <a:rPr lang="en-US" altLang="zh-CN" sz="2000" i="1" u="sng"/>
              <a:t>E</a:t>
            </a:r>
            <a:endParaRPr lang="en-US" altLang="zh-CN" sz="2000" i="1" u="sng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0	s3			s2			1	</a:t>
            </a:r>
            <a:endParaRPr lang="en-US" altLang="zh-CN" sz="200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		s4	s5			acc</a:t>
            </a:r>
            <a:endParaRPr lang="en-US" altLang="zh-CN" sz="200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2	s3			s2			6</a:t>
            </a:r>
            <a:endParaRPr lang="en-US" altLang="zh-CN" sz="2000" i="1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3		r4	r4		r4	r4</a:t>
            </a:r>
            <a:endParaRPr lang="en-US" altLang="zh-CN" sz="200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4	s3			s2			7</a:t>
            </a:r>
            <a:endParaRPr lang="en-US" altLang="zh-CN" sz="200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5	s3			s2			8</a:t>
            </a:r>
            <a:endParaRPr lang="en-US" altLang="zh-CN" sz="2000" i="1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6		s4	s5		s9		</a:t>
            </a:r>
            <a:endParaRPr lang="en-US" altLang="zh-CN" sz="200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7		s4/</a:t>
            </a:r>
            <a:r>
              <a:rPr lang="en-US" altLang="zh-CN" sz="2000" u="sng"/>
              <a:t>r1</a:t>
            </a:r>
            <a:r>
              <a:rPr lang="en-US" altLang="zh-CN" sz="2000"/>
              <a:t>	</a:t>
            </a:r>
            <a:r>
              <a:rPr lang="en-US" altLang="zh-CN" sz="2000" u="sng"/>
              <a:t>s5</a:t>
            </a:r>
            <a:r>
              <a:rPr lang="en-US" altLang="zh-CN" sz="2000"/>
              <a:t>/r1		r1	r1</a:t>
            </a:r>
            <a:endParaRPr lang="en-US" altLang="zh-CN" sz="200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8		s4/</a:t>
            </a:r>
            <a:r>
              <a:rPr lang="en-US" altLang="zh-CN" sz="2000" u="sng"/>
              <a:t>r2</a:t>
            </a:r>
            <a:r>
              <a:rPr lang="en-US" altLang="zh-CN" sz="2000"/>
              <a:t>	s5/</a:t>
            </a:r>
            <a:r>
              <a:rPr lang="en-US" altLang="zh-CN" sz="2000" u="sng"/>
              <a:t>r2</a:t>
            </a:r>
            <a:r>
              <a:rPr lang="en-US" altLang="zh-CN" sz="2000"/>
              <a:t>		r2	r2</a:t>
            </a:r>
            <a:endParaRPr lang="en-US" altLang="zh-CN" sz="200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9		r3	r3		r3	r3</a:t>
            </a:r>
            <a:endParaRPr lang="en-US" altLang="zh-CN" sz="2000"/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1182688" y="5373688"/>
            <a:ext cx="7772400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olidFill>
                  <a:schemeClr val="hlink"/>
                </a:solidFill>
                <a:sym typeface="Symbol" panose="05050102010706020507" pitchFamily="18" charset="2"/>
              </a:rPr>
              <a:t>7				</a:t>
            </a:r>
            <a:r>
              <a:rPr lang="en-US" altLang="zh-CN" sz="2000">
                <a:solidFill>
                  <a:schemeClr val="hlink"/>
                </a:solidFill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olidFill>
                  <a:schemeClr val="hlink"/>
                </a:solidFill>
                <a:sym typeface="Symbol" panose="05050102010706020507" pitchFamily="18" charset="2"/>
              </a:rPr>
              <a:t>8</a:t>
            </a:r>
            <a:endParaRPr lang="en-US" altLang="zh-CN" sz="20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</a:rPr>
              <a:t>E </a:t>
            </a:r>
            <a:r>
              <a:rPr lang="en-US" altLang="zh-CN" sz="2000">
                <a:solidFill>
                  <a:schemeClr val="hlink"/>
                </a:solidFill>
                <a:sym typeface="Symbol" panose="05050102010706020507" pitchFamily="18" charset="2"/>
              </a:rPr>
              <a:t> E  + E . 		E  E * E .</a:t>
            </a:r>
            <a:endParaRPr lang="en-US" altLang="zh-CN" sz="20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</a:rPr>
              <a:t>E </a:t>
            </a:r>
            <a:r>
              <a:rPr lang="en-US" altLang="zh-CN" sz="2000">
                <a:solidFill>
                  <a:schemeClr val="hlink"/>
                </a:solidFill>
                <a:sym typeface="Symbol" panose="05050102010706020507" pitchFamily="18" charset="2"/>
              </a:rPr>
              <a:t> E . + E		E  E . + E</a:t>
            </a:r>
            <a:endParaRPr lang="en-US" altLang="zh-CN" sz="20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</a:rPr>
              <a:t>E </a:t>
            </a:r>
            <a:r>
              <a:rPr lang="en-US" altLang="zh-CN" sz="2000">
                <a:solidFill>
                  <a:schemeClr val="hlink"/>
                </a:solidFill>
                <a:sym typeface="Symbol" panose="05050102010706020507" pitchFamily="18" charset="2"/>
              </a:rPr>
              <a:t> E . * E		E  E . * E</a:t>
            </a:r>
            <a:endParaRPr lang="en-US" altLang="zh-CN" sz="200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  <p:sp>
        <p:nvSpPr>
          <p:cNvPr id="371717" name="Oval 5"/>
          <p:cNvSpPr>
            <a:spLocks noChangeArrowheads="1"/>
          </p:cNvSpPr>
          <p:nvPr/>
        </p:nvSpPr>
        <p:spPr bwMode="ltGray">
          <a:xfrm>
            <a:off x="2413000" y="436562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371718" name="Oval 6"/>
          <p:cNvSpPr>
            <a:spLocks noChangeArrowheads="1"/>
          </p:cNvSpPr>
          <p:nvPr/>
        </p:nvSpPr>
        <p:spPr bwMode="ltGray">
          <a:xfrm>
            <a:off x="3070225" y="436562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371719" name="Oval 7"/>
          <p:cNvSpPr>
            <a:spLocks noChangeArrowheads="1"/>
          </p:cNvSpPr>
          <p:nvPr/>
        </p:nvSpPr>
        <p:spPr bwMode="ltGray">
          <a:xfrm>
            <a:off x="2435225" y="4724400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371720" name="Oval 8"/>
          <p:cNvSpPr>
            <a:spLocks noChangeArrowheads="1"/>
          </p:cNvSpPr>
          <p:nvPr/>
        </p:nvSpPr>
        <p:spPr bwMode="ltGray">
          <a:xfrm>
            <a:off x="3348038" y="4724400"/>
            <a:ext cx="287337" cy="28733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7" grpId="0" animBg="1"/>
      <p:bldP spid="371718" grpId="0" animBg="1"/>
      <p:bldP spid="371719" grpId="0" animBg="1"/>
      <p:bldP spid="3717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冲突解决方法</a:t>
            </a:r>
            <a:endParaRPr lang="zh-CN" altLang="en-US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考虑输入</a:t>
            </a:r>
            <a:r>
              <a:rPr lang="en-US" altLang="zh-CN" sz="2800" b="1"/>
              <a:t>id</a:t>
            </a:r>
            <a:r>
              <a:rPr lang="en-US" altLang="zh-CN" sz="2800"/>
              <a:t>+</a:t>
            </a:r>
            <a:r>
              <a:rPr lang="en-US" altLang="zh-CN" sz="2800" b="1"/>
              <a:t>id</a:t>
            </a:r>
            <a:r>
              <a:rPr lang="en-US" altLang="zh-CN" sz="2800"/>
              <a:t>*</a:t>
            </a:r>
            <a:r>
              <a:rPr lang="en-US" altLang="zh-CN" sz="2800" b="1"/>
              <a:t>id</a:t>
            </a:r>
            <a:endParaRPr lang="en-US" altLang="zh-CN" sz="2800" b="1"/>
          </a:p>
          <a:p>
            <a:pPr lvl="1" eaLnBrk="1" hangingPunct="1"/>
            <a:r>
              <a:rPr lang="zh-CN" altLang="en-US" sz="2400"/>
              <a:t>分析后</a:t>
            </a:r>
            <a:r>
              <a:rPr lang="en-US" altLang="zh-CN" sz="2400" b="1"/>
              <a:t>id</a:t>
            </a:r>
            <a:r>
              <a:rPr lang="en-US" altLang="zh-CN" sz="2400"/>
              <a:t>+</a:t>
            </a:r>
            <a:r>
              <a:rPr lang="en-US" altLang="zh-CN" sz="2400" b="1"/>
              <a:t>id</a:t>
            </a:r>
            <a:r>
              <a:rPr lang="zh-CN" altLang="en-US" sz="2400"/>
              <a:t>栈和输入</a:t>
            </a:r>
            <a:r>
              <a:rPr lang="en-US" altLang="zh-CN" sz="2400"/>
              <a:t>($ 0 E 1 + 4 E 7, * </a:t>
            </a:r>
            <a:r>
              <a:rPr lang="en-US" altLang="zh-CN" sz="2400" b="1"/>
              <a:t>id </a:t>
            </a:r>
            <a:r>
              <a:rPr lang="en-US" altLang="zh-CN" sz="2400"/>
              <a:t>$)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移进</a:t>
            </a:r>
            <a:r>
              <a:rPr lang="en-US" altLang="zh-CN" sz="2400"/>
              <a:t>/</a:t>
            </a:r>
            <a:r>
              <a:rPr lang="zh-CN" altLang="en-US" sz="2400"/>
              <a:t>归约（</a:t>
            </a:r>
            <a:r>
              <a:rPr lang="en-US" altLang="zh-CN" sz="2400"/>
              <a:t>action[7, *]</a:t>
            </a:r>
            <a:r>
              <a:rPr lang="zh-CN" altLang="en-US" sz="2400"/>
              <a:t>）？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*优先级高，移进；反之，归约</a:t>
            </a:r>
            <a:endParaRPr lang="zh-CN" altLang="en-US" sz="2400"/>
          </a:p>
          <a:p>
            <a:pPr eaLnBrk="1" hangingPunct="1"/>
            <a:r>
              <a:rPr lang="zh-CN" altLang="en-US" sz="2800"/>
              <a:t>考虑输入</a:t>
            </a:r>
            <a:r>
              <a:rPr lang="en-US" altLang="zh-CN" sz="2800" b="1"/>
              <a:t>id</a:t>
            </a:r>
            <a:r>
              <a:rPr lang="en-US" altLang="zh-CN" sz="2800"/>
              <a:t>+</a:t>
            </a:r>
            <a:r>
              <a:rPr lang="en-US" altLang="zh-CN" sz="2800" b="1"/>
              <a:t>id</a:t>
            </a:r>
            <a:r>
              <a:rPr lang="en-US" altLang="zh-CN" sz="2800"/>
              <a:t>+</a:t>
            </a:r>
            <a:r>
              <a:rPr lang="en-US" altLang="zh-CN" sz="2800" b="1"/>
              <a:t>id</a:t>
            </a:r>
            <a:endParaRPr lang="en-US" altLang="zh-CN" sz="2800" b="1"/>
          </a:p>
          <a:p>
            <a:pPr lvl="1" eaLnBrk="1" hangingPunct="1"/>
            <a:r>
              <a:rPr lang="zh-CN" altLang="en-US" sz="2400"/>
              <a:t>分析后</a:t>
            </a:r>
            <a:r>
              <a:rPr lang="en-US" altLang="zh-CN" sz="2400" b="1"/>
              <a:t>id</a:t>
            </a:r>
            <a:r>
              <a:rPr lang="en-US" altLang="zh-CN" sz="2400"/>
              <a:t>+</a:t>
            </a:r>
            <a:r>
              <a:rPr lang="en-US" altLang="zh-CN" sz="2400" b="1"/>
              <a:t>id</a:t>
            </a:r>
            <a:r>
              <a:rPr lang="zh-CN" altLang="en-US" sz="2400"/>
              <a:t>栈和输入</a:t>
            </a:r>
            <a:r>
              <a:rPr lang="en-US" altLang="zh-CN" sz="2400"/>
              <a:t>($ 0 E 1 + 4 E 7, + </a:t>
            </a:r>
            <a:r>
              <a:rPr lang="en-US" altLang="zh-CN" sz="2400" b="1"/>
              <a:t>id </a:t>
            </a:r>
            <a:r>
              <a:rPr lang="en-US" altLang="zh-CN" sz="2400"/>
              <a:t>$)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移进</a:t>
            </a:r>
            <a:r>
              <a:rPr lang="en-US" altLang="zh-CN" sz="2400"/>
              <a:t>/</a:t>
            </a:r>
            <a:r>
              <a:rPr lang="zh-CN" altLang="en-US" sz="2400"/>
              <a:t>归约（</a:t>
            </a:r>
            <a:r>
              <a:rPr lang="en-US" altLang="zh-CN" sz="2400"/>
              <a:t>action[7, +]</a:t>
            </a:r>
            <a:r>
              <a:rPr lang="zh-CN" altLang="en-US" sz="2400"/>
              <a:t>）？</a:t>
            </a:r>
            <a:endParaRPr lang="zh-CN" altLang="en-US" sz="2400"/>
          </a:p>
          <a:p>
            <a:pPr lvl="1" eaLnBrk="1" hangingPunct="1"/>
            <a:r>
              <a:rPr lang="en-US" altLang="zh-CN" sz="2400"/>
              <a:t>+</a:t>
            </a:r>
            <a:r>
              <a:rPr lang="zh-CN" altLang="en-US" sz="2400"/>
              <a:t>左结合，归约；反之，归约</a:t>
            </a:r>
            <a:endParaRPr lang="zh-CN" altLang="en-US" sz="240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一般性方法</a:t>
            </a:r>
            <a:endParaRPr lang="zh-CN" altLang="en-US"/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若栈中包含</a:t>
            </a:r>
            <a:r>
              <a:rPr lang="en-US" altLang="zh-CN"/>
              <a:t>E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/>
              <a:t>E </a:t>
            </a:r>
            <a:r>
              <a:rPr lang="en-US" altLang="zh-CN">
                <a:solidFill>
                  <a:srgbClr val="3333CC"/>
                </a:solidFill>
              </a:rPr>
              <a:t>op</a:t>
            </a:r>
            <a:r>
              <a:rPr lang="en-US" altLang="zh-CN"/>
              <a:t> E</a:t>
            </a:r>
            <a:r>
              <a:rPr lang="zh-CN" altLang="en-US"/>
              <a:t>，当前输入符号</a:t>
            </a:r>
            <a:r>
              <a:rPr lang="en-US" altLang="zh-CN">
                <a:solidFill>
                  <a:srgbClr val="3333CC"/>
                </a:solidFill>
              </a:rPr>
              <a:t>op</a:t>
            </a:r>
            <a:endParaRPr lang="en-US" altLang="zh-CN"/>
          </a:p>
          <a:p>
            <a:pPr lvl="1" eaLnBrk="1" hangingPunct="1"/>
            <a:r>
              <a:rPr lang="zh-CN" altLang="en-US"/>
              <a:t>若</a:t>
            </a:r>
            <a:r>
              <a:rPr lang="en-US" altLang="zh-CN"/>
              <a:t>op</a:t>
            </a:r>
            <a:r>
              <a:rPr lang="zh-CN" altLang="en-US"/>
              <a:t>为左结合，归约</a:t>
            </a:r>
            <a:r>
              <a:rPr lang="en-US" altLang="zh-CN"/>
              <a:t>E </a:t>
            </a:r>
            <a:r>
              <a:rPr lang="en-US" altLang="zh-CN">
                <a:sym typeface="Symbol" panose="05050102010706020507" pitchFamily="18" charset="2"/>
              </a:rPr>
              <a:t> E  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op</a:t>
            </a:r>
            <a:r>
              <a:rPr lang="en-US" altLang="zh-CN">
                <a:sym typeface="Symbol" panose="05050102010706020507" pitchFamily="18" charset="2"/>
              </a:rPr>
              <a:t> E</a:t>
            </a:r>
            <a:endParaRPr lang="en-US" altLang="zh-CN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>
                <a:sym typeface="Symbol" panose="05050102010706020507" pitchFamily="18" charset="2"/>
              </a:rPr>
              <a:t>若</a:t>
            </a:r>
            <a:r>
              <a:rPr lang="en-US" altLang="zh-CN">
                <a:sym typeface="Symbol" panose="05050102010706020507" pitchFamily="18" charset="2"/>
              </a:rPr>
              <a:t>op</a:t>
            </a:r>
            <a:r>
              <a:rPr lang="zh-CN" altLang="en-US">
                <a:sym typeface="Symbol" panose="05050102010706020507" pitchFamily="18" charset="2"/>
              </a:rPr>
              <a:t>为右结合，移进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若栈中包含</a:t>
            </a:r>
            <a:r>
              <a:rPr lang="en-US" altLang="zh-CN"/>
              <a:t>E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/>
              <a:t>E </a:t>
            </a:r>
            <a:r>
              <a:rPr lang="en-US" altLang="zh-CN">
                <a:solidFill>
                  <a:srgbClr val="3333CC"/>
                </a:solidFill>
              </a:rPr>
              <a:t>op</a:t>
            </a:r>
            <a:r>
              <a:rPr lang="en-US" altLang="zh-CN"/>
              <a:t> E</a:t>
            </a:r>
            <a:r>
              <a:rPr lang="zh-CN" altLang="en-US"/>
              <a:t>，当前输入</a:t>
            </a:r>
            <a:r>
              <a:rPr lang="en-US" altLang="zh-CN">
                <a:solidFill>
                  <a:srgbClr val="3333CC"/>
                </a:solidFill>
              </a:rPr>
              <a:t>op’</a:t>
            </a:r>
            <a:endParaRPr lang="en-US" altLang="zh-CN">
              <a:solidFill>
                <a:srgbClr val="3333CC"/>
              </a:solidFill>
            </a:endParaRPr>
          </a:p>
          <a:p>
            <a:pPr lvl="1" eaLnBrk="1" hangingPunct="1"/>
            <a:r>
              <a:rPr lang="zh-CN" altLang="en-US"/>
              <a:t>若</a:t>
            </a:r>
            <a:r>
              <a:rPr lang="en-US" altLang="zh-CN"/>
              <a:t>op</a:t>
            </a:r>
            <a:r>
              <a:rPr lang="zh-CN" altLang="en-US"/>
              <a:t>优先级高于</a:t>
            </a:r>
            <a:r>
              <a:rPr lang="en-US" altLang="zh-CN"/>
              <a:t>op’</a:t>
            </a:r>
            <a:r>
              <a:rPr lang="zh-CN" altLang="en-US"/>
              <a:t>，归约</a:t>
            </a:r>
            <a:r>
              <a:rPr lang="en-US" altLang="zh-CN"/>
              <a:t>E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/>
              <a:t>E op E</a:t>
            </a:r>
            <a:endParaRPr lang="en-US" altLang="zh-CN"/>
          </a:p>
          <a:p>
            <a:pPr lvl="1" eaLnBrk="1" hangingPunct="1"/>
            <a:r>
              <a:rPr lang="zh-CN" altLang="en-US"/>
              <a:t>若</a:t>
            </a:r>
            <a:r>
              <a:rPr lang="en-US" altLang="zh-CN"/>
              <a:t>op’</a:t>
            </a:r>
            <a:r>
              <a:rPr lang="zh-CN" altLang="en-US"/>
              <a:t>优先级高于</a:t>
            </a:r>
            <a:r>
              <a:rPr lang="en-US" altLang="zh-CN"/>
              <a:t>op </a:t>
            </a:r>
            <a:r>
              <a:rPr lang="zh-CN" altLang="en-US"/>
              <a:t>，移进</a:t>
            </a:r>
            <a:endParaRPr lang="zh-CN" alt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4.8.2  “</a:t>
            </a:r>
            <a:r>
              <a:rPr lang="zh-CN" altLang="en-US"/>
              <a:t>虚悬</a:t>
            </a:r>
            <a:r>
              <a:rPr lang="en-US" altLang="zh-CN"/>
              <a:t>else”</a:t>
            </a:r>
            <a:r>
              <a:rPr lang="zh-CN" altLang="en-US"/>
              <a:t>二义性</a:t>
            </a:r>
            <a:endParaRPr lang="zh-CN" alt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stmt</a:t>
            </a:r>
            <a:r>
              <a:rPr kumimoji="0" lang="en-US" altLang="zh-CN" sz="2400"/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else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other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 (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any other statement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endParaRPr lang="en-US" altLang="zh-CN" sz="2400"/>
          </a:p>
          <a:p>
            <a:pPr eaLnBrk="1" hangingPunct="1"/>
            <a:r>
              <a:rPr lang="zh-CN" altLang="en-US"/>
              <a:t>可改写为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S’ </a:t>
            </a:r>
            <a:r>
              <a:rPr lang="en-US" altLang="zh-CN" sz="2800">
                <a:sym typeface="Symbol" panose="05050102010706020507" pitchFamily="18" charset="2"/>
              </a:rPr>
              <a:t> S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S </a:t>
            </a:r>
            <a:r>
              <a:rPr lang="en-US" altLang="zh-CN" sz="2800">
                <a:sym typeface="Symbol" panose="05050102010706020507" pitchFamily="18" charset="2"/>
              </a:rPr>
              <a:t> </a:t>
            </a: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S</a:t>
            </a: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lang="en-US" altLang="zh-CN" sz="2800">
                <a:sym typeface="Symbol" panose="05050102010706020507" pitchFamily="18" charset="2"/>
              </a:rPr>
              <a:t>S | </a:t>
            </a: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S | </a:t>
            </a: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endParaRPr lang="en-US" altLang="zh-CN" sz="2800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</a:t>
            </a:r>
            <a:endParaRPr lang="zh-CN" alt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I</a:t>
            </a:r>
            <a:r>
              <a:rPr lang="en-US" altLang="zh-CN" sz="2400" baseline="-25000"/>
              <a:t>0</a:t>
            </a:r>
            <a:r>
              <a:rPr lang="en-US" altLang="zh-CN" sz="2400"/>
              <a:t> 				I</a:t>
            </a:r>
            <a:r>
              <a:rPr lang="en-US" altLang="zh-CN" sz="2400" baseline="-25000"/>
              <a:t>3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S’ </a:t>
            </a:r>
            <a:r>
              <a:rPr lang="en-US" altLang="zh-CN" sz="2000" b="1">
                <a:sym typeface="Symbol" panose="05050102010706020507" pitchFamily="18" charset="2"/>
              </a:rPr>
              <a:t> .S			 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a.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.iSeS 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			</a:t>
            </a:r>
            <a:r>
              <a:rPr lang="en-US" altLang="zh-CN" sz="20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4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ym typeface="Symbol" panose="05050102010706020507" pitchFamily="18" charset="2"/>
              </a:rPr>
              <a:t>S  .a	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iS.eS 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		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iS.</a:t>
            </a:r>
            <a:endParaRPr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I</a:t>
            </a:r>
            <a:r>
              <a:rPr lang="en-US" altLang="zh-CN" sz="2400" baseline="-25000"/>
              <a:t>1</a:t>
            </a:r>
            <a:endParaRPr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/>
              <a:t>S’ </a:t>
            </a:r>
            <a:r>
              <a:rPr lang="en-US" altLang="zh-CN" sz="2000" b="1">
                <a:sym typeface="Symbol" panose="05050102010706020507" pitchFamily="18" charset="2"/>
              </a:rPr>
              <a:t>S.			</a:t>
            </a:r>
            <a:r>
              <a:rPr lang="en-US" altLang="zh-CN" sz="20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5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ym typeface="Symbol" panose="05050102010706020507" pitchFamily="18" charset="2"/>
              </a:rPr>
              <a:t>		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iSe.S 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2		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.iSeS 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i.SeS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i.S 			S  .a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.iSeS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			</a:t>
            </a:r>
            <a:r>
              <a:rPr lang="en-US" altLang="zh-CN" sz="20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6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ym typeface="Symbol" panose="05050102010706020507" pitchFamily="18" charset="2"/>
              </a:rPr>
              <a:t>S  .a			S  iSeS.</a:t>
            </a:r>
            <a:endParaRPr lang="en-US" altLang="zh-CN" sz="2800"/>
          </a:p>
        </p:txBody>
      </p:sp>
      <p:sp>
        <p:nvSpPr>
          <p:cNvPr id="147460" name="Text Box 4"/>
          <p:cNvSpPr txBox="1">
            <a:spLocks noChangeArrowheads="1"/>
          </p:cNvSpPr>
          <p:nvPr/>
        </p:nvSpPr>
        <p:spPr bwMode="auto">
          <a:xfrm>
            <a:off x="6918325" y="3546475"/>
            <a:ext cx="203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accent2"/>
                </a:solidFill>
              </a:rPr>
              <a:t>Follow(S)= $,e</a:t>
            </a:r>
            <a:endParaRPr kumimoji="0" lang="en-US" altLang="zh-CN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分析表</a:t>
            </a:r>
            <a:endParaRPr lang="zh-CN" alt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u="sng"/>
              <a:t>	i	e	a	$	</a:t>
            </a:r>
            <a:r>
              <a:rPr lang="en-US" altLang="zh-CN" sz="2000" i="1" u="sng"/>
              <a:t>S</a:t>
            </a:r>
            <a:endParaRPr lang="en-US" altLang="zh-CN" sz="2000" i="1" u="sng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0	s2		s3		</a:t>
            </a:r>
            <a:r>
              <a:rPr lang="en-US" altLang="zh-CN" sz="2000" i="1"/>
              <a:t>1</a:t>
            </a:r>
            <a:endParaRPr lang="en-US" altLang="zh-CN" sz="2000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				acc	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2	s2		s3		</a:t>
            </a:r>
            <a:r>
              <a:rPr lang="en-US" altLang="zh-CN" sz="2000" i="1"/>
              <a:t>4</a:t>
            </a:r>
            <a:endParaRPr lang="en-US" altLang="zh-CN" sz="2000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3		r3		r3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4		</a:t>
            </a:r>
            <a:r>
              <a:rPr lang="en-US" altLang="zh-CN" sz="2000">
                <a:solidFill>
                  <a:srgbClr val="FF3300"/>
                </a:solidFill>
              </a:rPr>
              <a:t>s5/r2</a:t>
            </a:r>
            <a:r>
              <a:rPr lang="en-US" altLang="zh-CN" sz="2000"/>
              <a:t>		r2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5	s2		s3		</a:t>
            </a:r>
            <a:r>
              <a:rPr lang="en-US" altLang="zh-CN" sz="2000" i="1"/>
              <a:t>6</a:t>
            </a:r>
            <a:endParaRPr lang="en-US" altLang="zh-CN" sz="2000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6		r1		r1</a:t>
            </a:r>
            <a:endParaRPr lang="en-US" altLang="zh-CN" sz="2000"/>
          </a:p>
          <a:p>
            <a:pPr eaLnBrk="1" hangingPunct="1"/>
            <a:r>
              <a:rPr lang="en-US" altLang="zh-CN" sz="2800"/>
              <a:t>action[4, e]</a:t>
            </a:r>
            <a:r>
              <a:rPr lang="zh-CN" altLang="en-US" sz="2800"/>
              <a:t>，移进</a:t>
            </a:r>
            <a:r>
              <a:rPr lang="en-US" altLang="zh-CN" sz="2800"/>
              <a:t>/</a:t>
            </a:r>
            <a:r>
              <a:rPr lang="zh-CN" altLang="en-US" sz="2800"/>
              <a:t>归约冲突</a:t>
            </a:r>
            <a:endParaRPr lang="zh-CN" altLang="en-US" sz="2800"/>
          </a:p>
          <a:p>
            <a:pPr eaLnBrk="1" hangingPunct="1"/>
            <a:r>
              <a:rPr lang="en-US" altLang="zh-CN" sz="2800"/>
              <a:t>else</a:t>
            </a:r>
            <a:r>
              <a:rPr lang="zh-CN" altLang="en-US" sz="2800"/>
              <a:t>跟随之前最近的</a:t>
            </a:r>
            <a:r>
              <a:rPr lang="en-US" altLang="zh-CN" sz="2800"/>
              <a:t>if</a:t>
            </a:r>
            <a:r>
              <a:rPr lang="zh-CN" altLang="en-US" sz="2800"/>
              <a:t>，选择移进！</a:t>
            </a:r>
            <a:endParaRPr lang="zh-CN" altLang="en-US" sz="280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4.8.3  </a:t>
            </a:r>
            <a:r>
              <a:rPr lang="zh-CN" altLang="en-US"/>
              <a:t>特殊产生式二义性</a:t>
            </a:r>
            <a:endParaRPr lang="zh-CN" altLang="en-US"/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1.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2.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3.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4. 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5. 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endParaRPr lang="en-US" altLang="zh-CN"/>
          </a:p>
          <a:p>
            <a:pPr eaLnBrk="1" hangingPunct="1"/>
            <a:r>
              <a:rPr lang="zh-CN" altLang="en-US"/>
              <a:t>产生式</a:t>
            </a:r>
            <a:r>
              <a:rPr lang="en-US" altLang="zh-CN"/>
              <a:t>1</a:t>
            </a:r>
            <a:r>
              <a:rPr lang="zh-CN" altLang="en-US"/>
              <a:t>为特殊情况：   ，而不是</a:t>
            </a:r>
            <a:endParaRPr lang="zh-CN" altLang="en-US"/>
          </a:p>
        </p:txBody>
      </p:sp>
      <p:graphicFrame>
        <p:nvGraphicFramePr>
          <p:cNvPr id="149508" name="Object 4"/>
          <p:cNvGraphicFramePr>
            <a:graphicFrameLocks noChangeAspect="1"/>
          </p:cNvGraphicFramePr>
          <p:nvPr/>
        </p:nvGraphicFramePr>
        <p:xfrm>
          <a:off x="5257800" y="3505200"/>
          <a:ext cx="53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2" name="Equation" r:id="rId1" imgW="177800" imgH="241300" progId="Equation.3">
                  <p:embed/>
                </p:oleObj>
              </mc:Choice>
              <mc:Fallback>
                <p:oleObj name="Equation" r:id="rId1" imgW="1778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505200"/>
                        <a:ext cx="533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09" name="Object 5"/>
          <p:cNvGraphicFramePr>
            <a:graphicFrameLocks noChangeAspect="1"/>
          </p:cNvGraphicFramePr>
          <p:nvPr/>
        </p:nvGraphicFramePr>
        <p:xfrm>
          <a:off x="7315200" y="3467100"/>
          <a:ext cx="609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3" name="Equation" r:id="rId3" imgW="203200" imgH="254000" progId="Equation.3">
                  <p:embed/>
                </p:oleObj>
              </mc:Choice>
              <mc:Fallback>
                <p:oleObj name="Equation" r:id="rId3" imgW="203200" imgH="254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467100"/>
                        <a:ext cx="6096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</a:t>
            </a:r>
            <a:endParaRPr lang="zh-CN" altLang="en-US"/>
          </a:p>
        </p:txBody>
      </p:sp>
      <p:sp>
        <p:nvSpPr>
          <p:cNvPr id="150531" name="Text Box 4"/>
          <p:cNvSpPr txBox="1">
            <a:spLocks noChangeArrowheads="1"/>
          </p:cNvSpPr>
          <p:nvPr/>
        </p:nvSpPr>
        <p:spPr bwMode="auto">
          <a:xfrm>
            <a:off x="1295400" y="1174750"/>
            <a:ext cx="24384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·E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50532" name="Text Box 5"/>
          <p:cNvSpPr txBox="1">
            <a:spLocks noChangeArrowheads="1"/>
          </p:cNvSpPr>
          <p:nvPr/>
        </p:nvSpPr>
        <p:spPr bwMode="auto">
          <a:xfrm>
            <a:off x="3641725" y="1174750"/>
            <a:ext cx="2378075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E·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50533" name="Text Box 6"/>
          <p:cNvSpPr txBox="1">
            <a:spLocks noChangeArrowheads="1"/>
          </p:cNvSpPr>
          <p:nvPr/>
        </p:nvSpPr>
        <p:spPr bwMode="auto">
          <a:xfrm>
            <a:off x="6096000" y="1174750"/>
            <a:ext cx="236855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()</a:t>
            </a:r>
            <a:br>
              <a:rPr kumimoji="0" lang="en-US" altLang="zh-CN" sz="2400"/>
            </a:br>
            <a:r>
              <a:rPr lang="en-US" altLang="zh-CN" sz="2400" b="1">
                <a:sym typeface="Symbol" panose="05050102010706020507" pitchFamily="18" charset="2"/>
              </a:rPr>
              <a:t>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50534" name="Text Box 7"/>
          <p:cNvSpPr txBox="1">
            <a:spLocks noChangeArrowheads="1"/>
          </p:cNvSpPr>
          <p:nvPr/>
        </p:nvSpPr>
        <p:spPr bwMode="auto">
          <a:xfrm>
            <a:off x="1295400" y="4968875"/>
            <a:ext cx="2022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3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c)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c·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50535" name="Text Box 8"/>
          <p:cNvSpPr txBox="1">
            <a:spLocks noChangeArrowheads="1"/>
          </p:cNvSpPr>
          <p:nvPr/>
        </p:nvSpPr>
        <p:spPr bwMode="auto">
          <a:xfrm>
            <a:off x="3636963" y="3403600"/>
            <a:ext cx="23685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sub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sub·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50536" name="Text Box 11"/>
          <p:cNvSpPr txBox="1">
            <a:spLocks noChangeArrowheads="1"/>
          </p:cNvSpPr>
          <p:nvPr/>
        </p:nvSpPr>
        <p:spPr bwMode="auto">
          <a:xfrm>
            <a:off x="6096000" y="3768725"/>
            <a:ext cx="236855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5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sup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项目集规范族（续）</a:t>
            </a:r>
            <a:endParaRPr lang="zh-CN" altLang="en-US"/>
          </a:p>
        </p:txBody>
      </p:sp>
      <p:sp>
        <p:nvSpPr>
          <p:cNvPr id="151555" name="Text Box 4"/>
          <p:cNvSpPr txBox="1">
            <a:spLocks noChangeArrowheads="1"/>
          </p:cNvSpPr>
          <p:nvPr/>
        </p:nvSpPr>
        <p:spPr bwMode="auto">
          <a:xfrm>
            <a:off x="3641725" y="1174750"/>
            <a:ext cx="237807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51556" name="Text Box 5"/>
          <p:cNvSpPr txBox="1">
            <a:spLocks noChangeArrowheads="1"/>
          </p:cNvSpPr>
          <p:nvPr/>
        </p:nvSpPr>
        <p:spPr bwMode="auto">
          <a:xfrm>
            <a:off x="1289050" y="1174750"/>
            <a:ext cx="236855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br>
              <a:rPr kumimoji="0" lang="en-US" altLang="zh-CN" sz="2400"/>
            </a:b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51557" name="Text Box 6"/>
          <p:cNvSpPr txBox="1">
            <a:spLocks noChangeArrowheads="1"/>
          </p:cNvSpPr>
          <p:nvPr/>
        </p:nvSpPr>
        <p:spPr bwMode="auto">
          <a:xfrm>
            <a:off x="3638550" y="4495800"/>
            <a:ext cx="20335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9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r>
              <a:rPr kumimoji="0" lang="en-US" altLang="zh-CN" sz="2400">
                <a:solidFill>
                  <a:srgbClr val="3333CC"/>
                </a:solidFill>
              </a:rPr>
              <a:t>, })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}·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51558" name="Text Box 7"/>
          <p:cNvSpPr txBox="1">
            <a:spLocks noChangeArrowheads="1"/>
          </p:cNvSpPr>
          <p:nvPr/>
        </p:nvSpPr>
        <p:spPr bwMode="auto">
          <a:xfrm>
            <a:off x="1290638" y="3403600"/>
            <a:ext cx="2447925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10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sup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endParaRPr lang="en-US" altLang="zh-CN" sz="2400" b="1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151559" name="Text Box 8"/>
          <p:cNvSpPr txBox="1">
            <a:spLocks noChangeArrowheads="1"/>
          </p:cNvSpPr>
          <p:nvPr/>
        </p:nvSpPr>
        <p:spPr bwMode="auto">
          <a:xfrm>
            <a:off x="6096000" y="3768725"/>
            <a:ext cx="236855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11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10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E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151560" name="Text Box 9"/>
          <p:cNvSpPr txBox="1">
            <a:spLocks noChangeArrowheads="1"/>
          </p:cNvSpPr>
          <p:nvPr/>
        </p:nvSpPr>
        <p:spPr bwMode="auto">
          <a:xfrm>
            <a:off x="6080125" y="1155700"/>
            <a:ext cx="2378075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8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5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r>
              <a:rPr kumimoji="0" lang="en-US" altLang="zh-CN" sz="2400"/>
              <a:t> 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endParaRPr lang="en-US" altLang="zh-CN" sz="2400" b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冲突解决方法</a:t>
            </a:r>
            <a:endParaRPr lang="zh-CN" altLang="en-US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</a:t>
            </a:r>
            <a:r>
              <a:rPr lang="en-US" altLang="zh-CN" baseline="-25000"/>
              <a:t>7</a:t>
            </a:r>
            <a:r>
              <a:rPr lang="en-US" altLang="zh-CN"/>
              <a:t>, I</a:t>
            </a:r>
            <a:r>
              <a:rPr lang="en-US" altLang="zh-CN" baseline="-25000"/>
              <a:t>8</a:t>
            </a:r>
            <a:r>
              <a:rPr lang="en-US" altLang="zh-CN"/>
              <a:t>, I</a:t>
            </a:r>
            <a:r>
              <a:rPr lang="en-US" altLang="zh-CN" baseline="-25000"/>
              <a:t>11</a:t>
            </a:r>
            <a:r>
              <a:rPr lang="zh-CN" altLang="en-US"/>
              <a:t>，对</a:t>
            </a:r>
            <a:r>
              <a:rPr lang="en-US" altLang="zh-CN" b="1"/>
              <a:t>sub</a:t>
            </a:r>
            <a:r>
              <a:rPr lang="zh-CN" altLang="en-US"/>
              <a:t>和</a:t>
            </a:r>
            <a:r>
              <a:rPr lang="en-US" altLang="zh-CN" b="1"/>
              <a:t>sup</a:t>
            </a:r>
            <a:r>
              <a:rPr lang="zh-CN" altLang="en-US"/>
              <a:t>，移进</a:t>
            </a:r>
            <a:r>
              <a:rPr lang="en-US" altLang="zh-CN"/>
              <a:t>/</a:t>
            </a:r>
            <a:r>
              <a:rPr lang="zh-CN" altLang="en-US"/>
              <a:t>归约冲突</a:t>
            </a:r>
            <a:endParaRPr lang="zh-CN" altLang="en-US"/>
          </a:p>
          <a:p>
            <a:pPr lvl="1" eaLnBrk="1" hangingPunct="1"/>
            <a:r>
              <a:rPr lang="en-US" altLang="zh-CN"/>
              <a:t>sub</a:t>
            </a:r>
            <a:r>
              <a:rPr lang="zh-CN" altLang="en-US"/>
              <a:t>和</a:t>
            </a:r>
            <a:r>
              <a:rPr lang="en-US" altLang="zh-CN"/>
              <a:t>sup</a:t>
            </a:r>
            <a:r>
              <a:rPr lang="zh-CN" altLang="en-US"/>
              <a:t>的优先级和结合率未指定</a:t>
            </a:r>
            <a:endParaRPr lang="zh-CN" altLang="en-US"/>
          </a:p>
          <a:p>
            <a:pPr lvl="1" eaLnBrk="1" hangingPunct="1"/>
            <a:r>
              <a:rPr lang="zh-CN" altLang="en-US"/>
              <a:t>优先级相等，右结合，移进！</a:t>
            </a:r>
            <a:endParaRPr lang="zh-CN" altLang="en-US"/>
          </a:p>
          <a:p>
            <a:pPr eaLnBrk="1" hangingPunct="1"/>
            <a:r>
              <a:rPr lang="en-US" altLang="zh-CN"/>
              <a:t>I</a:t>
            </a:r>
            <a:r>
              <a:rPr lang="en-US" altLang="zh-CN" baseline="-25000"/>
              <a:t>11</a:t>
            </a:r>
            <a:r>
              <a:rPr lang="zh-CN" altLang="en-US"/>
              <a:t>对</a:t>
            </a:r>
            <a:r>
              <a:rPr lang="en-US" altLang="zh-CN"/>
              <a:t>}</a:t>
            </a:r>
            <a:r>
              <a:rPr lang="zh-CN" altLang="en-US"/>
              <a:t>和</a:t>
            </a:r>
            <a:r>
              <a:rPr lang="en-US" altLang="zh-CN"/>
              <a:t>$</a:t>
            </a:r>
            <a:r>
              <a:rPr lang="zh-CN" altLang="en-US"/>
              <a:t>，归约</a:t>
            </a:r>
            <a:r>
              <a:rPr lang="en-US" altLang="zh-CN"/>
              <a:t>/</a:t>
            </a:r>
            <a:r>
              <a:rPr lang="zh-CN" altLang="en-US"/>
              <a:t>归约冲突</a:t>
            </a:r>
            <a:endParaRPr lang="zh-CN" altLang="en-US"/>
          </a:p>
          <a:p>
            <a:pPr lvl="1" eaLnBrk="1" hangingPunct="1"/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E 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sub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？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E 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？</a:t>
            </a:r>
            <a:endParaRPr lang="zh-CN" altLang="en-US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产生式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为特殊情况，优先考虑</a:t>
            </a:r>
            <a:endParaRPr lang="zh-CN" altLang="en-US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归约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E 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sub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！</a:t>
            </a:r>
            <a:endParaRPr lang="zh-CN" altLang="en-US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分析表</a:t>
            </a:r>
            <a:endParaRPr lang="zh-CN" altLang="en-US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u="sng"/>
              <a:t>	 </a:t>
            </a:r>
            <a:r>
              <a:rPr lang="en-US" altLang="zh-CN" sz="2400" b="1" u="sng"/>
              <a:t>sub</a:t>
            </a:r>
            <a:r>
              <a:rPr lang="en-US" altLang="zh-CN" sz="2400" u="sng"/>
              <a:t>	</a:t>
            </a:r>
            <a:r>
              <a:rPr lang="en-US" altLang="zh-CN" sz="2400" b="1" u="sng"/>
              <a:t>sup</a:t>
            </a:r>
            <a:r>
              <a:rPr lang="en-US" altLang="zh-CN" sz="2400" u="sng"/>
              <a:t>	{	}	c	$	</a:t>
            </a:r>
            <a:r>
              <a:rPr lang="en-US" altLang="zh-CN" sz="2400" i="1" u="sng"/>
              <a:t>E</a:t>
            </a:r>
            <a:endParaRPr lang="en-US" altLang="zh-CN" sz="2400" i="1" u="sng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0			s2		s3		</a:t>
            </a:r>
            <a:r>
              <a:rPr lang="en-US" altLang="zh-CN" sz="2400" i="1"/>
              <a:t>1</a:t>
            </a:r>
            <a:endParaRPr lang="en-US" altLang="zh-CN" sz="240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1	 s4	s5				acc	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2			s2		s3		</a:t>
            </a:r>
            <a:r>
              <a:rPr lang="en-US" altLang="zh-CN" sz="2400" i="1"/>
              <a:t>6</a:t>
            </a:r>
            <a:endParaRPr lang="en-US" altLang="zh-CN" sz="240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3	 r5	r5		r5		r5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4			s2		s3		</a:t>
            </a:r>
            <a:r>
              <a:rPr lang="en-US" altLang="zh-CN" sz="2400" i="1"/>
              <a:t>7</a:t>
            </a:r>
            <a:endParaRPr lang="en-US" altLang="zh-CN" sz="240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5			s2		s3		</a:t>
            </a:r>
            <a:r>
              <a:rPr lang="en-US" altLang="zh-CN" sz="2400" i="1"/>
              <a:t>8</a:t>
            </a:r>
            <a:endParaRPr lang="en-US" altLang="zh-CN" sz="240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6	 s4	s5		s9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7	 s4	s10		r2		r2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8	 s4	s5		r3		r3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9	 r4	r4		r4		r4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10	 		s2		s3		</a:t>
            </a:r>
            <a:r>
              <a:rPr lang="en-US" altLang="zh-CN" sz="2400" i="1"/>
              <a:t>11</a:t>
            </a:r>
            <a:endParaRPr lang="en-US" altLang="zh-CN" sz="240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11	 s4	s5		r1		r1</a:t>
            </a:r>
            <a:endParaRPr lang="en-US" altLang="zh-CN" sz="240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4.8.4  LR</a:t>
            </a:r>
            <a:r>
              <a:rPr lang="zh-CN" altLang="en-US" dirty="0"/>
              <a:t>分析器错误处理</a:t>
            </a:r>
            <a:endParaRPr lang="zh-CN" altLang="en-US" dirty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分析表中空位</a:t>
            </a:r>
            <a:endParaRPr lang="zh-CN" altLang="en-US" dirty="0"/>
          </a:p>
          <a:p>
            <a:pPr eaLnBrk="1" hangingPunct="1"/>
            <a:r>
              <a:rPr lang="en-US" altLang="zh-CN" dirty="0"/>
              <a:t>LR</a:t>
            </a:r>
            <a:r>
              <a:rPr lang="zh-CN" altLang="en-US" dirty="0"/>
              <a:t>分析器一发现不能继续，就报告错误</a:t>
            </a:r>
            <a:endParaRPr lang="zh-CN" altLang="en-US" dirty="0"/>
          </a:p>
          <a:p>
            <a:pPr eaLnBrk="1" hangingPunct="1"/>
            <a:r>
              <a:rPr lang="zh-CN" altLang="en-US" dirty="0"/>
              <a:t>规范</a:t>
            </a:r>
            <a:r>
              <a:rPr lang="en-US" altLang="zh-CN" dirty="0"/>
              <a:t>LR</a:t>
            </a:r>
            <a:r>
              <a:rPr lang="zh-CN" altLang="en-US" dirty="0"/>
              <a:t>分析器在错误发生后，立即报告</a:t>
            </a:r>
            <a:endParaRPr lang="zh-CN" altLang="en-US" dirty="0"/>
          </a:p>
          <a:p>
            <a:pPr eaLnBrk="1" hangingPunct="1"/>
            <a:r>
              <a:rPr lang="en-US" altLang="zh-CN" dirty="0"/>
              <a:t>SLR</a:t>
            </a:r>
            <a:r>
              <a:rPr lang="zh-CN" altLang="en-US" dirty="0"/>
              <a:t>和</a:t>
            </a:r>
            <a:r>
              <a:rPr lang="en-US" altLang="zh-CN" dirty="0"/>
              <a:t>LALR</a:t>
            </a:r>
            <a:r>
              <a:rPr lang="zh-CN" altLang="en-US" dirty="0"/>
              <a:t>分析器可能会进行若干归约后报告，但不会继续移进符号</a:t>
            </a:r>
            <a:endParaRPr lang="zh-CN" altLang="en-US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Panic</a:t>
            </a:r>
            <a:r>
              <a:rPr lang="zh-CN" altLang="en-US"/>
              <a:t>模式的实现</a:t>
            </a:r>
            <a:endParaRPr lang="zh-CN" alt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向下扫描栈，对某个特定非终结符</a:t>
            </a:r>
            <a:r>
              <a:rPr lang="en-US" altLang="zh-CN" sz="2800" dirty="0"/>
              <a:t>A</a:t>
            </a:r>
            <a:r>
              <a:rPr lang="zh-CN" altLang="en-US" sz="2800" dirty="0"/>
              <a:t>，找到一个状态</a:t>
            </a:r>
            <a:r>
              <a:rPr lang="en-US" altLang="zh-CN" sz="2800" dirty="0"/>
              <a:t>s</a:t>
            </a:r>
            <a:r>
              <a:rPr lang="zh-CN" altLang="en-US" sz="2800" dirty="0"/>
              <a:t>，对于</a:t>
            </a:r>
            <a:r>
              <a:rPr lang="en-US" altLang="zh-CN" sz="2800" dirty="0"/>
              <a:t>A</a:t>
            </a:r>
            <a:r>
              <a:rPr lang="zh-CN" altLang="en-US" sz="2800" dirty="0"/>
              <a:t>有</a:t>
            </a:r>
            <a:r>
              <a:rPr lang="en-US" altLang="zh-CN" sz="2800" dirty="0" err="1"/>
              <a:t>goto</a:t>
            </a:r>
            <a:r>
              <a:rPr lang="zh-CN" altLang="en-US" sz="2800" dirty="0"/>
              <a:t>函数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丢弃输入符号，直至遇到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latin typeface="宋体" panose="02010600030101010101" pitchFamily="2" charset="-122"/>
              </a:rPr>
              <a:t>∈</a:t>
            </a:r>
            <a:r>
              <a:rPr lang="en-US" altLang="zh-CN" sz="2800" dirty="0" err="1"/>
              <a:t>FOLLOW</a:t>
            </a:r>
            <a:r>
              <a:rPr lang="en-US" altLang="zh-CN" sz="2800" dirty="0"/>
              <a:t>(A)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将</a:t>
            </a:r>
            <a:r>
              <a:rPr lang="en-US" altLang="zh-CN" sz="2800" dirty="0" err="1"/>
              <a:t>goto</a:t>
            </a:r>
            <a:r>
              <a:rPr lang="en-US" altLang="zh-CN" sz="2800" dirty="0"/>
              <a:t>[s, A]</a:t>
            </a:r>
            <a:r>
              <a:rPr lang="zh-CN" altLang="en-US" sz="2800" dirty="0"/>
              <a:t>压栈，继续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A</a:t>
            </a:r>
            <a:r>
              <a:rPr lang="zh-CN" altLang="en-US" sz="2800" dirty="0"/>
              <a:t>：表示语法结构，表达式、语句</a:t>
            </a:r>
            <a:r>
              <a:rPr lang="en-US" altLang="zh-CN" sz="2800" dirty="0"/>
              <a:t>…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含义：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某个语法结构</a:t>
            </a:r>
            <a:r>
              <a:rPr lang="en-US" altLang="zh-CN" sz="2400" dirty="0"/>
              <a:t>A</a:t>
            </a:r>
            <a:r>
              <a:rPr lang="zh-CN" altLang="en-US" sz="2400" dirty="0"/>
              <a:t>分析了一部分，遇到错误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丢弃已分析部分（栈），未分析部分（输入）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假装已找到</a:t>
            </a:r>
            <a:r>
              <a:rPr lang="en-US" altLang="zh-CN" sz="2400" dirty="0"/>
              <a:t>A</a:t>
            </a:r>
            <a:r>
              <a:rPr lang="zh-CN" altLang="en-US" sz="2400" dirty="0"/>
              <a:t>的一个实例，继续分析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短语级模式的实现</a:t>
            </a:r>
            <a:endParaRPr lang="zh-CN" alt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对分析表每个错误项，根据语言使用特性分析错误原因，设计恢复函数</a:t>
            </a:r>
            <a:endParaRPr lang="zh-CN" altLang="en-US" dirty="0"/>
          </a:p>
          <a:p>
            <a:pPr eaLnBrk="1" hangingPunct="1"/>
            <a:r>
              <a:rPr lang="zh-CN" altLang="en-US" dirty="0"/>
              <a:t>与算符优先分析器比较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容易实现，无需考虑错误归约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分析表空项填入错误处理函数即可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错误处理函数插入、删除、替换栈和输入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也要避免无限循环</a:t>
            </a:r>
            <a:endParaRPr lang="zh-CN" altLang="en-US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4.50</a:t>
            </a:r>
            <a:endParaRPr lang="en-US" altLang="zh-CN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 E + E	| E * E | (E) |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endParaRPr kumimoji="0" lang="en-US" altLang="zh-CN" sz="2800" b="1">
              <a:sym typeface="Symbol" panose="05050102010706020507" pitchFamily="18" charset="2"/>
            </a:endParaRPr>
          </a:p>
        </p:txBody>
      </p:sp>
      <p:sp>
        <p:nvSpPr>
          <p:cNvPr id="157700" name="Line 4"/>
          <p:cNvSpPr>
            <a:spLocks noChangeShapeType="1"/>
          </p:cNvSpPr>
          <p:nvPr/>
        </p:nvSpPr>
        <p:spPr bwMode="auto">
          <a:xfrm>
            <a:off x="1143000" y="1981200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1" name="Line 5"/>
          <p:cNvSpPr>
            <a:spLocks noChangeShapeType="1"/>
          </p:cNvSpPr>
          <p:nvPr/>
        </p:nvSpPr>
        <p:spPr bwMode="auto">
          <a:xfrm>
            <a:off x="1143000" y="2057400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2" name="Line 6"/>
          <p:cNvSpPr>
            <a:spLocks noChangeShapeType="1"/>
          </p:cNvSpPr>
          <p:nvPr/>
        </p:nvSpPr>
        <p:spPr bwMode="auto">
          <a:xfrm>
            <a:off x="1828800" y="2362200"/>
            <a:ext cx="571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3" name="Line 7"/>
          <p:cNvSpPr>
            <a:spLocks noChangeShapeType="1"/>
          </p:cNvSpPr>
          <p:nvPr/>
        </p:nvSpPr>
        <p:spPr bwMode="auto">
          <a:xfrm>
            <a:off x="1143000" y="2619375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4" name="Line 8"/>
          <p:cNvSpPr>
            <a:spLocks noChangeShapeType="1"/>
          </p:cNvSpPr>
          <p:nvPr/>
        </p:nvSpPr>
        <p:spPr bwMode="auto">
          <a:xfrm>
            <a:off x="7543800" y="1981200"/>
            <a:ext cx="0" cy="428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5" name="Line 9"/>
          <p:cNvSpPr>
            <a:spLocks noChangeShapeType="1"/>
          </p:cNvSpPr>
          <p:nvPr/>
        </p:nvSpPr>
        <p:spPr bwMode="auto">
          <a:xfrm>
            <a:off x="1828800" y="1981200"/>
            <a:ext cx="0" cy="428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6" name="Line 10"/>
          <p:cNvSpPr>
            <a:spLocks noChangeShapeType="1"/>
          </p:cNvSpPr>
          <p:nvPr/>
        </p:nvSpPr>
        <p:spPr bwMode="auto">
          <a:xfrm>
            <a:off x="6934200" y="1981200"/>
            <a:ext cx="0" cy="428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7" name="Text Box 11"/>
          <p:cNvSpPr txBox="1">
            <a:spLocks noChangeArrowheads="1"/>
          </p:cNvSpPr>
          <p:nvPr/>
        </p:nvSpPr>
        <p:spPr bwMode="auto">
          <a:xfrm>
            <a:off x="1143000" y="21336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  <a:endParaRPr kumimoji="0" lang="zh-CN" altLang="en-US" sz="2000" b="1"/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3962400" y="198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  <a:endParaRPr kumimoji="0" lang="en-US" altLang="zh-CN" sz="2000" b="1"/>
          </a:p>
        </p:txBody>
      </p:sp>
      <p:sp>
        <p:nvSpPr>
          <p:cNvPr id="157709" name="Text Box 13"/>
          <p:cNvSpPr txBox="1">
            <a:spLocks noChangeArrowheads="1"/>
          </p:cNvSpPr>
          <p:nvPr/>
        </p:nvSpPr>
        <p:spPr bwMode="auto">
          <a:xfrm>
            <a:off x="1981200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  <a:endParaRPr kumimoji="0" lang="en-US" altLang="zh-CN" sz="2000" b="1"/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2833688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  <a:endParaRPr kumimoji="0" lang="en-US" altLang="zh-CN" sz="2000" b="1"/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3687763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  <a:endParaRPr kumimoji="0" lang="en-US" altLang="zh-CN" sz="2000" b="1"/>
          </a:p>
        </p:txBody>
      </p:sp>
      <p:sp>
        <p:nvSpPr>
          <p:cNvPr id="157712" name="Text Box 16"/>
          <p:cNvSpPr txBox="1">
            <a:spLocks noChangeArrowheads="1"/>
          </p:cNvSpPr>
          <p:nvPr/>
        </p:nvSpPr>
        <p:spPr bwMode="auto">
          <a:xfrm>
            <a:off x="4540250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  <a:endParaRPr kumimoji="0" lang="en-US" altLang="zh-CN" sz="2000" b="1"/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5394325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  <a:endParaRPr kumimoji="0" lang="en-US" altLang="zh-CN" sz="2000" b="1"/>
          </a:p>
        </p:txBody>
      </p:sp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6248400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  <a:endParaRPr kumimoji="0" lang="en-US" altLang="zh-CN" sz="2000" b="1"/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12954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  <a:endParaRPr kumimoji="0" lang="en-US" altLang="zh-CN" sz="2000" b="1"/>
          </a:p>
        </p:txBody>
      </p:sp>
      <p:sp>
        <p:nvSpPr>
          <p:cNvPr id="157716" name="Text Box 20"/>
          <p:cNvSpPr txBox="1">
            <a:spLocks noChangeArrowheads="1"/>
          </p:cNvSpPr>
          <p:nvPr/>
        </p:nvSpPr>
        <p:spPr bwMode="auto">
          <a:xfrm>
            <a:off x="12954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  <a:endParaRPr kumimoji="0" lang="en-US" altLang="zh-CN" sz="2000" b="1"/>
          </a:p>
        </p:txBody>
      </p:sp>
      <p:sp>
        <p:nvSpPr>
          <p:cNvPr id="157717" name="Text Box 21"/>
          <p:cNvSpPr txBox="1">
            <a:spLocks noChangeArrowheads="1"/>
          </p:cNvSpPr>
          <p:nvPr/>
        </p:nvSpPr>
        <p:spPr bwMode="auto">
          <a:xfrm>
            <a:off x="12954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  <a:endParaRPr kumimoji="0" lang="en-US" altLang="zh-CN" sz="2000" b="1"/>
          </a:p>
        </p:txBody>
      </p:sp>
      <p:sp>
        <p:nvSpPr>
          <p:cNvPr id="157718" name="Text Box 22"/>
          <p:cNvSpPr txBox="1">
            <a:spLocks noChangeArrowheads="1"/>
          </p:cNvSpPr>
          <p:nvPr/>
        </p:nvSpPr>
        <p:spPr bwMode="auto">
          <a:xfrm>
            <a:off x="12954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  <a:endParaRPr kumimoji="0" lang="en-US" altLang="zh-CN" sz="2000" b="1"/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12954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  <a:endParaRPr kumimoji="0" lang="en-US" altLang="zh-CN" sz="2000" b="1"/>
          </a:p>
        </p:txBody>
      </p:sp>
      <p:sp>
        <p:nvSpPr>
          <p:cNvPr id="157720" name="Line 24"/>
          <p:cNvSpPr>
            <a:spLocks noChangeShapeType="1"/>
          </p:cNvSpPr>
          <p:nvPr/>
        </p:nvSpPr>
        <p:spPr bwMode="auto">
          <a:xfrm>
            <a:off x="1143000" y="1981200"/>
            <a:ext cx="0" cy="428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21" name="Text Box 25"/>
          <p:cNvSpPr txBox="1">
            <a:spLocks noChangeArrowheads="1"/>
          </p:cNvSpPr>
          <p:nvPr/>
        </p:nvSpPr>
        <p:spPr bwMode="auto">
          <a:xfrm>
            <a:off x="1295400" y="4419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  <a:endParaRPr kumimoji="0" lang="en-US" altLang="zh-CN" sz="2000" b="1"/>
          </a:p>
        </p:txBody>
      </p:sp>
      <p:sp>
        <p:nvSpPr>
          <p:cNvPr id="157722" name="Text Box 26"/>
          <p:cNvSpPr txBox="1">
            <a:spLocks noChangeArrowheads="1"/>
          </p:cNvSpPr>
          <p:nvPr/>
        </p:nvSpPr>
        <p:spPr bwMode="auto">
          <a:xfrm>
            <a:off x="12954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  <a:endParaRPr kumimoji="0" lang="en-US" altLang="zh-CN" sz="2000" b="1"/>
          </a:p>
        </p:txBody>
      </p:sp>
      <p:sp>
        <p:nvSpPr>
          <p:cNvPr id="157723" name="Text Box 27"/>
          <p:cNvSpPr txBox="1">
            <a:spLocks noChangeArrowheads="1"/>
          </p:cNvSpPr>
          <p:nvPr/>
        </p:nvSpPr>
        <p:spPr bwMode="auto">
          <a:xfrm>
            <a:off x="12954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  <a:endParaRPr kumimoji="0" lang="en-US" altLang="zh-CN" sz="2000" b="1"/>
          </a:p>
        </p:txBody>
      </p:sp>
      <p:sp>
        <p:nvSpPr>
          <p:cNvPr id="157724" name="Text Box 28"/>
          <p:cNvSpPr txBox="1">
            <a:spLocks noChangeArrowheads="1"/>
          </p:cNvSpPr>
          <p:nvPr/>
        </p:nvSpPr>
        <p:spPr bwMode="auto">
          <a:xfrm>
            <a:off x="12954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  <a:endParaRPr kumimoji="0" lang="en-US" altLang="zh-CN" sz="2000" b="1"/>
          </a:p>
        </p:txBody>
      </p:sp>
      <p:sp>
        <p:nvSpPr>
          <p:cNvPr id="157725" name="Text Box 29"/>
          <p:cNvSpPr txBox="1">
            <a:spLocks noChangeArrowheads="1"/>
          </p:cNvSpPr>
          <p:nvPr/>
        </p:nvSpPr>
        <p:spPr bwMode="auto">
          <a:xfrm>
            <a:off x="1295400" y="5927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  <a:endParaRPr kumimoji="0" lang="en-US" altLang="zh-CN" sz="2000" b="1"/>
          </a:p>
        </p:txBody>
      </p:sp>
      <p:sp>
        <p:nvSpPr>
          <p:cNvPr id="157726" name="Line 31"/>
          <p:cNvSpPr>
            <a:spLocks noChangeShapeType="1"/>
          </p:cNvSpPr>
          <p:nvPr/>
        </p:nvSpPr>
        <p:spPr bwMode="auto">
          <a:xfrm>
            <a:off x="1143000" y="6248400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27" name="Text Box 33"/>
          <p:cNvSpPr txBox="1">
            <a:spLocks noChangeArrowheads="1"/>
          </p:cNvSpPr>
          <p:nvPr/>
        </p:nvSpPr>
        <p:spPr bwMode="auto">
          <a:xfrm>
            <a:off x="7010400" y="2286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  <a:endParaRPr kumimoji="0" lang="en-US" altLang="zh-CN" sz="2000" b="1"/>
          </a:p>
        </p:txBody>
      </p:sp>
      <p:sp>
        <p:nvSpPr>
          <p:cNvPr id="157728" name="Text Box 36"/>
          <p:cNvSpPr txBox="1">
            <a:spLocks noChangeArrowheads="1"/>
          </p:cNvSpPr>
          <p:nvPr/>
        </p:nvSpPr>
        <p:spPr bwMode="auto">
          <a:xfrm>
            <a:off x="6886575" y="19812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  <a:endParaRPr kumimoji="0" lang="en-US" altLang="zh-CN" sz="2000" b="1"/>
          </a:p>
        </p:txBody>
      </p:sp>
      <p:sp>
        <p:nvSpPr>
          <p:cNvPr id="157729" name="Text Box 37"/>
          <p:cNvSpPr txBox="1">
            <a:spLocks noChangeArrowheads="1"/>
          </p:cNvSpPr>
          <p:nvPr/>
        </p:nvSpPr>
        <p:spPr bwMode="auto">
          <a:xfrm>
            <a:off x="1981200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57730" name="Text Box 38"/>
          <p:cNvSpPr txBox="1">
            <a:spLocks noChangeArrowheads="1"/>
          </p:cNvSpPr>
          <p:nvPr/>
        </p:nvSpPr>
        <p:spPr bwMode="auto">
          <a:xfrm>
            <a:off x="4572000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s2</a:t>
            </a:r>
            <a:endParaRPr kumimoji="0" lang="en-US" altLang="zh-CN" sz="2000"/>
          </a:p>
        </p:txBody>
      </p:sp>
      <p:sp>
        <p:nvSpPr>
          <p:cNvPr id="157731" name="Text Box 39"/>
          <p:cNvSpPr txBox="1">
            <a:spLocks noChangeArrowheads="1"/>
          </p:cNvSpPr>
          <p:nvPr/>
        </p:nvSpPr>
        <p:spPr bwMode="auto">
          <a:xfrm>
            <a:off x="70104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  <a:endParaRPr kumimoji="0" lang="en-US" altLang="zh-CN" sz="2000"/>
          </a:p>
        </p:txBody>
      </p:sp>
      <p:sp>
        <p:nvSpPr>
          <p:cNvPr id="157732" name="Text Box 54"/>
          <p:cNvSpPr txBox="1">
            <a:spLocks noChangeArrowheads="1"/>
          </p:cNvSpPr>
          <p:nvPr/>
        </p:nvSpPr>
        <p:spPr bwMode="auto">
          <a:xfrm>
            <a:off x="7010400" y="4038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7</a:t>
            </a:r>
            <a:endParaRPr kumimoji="0" lang="en-US" altLang="zh-CN" sz="2000"/>
          </a:p>
        </p:txBody>
      </p:sp>
      <p:sp>
        <p:nvSpPr>
          <p:cNvPr id="157733" name="Text Box 82"/>
          <p:cNvSpPr txBox="1">
            <a:spLocks noChangeArrowheads="1"/>
          </p:cNvSpPr>
          <p:nvPr/>
        </p:nvSpPr>
        <p:spPr bwMode="auto">
          <a:xfrm>
            <a:off x="28194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34" name="Text Box 83"/>
          <p:cNvSpPr txBox="1">
            <a:spLocks noChangeArrowheads="1"/>
          </p:cNvSpPr>
          <p:nvPr/>
        </p:nvSpPr>
        <p:spPr bwMode="auto">
          <a:xfrm>
            <a:off x="36576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35" name="Text Box 84"/>
          <p:cNvSpPr txBox="1">
            <a:spLocks noChangeArrowheads="1"/>
          </p:cNvSpPr>
          <p:nvPr/>
        </p:nvSpPr>
        <p:spPr bwMode="auto">
          <a:xfrm>
            <a:off x="5381625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  <a:endParaRPr kumimoji="0" lang="en-US" altLang="zh-CN" sz="2000"/>
          </a:p>
        </p:txBody>
      </p:sp>
      <p:sp>
        <p:nvSpPr>
          <p:cNvPr id="157736" name="Text Box 85"/>
          <p:cNvSpPr txBox="1">
            <a:spLocks noChangeArrowheads="1"/>
          </p:cNvSpPr>
          <p:nvPr/>
        </p:nvSpPr>
        <p:spPr bwMode="auto">
          <a:xfrm>
            <a:off x="62484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37" name="Text Box 86"/>
          <p:cNvSpPr txBox="1">
            <a:spLocks noChangeArrowheads="1"/>
          </p:cNvSpPr>
          <p:nvPr/>
        </p:nvSpPr>
        <p:spPr bwMode="auto">
          <a:xfrm>
            <a:off x="19812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e3</a:t>
            </a:r>
            <a:endParaRPr kumimoji="0" lang="en-US" altLang="zh-CN" sz="2000"/>
          </a:p>
        </p:txBody>
      </p:sp>
      <p:sp>
        <p:nvSpPr>
          <p:cNvPr id="157738" name="Text Box 87"/>
          <p:cNvSpPr txBox="1">
            <a:spLocks noChangeArrowheads="1"/>
          </p:cNvSpPr>
          <p:nvPr/>
        </p:nvSpPr>
        <p:spPr bwMode="auto">
          <a:xfrm>
            <a:off x="45720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e3</a:t>
            </a:r>
            <a:endParaRPr kumimoji="0" lang="en-US" altLang="zh-CN" sz="2000"/>
          </a:p>
        </p:txBody>
      </p:sp>
      <p:sp>
        <p:nvSpPr>
          <p:cNvPr id="157739" name="Text Box 88"/>
          <p:cNvSpPr txBox="1">
            <a:spLocks noChangeArrowheads="1"/>
          </p:cNvSpPr>
          <p:nvPr/>
        </p:nvSpPr>
        <p:spPr bwMode="auto">
          <a:xfrm>
            <a:off x="70104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6</a:t>
            </a:r>
            <a:endParaRPr kumimoji="0" lang="en-US" altLang="zh-CN" sz="2000"/>
          </a:p>
        </p:txBody>
      </p:sp>
      <p:sp>
        <p:nvSpPr>
          <p:cNvPr id="157740" name="Text Box 89"/>
          <p:cNvSpPr txBox="1">
            <a:spLocks noChangeArrowheads="1"/>
          </p:cNvSpPr>
          <p:nvPr/>
        </p:nvSpPr>
        <p:spPr bwMode="auto">
          <a:xfrm>
            <a:off x="2819400" y="2876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57741" name="Text Box 90"/>
          <p:cNvSpPr txBox="1">
            <a:spLocks noChangeArrowheads="1"/>
          </p:cNvSpPr>
          <p:nvPr/>
        </p:nvSpPr>
        <p:spPr bwMode="auto">
          <a:xfrm>
            <a:off x="3657600" y="2876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57742" name="Text Box 91"/>
          <p:cNvSpPr txBox="1">
            <a:spLocks noChangeArrowheads="1"/>
          </p:cNvSpPr>
          <p:nvPr/>
        </p:nvSpPr>
        <p:spPr bwMode="auto">
          <a:xfrm>
            <a:off x="5381625" y="2876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  <a:endParaRPr kumimoji="0" lang="en-US" altLang="zh-CN" sz="2000"/>
          </a:p>
        </p:txBody>
      </p:sp>
      <p:sp>
        <p:nvSpPr>
          <p:cNvPr id="157743" name="Text Box 92"/>
          <p:cNvSpPr txBox="1">
            <a:spLocks noChangeArrowheads="1"/>
          </p:cNvSpPr>
          <p:nvPr/>
        </p:nvSpPr>
        <p:spPr bwMode="auto">
          <a:xfrm>
            <a:off x="6248400" y="2876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44" name="Text Box 93"/>
          <p:cNvSpPr txBox="1">
            <a:spLocks noChangeArrowheads="1"/>
          </p:cNvSpPr>
          <p:nvPr/>
        </p:nvSpPr>
        <p:spPr bwMode="auto">
          <a:xfrm>
            <a:off x="19812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57745" name="Text Box 94"/>
          <p:cNvSpPr txBox="1">
            <a:spLocks noChangeArrowheads="1"/>
          </p:cNvSpPr>
          <p:nvPr/>
        </p:nvSpPr>
        <p:spPr bwMode="auto">
          <a:xfrm>
            <a:off x="45720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s2</a:t>
            </a:r>
            <a:endParaRPr kumimoji="0" lang="en-US" altLang="zh-CN" sz="2000"/>
          </a:p>
        </p:txBody>
      </p:sp>
      <p:sp>
        <p:nvSpPr>
          <p:cNvPr id="157746" name="Text Box 95"/>
          <p:cNvSpPr txBox="1">
            <a:spLocks noChangeArrowheads="1"/>
          </p:cNvSpPr>
          <p:nvPr/>
        </p:nvSpPr>
        <p:spPr bwMode="auto">
          <a:xfrm>
            <a:off x="2819400" y="3257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47" name="Text Box 96"/>
          <p:cNvSpPr txBox="1">
            <a:spLocks noChangeArrowheads="1"/>
          </p:cNvSpPr>
          <p:nvPr/>
        </p:nvSpPr>
        <p:spPr bwMode="auto">
          <a:xfrm>
            <a:off x="3657600" y="3257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48" name="Text Box 97"/>
          <p:cNvSpPr txBox="1">
            <a:spLocks noChangeArrowheads="1"/>
          </p:cNvSpPr>
          <p:nvPr/>
        </p:nvSpPr>
        <p:spPr bwMode="auto">
          <a:xfrm>
            <a:off x="5381625" y="3257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  <a:endParaRPr kumimoji="0" lang="en-US" altLang="zh-CN" sz="2000"/>
          </a:p>
        </p:txBody>
      </p:sp>
      <p:sp>
        <p:nvSpPr>
          <p:cNvPr id="157749" name="Text Box 98"/>
          <p:cNvSpPr txBox="1">
            <a:spLocks noChangeArrowheads="1"/>
          </p:cNvSpPr>
          <p:nvPr/>
        </p:nvSpPr>
        <p:spPr bwMode="auto">
          <a:xfrm>
            <a:off x="6248400" y="3257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50" name="Text Box 99"/>
          <p:cNvSpPr txBox="1">
            <a:spLocks noChangeArrowheads="1"/>
          </p:cNvSpPr>
          <p:nvPr/>
        </p:nvSpPr>
        <p:spPr bwMode="auto">
          <a:xfrm>
            <a:off x="1981200" y="3641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57751" name="Text Box 100"/>
          <p:cNvSpPr txBox="1">
            <a:spLocks noChangeArrowheads="1"/>
          </p:cNvSpPr>
          <p:nvPr/>
        </p:nvSpPr>
        <p:spPr bwMode="auto">
          <a:xfrm>
            <a:off x="4572000" y="3641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57752" name="Text Box 101"/>
          <p:cNvSpPr txBox="1">
            <a:spLocks noChangeArrowheads="1"/>
          </p:cNvSpPr>
          <p:nvPr/>
        </p:nvSpPr>
        <p:spPr bwMode="auto">
          <a:xfrm>
            <a:off x="2819400" y="3638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57753" name="Text Box 102"/>
          <p:cNvSpPr txBox="1">
            <a:spLocks noChangeArrowheads="1"/>
          </p:cNvSpPr>
          <p:nvPr/>
        </p:nvSpPr>
        <p:spPr bwMode="auto">
          <a:xfrm>
            <a:off x="3657600" y="3638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57754" name="Text Box 103"/>
          <p:cNvSpPr txBox="1">
            <a:spLocks noChangeArrowheads="1"/>
          </p:cNvSpPr>
          <p:nvPr/>
        </p:nvSpPr>
        <p:spPr bwMode="auto">
          <a:xfrm>
            <a:off x="5381625" y="3638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57755" name="Text Box 104"/>
          <p:cNvSpPr txBox="1">
            <a:spLocks noChangeArrowheads="1"/>
          </p:cNvSpPr>
          <p:nvPr/>
        </p:nvSpPr>
        <p:spPr bwMode="auto">
          <a:xfrm>
            <a:off x="6248400" y="3638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  <a:endParaRPr kumimoji="0" lang="en-US" altLang="zh-CN" sz="2000"/>
          </a:p>
        </p:txBody>
      </p:sp>
      <p:sp>
        <p:nvSpPr>
          <p:cNvPr id="157756" name="Text Box 105"/>
          <p:cNvSpPr txBox="1">
            <a:spLocks noChangeArrowheads="1"/>
          </p:cNvSpPr>
          <p:nvPr/>
        </p:nvSpPr>
        <p:spPr bwMode="auto">
          <a:xfrm>
            <a:off x="1981200" y="4022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57757" name="Text Box 106"/>
          <p:cNvSpPr txBox="1">
            <a:spLocks noChangeArrowheads="1"/>
          </p:cNvSpPr>
          <p:nvPr/>
        </p:nvSpPr>
        <p:spPr bwMode="auto">
          <a:xfrm>
            <a:off x="4572000" y="4022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s2</a:t>
            </a:r>
            <a:endParaRPr kumimoji="0" lang="en-US" altLang="zh-CN" sz="2000"/>
          </a:p>
        </p:txBody>
      </p:sp>
      <p:sp>
        <p:nvSpPr>
          <p:cNvPr id="157758" name="Text Box 107"/>
          <p:cNvSpPr txBox="1">
            <a:spLocks noChangeArrowheads="1"/>
          </p:cNvSpPr>
          <p:nvPr/>
        </p:nvSpPr>
        <p:spPr bwMode="auto">
          <a:xfrm>
            <a:off x="2819400" y="4019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59" name="Text Box 108"/>
          <p:cNvSpPr txBox="1">
            <a:spLocks noChangeArrowheads="1"/>
          </p:cNvSpPr>
          <p:nvPr/>
        </p:nvSpPr>
        <p:spPr bwMode="auto">
          <a:xfrm>
            <a:off x="3657600" y="4019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60" name="Text Box 109"/>
          <p:cNvSpPr txBox="1">
            <a:spLocks noChangeArrowheads="1"/>
          </p:cNvSpPr>
          <p:nvPr/>
        </p:nvSpPr>
        <p:spPr bwMode="auto">
          <a:xfrm>
            <a:off x="5381625" y="4019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  <a:endParaRPr kumimoji="0" lang="en-US" altLang="zh-CN" sz="2000"/>
          </a:p>
        </p:txBody>
      </p:sp>
      <p:sp>
        <p:nvSpPr>
          <p:cNvPr id="157761" name="Text Box 110"/>
          <p:cNvSpPr txBox="1">
            <a:spLocks noChangeArrowheads="1"/>
          </p:cNvSpPr>
          <p:nvPr/>
        </p:nvSpPr>
        <p:spPr bwMode="auto">
          <a:xfrm>
            <a:off x="6248400" y="4019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62" name="Text Box 111"/>
          <p:cNvSpPr txBox="1">
            <a:spLocks noChangeArrowheads="1"/>
          </p:cNvSpPr>
          <p:nvPr/>
        </p:nvSpPr>
        <p:spPr bwMode="auto">
          <a:xfrm>
            <a:off x="19812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  <a:endParaRPr kumimoji="0" lang="en-US" altLang="zh-CN" sz="2000"/>
          </a:p>
        </p:txBody>
      </p:sp>
      <p:sp>
        <p:nvSpPr>
          <p:cNvPr id="157763" name="Text Box 112"/>
          <p:cNvSpPr txBox="1">
            <a:spLocks noChangeArrowheads="1"/>
          </p:cNvSpPr>
          <p:nvPr/>
        </p:nvSpPr>
        <p:spPr bwMode="auto">
          <a:xfrm>
            <a:off x="45720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s2</a:t>
            </a:r>
            <a:endParaRPr kumimoji="0" lang="en-US" altLang="zh-CN" sz="2000"/>
          </a:p>
        </p:txBody>
      </p:sp>
      <p:sp>
        <p:nvSpPr>
          <p:cNvPr id="157764" name="Text Box 113"/>
          <p:cNvSpPr txBox="1">
            <a:spLocks noChangeArrowheads="1"/>
          </p:cNvSpPr>
          <p:nvPr/>
        </p:nvSpPr>
        <p:spPr bwMode="auto">
          <a:xfrm>
            <a:off x="28194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65" name="Text Box 114"/>
          <p:cNvSpPr txBox="1">
            <a:spLocks noChangeArrowheads="1"/>
          </p:cNvSpPr>
          <p:nvPr/>
        </p:nvSpPr>
        <p:spPr bwMode="auto">
          <a:xfrm>
            <a:off x="36576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66" name="Text Box 115"/>
          <p:cNvSpPr txBox="1">
            <a:spLocks noChangeArrowheads="1"/>
          </p:cNvSpPr>
          <p:nvPr/>
        </p:nvSpPr>
        <p:spPr bwMode="auto">
          <a:xfrm>
            <a:off x="5381625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  <a:endParaRPr kumimoji="0" lang="en-US" altLang="zh-CN" sz="2000"/>
          </a:p>
        </p:txBody>
      </p:sp>
      <p:sp>
        <p:nvSpPr>
          <p:cNvPr id="157767" name="Text Box 116"/>
          <p:cNvSpPr txBox="1">
            <a:spLocks noChangeArrowheads="1"/>
          </p:cNvSpPr>
          <p:nvPr/>
        </p:nvSpPr>
        <p:spPr bwMode="auto">
          <a:xfrm>
            <a:off x="62484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  <a:endParaRPr kumimoji="0" lang="en-US" altLang="zh-CN" sz="2000"/>
          </a:p>
        </p:txBody>
      </p:sp>
      <p:sp>
        <p:nvSpPr>
          <p:cNvPr id="157768" name="Text Box 117"/>
          <p:cNvSpPr txBox="1">
            <a:spLocks noChangeArrowheads="1"/>
          </p:cNvSpPr>
          <p:nvPr/>
        </p:nvSpPr>
        <p:spPr bwMode="auto">
          <a:xfrm>
            <a:off x="19812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e3</a:t>
            </a:r>
            <a:endParaRPr kumimoji="0" lang="en-US" altLang="zh-CN" sz="2000"/>
          </a:p>
        </p:txBody>
      </p:sp>
      <p:sp>
        <p:nvSpPr>
          <p:cNvPr id="157769" name="Text Box 118"/>
          <p:cNvSpPr txBox="1">
            <a:spLocks noChangeArrowheads="1"/>
          </p:cNvSpPr>
          <p:nvPr/>
        </p:nvSpPr>
        <p:spPr bwMode="auto">
          <a:xfrm>
            <a:off x="45720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e3</a:t>
            </a:r>
            <a:endParaRPr kumimoji="0" lang="en-US" altLang="zh-CN" sz="2000"/>
          </a:p>
        </p:txBody>
      </p:sp>
      <p:sp>
        <p:nvSpPr>
          <p:cNvPr id="157770" name="Text Box 119"/>
          <p:cNvSpPr txBox="1">
            <a:spLocks noChangeArrowheads="1"/>
          </p:cNvSpPr>
          <p:nvPr/>
        </p:nvSpPr>
        <p:spPr bwMode="auto">
          <a:xfrm>
            <a:off x="28194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  <a:endParaRPr kumimoji="0" lang="en-US" altLang="zh-CN" sz="2000"/>
          </a:p>
        </p:txBody>
      </p:sp>
      <p:sp>
        <p:nvSpPr>
          <p:cNvPr id="157771" name="Text Box 120"/>
          <p:cNvSpPr txBox="1">
            <a:spLocks noChangeArrowheads="1"/>
          </p:cNvSpPr>
          <p:nvPr/>
        </p:nvSpPr>
        <p:spPr bwMode="auto">
          <a:xfrm>
            <a:off x="36576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57772" name="Text Box 121"/>
          <p:cNvSpPr txBox="1">
            <a:spLocks noChangeArrowheads="1"/>
          </p:cNvSpPr>
          <p:nvPr/>
        </p:nvSpPr>
        <p:spPr bwMode="auto">
          <a:xfrm>
            <a:off x="5381625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s9</a:t>
            </a:r>
            <a:endParaRPr kumimoji="0" lang="en-US" altLang="zh-CN" sz="2000"/>
          </a:p>
        </p:txBody>
      </p:sp>
      <p:sp>
        <p:nvSpPr>
          <p:cNvPr id="157773" name="Text Box 122"/>
          <p:cNvSpPr txBox="1">
            <a:spLocks noChangeArrowheads="1"/>
          </p:cNvSpPr>
          <p:nvPr/>
        </p:nvSpPr>
        <p:spPr bwMode="auto">
          <a:xfrm>
            <a:off x="62484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e4</a:t>
            </a:r>
            <a:endParaRPr kumimoji="0" lang="en-US" altLang="zh-CN" sz="2000"/>
          </a:p>
        </p:txBody>
      </p:sp>
      <p:sp>
        <p:nvSpPr>
          <p:cNvPr id="157774" name="Text Box 123"/>
          <p:cNvSpPr txBox="1">
            <a:spLocks noChangeArrowheads="1"/>
          </p:cNvSpPr>
          <p:nvPr/>
        </p:nvSpPr>
        <p:spPr bwMode="auto">
          <a:xfrm>
            <a:off x="1981200" y="5165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57775" name="Text Box 124"/>
          <p:cNvSpPr txBox="1">
            <a:spLocks noChangeArrowheads="1"/>
          </p:cNvSpPr>
          <p:nvPr/>
        </p:nvSpPr>
        <p:spPr bwMode="auto">
          <a:xfrm>
            <a:off x="4572000" y="5165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57776" name="Text Box 125"/>
          <p:cNvSpPr txBox="1">
            <a:spLocks noChangeArrowheads="1"/>
          </p:cNvSpPr>
          <p:nvPr/>
        </p:nvSpPr>
        <p:spPr bwMode="auto">
          <a:xfrm>
            <a:off x="2819400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57777" name="Text Box 126"/>
          <p:cNvSpPr txBox="1">
            <a:spLocks noChangeArrowheads="1"/>
          </p:cNvSpPr>
          <p:nvPr/>
        </p:nvSpPr>
        <p:spPr bwMode="auto">
          <a:xfrm>
            <a:off x="3657600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  <a:endParaRPr kumimoji="0" lang="en-US" altLang="zh-CN" sz="2000"/>
          </a:p>
        </p:txBody>
      </p:sp>
      <p:sp>
        <p:nvSpPr>
          <p:cNvPr id="157778" name="Text Box 127"/>
          <p:cNvSpPr txBox="1">
            <a:spLocks noChangeArrowheads="1"/>
          </p:cNvSpPr>
          <p:nvPr/>
        </p:nvSpPr>
        <p:spPr bwMode="auto">
          <a:xfrm>
            <a:off x="5381625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57779" name="Text Box 128"/>
          <p:cNvSpPr txBox="1">
            <a:spLocks noChangeArrowheads="1"/>
          </p:cNvSpPr>
          <p:nvPr/>
        </p:nvSpPr>
        <p:spPr bwMode="auto">
          <a:xfrm>
            <a:off x="6248400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  <a:endParaRPr kumimoji="0" lang="en-US" altLang="zh-CN" sz="2000"/>
          </a:p>
        </p:txBody>
      </p:sp>
      <p:sp>
        <p:nvSpPr>
          <p:cNvPr id="157780" name="Text Box 129"/>
          <p:cNvSpPr txBox="1">
            <a:spLocks noChangeArrowheads="1"/>
          </p:cNvSpPr>
          <p:nvPr/>
        </p:nvSpPr>
        <p:spPr bwMode="auto">
          <a:xfrm>
            <a:off x="1981200" y="5546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57781" name="Text Box 130"/>
          <p:cNvSpPr txBox="1">
            <a:spLocks noChangeArrowheads="1"/>
          </p:cNvSpPr>
          <p:nvPr/>
        </p:nvSpPr>
        <p:spPr bwMode="auto">
          <a:xfrm>
            <a:off x="4572000" y="5546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57782" name="Text Box 131"/>
          <p:cNvSpPr txBox="1">
            <a:spLocks noChangeArrowheads="1"/>
          </p:cNvSpPr>
          <p:nvPr/>
        </p:nvSpPr>
        <p:spPr bwMode="auto">
          <a:xfrm>
            <a:off x="2819400" y="5543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57783" name="Text Box 132"/>
          <p:cNvSpPr txBox="1">
            <a:spLocks noChangeArrowheads="1"/>
          </p:cNvSpPr>
          <p:nvPr/>
        </p:nvSpPr>
        <p:spPr bwMode="auto">
          <a:xfrm>
            <a:off x="3657600" y="5543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57784" name="Text Box 133"/>
          <p:cNvSpPr txBox="1">
            <a:spLocks noChangeArrowheads="1"/>
          </p:cNvSpPr>
          <p:nvPr/>
        </p:nvSpPr>
        <p:spPr bwMode="auto">
          <a:xfrm>
            <a:off x="5381625" y="5543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57785" name="Text Box 134"/>
          <p:cNvSpPr txBox="1">
            <a:spLocks noChangeArrowheads="1"/>
          </p:cNvSpPr>
          <p:nvPr/>
        </p:nvSpPr>
        <p:spPr bwMode="auto">
          <a:xfrm>
            <a:off x="6248400" y="5543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  <a:endParaRPr kumimoji="0" lang="en-US" altLang="zh-CN" sz="2000"/>
          </a:p>
        </p:txBody>
      </p:sp>
      <p:sp>
        <p:nvSpPr>
          <p:cNvPr id="157786" name="Text Box 135"/>
          <p:cNvSpPr txBox="1">
            <a:spLocks noChangeArrowheads="1"/>
          </p:cNvSpPr>
          <p:nvPr/>
        </p:nvSpPr>
        <p:spPr bwMode="auto">
          <a:xfrm>
            <a:off x="19812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57787" name="Text Box 136"/>
          <p:cNvSpPr txBox="1">
            <a:spLocks noChangeArrowheads="1"/>
          </p:cNvSpPr>
          <p:nvPr/>
        </p:nvSpPr>
        <p:spPr bwMode="auto">
          <a:xfrm>
            <a:off x="45720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57788" name="Text Box 137"/>
          <p:cNvSpPr txBox="1">
            <a:spLocks noChangeArrowheads="1"/>
          </p:cNvSpPr>
          <p:nvPr/>
        </p:nvSpPr>
        <p:spPr bwMode="auto">
          <a:xfrm>
            <a:off x="2819400" y="5924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57789" name="Text Box 138"/>
          <p:cNvSpPr txBox="1">
            <a:spLocks noChangeArrowheads="1"/>
          </p:cNvSpPr>
          <p:nvPr/>
        </p:nvSpPr>
        <p:spPr bwMode="auto">
          <a:xfrm>
            <a:off x="3657600" y="5924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57790" name="Text Box 139"/>
          <p:cNvSpPr txBox="1">
            <a:spLocks noChangeArrowheads="1"/>
          </p:cNvSpPr>
          <p:nvPr/>
        </p:nvSpPr>
        <p:spPr bwMode="auto">
          <a:xfrm>
            <a:off x="5381625" y="5924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57791" name="Text Box 140"/>
          <p:cNvSpPr txBox="1">
            <a:spLocks noChangeArrowheads="1"/>
          </p:cNvSpPr>
          <p:nvPr/>
        </p:nvSpPr>
        <p:spPr bwMode="auto">
          <a:xfrm>
            <a:off x="6248400" y="5924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  <a:endParaRPr kumimoji="0" lang="en-US" altLang="zh-CN" sz="2000"/>
          </a:p>
        </p:txBody>
      </p:sp>
      <p:sp>
        <p:nvSpPr>
          <p:cNvPr id="157792" name="Text Box 141"/>
          <p:cNvSpPr txBox="1">
            <a:spLocks noChangeArrowheads="1"/>
          </p:cNvSpPr>
          <p:nvPr/>
        </p:nvSpPr>
        <p:spPr bwMode="auto">
          <a:xfrm>
            <a:off x="70104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4.50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3333CC"/>
                </a:solidFill>
              </a:rPr>
              <a:t>e1</a:t>
            </a:r>
            <a:r>
              <a:rPr lang="zh-CN" altLang="en-US" sz="2800" dirty="0">
                <a:solidFill>
                  <a:srgbClr val="3333CC"/>
                </a:solidFill>
              </a:rPr>
              <a:t>：状态</a:t>
            </a:r>
            <a:r>
              <a:rPr lang="en-US" altLang="zh-CN" sz="2800" dirty="0">
                <a:solidFill>
                  <a:srgbClr val="3333CC"/>
                </a:solidFill>
              </a:rPr>
              <a:t>0, 2, 4, 5</a:t>
            </a:r>
            <a:r>
              <a:rPr lang="zh-CN" altLang="en-US" sz="2800" dirty="0">
                <a:solidFill>
                  <a:srgbClr val="3333CC"/>
                </a:solidFill>
              </a:rPr>
              <a:t>期待运算数，但遇到</a:t>
            </a:r>
            <a:r>
              <a:rPr lang="en-US" altLang="zh-CN" sz="2800" dirty="0">
                <a:solidFill>
                  <a:srgbClr val="3333CC"/>
                </a:solidFill>
              </a:rPr>
              <a:t>+</a:t>
            </a:r>
            <a:r>
              <a:rPr lang="zh-CN" altLang="en-US" sz="2800" dirty="0">
                <a:solidFill>
                  <a:srgbClr val="3333CC"/>
                </a:solidFill>
              </a:rPr>
              <a:t>、*或</a:t>
            </a:r>
            <a:r>
              <a:rPr lang="en-US" altLang="zh-CN" sz="2800" dirty="0">
                <a:solidFill>
                  <a:srgbClr val="3333CC"/>
                </a:solidFill>
              </a:rPr>
              <a:t>$</a:t>
            </a:r>
            <a:br>
              <a:rPr lang="en-US" altLang="zh-CN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压栈</a:t>
            </a:r>
            <a:r>
              <a:rPr lang="en-US" altLang="zh-CN" sz="2800" b="1" dirty="0">
                <a:solidFill>
                  <a:srgbClr val="3333CC"/>
                </a:solidFill>
              </a:rPr>
              <a:t>id</a:t>
            </a:r>
            <a:r>
              <a:rPr lang="zh-CN" altLang="en-US" sz="2800" dirty="0">
                <a:solidFill>
                  <a:srgbClr val="3333CC"/>
                </a:solidFill>
              </a:rPr>
              <a:t>和状态</a:t>
            </a:r>
            <a:r>
              <a:rPr lang="en-US" altLang="zh-CN" sz="2800" dirty="0">
                <a:solidFill>
                  <a:srgbClr val="3333CC"/>
                </a:solidFill>
              </a:rPr>
              <a:t>3</a:t>
            </a:r>
            <a:r>
              <a:rPr lang="zh-CN" altLang="en-US" sz="2800" dirty="0">
                <a:solidFill>
                  <a:srgbClr val="3333CC"/>
                </a:solidFill>
              </a:rPr>
              <a:t>（</a:t>
            </a:r>
            <a:r>
              <a:rPr lang="en-US" altLang="zh-CN" sz="2800" dirty="0" err="1">
                <a:solidFill>
                  <a:srgbClr val="3333CC"/>
                </a:solidFill>
              </a:rPr>
              <a:t>goto</a:t>
            </a:r>
            <a:r>
              <a:rPr lang="en-US" altLang="zh-CN" sz="2800" dirty="0">
                <a:solidFill>
                  <a:srgbClr val="3333CC"/>
                </a:solidFill>
              </a:rPr>
              <a:t>[0/2/4/5, id]</a:t>
            </a:r>
            <a:r>
              <a:rPr lang="zh-CN" altLang="en-US" sz="2800" dirty="0">
                <a:solidFill>
                  <a:srgbClr val="3333CC"/>
                </a:solidFill>
              </a:rPr>
              <a:t>），</a:t>
            </a:r>
            <a:br>
              <a:rPr lang="zh-CN" altLang="en-US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输出错误信息“缺少运算数”</a:t>
            </a:r>
            <a:endParaRPr lang="zh-CN" altLang="en-US" sz="2800" dirty="0">
              <a:solidFill>
                <a:srgbClr val="3333CC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3333CC"/>
                </a:solidFill>
              </a:rPr>
              <a:t>e2</a:t>
            </a:r>
            <a:r>
              <a:rPr lang="zh-CN" altLang="en-US" sz="2800" dirty="0">
                <a:solidFill>
                  <a:srgbClr val="3333CC"/>
                </a:solidFill>
              </a:rPr>
              <a:t>：状态</a:t>
            </a:r>
            <a:r>
              <a:rPr lang="en-US" altLang="zh-CN" sz="2800" dirty="0">
                <a:solidFill>
                  <a:srgbClr val="3333CC"/>
                </a:solidFill>
              </a:rPr>
              <a:t>0, 2, 4, 5</a:t>
            </a:r>
            <a:r>
              <a:rPr lang="zh-CN" altLang="en-US" sz="2800" dirty="0">
                <a:solidFill>
                  <a:srgbClr val="3333CC"/>
                </a:solidFill>
              </a:rPr>
              <a:t>遇到‘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’</a:t>
            </a:r>
            <a:br>
              <a:rPr lang="en-US" altLang="zh-CN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删除‘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’，输出错误信息“不匹配的右括号”</a:t>
            </a:r>
            <a:endParaRPr lang="zh-CN" altLang="en-US" sz="28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3333CC"/>
                </a:solidFill>
              </a:rPr>
              <a:t>e3</a:t>
            </a:r>
            <a:r>
              <a:rPr lang="zh-CN" altLang="en-US" sz="2800" dirty="0">
                <a:solidFill>
                  <a:srgbClr val="3333CC"/>
                </a:solidFill>
              </a:rPr>
              <a:t>：状态</a:t>
            </a:r>
            <a:r>
              <a:rPr lang="en-US" altLang="zh-CN" sz="2800" dirty="0">
                <a:solidFill>
                  <a:srgbClr val="3333CC"/>
                </a:solidFill>
              </a:rPr>
              <a:t>1, 6</a:t>
            </a:r>
            <a:r>
              <a:rPr lang="zh-CN" altLang="en-US" sz="2800" dirty="0">
                <a:solidFill>
                  <a:srgbClr val="3333CC"/>
                </a:solidFill>
              </a:rPr>
              <a:t>期待运算符，但遇到</a:t>
            </a:r>
            <a:r>
              <a:rPr lang="en-US" altLang="zh-CN" sz="2800" dirty="0">
                <a:solidFill>
                  <a:srgbClr val="3333CC"/>
                </a:solidFill>
              </a:rPr>
              <a:t>id</a:t>
            </a:r>
            <a:r>
              <a:rPr lang="zh-CN" altLang="en-US" sz="2800" dirty="0">
                <a:solidFill>
                  <a:srgbClr val="3333CC"/>
                </a:solidFill>
              </a:rPr>
              <a:t>或</a:t>
            </a:r>
            <a:r>
              <a:rPr lang="en-US" altLang="zh-CN" sz="2800" dirty="0">
                <a:solidFill>
                  <a:srgbClr val="3333CC"/>
                </a:solidFill>
              </a:rPr>
              <a:t>(</a:t>
            </a:r>
            <a:br>
              <a:rPr lang="en-US" altLang="zh-CN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压栈</a:t>
            </a:r>
            <a:r>
              <a:rPr lang="en-US" altLang="zh-CN" sz="2800" dirty="0">
                <a:solidFill>
                  <a:srgbClr val="3333CC"/>
                </a:solidFill>
              </a:rPr>
              <a:t>+</a:t>
            </a:r>
            <a:r>
              <a:rPr lang="zh-CN" altLang="en-US" sz="2800" dirty="0">
                <a:solidFill>
                  <a:srgbClr val="3333CC"/>
                </a:solidFill>
              </a:rPr>
              <a:t>和状态</a:t>
            </a:r>
            <a:r>
              <a:rPr lang="en-US" altLang="zh-CN" sz="2800" dirty="0">
                <a:solidFill>
                  <a:srgbClr val="3333CC"/>
                </a:solidFill>
              </a:rPr>
              <a:t>4</a:t>
            </a:r>
            <a:r>
              <a:rPr lang="zh-CN" altLang="en-US" sz="2800" dirty="0">
                <a:solidFill>
                  <a:srgbClr val="3333CC"/>
                </a:solidFill>
              </a:rPr>
              <a:t>，输出错误信息“缺少运算符”</a:t>
            </a:r>
            <a:endParaRPr lang="zh-CN" altLang="en-US" sz="2800" dirty="0">
              <a:solidFill>
                <a:srgbClr val="3333CC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3333CC"/>
                </a:solidFill>
              </a:rPr>
              <a:t>e4</a:t>
            </a:r>
            <a:r>
              <a:rPr lang="zh-CN" altLang="en-US" sz="2800" dirty="0">
                <a:solidFill>
                  <a:srgbClr val="3333CC"/>
                </a:solidFill>
              </a:rPr>
              <a:t>：状态</a:t>
            </a:r>
            <a:r>
              <a:rPr lang="en-US" altLang="zh-CN" sz="2800" dirty="0">
                <a:solidFill>
                  <a:srgbClr val="3333CC"/>
                </a:solidFill>
              </a:rPr>
              <a:t>6</a:t>
            </a:r>
            <a:r>
              <a:rPr lang="zh-CN" altLang="en-US" sz="2800" dirty="0">
                <a:solidFill>
                  <a:srgbClr val="3333CC"/>
                </a:solidFill>
              </a:rPr>
              <a:t>期待运算符或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，但遇到</a:t>
            </a:r>
            <a:r>
              <a:rPr lang="en-US" altLang="zh-CN" sz="2800" dirty="0">
                <a:solidFill>
                  <a:srgbClr val="3333CC"/>
                </a:solidFill>
              </a:rPr>
              <a:t>$</a:t>
            </a:r>
            <a:br>
              <a:rPr lang="en-US" altLang="zh-CN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压栈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和状态</a:t>
            </a:r>
            <a:r>
              <a:rPr lang="en-US" altLang="zh-CN" sz="2800" dirty="0">
                <a:solidFill>
                  <a:srgbClr val="3333CC"/>
                </a:solidFill>
              </a:rPr>
              <a:t>9</a:t>
            </a:r>
            <a:r>
              <a:rPr lang="zh-CN" altLang="en-US" sz="2800" dirty="0">
                <a:solidFill>
                  <a:srgbClr val="3333CC"/>
                </a:solidFill>
              </a:rPr>
              <a:t>，输出错误信息“缺少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”</a:t>
            </a:r>
            <a:endParaRPr lang="en-US" altLang="zh-CN" sz="28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4.50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59747" name="Line 30"/>
          <p:cNvSpPr>
            <a:spLocks noChangeShapeType="1"/>
          </p:cNvSpPr>
          <p:nvPr/>
        </p:nvSpPr>
        <p:spPr bwMode="auto">
          <a:xfrm>
            <a:off x="1447800" y="1371600"/>
            <a:ext cx="719772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48" name="Line 31"/>
          <p:cNvSpPr>
            <a:spLocks noChangeShapeType="1"/>
          </p:cNvSpPr>
          <p:nvPr/>
        </p:nvSpPr>
        <p:spPr bwMode="auto">
          <a:xfrm>
            <a:off x="1447800" y="1447800"/>
            <a:ext cx="719772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49" name="Line 32"/>
          <p:cNvSpPr>
            <a:spLocks noChangeShapeType="1"/>
          </p:cNvSpPr>
          <p:nvPr/>
        </p:nvSpPr>
        <p:spPr bwMode="auto">
          <a:xfrm>
            <a:off x="1447800" y="1752600"/>
            <a:ext cx="719772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0" name="Line 33"/>
          <p:cNvSpPr>
            <a:spLocks noChangeShapeType="1"/>
          </p:cNvSpPr>
          <p:nvPr/>
        </p:nvSpPr>
        <p:spPr bwMode="auto">
          <a:xfrm>
            <a:off x="1447800" y="5943600"/>
            <a:ext cx="719772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1" name="Line 34"/>
          <p:cNvSpPr>
            <a:spLocks noChangeShapeType="1"/>
          </p:cNvSpPr>
          <p:nvPr/>
        </p:nvSpPr>
        <p:spPr bwMode="auto">
          <a:xfrm>
            <a:off x="4876800" y="1447800"/>
            <a:ext cx="1588" cy="449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2" name="Line 35"/>
          <p:cNvSpPr>
            <a:spLocks noChangeShapeType="1"/>
          </p:cNvSpPr>
          <p:nvPr/>
        </p:nvSpPr>
        <p:spPr bwMode="auto">
          <a:xfrm>
            <a:off x="3503613" y="1447800"/>
            <a:ext cx="1587" cy="449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3" name="Text Box 36"/>
          <p:cNvSpPr txBox="1">
            <a:spLocks noChangeArrowheads="1"/>
          </p:cNvSpPr>
          <p:nvPr/>
        </p:nvSpPr>
        <p:spPr bwMode="auto">
          <a:xfrm>
            <a:off x="1524000" y="1828800"/>
            <a:ext cx="7086600" cy="4097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		  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id + )</a:t>
            </a:r>
            <a:r>
              <a:rPr kumimoji="0" lang="en-US" altLang="zh-CN" sz="2400" b="1" dirty="0"/>
              <a:t>$	</a:t>
            </a:r>
            <a:endParaRPr kumimoji="0" lang="en-US" altLang="zh-CN" sz="2400" b="1" dirty="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id </a:t>
            </a:r>
            <a:r>
              <a:rPr kumimoji="0" lang="en-US" altLang="zh-CN" sz="2400" b="1" dirty="0"/>
              <a:t>3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        + )</a:t>
            </a:r>
            <a:r>
              <a:rPr kumimoji="0" lang="en-US" altLang="zh-CN" sz="2400" b="1" dirty="0"/>
              <a:t>$	</a:t>
            </a:r>
            <a:endParaRPr kumimoji="0" lang="en-US" altLang="zh-CN" sz="24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        + )</a:t>
            </a:r>
            <a:r>
              <a:rPr kumimoji="0" lang="en-US" altLang="zh-CN" sz="2400" b="1" dirty="0"/>
              <a:t>$	</a:t>
            </a:r>
            <a:endParaRPr kumimoji="0" lang="en-US" altLang="zh-CN" sz="24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+</a:t>
            </a:r>
            <a:r>
              <a:rPr kumimoji="0" lang="en-US" altLang="zh-CN" sz="2400" b="1" dirty="0"/>
              <a:t> 4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           )</a:t>
            </a:r>
            <a:r>
              <a:rPr kumimoji="0" lang="en-US" altLang="zh-CN" sz="2400" b="1" dirty="0"/>
              <a:t>$	</a:t>
            </a:r>
            <a:endParaRPr kumimoji="0" lang="en-US" altLang="zh-CN" sz="24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+</a:t>
            </a:r>
            <a:r>
              <a:rPr kumimoji="0" lang="en-US" altLang="zh-CN" sz="2400" b="1" dirty="0"/>
              <a:t> 4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             </a:t>
            </a:r>
            <a:r>
              <a:rPr kumimoji="0" lang="en-US" altLang="zh-CN" sz="2400" b="1" dirty="0"/>
              <a:t>$	e2:</a:t>
            </a:r>
            <a:r>
              <a:rPr kumimoji="0" lang="zh-CN" altLang="en-US" sz="2400" b="1" dirty="0"/>
              <a:t>“未匹配右括号”</a:t>
            </a:r>
            <a:endParaRPr kumimoji="0" lang="zh-CN" altLang="en-US" sz="24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solidFill>
                  <a:schemeClr val="accent2"/>
                </a:solidFill>
              </a:rPr>
              <a:t> 		         	</a:t>
            </a:r>
            <a:r>
              <a:rPr kumimoji="0" lang="zh-CN" altLang="en-US" sz="2400" b="1" dirty="0"/>
              <a:t>	将其删除</a:t>
            </a:r>
            <a:endParaRPr kumimoji="0" lang="zh-CN" altLang="en-US" sz="24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+</a:t>
            </a:r>
            <a:r>
              <a:rPr kumimoji="0" lang="en-US" altLang="zh-CN" sz="2400" b="1" dirty="0"/>
              <a:t> 4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id</a:t>
            </a:r>
            <a:r>
              <a:rPr kumimoji="0" lang="en-US" altLang="zh-CN" sz="2400" b="1" dirty="0"/>
              <a:t> 3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            </a:t>
            </a:r>
            <a:r>
              <a:rPr kumimoji="0" lang="en-US" altLang="zh-CN" sz="2400" b="1" dirty="0"/>
              <a:t>$	e1:</a:t>
            </a:r>
            <a:r>
              <a:rPr kumimoji="0" lang="zh-CN" altLang="en-US" sz="2400" b="1" dirty="0"/>
              <a:t>“缺少运算数”</a:t>
            </a:r>
            <a:endParaRPr kumimoji="0" lang="zh-CN" altLang="en-US" sz="24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dirty="0"/>
              <a:t> </a:t>
            </a:r>
            <a:r>
              <a:rPr kumimoji="0" lang="zh-CN" altLang="en-US" sz="2400" b="1" dirty="0">
                <a:solidFill>
                  <a:schemeClr val="accent2"/>
                </a:solidFill>
              </a:rPr>
              <a:t> 		           	</a:t>
            </a:r>
            <a:r>
              <a:rPr kumimoji="0" lang="zh-CN" altLang="en-US" sz="2400" b="1" dirty="0"/>
              <a:t>	压栈</a:t>
            </a:r>
            <a:r>
              <a:rPr kumimoji="0" lang="en-US" altLang="zh-CN" sz="2400" b="1" dirty="0"/>
              <a:t>id</a:t>
            </a:r>
            <a:r>
              <a:rPr kumimoji="0" lang="zh-CN" altLang="en-US" sz="2400" b="1" dirty="0"/>
              <a:t>和状态</a:t>
            </a:r>
            <a:r>
              <a:rPr kumimoji="0" lang="en-US" altLang="zh-CN" sz="2400" b="1" dirty="0"/>
              <a:t>3</a:t>
            </a:r>
            <a:endParaRPr kumimoji="0" lang="en-US" altLang="zh-CN" sz="24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+</a:t>
            </a:r>
            <a:r>
              <a:rPr kumimoji="0" lang="en-US" altLang="zh-CN" sz="2400" b="1" dirty="0"/>
              <a:t> 4 E 7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            </a:t>
            </a:r>
            <a:r>
              <a:rPr kumimoji="0" lang="en-US" altLang="zh-CN" sz="2400" b="1" dirty="0"/>
              <a:t>$	</a:t>
            </a:r>
            <a:endParaRPr kumimoji="0" lang="en-US" altLang="zh-CN" sz="24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	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            </a:t>
            </a:r>
            <a:r>
              <a:rPr kumimoji="0" lang="en-US" altLang="zh-CN" sz="2400" b="1" dirty="0"/>
              <a:t>$	</a:t>
            </a:r>
            <a:endParaRPr kumimoji="0" lang="en-US" altLang="zh-CN" sz="2400" b="1" dirty="0"/>
          </a:p>
        </p:txBody>
      </p:sp>
      <p:sp>
        <p:nvSpPr>
          <p:cNvPr id="159754" name="Text Box 37"/>
          <p:cNvSpPr txBox="1">
            <a:spLocks noChangeArrowheads="1"/>
          </p:cNvSpPr>
          <p:nvPr/>
        </p:nvSpPr>
        <p:spPr bwMode="auto">
          <a:xfrm>
            <a:off x="5029200" y="1828800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1600" b="1"/>
          </a:p>
        </p:txBody>
      </p:sp>
      <p:sp>
        <p:nvSpPr>
          <p:cNvPr id="159755" name="Text Box 38"/>
          <p:cNvSpPr txBox="1">
            <a:spLocks noChangeArrowheads="1"/>
          </p:cNvSpPr>
          <p:nvPr/>
        </p:nvSpPr>
        <p:spPr bwMode="auto">
          <a:xfrm>
            <a:off x="1524000" y="13716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STACK</a:t>
            </a:r>
            <a:endParaRPr kumimoji="0" lang="en-US" altLang="zh-CN" sz="2400" b="1"/>
          </a:p>
        </p:txBody>
      </p:sp>
      <p:sp>
        <p:nvSpPr>
          <p:cNvPr id="159756" name="Text Box 39"/>
          <p:cNvSpPr txBox="1">
            <a:spLocks noChangeArrowheads="1"/>
          </p:cNvSpPr>
          <p:nvPr/>
        </p:nvSpPr>
        <p:spPr bwMode="auto">
          <a:xfrm>
            <a:off x="3581400" y="1371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INPUT</a:t>
            </a:r>
            <a:endParaRPr kumimoji="0" lang="en-US" altLang="zh-CN" sz="2400" b="1"/>
          </a:p>
        </p:txBody>
      </p:sp>
      <p:sp>
        <p:nvSpPr>
          <p:cNvPr id="159757" name="Text Box 40"/>
          <p:cNvSpPr txBox="1">
            <a:spLocks noChangeArrowheads="1"/>
          </p:cNvSpPr>
          <p:nvPr/>
        </p:nvSpPr>
        <p:spPr bwMode="auto">
          <a:xfrm>
            <a:off x="5105400" y="13716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Remark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25915</Words>
  <Application>WPS 演示</Application>
  <PresentationFormat>全屏显示(4:3)</PresentationFormat>
  <Paragraphs>3145</Paragraphs>
  <Slides>153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153</vt:i4>
      </vt:variant>
    </vt:vector>
  </HeadingPairs>
  <TitlesOfParts>
    <vt:vector size="170" baseType="lpstr">
      <vt:lpstr>Arial</vt:lpstr>
      <vt:lpstr>宋体</vt:lpstr>
      <vt:lpstr>Wingdings</vt:lpstr>
      <vt:lpstr>Tahoma</vt:lpstr>
      <vt:lpstr>Times New Roman</vt:lpstr>
      <vt:lpstr>黑体</vt:lpstr>
      <vt:lpstr>Symbol</vt:lpstr>
      <vt:lpstr>微软雅黑</vt:lpstr>
      <vt:lpstr>Arial Unicode MS</vt:lpstr>
      <vt:lpstr>Courier New</vt:lpstr>
      <vt:lpstr>Lucida Sans Unicode</vt:lpstr>
      <vt:lpstr>Times New Roman</vt:lpstr>
      <vt:lpstr>Arial Unicode MS</vt:lpstr>
      <vt:lpstr>隶书</vt:lpstr>
      <vt:lpstr>Blends</vt:lpstr>
      <vt:lpstr>Equation.3</vt:lpstr>
      <vt:lpstr>Equation.3</vt:lpstr>
      <vt:lpstr>4.5 自底向上语法分析</vt:lpstr>
      <vt:lpstr>例4.21</vt:lpstr>
      <vt:lpstr>4.5.1  句柄（Handle）</vt:lpstr>
      <vt:lpstr>例4.22</vt:lpstr>
      <vt:lpstr>4.5.2 句柄剪枝(Handle Pruning)</vt:lpstr>
      <vt:lpstr>例4.23</vt:lpstr>
      <vt:lpstr>4.5.3  移进－归约分析的实现</vt:lpstr>
      <vt:lpstr>例4.24</vt:lpstr>
      <vt:lpstr>基本操作</vt:lpstr>
      <vt:lpstr>基本操作</vt:lpstr>
      <vt:lpstr>句柄必然在栈顶？</vt:lpstr>
      <vt:lpstr>4.5.4  活前缀</vt:lpstr>
      <vt:lpstr>4.5.5  冲突（例4.25）</vt:lpstr>
      <vt:lpstr>例4.26</vt:lpstr>
      <vt:lpstr>4.6  算符优先分析方法</vt:lpstr>
      <vt:lpstr>算符优先分析方法的特点</vt:lpstr>
      <vt:lpstr>优先级</vt:lpstr>
      <vt:lpstr>使用算法计算优先关系</vt:lpstr>
      <vt:lpstr>例</vt:lpstr>
      <vt:lpstr>4.6.1  使用算符优先关系</vt:lpstr>
      <vt:lpstr>使用算符优先关系（续）</vt:lpstr>
      <vt:lpstr>寻找句柄</vt:lpstr>
      <vt:lpstr>算法4.5  算符优先分析算法</vt:lpstr>
      <vt:lpstr>算法4.5（续）</vt:lpstr>
      <vt:lpstr>例</vt:lpstr>
      <vt:lpstr>4.6.2 直接构造算符优先关系(表)</vt:lpstr>
      <vt:lpstr>例4.28</vt:lpstr>
      <vt:lpstr>4.6.3  处理一元算符</vt:lpstr>
      <vt:lpstr>4.6.4  优先级函数</vt:lpstr>
      <vt:lpstr>例4.29</vt:lpstr>
      <vt:lpstr>算法4.6  构造优先级函数</vt:lpstr>
      <vt:lpstr>算法4.6 （续）</vt:lpstr>
      <vt:lpstr>例4.30</vt:lpstr>
      <vt:lpstr>4.6.5  算符优先分析的错误处理</vt:lpstr>
      <vt:lpstr>处理归约错误</vt:lpstr>
      <vt:lpstr>难点</vt:lpstr>
      <vt:lpstr>例4.31</vt:lpstr>
      <vt:lpstr>例4.31</vt:lpstr>
      <vt:lpstr>处理移进/归约错误</vt:lpstr>
      <vt:lpstr>例4.32</vt:lpstr>
      <vt:lpstr>例4.32（续）</vt:lpstr>
      <vt:lpstr>算符优先错误处理例</vt:lpstr>
      <vt:lpstr>4.7  LR分析方法</vt:lpstr>
      <vt:lpstr>移进/归约分析过程</vt:lpstr>
      <vt:lpstr>何时移进？何时归约？</vt:lpstr>
      <vt:lpstr>LR分析方法</vt:lpstr>
      <vt:lpstr>4.7.1  LR分析算法</vt:lpstr>
      <vt:lpstr>action表</vt:lpstr>
      <vt:lpstr>goto表</vt:lpstr>
      <vt:lpstr>分析器运行方式</vt:lpstr>
      <vt:lpstr>算法4.7  LR分析算法</vt:lpstr>
      <vt:lpstr>算法4.7  LR分析算法（续）</vt:lpstr>
      <vt:lpstr>例4.33</vt:lpstr>
      <vt:lpstr>例4.33  分析表</vt:lpstr>
      <vt:lpstr>例4.33  分析实例</vt:lpstr>
      <vt:lpstr>4.7.2  LR文法</vt:lpstr>
      <vt:lpstr>4.7.3  SLR分析</vt:lpstr>
      <vt:lpstr>项目的含义</vt:lpstr>
      <vt:lpstr>构造SLR分析表</vt:lpstr>
      <vt:lpstr>识别活前缀的NFA</vt:lpstr>
      <vt:lpstr>示例文法的NFA</vt:lpstr>
      <vt:lpstr>利用NFA进行LR分析</vt:lpstr>
      <vt:lpstr>项目——状态的NFA</vt:lpstr>
      <vt:lpstr>closure函数的计算</vt:lpstr>
      <vt:lpstr>closure函数</vt:lpstr>
      <vt:lpstr>例4.34</vt:lpstr>
      <vt:lpstr>核心（kernel）项目</vt:lpstr>
      <vt:lpstr>goto函数的计算</vt:lpstr>
      <vt:lpstr>LR(0)项目集规范族的构造</vt:lpstr>
      <vt:lpstr>例4.36</vt:lpstr>
      <vt:lpstr>例4.36</vt:lpstr>
      <vt:lpstr>例4.36（续）</vt:lpstr>
      <vt:lpstr>例4.36（续）</vt:lpstr>
      <vt:lpstr>有效项目（valid items）</vt:lpstr>
      <vt:lpstr>有效项目（valid items）</vt:lpstr>
      <vt:lpstr>例4.37</vt:lpstr>
      <vt:lpstr>算法4.8：构造SLR分析表</vt:lpstr>
      <vt:lpstr>算法4.8：构造SLR分析表(续)</vt:lpstr>
      <vt:lpstr>例4.38</vt:lpstr>
      <vt:lpstr>例4.38（续）</vt:lpstr>
      <vt:lpstr>例4.38（续）</vt:lpstr>
      <vt:lpstr>例4.38（续）</vt:lpstr>
      <vt:lpstr>例4.38（续）</vt:lpstr>
      <vt:lpstr>例4.38（续）</vt:lpstr>
      <vt:lpstr>例4.38（续）</vt:lpstr>
      <vt:lpstr>例4.39  SLR(1)分析表冲突</vt:lpstr>
      <vt:lpstr>例4.39  SLR(1)分析表冲突(续)</vt:lpstr>
      <vt:lpstr>例4.39  SLR(1)分析表冲突(续)</vt:lpstr>
      <vt:lpstr>例4.39  SLR(1)分析表冲突(续)</vt:lpstr>
      <vt:lpstr>4.7.4  构造规范LR分析表</vt:lpstr>
      <vt:lpstr>LR(1)项目</vt:lpstr>
      <vt:lpstr>LR(1)项目</vt:lpstr>
      <vt:lpstr>使用LR(1)项目</vt:lpstr>
      <vt:lpstr>例4.41</vt:lpstr>
      <vt:lpstr>构造LR(1)项目集规范族</vt:lpstr>
      <vt:lpstr>算法4.9 构造LR(1)项目集规范族</vt:lpstr>
      <vt:lpstr>算法4.9 （续）</vt:lpstr>
      <vt:lpstr>例4.42</vt:lpstr>
      <vt:lpstr>例4.42（续）</vt:lpstr>
      <vt:lpstr>例4.42（续）</vt:lpstr>
      <vt:lpstr>算法4.10 规范LR分析表的构造</vt:lpstr>
      <vt:lpstr>算法4.10 （续）</vt:lpstr>
      <vt:lpstr>例4.43</vt:lpstr>
      <vt:lpstr>4.7.5  构造LALR分析表</vt:lpstr>
      <vt:lpstr>“同心”</vt:lpstr>
      <vt:lpstr>同心集合并</vt:lpstr>
      <vt:lpstr>合并后的action和goto</vt:lpstr>
      <vt:lpstr>例4.44</vt:lpstr>
      <vt:lpstr>算法4.11 LALR分析表构造算法</vt:lpstr>
      <vt:lpstr>例4.45</vt:lpstr>
      <vt:lpstr>分析过程</vt:lpstr>
      <vt:lpstr>4.7.6  LALR分析表的高效构造方法</vt:lpstr>
      <vt:lpstr>例4.46</vt:lpstr>
      <vt:lpstr>例4.46 （续）</vt:lpstr>
      <vt:lpstr>例4.46 （续）</vt:lpstr>
      <vt:lpstr>例4.46 （续）</vt:lpstr>
      <vt:lpstr>算法4.12  判定自生/传播</vt:lpstr>
      <vt:lpstr>计算搜索符</vt:lpstr>
      <vt:lpstr>算法4.13</vt:lpstr>
      <vt:lpstr>算法4.13（续）</vt:lpstr>
      <vt:lpstr>例4.47</vt:lpstr>
      <vt:lpstr>例4.47 （续）</vt:lpstr>
      <vt:lpstr>例4.47 （续）</vt:lpstr>
      <vt:lpstr>例4.47 （续）</vt:lpstr>
      <vt:lpstr>例4.47 （续）</vt:lpstr>
      <vt:lpstr>4.7.7  LR分析表的压缩</vt:lpstr>
      <vt:lpstr>action表的压缩</vt:lpstr>
      <vt:lpstr>例4.48</vt:lpstr>
      <vt:lpstr>例4.48  （续）</vt:lpstr>
      <vt:lpstr>goto表的压缩</vt:lpstr>
      <vt:lpstr>goto表的压缩方法的设计思路</vt:lpstr>
      <vt:lpstr>例4.49</vt:lpstr>
      <vt:lpstr>4.8  使用二义性文法</vt:lpstr>
      <vt:lpstr>4.8.1  使用优先级和结合率</vt:lpstr>
      <vt:lpstr>LR(0)项目集规范族</vt:lpstr>
      <vt:lpstr>LR(0)项目集规范族</vt:lpstr>
      <vt:lpstr>SLR分析表</vt:lpstr>
      <vt:lpstr>冲突解决方法</vt:lpstr>
      <vt:lpstr>一般性方法</vt:lpstr>
      <vt:lpstr>4.8.2  “虚悬else”二义性</vt:lpstr>
      <vt:lpstr>LR(0)项目集规范族</vt:lpstr>
      <vt:lpstr>分析表</vt:lpstr>
      <vt:lpstr>4.8.3  特殊产生式二义性</vt:lpstr>
      <vt:lpstr>LR(0)项目集规范族</vt:lpstr>
      <vt:lpstr>LR(0)项目集规范族（续）</vt:lpstr>
      <vt:lpstr>冲突解决方法</vt:lpstr>
      <vt:lpstr>分析表</vt:lpstr>
      <vt:lpstr>4.8.4  LR分析器错误处理</vt:lpstr>
      <vt:lpstr>Panic模式的实现</vt:lpstr>
      <vt:lpstr>短语级模式的实现</vt:lpstr>
      <vt:lpstr>例4.50</vt:lpstr>
      <vt:lpstr>例4.50（续）</vt:lpstr>
      <vt:lpstr>例4.50（续）</vt:lpstr>
    </vt:vector>
  </TitlesOfParts>
  <Company>南开大学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蒋枘言</cp:lastModifiedBy>
  <cp:revision>1675</cp:revision>
  <dcterms:created xsi:type="dcterms:W3CDTF">2003-06-05T11:51:00Z</dcterms:created>
  <dcterms:modified xsi:type="dcterms:W3CDTF">2025-11-26T14:34:21Z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0D166CAFCC9D4FBF8BA9F658B1CD89BC_12</vt:lpwstr>
  </property>
  <property fmtid="{D5CDD505-2E9C-101B-9397-08002B2CF9AE}" pid="3" name="KSOProductBuildVer">
    <vt:lpwstr>2052-12.1.0.20305</vt:lpwstr>
  </property>
</Properties>
</file>