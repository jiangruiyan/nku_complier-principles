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6" r:id="rId32"/>
    <p:sldId id="338" r:id="rId33"/>
    <p:sldId id="339" r:id="rId34"/>
    <p:sldId id="340" r:id="rId35"/>
    <p:sldId id="287" r:id="rId36"/>
    <p:sldId id="288" r:id="rId37"/>
    <p:sldId id="289" r:id="rId38"/>
    <p:sldId id="290" r:id="rId39"/>
    <p:sldId id="292" r:id="rId40"/>
    <p:sldId id="291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3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2" r:id="rId80"/>
    <p:sldId id="333" r:id="rId81"/>
    <p:sldId id="334" r:id="rId82"/>
    <p:sldId id="335" r:id="rId83"/>
    <p:sldId id="336" r:id="rId84"/>
    <p:sldId id="337" r:id="rId85"/>
  </p:sldIdLst>
  <p:sldSz cx="9144000" cy="6858000" type="screen4x3"/>
  <p:notesSz cx="6759575" cy="98679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00FF"/>
    <a:srgbClr val="FFCF01"/>
    <a:srgbClr val="0000FF"/>
    <a:srgbClr val="996633"/>
    <a:srgbClr val="009900"/>
    <a:srgbClr val="CC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49" autoAdjust="0"/>
    <p:restoredTop sz="90929"/>
  </p:normalViewPr>
  <p:slideViewPr>
    <p:cSldViewPr showGuides="1">
      <p:cViewPr varScale="1">
        <p:scale>
          <a:sx n="127" d="100"/>
          <a:sy n="127" d="100"/>
        </p:scale>
        <p:origin x="115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6" d="100"/>
          <a:sy n="46" d="100"/>
        </p:scale>
        <p:origin x="-1469" y="-86"/>
      </p:cViewPr>
      <p:guideLst>
        <p:guide orient="horz" pos="3108"/>
        <p:guide pos="21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0" Type="http://schemas.openxmlformats.org/officeDocument/2006/relationships/tableStyles" Target="tableStyles.xml"/><Relationship Id="rId9" Type="http://schemas.openxmlformats.org/officeDocument/2006/relationships/slide" Target="slides/slide7.xml"/><Relationship Id="rId89" Type="http://schemas.openxmlformats.org/officeDocument/2006/relationships/viewProps" Target="viewProps.xml"/><Relationship Id="rId88" Type="http://schemas.openxmlformats.org/officeDocument/2006/relationships/presProps" Target="presProps.xml"/><Relationship Id="rId87" Type="http://schemas.openxmlformats.org/officeDocument/2006/relationships/handoutMaster" Target="handoutMasters/handoutMaster1.xml"/><Relationship Id="rId86" Type="http://schemas.openxmlformats.org/officeDocument/2006/relationships/notesMaster" Target="notesMasters/notesMaster1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0638" y="0"/>
            <a:ext cx="2928937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28938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0638" y="9374188"/>
            <a:ext cx="2928937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226C1A4-FAFE-4011-BDF0-B86A6FE2C81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0638" y="0"/>
            <a:ext cx="2928937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687888"/>
            <a:ext cx="4959350" cy="44402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4188"/>
            <a:ext cx="2928938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0638" y="9374188"/>
            <a:ext cx="2928937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20704E3-153F-4B51-A044-18993555397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8A1E5A30-203F-4312-93CF-F1717C5D65AB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0BC304-B8FA-49E1-8B86-42015258198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187A0-B184-41EB-ACB2-AC709772B2B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55F6ED-0F14-477C-87ED-7EE2250D7D8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EFD03A-701C-43B4-BABF-54DA74741D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01D47-D467-48D0-8BC9-DF47461F624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3B20CC-F263-4602-A52A-8221D52AF22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B0B387-847D-4A7D-9F07-A08D120BE73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B31BE-D5CC-491A-815F-845C52BA632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3406EA-33B1-4FF7-99D1-2C37C33A42B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6A3594-E26F-4BBB-BFA0-80B2A60295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400"/>
            </a:lvl1pPr>
          </a:lstStyle>
          <a:p>
            <a:pPr>
              <a:defRPr/>
            </a:pPr>
            <a:fld id="{BFF83BC1-5912-494E-9268-40A9A2F9D50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>
          <a:solidFill>
            <a:srgbClr val="3333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>
          <a:solidFill>
            <a:srgbClr val="FF33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743200"/>
            <a:ext cx="7793037" cy="1143000"/>
          </a:xfrm>
        </p:spPr>
        <p:txBody>
          <a:bodyPr/>
          <a:lstStyle/>
          <a:p>
            <a:pPr algn="ctr" eaLnBrk="1" hangingPunct="1"/>
            <a:r>
              <a:rPr lang="zh-CN" altLang="en-US"/>
              <a:t>第七章  运行时环境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学习内容</a:t>
            </a: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源语言语义</a:t>
            </a:r>
            <a:endParaRPr lang="zh-CN" altLang="en-US"/>
          </a:p>
          <a:p>
            <a:pPr eaLnBrk="1" hangingPunct="1"/>
            <a:r>
              <a:rPr lang="zh-CN" altLang="en-US"/>
              <a:t>存储组织</a:t>
            </a:r>
            <a:endParaRPr lang="zh-CN" altLang="en-US"/>
          </a:p>
          <a:p>
            <a:pPr eaLnBrk="1" hangingPunct="1"/>
            <a:r>
              <a:rPr lang="zh-CN" altLang="en-US"/>
              <a:t>存储分配策略</a:t>
            </a:r>
            <a:endParaRPr lang="zh-CN" altLang="en-US"/>
          </a:p>
          <a:p>
            <a:pPr eaLnBrk="1" hangingPunct="1"/>
            <a:r>
              <a:rPr lang="zh-CN" altLang="en-US"/>
              <a:t>对非局部名字的访问</a:t>
            </a:r>
            <a:endParaRPr lang="zh-CN" altLang="en-US"/>
          </a:p>
          <a:p>
            <a:pPr eaLnBrk="1" hangingPunct="1"/>
            <a:r>
              <a:rPr lang="zh-CN" altLang="en-US"/>
              <a:t>参数传递</a:t>
            </a:r>
            <a:endParaRPr lang="zh-CN" altLang="en-US"/>
          </a:p>
          <a:p>
            <a:pPr eaLnBrk="1" hangingPunct="1"/>
            <a:r>
              <a:rPr lang="zh-CN" altLang="en-US"/>
              <a:t>符号表</a:t>
            </a:r>
            <a:endParaRPr lang="zh-CN" altLang="en-US"/>
          </a:p>
          <a:p>
            <a:pPr eaLnBrk="1" hangingPunct="1"/>
            <a:r>
              <a:rPr lang="zh-CN" altLang="en-US"/>
              <a:t>动态内存分配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7.1  </a:t>
            </a:r>
            <a:r>
              <a:rPr lang="zh-CN" altLang="en-US"/>
              <a:t>源语言相关问题</a:t>
            </a:r>
            <a:endParaRPr lang="zh-CN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7.1.1  </a:t>
            </a:r>
            <a:r>
              <a:rPr lang="zh-CN" altLang="en-US" sz="2800" dirty="0"/>
              <a:t>过程（函数），</a:t>
            </a:r>
            <a:r>
              <a:rPr lang="en-US" altLang="zh-CN" sz="2800" dirty="0">
                <a:solidFill>
                  <a:srgbClr val="FF3300"/>
                </a:solidFill>
              </a:rPr>
              <a:t>procedure</a:t>
            </a:r>
            <a:r>
              <a:rPr lang="en-US" altLang="zh-CN" sz="2800" dirty="0"/>
              <a:t>——</a:t>
            </a:r>
            <a:r>
              <a:rPr lang="zh-CN" altLang="en-US" sz="2800" dirty="0"/>
              <a:t>静态概念</a:t>
            </a:r>
            <a:br>
              <a:rPr lang="zh-CN" altLang="en-US" sz="2800" dirty="0"/>
            </a:br>
            <a:r>
              <a:rPr lang="zh-CN" altLang="en-US" sz="2800" dirty="0"/>
              <a:t>活动，</a:t>
            </a:r>
            <a:r>
              <a:rPr lang="en-US" altLang="zh-CN" sz="2800" dirty="0">
                <a:solidFill>
                  <a:srgbClr val="FF3300"/>
                </a:solidFill>
              </a:rPr>
              <a:t>activation</a:t>
            </a:r>
            <a:r>
              <a:rPr lang="en-US" altLang="zh-CN" sz="2800" dirty="0"/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</a:t>
            </a:r>
            <a:r>
              <a:rPr lang="zh-CN" altLang="en-US" sz="2800" dirty="0"/>
              <a:t>概念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过程定义，</a:t>
            </a:r>
            <a:r>
              <a:rPr lang="en-US" altLang="zh-CN" sz="2800" dirty="0">
                <a:solidFill>
                  <a:srgbClr val="FF3300"/>
                </a:solidFill>
              </a:rPr>
              <a:t>procedure definition</a:t>
            </a:r>
            <a:endParaRPr lang="en-US" altLang="zh-CN" sz="2800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sz="2800" dirty="0"/>
              <a:t>过程名，</a:t>
            </a:r>
            <a:r>
              <a:rPr lang="en-US" altLang="zh-CN" sz="2800" dirty="0">
                <a:solidFill>
                  <a:srgbClr val="FF3300"/>
                </a:solidFill>
              </a:rPr>
              <a:t>procedure name</a:t>
            </a:r>
            <a:endParaRPr lang="en-US" altLang="zh-CN" sz="2800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sz="2800" dirty="0"/>
              <a:t>过程体，</a:t>
            </a:r>
            <a:r>
              <a:rPr lang="en-US" altLang="zh-CN" sz="2800" dirty="0">
                <a:solidFill>
                  <a:srgbClr val="FF3300"/>
                </a:solidFill>
              </a:rPr>
              <a:t>procedure body</a:t>
            </a:r>
            <a:endParaRPr lang="en-US" altLang="zh-CN" sz="2800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sz="2800" dirty="0"/>
              <a:t>函数，</a:t>
            </a:r>
            <a:r>
              <a:rPr lang="en-US" altLang="zh-CN" sz="2800" dirty="0">
                <a:solidFill>
                  <a:srgbClr val="FF3300"/>
                </a:solidFill>
              </a:rPr>
              <a:t>function</a:t>
            </a:r>
            <a:endParaRPr lang="en-US" altLang="zh-CN" sz="2800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sz="2800" dirty="0"/>
              <a:t>调用，</a:t>
            </a:r>
            <a:r>
              <a:rPr lang="en-US" altLang="zh-CN" sz="2800" dirty="0">
                <a:solidFill>
                  <a:srgbClr val="FF3300"/>
                </a:solidFill>
              </a:rPr>
              <a:t>call</a:t>
            </a:r>
            <a:endParaRPr lang="en-US" altLang="zh-CN" sz="2800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sz="2800" dirty="0"/>
              <a:t>形式参数，</a:t>
            </a:r>
            <a:r>
              <a:rPr lang="en-US" altLang="zh-CN" sz="2800" dirty="0">
                <a:solidFill>
                  <a:srgbClr val="FF3300"/>
                </a:solidFill>
              </a:rPr>
              <a:t>formal parameters</a:t>
            </a:r>
            <a:endParaRPr lang="en-US" altLang="zh-CN" sz="2800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sz="2800" dirty="0"/>
              <a:t>实际参数，</a:t>
            </a:r>
            <a:r>
              <a:rPr lang="en-US" altLang="zh-CN" sz="2800" dirty="0">
                <a:solidFill>
                  <a:srgbClr val="FF3300"/>
                </a:solidFill>
              </a:rPr>
              <a:t>actual parameters</a:t>
            </a:r>
            <a:endParaRPr lang="en-US" altLang="zh-CN" sz="2800" dirty="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Pascal</a:t>
            </a:r>
            <a:r>
              <a:rPr lang="zh-CN" altLang="en-US"/>
              <a:t>源码示例</a:t>
            </a:r>
            <a:endParaRPr lang="zh-CN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program sort(input, output);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var a : array [0..10] of integer;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procedure readarray;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var i : integer;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begin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for i := 1 to 9 do read(a[i]);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end;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function partition(y, z : integer) : integer;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var i, j, x, v : integer;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begin …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end;</a:t>
            </a:r>
            <a:endParaRPr lang="en-US" altLang="zh-CN" sz="2400"/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ltGray">
          <a:xfrm>
            <a:off x="228600" y="2819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过程定义</a:t>
            </a:r>
            <a:endParaRPr lang="zh-CN" altLang="en-US" sz="2400" b="1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ltGray">
          <a:xfrm flipV="1">
            <a:off x="1066800" y="2514600"/>
            <a:ext cx="5334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ltGray">
          <a:xfrm>
            <a:off x="4572000" y="22098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过程名</a:t>
            </a:r>
            <a:endParaRPr lang="zh-CN" altLang="en-US" sz="2400" b="1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ltGray">
          <a:xfrm flipH="1">
            <a:off x="4038600" y="2438400"/>
            <a:ext cx="685800" cy="152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ltGray">
          <a:xfrm>
            <a:off x="5638800" y="48768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形式参数</a:t>
            </a:r>
            <a:endParaRPr lang="zh-CN" altLang="en-US" sz="2400" b="1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ltGray">
          <a:xfrm flipH="1" flipV="1">
            <a:off x="4191000" y="4800600"/>
            <a:ext cx="16002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ltGray">
          <a:xfrm>
            <a:off x="228600" y="49530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函数定义</a:t>
            </a:r>
            <a:endParaRPr lang="zh-CN" altLang="en-US" sz="2400" b="1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ltGray">
          <a:xfrm flipV="1">
            <a:off x="1066800" y="4648200"/>
            <a:ext cx="5334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4" name="AutoShape 12"/>
          <p:cNvSpPr/>
          <p:nvPr/>
        </p:nvSpPr>
        <p:spPr bwMode="ltGray">
          <a:xfrm>
            <a:off x="6629400" y="2819400"/>
            <a:ext cx="381000" cy="1447800"/>
          </a:xfrm>
          <a:prstGeom prst="rightBrace">
            <a:avLst>
              <a:gd name="adj1" fmla="val 31667"/>
              <a:gd name="adj2" fmla="val 50000"/>
            </a:avLst>
          </a:prstGeom>
          <a:noFill/>
          <a:ln w="254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ltGray">
          <a:xfrm>
            <a:off x="7086600" y="33528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过程体</a:t>
            </a:r>
            <a:endParaRPr lang="zh-CN" altLang="en-US" sz="2400" b="1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Pascal</a:t>
            </a:r>
            <a:r>
              <a:rPr lang="zh-CN" altLang="en-US"/>
              <a:t>源码示例（续）</a:t>
            </a: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procedure quicksort(m, n : integer);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var i : integer;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begin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if (n &gt; m) then begin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i := partition(m, n);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quicksort(m, i - 1);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quicksort(i + 1, n)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end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end;</a:t>
            </a:r>
            <a:endParaRPr lang="en-US" altLang="zh-CN" sz="2400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ltGray">
          <a:xfrm>
            <a:off x="2362200" y="35814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调用</a:t>
            </a:r>
            <a:endParaRPr lang="zh-CN" altLang="en-US" sz="2400" b="1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ltGray">
          <a:xfrm flipV="1">
            <a:off x="3124200" y="3505200"/>
            <a:ext cx="15240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ltGray">
          <a:xfrm>
            <a:off x="6629400" y="3581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实际参数</a:t>
            </a:r>
            <a:endParaRPr lang="zh-CN" altLang="en-US" sz="2400" b="1">
              <a:solidFill>
                <a:srgbClr val="3333CC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ltGray">
          <a:xfrm flipH="1" flipV="1">
            <a:off x="6019800" y="3429000"/>
            <a:ext cx="762000" cy="381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Pascal</a:t>
            </a:r>
            <a:r>
              <a:rPr lang="zh-CN" altLang="en-US"/>
              <a:t>源码示例（续）</a:t>
            </a:r>
            <a:endParaRPr lang="zh-CN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begin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a[0] := -9999; a[10] := 9999;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readarray;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quicksort(1, 9);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end.</a:t>
            </a:r>
            <a:endParaRPr lang="en-US" altLang="zh-CN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7.1.2  </a:t>
            </a:r>
            <a:r>
              <a:rPr lang="zh-CN" altLang="en-US"/>
              <a:t>活动树（</a:t>
            </a:r>
            <a:r>
              <a:rPr lang="en-US" altLang="zh-CN">
                <a:solidFill>
                  <a:srgbClr val="FF3300"/>
                </a:solidFill>
              </a:rPr>
              <a:t>activation tree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控制流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顺序性：程序的执行</a:t>
            </a:r>
            <a:r>
              <a:rPr lang="zh-CN" altLang="en-US" sz="2400" dirty="0">
                <a:sym typeface="Wingdings" panose="05000000000000000000" pitchFamily="2" charset="2"/>
              </a:rPr>
              <a:t></a:t>
            </a:r>
            <a:r>
              <a:rPr lang="zh-CN" altLang="en-US" sz="2400" dirty="0"/>
              <a:t>一组操作步骤序列，在每个步骤，控制流开始于程序的特定位置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过程的执行：起始于过程体开始，最终控制权返回到过程调用点之后</a:t>
            </a:r>
            <a:r>
              <a:rPr lang="zh-CN" altLang="en-US" sz="2400" dirty="0"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rgbClr val="FF3300"/>
                </a:solidFill>
                <a:sym typeface="Wingdings" panose="05000000000000000000" pitchFamily="2" charset="2"/>
              </a:rPr>
              <a:t>活动树</a:t>
            </a:r>
            <a:r>
              <a:rPr lang="zh-CN" altLang="en-US" sz="2400" dirty="0">
                <a:sym typeface="Wingdings" panose="05000000000000000000" pitchFamily="2" charset="2"/>
              </a:rPr>
              <a:t>表示</a:t>
            </a:r>
            <a:endParaRPr lang="zh-CN" altLang="en-US" sz="2400" dirty="0"/>
          </a:p>
          <a:p>
            <a:pPr eaLnBrk="1" hangingPunct="1"/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活动</a:t>
            </a:r>
            <a:r>
              <a:rPr lang="zh-CN" altLang="en-US" sz="2800" dirty="0"/>
              <a:t>：一次</a:t>
            </a:r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执行</a:t>
            </a:r>
            <a:r>
              <a:rPr lang="zh-CN" altLang="en-US" sz="2800" dirty="0"/>
              <a:t>（</a:t>
            </a:r>
            <a:r>
              <a:rPr lang="en-US" altLang="zh-CN" sz="2800" dirty="0">
                <a:solidFill>
                  <a:srgbClr val="FF3300"/>
                </a:solidFill>
              </a:rPr>
              <a:t>execution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eaLnBrk="1" hangingPunct="1"/>
            <a:r>
              <a:rPr lang="zh-CN" altLang="en-US" sz="2800" dirty="0">
                <a:ea typeface="黑体" panose="02010609060101010101" pitchFamily="49" charset="-122"/>
              </a:rPr>
              <a:t>过程</a:t>
            </a:r>
            <a:r>
              <a:rPr lang="en-US" altLang="zh-CN" sz="2800" dirty="0">
                <a:ea typeface="黑体" panose="02010609060101010101" pitchFamily="49" charset="-122"/>
              </a:rPr>
              <a:t>P</a:t>
            </a:r>
            <a:r>
              <a:rPr lang="zh-CN" altLang="en-US" sz="2800" dirty="0">
                <a:ea typeface="黑体" panose="02010609060101010101" pitchFamily="49" charset="-122"/>
              </a:rPr>
              <a:t>的</a:t>
            </a:r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生存期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rgbClr val="FF3300"/>
                </a:solidFill>
              </a:rPr>
              <a:t>lifetime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过程体执行的第一步操作到最后一步操作的操作序列，包括</a:t>
            </a:r>
            <a:r>
              <a:rPr lang="en-US" altLang="zh-CN" sz="2400" dirty="0"/>
              <a:t>P</a:t>
            </a:r>
            <a:r>
              <a:rPr lang="zh-CN" altLang="en-US" sz="2400" dirty="0"/>
              <a:t>调用其他过程的时间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过程的活动</a:t>
            </a: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en-US" altLang="zh-CN" sz="2800"/>
              <a:t>p</a:t>
            </a:r>
            <a:r>
              <a:rPr lang="zh-CN" altLang="en-US" sz="2800"/>
              <a:t>调用</a:t>
            </a:r>
            <a:r>
              <a:rPr lang="en-US" altLang="zh-CN" sz="2800"/>
              <a:t>q</a:t>
            </a:r>
            <a:r>
              <a:rPr lang="zh-CN" altLang="en-US" sz="2800"/>
              <a:t>，控制最终会返回</a:t>
            </a:r>
            <a:r>
              <a:rPr lang="en-US" altLang="zh-CN" sz="2800"/>
              <a:t>p——</a:t>
            </a:r>
            <a:r>
              <a:rPr lang="zh-CN" altLang="en-US" sz="2800"/>
              <a:t>每次控制流从</a:t>
            </a:r>
            <a:r>
              <a:rPr lang="en-US" altLang="zh-CN" sz="2800"/>
              <a:t>p</a:t>
            </a:r>
            <a:r>
              <a:rPr lang="zh-CN" altLang="en-US" sz="2800"/>
              <a:t>转移到</a:t>
            </a:r>
            <a:r>
              <a:rPr lang="en-US" altLang="zh-CN" sz="2800"/>
              <a:t>q</a:t>
            </a:r>
            <a:r>
              <a:rPr lang="zh-CN" altLang="en-US" sz="2800"/>
              <a:t>，总会返回到</a:t>
            </a:r>
            <a:r>
              <a:rPr lang="en-US" altLang="zh-CN" sz="2800"/>
              <a:t>p</a:t>
            </a:r>
            <a:endParaRPr lang="en-US" altLang="zh-CN" sz="2800"/>
          </a:p>
          <a:p>
            <a:pPr eaLnBrk="1" hangingPunct="1"/>
            <a:r>
              <a:rPr lang="zh-CN" altLang="en-US" sz="2800"/>
              <a:t>过程的生命期或者不重叠、或者嵌套</a:t>
            </a:r>
            <a:r>
              <a:rPr lang="en-US" altLang="zh-CN" sz="2800"/>
              <a:t>——b</a:t>
            </a:r>
            <a:r>
              <a:rPr lang="zh-CN" altLang="en-US" sz="2800"/>
              <a:t>在</a:t>
            </a:r>
            <a:r>
              <a:rPr lang="en-US" altLang="zh-CN" sz="2800"/>
              <a:t>a</a:t>
            </a:r>
            <a:r>
              <a:rPr lang="zh-CN" altLang="en-US" sz="2800"/>
              <a:t>退出之前进入，则必在</a:t>
            </a:r>
            <a:r>
              <a:rPr lang="en-US" altLang="zh-CN" sz="2800"/>
              <a:t>a</a:t>
            </a:r>
            <a:r>
              <a:rPr lang="zh-CN" altLang="en-US" sz="2800"/>
              <a:t>之前退出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利用输出语句演示嵌套</a:t>
            </a:r>
            <a:endParaRPr lang="zh-CN" altLang="en-US" sz="24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execution begin…		…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enter readarray			leave quicksort(1, 3)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leave readarray			enter quicksort(5, 9)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enter quicksort(1, 9)		…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enter partition(1, 9)		leave quicksort(5, 9)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leave partition(1, 9)		leave quicksort(1, 9)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enter quicksort(1, 3)		execution terminated.</a:t>
            </a:r>
            <a:endParaRPr lang="en-US" altLang="zh-CN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递归</a:t>
            </a: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dirty="0"/>
              <a:t>过程</a:t>
            </a:r>
            <a:r>
              <a:rPr lang="en-US" altLang="zh-CN" dirty="0"/>
              <a:t>p</a:t>
            </a:r>
            <a:r>
              <a:rPr lang="zh-CN" altLang="en-US" dirty="0"/>
              <a:t>的某个活动尚未结束，又开始它的一个新的活动</a:t>
            </a:r>
            <a:endParaRPr lang="zh-CN" altLang="en-US" dirty="0"/>
          </a:p>
          <a:p>
            <a:pPr marL="609600" indent="-609600" eaLnBrk="1" hangingPunct="1"/>
            <a:r>
              <a:rPr lang="zh-CN" altLang="en-US" dirty="0"/>
              <a:t>间接递归</a:t>
            </a:r>
            <a:endParaRPr lang="zh-CN" altLang="en-US" dirty="0"/>
          </a:p>
          <a:p>
            <a:pPr marL="609600" indent="-609600" eaLnBrk="1" hangingPunct="1"/>
            <a:r>
              <a:rPr lang="zh-CN" altLang="en-US" dirty="0"/>
              <a:t>活动树</a:t>
            </a:r>
            <a:endParaRPr lang="zh-CN" altLang="en-US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结点</a:t>
            </a:r>
            <a:r>
              <a:rPr lang="en-US" altLang="zh-CN" dirty="0"/>
              <a:t>——</a:t>
            </a:r>
            <a:r>
              <a:rPr lang="zh-CN" altLang="en-US" dirty="0"/>
              <a:t>过程的活动</a:t>
            </a:r>
            <a:endParaRPr lang="zh-CN" altLang="en-US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根结点</a:t>
            </a:r>
            <a:r>
              <a:rPr lang="en-US" altLang="zh-CN" dirty="0"/>
              <a:t>——</a:t>
            </a:r>
            <a:r>
              <a:rPr lang="zh-CN" altLang="en-US" dirty="0"/>
              <a:t>主程序的活动</a:t>
            </a:r>
            <a:endParaRPr lang="zh-CN" altLang="en-US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a</a:t>
            </a:r>
            <a:r>
              <a:rPr lang="zh-CN" altLang="en-US" dirty="0"/>
              <a:t>是</a:t>
            </a:r>
            <a:r>
              <a:rPr lang="en-US" altLang="zh-CN" dirty="0"/>
              <a:t>b</a:t>
            </a:r>
            <a:r>
              <a:rPr lang="zh-CN" altLang="en-US" dirty="0"/>
              <a:t>的父结点</a:t>
            </a:r>
            <a:r>
              <a:rPr lang="zh-CN" altLang="en-US" dirty="0">
                <a:sym typeface="Wingdings" panose="05000000000000000000" pitchFamily="2" charset="2"/>
              </a:rPr>
              <a:t></a:t>
            </a:r>
            <a:r>
              <a:rPr lang="zh-CN" altLang="en-US" dirty="0"/>
              <a:t>控制流从</a:t>
            </a:r>
            <a:r>
              <a:rPr lang="en-US" altLang="zh-CN" dirty="0"/>
              <a:t>a</a:t>
            </a:r>
            <a:r>
              <a:rPr lang="zh-CN" altLang="en-US" dirty="0"/>
              <a:t>到</a:t>
            </a:r>
            <a:r>
              <a:rPr lang="en-US" altLang="zh-CN" dirty="0">
                <a:sym typeface="Wingdings" panose="05000000000000000000" pitchFamily="2" charset="2"/>
              </a:rPr>
              <a:t>b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a</a:t>
            </a:r>
            <a:r>
              <a:rPr lang="zh-CN" altLang="en-US" dirty="0"/>
              <a:t>在</a:t>
            </a:r>
            <a:r>
              <a:rPr lang="en-US" altLang="zh-CN" dirty="0"/>
              <a:t>b</a:t>
            </a:r>
            <a:r>
              <a:rPr lang="zh-CN" altLang="en-US" dirty="0"/>
              <a:t>的左边</a:t>
            </a:r>
            <a:r>
              <a:rPr lang="zh-CN" altLang="en-US" dirty="0">
                <a:sym typeface="Wingdings" panose="05000000000000000000" pitchFamily="2" charset="2"/>
              </a:rPr>
              <a:t></a:t>
            </a:r>
            <a:r>
              <a:rPr lang="en-US" altLang="zh-CN" dirty="0">
                <a:sym typeface="Wingdings" panose="05000000000000000000" pitchFamily="2" charset="2"/>
              </a:rPr>
              <a:t>a</a:t>
            </a:r>
            <a:r>
              <a:rPr lang="zh-CN" altLang="en-US" dirty="0">
                <a:sym typeface="Wingdings" panose="05000000000000000000" pitchFamily="2" charset="2"/>
              </a:rPr>
              <a:t>的生存期在</a:t>
            </a:r>
            <a:r>
              <a:rPr lang="en-US" altLang="zh-CN" dirty="0">
                <a:sym typeface="Wingdings" panose="05000000000000000000" pitchFamily="2" charset="2"/>
              </a:rPr>
              <a:t>b</a:t>
            </a:r>
            <a:r>
              <a:rPr lang="zh-CN" altLang="en-US" dirty="0">
                <a:sym typeface="Wingdings" panose="05000000000000000000" pitchFamily="2" charset="2"/>
              </a:rPr>
              <a:t>之前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7.1</a:t>
            </a:r>
            <a:endParaRPr lang="en-US" altLang="zh-CN"/>
          </a:p>
        </p:txBody>
      </p:sp>
      <p:pic>
        <p:nvPicPr>
          <p:cNvPr id="14339" name="Picture 4" descr="acttre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8493125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7.1.3  </a:t>
            </a:r>
            <a:r>
              <a:rPr lang="zh-CN" altLang="en-US"/>
              <a:t>控制栈（</a:t>
            </a:r>
            <a:r>
              <a:rPr lang="en-US" altLang="zh-CN">
                <a:solidFill>
                  <a:srgbClr val="FF3300"/>
                </a:solidFill>
              </a:rPr>
              <a:t>control stack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活动树深度优先遍历</a:t>
            </a:r>
            <a:r>
              <a:rPr lang="zh-CN" altLang="en-US">
                <a:sym typeface="Wingdings" panose="05000000000000000000" pitchFamily="2" charset="2"/>
              </a:rPr>
              <a:t>控制流变化</a:t>
            </a:r>
            <a:endParaRPr lang="zh-CN" altLang="en-US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控制栈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/>
              <a:t>当活动开始，对应结点入栈</a:t>
            </a:r>
            <a:endParaRPr lang="zh-CN" altLang="en-US"/>
          </a:p>
          <a:p>
            <a:pPr lvl="1" eaLnBrk="1" hangingPunct="1"/>
            <a:r>
              <a:rPr lang="zh-CN" altLang="en-US"/>
              <a:t>结束后，将其弹出</a:t>
            </a:r>
            <a:endParaRPr lang="zh-CN" altLang="en-US"/>
          </a:p>
          <a:p>
            <a:pPr lvl="1" eaLnBrk="1" hangingPunct="1"/>
            <a:r>
              <a:rPr lang="zh-CN" altLang="en-US"/>
              <a:t>当前栈内容</a:t>
            </a:r>
            <a:r>
              <a:rPr lang="en-US" altLang="zh-CN"/>
              <a:t>——</a:t>
            </a:r>
            <a:r>
              <a:rPr lang="zh-CN" altLang="en-US"/>
              <a:t>到根结点的路径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7.2</a:t>
            </a:r>
            <a:endParaRPr lang="en-US" altLang="zh-CN"/>
          </a:p>
        </p:txBody>
      </p:sp>
      <p:pic>
        <p:nvPicPr>
          <p:cNvPr id="16387" name="Picture 4" descr="stac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52538"/>
            <a:ext cx="523240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7.1.4  </a:t>
            </a:r>
            <a:r>
              <a:rPr lang="zh-CN" altLang="en-US"/>
              <a:t>作用域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sz="2800"/>
              <a:t>声明（</a:t>
            </a:r>
            <a:r>
              <a:rPr lang="en-US" altLang="zh-CN" sz="2800">
                <a:solidFill>
                  <a:srgbClr val="FF3300"/>
                </a:solidFill>
              </a:rPr>
              <a:t>declaration</a:t>
            </a:r>
            <a:r>
              <a:rPr lang="zh-CN" altLang="en-US" sz="2800"/>
              <a:t>）：规定名字的含义</a:t>
            </a:r>
            <a:endParaRPr lang="zh-CN" altLang="en-US" sz="2800"/>
          </a:p>
          <a:p>
            <a:pPr eaLnBrk="1" hangingPunct="1"/>
            <a:r>
              <a:rPr lang="zh-CN" altLang="en-US" sz="2800"/>
              <a:t>显式声明、隐式声明（</a:t>
            </a:r>
            <a:r>
              <a:rPr lang="en-US" altLang="zh-CN" sz="2800"/>
              <a:t>Fortran</a:t>
            </a:r>
            <a:r>
              <a:rPr lang="zh-CN" altLang="en-US" sz="2800"/>
              <a:t>）</a:t>
            </a:r>
            <a:endParaRPr lang="zh-CN" altLang="en-US" sz="2800"/>
          </a:p>
          <a:p>
            <a:pPr eaLnBrk="1" hangingPunct="1"/>
            <a:r>
              <a:rPr lang="zh-CN" altLang="en-US" sz="2800"/>
              <a:t>同一名字在程序不同位置的不同声明</a:t>
            </a:r>
            <a:endParaRPr lang="zh-CN" altLang="en-US" sz="2800"/>
          </a:p>
          <a:p>
            <a:pPr eaLnBrk="1" hangingPunct="1"/>
            <a:r>
              <a:rPr lang="zh-CN" altLang="en-US" sz="2800"/>
              <a:t>作用域（</a:t>
            </a:r>
            <a:r>
              <a:rPr lang="en-US" altLang="zh-CN" sz="2800">
                <a:solidFill>
                  <a:srgbClr val="FF3300"/>
                </a:solidFill>
              </a:rPr>
              <a:t>scope</a:t>
            </a:r>
            <a:r>
              <a:rPr lang="zh-CN" altLang="en-US" sz="2800"/>
              <a:t>）：声明起作用的范围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局部的（</a:t>
            </a:r>
            <a:r>
              <a:rPr lang="en-US" altLang="zh-CN" sz="2400">
                <a:solidFill>
                  <a:srgbClr val="FF3300"/>
                </a:solidFill>
              </a:rPr>
              <a:t>local</a:t>
            </a:r>
            <a:r>
              <a:rPr lang="zh-CN" altLang="en-US" sz="2400"/>
              <a:t>）、非局部的（</a:t>
            </a:r>
            <a:r>
              <a:rPr lang="en-US" altLang="zh-CN" sz="2400">
                <a:solidFill>
                  <a:srgbClr val="FF3300"/>
                </a:solidFill>
              </a:rPr>
              <a:t>nonlocal</a:t>
            </a:r>
            <a:r>
              <a:rPr lang="zh-CN" altLang="en-US" sz="2400"/>
              <a:t>）</a:t>
            </a:r>
            <a:endParaRPr lang="zh-CN" altLang="en-US" sz="2400"/>
          </a:p>
          <a:p>
            <a:pPr eaLnBrk="1" hangingPunct="1"/>
            <a:r>
              <a:rPr lang="zh-CN" altLang="en-US" sz="2800"/>
              <a:t>作用域规则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确定声明起作用的范围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名字对应哪个声明</a:t>
            </a:r>
            <a:endParaRPr lang="zh-CN" altLang="en-US" sz="2400"/>
          </a:p>
          <a:p>
            <a:pPr eaLnBrk="1" hangingPunct="1"/>
            <a:r>
              <a:rPr lang="zh-CN" altLang="en-US" sz="2800"/>
              <a:t>利用符号表</a:t>
            </a:r>
            <a:endParaRPr lang="zh-CN" altLang="en-US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7.1.5  </a:t>
            </a:r>
            <a:r>
              <a:rPr lang="zh-CN" altLang="en-US"/>
              <a:t>名字的绑定（</a:t>
            </a:r>
            <a:r>
              <a:rPr lang="en-US" altLang="zh-CN">
                <a:solidFill>
                  <a:srgbClr val="FF3300"/>
                </a:solidFill>
              </a:rPr>
              <a:t>binding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名字只声明一次，运行时也可能指向不同数据对象</a:t>
            </a:r>
            <a:endParaRPr lang="zh-CN" altLang="en-US" sz="2800"/>
          </a:p>
          <a:p>
            <a:pPr eaLnBrk="1" hangingPunct="1"/>
            <a:r>
              <a:rPr lang="zh-CN" altLang="en-US" sz="2800">
                <a:solidFill>
                  <a:srgbClr val="3333CC"/>
                </a:solidFill>
                <a:ea typeface="黑体" panose="02010609060101010101" pitchFamily="49" charset="-122"/>
              </a:rPr>
              <a:t>环境</a:t>
            </a:r>
            <a:r>
              <a:rPr lang="zh-CN" altLang="en-US" sz="2800"/>
              <a:t>（</a:t>
            </a:r>
            <a:r>
              <a:rPr lang="en-US" altLang="zh-CN" sz="2800">
                <a:solidFill>
                  <a:srgbClr val="FF3300"/>
                </a:solidFill>
              </a:rPr>
              <a:t>environment</a:t>
            </a:r>
            <a:r>
              <a:rPr lang="zh-CN" altLang="en-US" sz="2800"/>
              <a:t>）：函数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名字</a:t>
            </a:r>
            <a:r>
              <a:rPr lang="zh-CN" altLang="en-US" sz="2400">
                <a:sym typeface="Wingdings" panose="05000000000000000000" pitchFamily="2" charset="2"/>
              </a:rPr>
              <a:t>存储位置，名字</a:t>
            </a:r>
            <a:r>
              <a:rPr lang="en-US" altLang="zh-CN" sz="2400">
                <a:sym typeface="Wingdings" panose="05000000000000000000" pitchFamily="2" charset="2"/>
              </a:rPr>
              <a:t>l-value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800">
                <a:solidFill>
                  <a:srgbClr val="3333CC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状态</a:t>
            </a:r>
            <a:r>
              <a:rPr lang="zh-CN" altLang="en-US" sz="2800">
                <a:sym typeface="Wingdings" panose="05000000000000000000" pitchFamily="2" charset="2"/>
              </a:rPr>
              <a:t>（</a:t>
            </a:r>
            <a:r>
              <a:rPr lang="en-US" altLang="zh-CN" sz="2800">
                <a:solidFill>
                  <a:srgbClr val="FF3300"/>
                </a:solidFill>
                <a:sym typeface="Wingdings" panose="05000000000000000000" pitchFamily="2" charset="2"/>
              </a:rPr>
              <a:t>state</a:t>
            </a:r>
            <a:r>
              <a:rPr lang="zh-CN" altLang="en-US" sz="2800">
                <a:sym typeface="Wingdings" panose="05000000000000000000" pitchFamily="2" charset="2"/>
              </a:rPr>
              <a:t>）：函数</a:t>
            </a:r>
            <a:endParaRPr lang="zh-CN" altLang="en-US" sz="280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存储位置存储数据，</a:t>
            </a:r>
            <a:r>
              <a:rPr lang="en-US" altLang="zh-CN" sz="2400">
                <a:sym typeface="Wingdings" panose="05000000000000000000" pitchFamily="2" charset="2"/>
              </a:rPr>
              <a:t>l-valuer-value</a:t>
            </a:r>
            <a:endParaRPr lang="en-US" altLang="zh-CN" sz="2400"/>
          </a:p>
        </p:txBody>
      </p:sp>
      <p:pic>
        <p:nvPicPr>
          <p:cNvPr id="18436" name="Picture 4" descr="bindi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267200"/>
            <a:ext cx="4865688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环境和状态</a:t>
            </a:r>
            <a:endParaRPr lang="zh-CN" alt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/>
            <a:r>
              <a:rPr lang="zh-CN" altLang="en-US" sz="2800"/>
              <a:t>赋值语句改变状态，但不改变环境</a:t>
            </a:r>
            <a:endParaRPr lang="zh-CN" altLang="en-US" sz="2800"/>
          </a:p>
          <a:p>
            <a:pPr eaLnBrk="1" hangingPunct="1"/>
            <a:r>
              <a:rPr lang="zh-CN" altLang="en-US" sz="2800"/>
              <a:t>对某个环境，若名字</a:t>
            </a:r>
            <a:r>
              <a:rPr lang="en-US" altLang="zh-CN" sz="2800"/>
              <a:t>x</a:t>
            </a:r>
            <a:r>
              <a:rPr lang="zh-CN" altLang="en-US" sz="2800"/>
              <a:t>对应存储位置</a:t>
            </a:r>
            <a:r>
              <a:rPr lang="en-US" altLang="zh-CN" sz="2800"/>
              <a:t>s</a:t>
            </a:r>
            <a:r>
              <a:rPr lang="en-US" altLang="zh-CN" sz="2800">
                <a:sym typeface="Wingdings" panose="05000000000000000000" pitchFamily="2" charset="2"/>
              </a:rPr>
              <a:t></a:t>
            </a:r>
            <a:br>
              <a:rPr lang="en-US" altLang="zh-CN" sz="2800">
                <a:sym typeface="Wingdings" panose="05000000000000000000" pitchFamily="2" charset="2"/>
              </a:rPr>
            </a:br>
            <a:r>
              <a:rPr lang="en-US" altLang="zh-CN" sz="2800">
                <a:sym typeface="Wingdings" panose="05000000000000000000" pitchFamily="2" charset="2"/>
              </a:rPr>
              <a:t>x</a:t>
            </a:r>
            <a:r>
              <a:rPr lang="zh-CN" altLang="en-US" sz="2800">
                <a:solidFill>
                  <a:schemeClr val="accent2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绑定</a:t>
            </a:r>
            <a:r>
              <a:rPr lang="zh-CN" altLang="en-US" sz="2800">
                <a:sym typeface="Wingdings" panose="05000000000000000000" pitchFamily="2" charset="2"/>
              </a:rPr>
              <a:t>到</a:t>
            </a:r>
            <a:r>
              <a:rPr lang="en-US" altLang="zh-CN" sz="2800">
                <a:sym typeface="Wingdings" panose="05000000000000000000" pitchFamily="2" charset="2"/>
              </a:rPr>
              <a:t>s</a:t>
            </a:r>
            <a:r>
              <a:rPr lang="zh-CN" altLang="en-US" sz="2800">
                <a:sym typeface="Wingdings" panose="05000000000000000000" pitchFamily="2" charset="2"/>
              </a:rPr>
              <a:t>，</a:t>
            </a:r>
            <a:r>
              <a:rPr lang="en-US" altLang="zh-CN" sz="2800">
                <a:sym typeface="Wingdings" panose="05000000000000000000" pitchFamily="2" charset="2"/>
              </a:rPr>
              <a:t>s</a:t>
            </a:r>
            <a:r>
              <a:rPr lang="zh-CN" altLang="en-US" sz="2800">
                <a:sym typeface="Wingdings" panose="05000000000000000000" pitchFamily="2" charset="2"/>
              </a:rPr>
              <a:t>是</a:t>
            </a:r>
            <a:r>
              <a:rPr lang="en-US" altLang="zh-CN" sz="2800">
                <a:sym typeface="Wingdings" panose="05000000000000000000" pitchFamily="2" charset="2"/>
              </a:rPr>
              <a:t>x</a:t>
            </a:r>
            <a:r>
              <a:rPr lang="zh-CN" altLang="en-US" sz="2800">
                <a:sym typeface="Wingdings" panose="05000000000000000000" pitchFamily="2" charset="2"/>
              </a:rPr>
              <a:t>的一个</a:t>
            </a:r>
            <a:r>
              <a:rPr lang="zh-CN" altLang="en-US" sz="2800">
                <a:solidFill>
                  <a:schemeClr val="accent2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绑定</a:t>
            </a:r>
            <a:endParaRPr lang="zh-CN" altLang="en-US" sz="2800">
              <a:solidFill>
                <a:schemeClr val="accent2"/>
              </a:solidFill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800">
                <a:solidFill>
                  <a:schemeClr val="accent2"/>
                </a:solidFill>
                <a:ea typeface="黑体" panose="02010609060101010101" pitchFamily="49" charset="-122"/>
              </a:rPr>
              <a:t>绑定</a:t>
            </a:r>
            <a:r>
              <a:rPr lang="en-US" altLang="zh-CN" sz="2800"/>
              <a:t>——</a:t>
            </a:r>
            <a:r>
              <a:rPr lang="zh-CN" altLang="en-US" sz="2800"/>
              <a:t>声明的动态概念</a:t>
            </a:r>
            <a:br>
              <a:rPr lang="zh-CN" altLang="en-US" sz="2800"/>
            </a:br>
            <a:br>
              <a:rPr lang="zh-CN" altLang="en-US" sz="2800"/>
            </a:br>
            <a:br>
              <a:rPr lang="zh-CN" altLang="en-US" sz="2800"/>
            </a:br>
            <a:br>
              <a:rPr lang="zh-CN" altLang="en-US" sz="2800"/>
            </a:br>
            <a:endParaRPr lang="zh-CN" altLang="en-US" sz="2800"/>
          </a:p>
          <a:p>
            <a:pPr eaLnBrk="1" hangingPunct="1"/>
            <a:r>
              <a:rPr lang="en-US" altLang="zh-CN" sz="2800"/>
              <a:t>Pascal</a:t>
            </a:r>
            <a:r>
              <a:rPr lang="zh-CN" altLang="en-US" sz="2800"/>
              <a:t>过程的局部名字，不同活动</a:t>
            </a:r>
            <a:r>
              <a:rPr lang="zh-CN" altLang="en-US" sz="2800">
                <a:sym typeface="Wingdings" panose="05000000000000000000" pitchFamily="2" charset="2"/>
              </a:rPr>
              <a:t>不同存储位置</a:t>
            </a:r>
            <a:endParaRPr lang="zh-CN" altLang="en-US" sz="2800"/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2057400" y="3276600"/>
            <a:ext cx="5399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2057400" y="3352800"/>
            <a:ext cx="5399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>
            <a:off x="2057400" y="3810000"/>
            <a:ext cx="5399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2057400" y="5105400"/>
            <a:ext cx="5399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>
            <a:off x="4648200" y="3352800"/>
            <a:ext cx="0" cy="175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2057400" y="3810000"/>
            <a:ext cx="5410200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800">
                <a:solidFill>
                  <a:srgbClr val="3333CC"/>
                </a:solidFill>
              </a:rPr>
              <a:t>过程的定义		过程的活动</a:t>
            </a:r>
            <a:endParaRPr kumimoji="0" lang="zh-CN" altLang="en-US" sz="280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800">
                <a:solidFill>
                  <a:srgbClr val="3333CC"/>
                </a:solidFill>
              </a:rPr>
              <a:t>名字的声明		名字的绑定</a:t>
            </a:r>
            <a:endParaRPr kumimoji="0" lang="zh-CN" altLang="en-US" sz="2800">
              <a:solidFill>
                <a:srgbClr val="3333CC"/>
              </a:solidFill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800">
                <a:solidFill>
                  <a:srgbClr val="3333CC"/>
                </a:solidFill>
              </a:rPr>
              <a:t>声明的作用域	绑定的生存期</a:t>
            </a:r>
            <a:endParaRPr kumimoji="0" lang="zh-CN" altLang="en-US" sz="280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2514600" y="3352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静态概念</a:t>
            </a:r>
            <a:endParaRPr kumimoji="0" lang="zh-CN" altLang="en-US" sz="2400" b="1"/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5105400" y="3352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动态概念</a:t>
            </a:r>
            <a:endParaRPr kumimoji="0" lang="zh-CN" altLang="en-US" sz="24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7.1.6  </a:t>
            </a:r>
            <a:r>
              <a:rPr lang="zh-CN" altLang="en-US"/>
              <a:t>影响存储组织的几个问题</a:t>
            </a:r>
            <a:endParaRPr lang="zh-CN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过程可否递归？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过程活动结束时，局部名字值如何处理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过程可否访问非局部名字？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过程被调用时，参数如何传递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过程可否作为参数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过程可否作为返回类型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程序可否动态控制存储分配</a:t>
            </a:r>
            <a:endParaRPr lang="zh-CN" altLang="en-US" sz="280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存储是否必须显式释放？</a:t>
            </a:r>
            <a:endParaRPr lang="zh-CN" altLang="en-US"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7.2  </a:t>
            </a:r>
            <a:r>
              <a:rPr lang="zh-CN" altLang="en-US"/>
              <a:t>存储组织</a:t>
            </a: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7.2.1  </a:t>
            </a:r>
            <a:r>
              <a:rPr lang="zh-CN" altLang="en-US"/>
              <a:t>运行时存储细化</a:t>
            </a:r>
            <a:endParaRPr lang="zh-CN" altLang="en-US"/>
          </a:p>
          <a:p>
            <a:pPr lvl="1" eaLnBrk="1" hangingPunct="1"/>
            <a:r>
              <a:rPr lang="zh-CN" altLang="en-US"/>
              <a:t>存储目标代码</a:t>
            </a:r>
            <a:r>
              <a:rPr lang="en-US" altLang="zh-CN"/>
              <a:t>——</a:t>
            </a:r>
            <a:r>
              <a:rPr lang="zh-CN" altLang="en-US"/>
              <a:t>大小固定</a:t>
            </a:r>
            <a:endParaRPr lang="zh-CN" altLang="en-US"/>
          </a:p>
          <a:p>
            <a:pPr lvl="1" eaLnBrk="1" hangingPunct="1"/>
            <a:r>
              <a:rPr lang="zh-CN" altLang="en-US"/>
              <a:t>存储数据对象</a:t>
            </a:r>
            <a:r>
              <a:rPr lang="en-US" altLang="zh-CN"/>
              <a:t>——</a:t>
            </a:r>
            <a:r>
              <a:rPr lang="zh-CN" altLang="en-US"/>
              <a:t>部分固定</a:t>
            </a:r>
            <a:endParaRPr lang="zh-CN" altLang="en-US"/>
          </a:p>
          <a:p>
            <a:pPr lvl="1" eaLnBrk="1" hangingPunct="1"/>
            <a:r>
              <a:rPr lang="zh-CN" altLang="en-US"/>
              <a:t>控制栈</a:t>
            </a:r>
            <a:r>
              <a:rPr lang="en-US" altLang="zh-CN"/>
              <a:t>——</a:t>
            </a:r>
            <a:r>
              <a:rPr lang="zh-CN" altLang="en-US"/>
              <a:t>保存过程的活动信息</a:t>
            </a:r>
            <a:endParaRPr lang="zh-CN" altLang="en-US"/>
          </a:p>
          <a:p>
            <a:pPr lvl="1" eaLnBrk="1" hangingPunct="1"/>
            <a:endParaRPr lang="en-US" altLang="zh-CN"/>
          </a:p>
        </p:txBody>
      </p:sp>
      <p:pic>
        <p:nvPicPr>
          <p:cNvPr id="21508" name="Picture 4" descr="memor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505200"/>
            <a:ext cx="2073275" cy="223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活动信息的保存</a:t>
            </a:r>
            <a:endParaRPr lang="zh-CN" alt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 sz="2800"/>
              <a:t>过程调用</a:t>
            </a:r>
            <a:endParaRPr lang="zh-CN" altLang="en-US" sz="2800"/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当前过程活动终止</a:t>
            </a:r>
            <a:endParaRPr lang="zh-CN" altLang="en-US" sz="240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状态信息（寄存器、</a:t>
            </a:r>
            <a:r>
              <a:rPr lang="en-US" altLang="zh-CN" sz="2400">
                <a:sym typeface="Wingdings" panose="05000000000000000000" pitchFamily="2" charset="2"/>
              </a:rPr>
              <a:t>PC</a:t>
            </a:r>
            <a:r>
              <a:rPr lang="zh-CN" altLang="en-US" sz="2400">
                <a:sym typeface="Wingdings" panose="05000000000000000000" pitchFamily="2" charset="2"/>
              </a:rPr>
              <a:t>）控制栈</a:t>
            </a:r>
            <a:endParaRPr lang="zh-CN" altLang="en-US" sz="240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800"/>
              <a:t>调用返回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从控制栈恢复状态信息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停止的过程活动重新开始</a:t>
            </a:r>
            <a:endParaRPr lang="zh-CN" altLang="en-US" sz="2400"/>
          </a:p>
          <a:p>
            <a:pPr eaLnBrk="1" hangingPunct="1"/>
            <a:r>
              <a:rPr lang="zh-CN" altLang="en-US" sz="2800"/>
              <a:t>局部数据对象</a:t>
            </a:r>
            <a:r>
              <a:rPr lang="zh-CN" altLang="en-US" sz="2800">
                <a:sym typeface="Wingdings" panose="05000000000000000000" pitchFamily="2" charset="2"/>
              </a:rPr>
              <a:t>控制栈</a:t>
            </a:r>
            <a:endParaRPr lang="zh-CN" altLang="en-US" sz="280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800">
                <a:solidFill>
                  <a:srgbClr val="3333CC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堆</a:t>
            </a:r>
            <a:endParaRPr lang="zh-CN" altLang="en-US" sz="280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/>
              <a:t>动态内存分配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也可能保存活动信息</a:t>
            </a:r>
            <a:endParaRPr lang="zh-CN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7.2.2  </a:t>
            </a:r>
            <a:r>
              <a:rPr lang="zh-CN" altLang="en-US" sz="4000"/>
              <a:t>活动记录</a:t>
            </a:r>
            <a:r>
              <a:rPr lang="en-US" altLang="zh-CN" sz="4000"/>
              <a:t>(</a:t>
            </a:r>
            <a:r>
              <a:rPr lang="en-US" altLang="zh-CN" sz="4000">
                <a:solidFill>
                  <a:srgbClr val="FF3300"/>
                </a:solidFill>
              </a:rPr>
              <a:t>activation record</a:t>
            </a:r>
            <a:r>
              <a:rPr lang="en-US" altLang="zh-CN" sz="4000"/>
              <a:t>)</a:t>
            </a:r>
            <a:endParaRPr lang="en-US" altLang="zh-CN" sz="4000"/>
          </a:p>
        </p:txBody>
      </p:sp>
      <p:pic>
        <p:nvPicPr>
          <p:cNvPr id="23555" name="Picture 4" descr="recor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00275"/>
            <a:ext cx="2595563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Text Box 5"/>
          <p:cNvSpPr txBox="1">
            <a:spLocks noChangeArrowheads="1"/>
          </p:cNvSpPr>
          <p:nvPr/>
        </p:nvSpPr>
        <p:spPr bwMode="ltGray">
          <a:xfrm>
            <a:off x="2667000" y="1219200"/>
            <a:ext cx="609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存放被调用函数传递给调用函数的返回结果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23557" name="Line 6"/>
          <p:cNvSpPr>
            <a:spLocks noChangeShapeType="1"/>
          </p:cNvSpPr>
          <p:nvPr/>
        </p:nvSpPr>
        <p:spPr bwMode="ltGray">
          <a:xfrm flipH="1">
            <a:off x="1524000" y="1524000"/>
            <a:ext cx="1295400" cy="838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" name="Text Box 7"/>
          <p:cNvSpPr txBox="1">
            <a:spLocks noChangeArrowheads="1"/>
          </p:cNvSpPr>
          <p:nvPr/>
        </p:nvSpPr>
        <p:spPr bwMode="ltGray">
          <a:xfrm>
            <a:off x="2819400" y="1981200"/>
            <a:ext cx="609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9900"/>
                </a:solidFill>
                <a:latin typeface="Tahoma" panose="020B0604030504040204" pitchFamily="34" charset="0"/>
              </a:rPr>
              <a:t>调用函数向被调用函数传递实际参数的区域</a:t>
            </a:r>
            <a:endParaRPr lang="zh-CN" altLang="en-US" sz="2400">
              <a:solidFill>
                <a:srgbClr val="FF9900"/>
              </a:solidFill>
              <a:latin typeface="Tahoma" panose="020B0604030504040204" pitchFamily="34" charset="0"/>
            </a:endParaRPr>
          </a:p>
        </p:txBody>
      </p:sp>
      <p:sp>
        <p:nvSpPr>
          <p:cNvPr id="23559" name="Line 8"/>
          <p:cNvSpPr>
            <a:spLocks noChangeShapeType="1"/>
          </p:cNvSpPr>
          <p:nvPr/>
        </p:nvSpPr>
        <p:spPr bwMode="ltGray">
          <a:xfrm flipH="1">
            <a:off x="1676400" y="2209800"/>
            <a:ext cx="1295400" cy="685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0" name="Text Box 9"/>
          <p:cNvSpPr txBox="1">
            <a:spLocks noChangeArrowheads="1"/>
          </p:cNvSpPr>
          <p:nvPr/>
        </p:nvSpPr>
        <p:spPr bwMode="ltGray">
          <a:xfrm>
            <a:off x="2819400" y="2743200"/>
            <a:ext cx="609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996633"/>
                </a:solidFill>
                <a:latin typeface="Tahoma" panose="020B0604030504040204" pitchFamily="34" charset="0"/>
              </a:rPr>
              <a:t>调用函数（父函数）活动记录的指针</a:t>
            </a:r>
            <a:endParaRPr lang="zh-CN" altLang="en-US" sz="2400">
              <a:solidFill>
                <a:srgbClr val="996633"/>
              </a:solidFill>
              <a:latin typeface="Tahoma" panose="020B0604030504040204" pitchFamily="34" charset="0"/>
            </a:endParaRPr>
          </a:p>
        </p:txBody>
      </p:sp>
      <p:sp>
        <p:nvSpPr>
          <p:cNvPr id="23561" name="Line 10"/>
          <p:cNvSpPr>
            <a:spLocks noChangeShapeType="1"/>
          </p:cNvSpPr>
          <p:nvPr/>
        </p:nvSpPr>
        <p:spPr bwMode="ltGray">
          <a:xfrm flipH="1">
            <a:off x="1676400" y="2971800"/>
            <a:ext cx="1676400" cy="381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2" name="Text Box 11"/>
          <p:cNvSpPr txBox="1">
            <a:spLocks noChangeArrowheads="1"/>
          </p:cNvSpPr>
          <p:nvPr/>
        </p:nvSpPr>
        <p:spPr bwMode="ltGray">
          <a:xfrm>
            <a:off x="2819400" y="3444875"/>
            <a:ext cx="6096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9900"/>
                </a:solidFill>
                <a:latin typeface="Tahoma" panose="020B0604030504040204" pitchFamily="34" charset="0"/>
              </a:rPr>
              <a:t>用来访问那些保存在其他</a:t>
            </a:r>
            <a:br>
              <a:rPr lang="zh-CN" altLang="en-US" sz="2400">
                <a:solidFill>
                  <a:srgbClr val="009900"/>
                </a:solidFill>
                <a:latin typeface="Tahoma" panose="020B0604030504040204" pitchFamily="34" charset="0"/>
              </a:rPr>
            </a:br>
            <a:r>
              <a:rPr lang="zh-CN" altLang="en-US" sz="2400">
                <a:solidFill>
                  <a:srgbClr val="009900"/>
                </a:solidFill>
                <a:latin typeface="Tahoma" panose="020B0604030504040204" pitchFamily="34" charset="0"/>
              </a:rPr>
              <a:t>活动记录中的非局部数据</a:t>
            </a:r>
            <a:endParaRPr lang="zh-CN" altLang="en-US" sz="2400">
              <a:solidFill>
                <a:srgbClr val="009900"/>
              </a:solidFill>
              <a:latin typeface="Tahoma" panose="020B0604030504040204" pitchFamily="34" charset="0"/>
            </a:endParaRPr>
          </a:p>
        </p:txBody>
      </p:sp>
      <p:sp>
        <p:nvSpPr>
          <p:cNvPr id="23563" name="Line 12"/>
          <p:cNvSpPr>
            <a:spLocks noChangeShapeType="1"/>
          </p:cNvSpPr>
          <p:nvPr/>
        </p:nvSpPr>
        <p:spPr bwMode="ltGray">
          <a:xfrm flipH="1">
            <a:off x="1676400" y="3810000"/>
            <a:ext cx="2438400" cy="76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4" name="Text Box 13"/>
          <p:cNvSpPr txBox="1">
            <a:spLocks noChangeArrowheads="1"/>
          </p:cNvSpPr>
          <p:nvPr/>
        </p:nvSpPr>
        <p:spPr bwMode="ltGray">
          <a:xfrm>
            <a:off x="2819400" y="4435475"/>
            <a:ext cx="6096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latin typeface="Tahoma" panose="020B0604030504040204" pitchFamily="34" charset="0"/>
              </a:rPr>
              <a:t>函数调用前时刻机器状态相关的</a:t>
            </a:r>
            <a:br>
              <a:rPr lang="zh-CN" altLang="en-US" sz="2400">
                <a:latin typeface="Tahoma" panose="020B0604030504040204" pitchFamily="34" charset="0"/>
              </a:rPr>
            </a:br>
            <a:r>
              <a:rPr lang="zh-CN" altLang="en-US" sz="2400">
                <a:latin typeface="Tahoma" panose="020B0604030504040204" pitchFamily="34" charset="0"/>
              </a:rPr>
              <a:t>一些信息：程序计数器、寄存器</a:t>
            </a:r>
            <a:r>
              <a:rPr lang="en-US" altLang="zh-CN" sz="2400">
                <a:latin typeface="Tahoma" panose="020B0604030504040204" pitchFamily="34" charset="0"/>
              </a:rPr>
              <a:t>…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23565" name="Line 14"/>
          <p:cNvSpPr>
            <a:spLocks noChangeShapeType="1"/>
          </p:cNvSpPr>
          <p:nvPr/>
        </p:nvSpPr>
        <p:spPr bwMode="ltGray">
          <a:xfrm flipH="1" flipV="1">
            <a:off x="1676400" y="4419600"/>
            <a:ext cx="19812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6" name="Text Box 15"/>
          <p:cNvSpPr txBox="1">
            <a:spLocks noChangeArrowheads="1"/>
          </p:cNvSpPr>
          <p:nvPr/>
        </p:nvSpPr>
        <p:spPr bwMode="ltGray">
          <a:xfrm>
            <a:off x="2895600" y="5486400"/>
            <a:ext cx="609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CC"/>
                </a:solidFill>
                <a:latin typeface="Tahoma" panose="020B0604030504040204" pitchFamily="34" charset="0"/>
              </a:rPr>
              <a:t>保存局部数据</a:t>
            </a:r>
            <a:endParaRPr lang="zh-CN" altLang="en-US" sz="2400">
              <a:solidFill>
                <a:srgbClr val="3333CC"/>
              </a:solidFill>
              <a:latin typeface="Tahoma" panose="020B0604030504040204" pitchFamily="34" charset="0"/>
            </a:endParaRPr>
          </a:p>
        </p:txBody>
      </p:sp>
      <p:sp>
        <p:nvSpPr>
          <p:cNvPr id="23567" name="Line 16"/>
          <p:cNvSpPr>
            <a:spLocks noChangeShapeType="1"/>
          </p:cNvSpPr>
          <p:nvPr/>
        </p:nvSpPr>
        <p:spPr bwMode="ltGray">
          <a:xfrm flipH="1" flipV="1">
            <a:off x="1600200" y="4953000"/>
            <a:ext cx="3429000" cy="685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8" name="Text Box 17"/>
          <p:cNvSpPr txBox="1">
            <a:spLocks noChangeArrowheads="1"/>
          </p:cNvSpPr>
          <p:nvPr/>
        </p:nvSpPr>
        <p:spPr bwMode="ltGray">
          <a:xfrm>
            <a:off x="3048000" y="6096000"/>
            <a:ext cx="609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CC0099"/>
                </a:solidFill>
                <a:latin typeface="Tahoma" panose="020B0604030504040204" pitchFamily="34" charset="0"/>
              </a:rPr>
              <a:t>保存临时数据：表达式计算中间结果</a:t>
            </a:r>
            <a:r>
              <a:rPr lang="en-US" altLang="zh-CN" sz="2400">
                <a:solidFill>
                  <a:srgbClr val="CC0099"/>
                </a:solidFill>
                <a:latin typeface="Tahoma" panose="020B0604030504040204" pitchFamily="34" charset="0"/>
              </a:rPr>
              <a:t>…</a:t>
            </a:r>
            <a:endParaRPr lang="en-US" altLang="zh-CN" sz="2400">
              <a:solidFill>
                <a:srgbClr val="CC0099"/>
              </a:solidFill>
              <a:latin typeface="Tahoma" panose="020B0604030504040204" pitchFamily="34" charset="0"/>
            </a:endParaRPr>
          </a:p>
        </p:txBody>
      </p:sp>
      <p:sp>
        <p:nvSpPr>
          <p:cNvPr id="23569" name="Line 18"/>
          <p:cNvSpPr>
            <a:spLocks noChangeShapeType="1"/>
          </p:cNvSpPr>
          <p:nvPr/>
        </p:nvSpPr>
        <p:spPr bwMode="ltGray">
          <a:xfrm flipH="1" flipV="1">
            <a:off x="1752600" y="5562600"/>
            <a:ext cx="1752600" cy="762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7.2.3  </a:t>
            </a:r>
            <a:r>
              <a:rPr lang="zh-CN" altLang="en-US"/>
              <a:t>局部数据布局</a:t>
            </a: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213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例</a:t>
            </a:r>
            <a:r>
              <a:rPr lang="en-US" altLang="zh-CN"/>
              <a:t>7.3</a:t>
            </a:r>
            <a:endParaRPr lang="en-US" altLang="zh-CN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类型</a:t>
            </a:r>
            <a:r>
              <a:rPr lang="zh-CN" altLang="en-US">
                <a:sym typeface="Wingdings" panose="05000000000000000000" pitchFamily="2" charset="2"/>
              </a:rPr>
              <a:t>占用空间</a:t>
            </a:r>
            <a:endParaRPr lang="zh-CN" altLang="en-US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ym typeface="Wingdings" panose="05000000000000000000" pitchFamily="2" charset="2"/>
              </a:rPr>
              <a:t>对齐（</a:t>
            </a:r>
            <a:r>
              <a:rPr lang="en-US" altLang="zh-CN">
                <a:solidFill>
                  <a:srgbClr val="FF3300"/>
                </a:solidFill>
                <a:sym typeface="Wingdings" panose="05000000000000000000" pitchFamily="2" charset="2"/>
              </a:rPr>
              <a:t>align</a:t>
            </a:r>
            <a:r>
              <a:rPr lang="zh-CN" altLang="en-US">
                <a:sym typeface="Wingdings" panose="05000000000000000000" pitchFamily="2" charset="2"/>
              </a:rPr>
              <a:t>），补丁（</a:t>
            </a:r>
            <a:r>
              <a:rPr lang="en-US" altLang="zh-CN">
                <a:solidFill>
                  <a:srgbClr val="FF3300"/>
                </a:solidFill>
                <a:sym typeface="Wingdings" panose="05000000000000000000" pitchFamily="2" charset="2"/>
              </a:rPr>
              <a:t>padding</a:t>
            </a:r>
            <a:r>
              <a:rPr lang="zh-CN" altLang="en-US">
                <a:sym typeface="Wingdings" panose="05000000000000000000" pitchFamily="2" charset="2"/>
              </a:rPr>
              <a:t>），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压缩（</a:t>
            </a:r>
            <a:r>
              <a:rPr lang="en-US" altLang="zh-CN">
                <a:solidFill>
                  <a:srgbClr val="FF3300"/>
                </a:solidFill>
                <a:sym typeface="Wingdings" panose="05000000000000000000" pitchFamily="2" charset="2"/>
              </a:rPr>
              <a:t>pack</a:t>
            </a:r>
            <a:r>
              <a:rPr lang="zh-CN" altLang="en-US">
                <a:sym typeface="Wingdings" panose="05000000000000000000" pitchFamily="2" charset="2"/>
              </a:rPr>
              <a:t>）</a:t>
            </a:r>
            <a:endParaRPr lang="zh-CN" altLang="en-US">
              <a:sym typeface="Wingdings" panose="05000000000000000000" pitchFamily="2" charset="2"/>
            </a:endParaRPr>
          </a:p>
        </p:txBody>
      </p:sp>
      <p:pic>
        <p:nvPicPr>
          <p:cNvPr id="24580" name="Picture 4" descr="alig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429000"/>
            <a:ext cx="4479925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7"/>
          <p:cNvSpPr>
            <a:spLocks noChangeArrowheads="1"/>
          </p:cNvSpPr>
          <p:nvPr/>
        </p:nvSpPr>
        <p:spPr bwMode="auto">
          <a:xfrm>
            <a:off x="1190625" y="4953000"/>
            <a:ext cx="7772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char a; short b;</a:t>
            </a:r>
            <a:endParaRPr lang="en-US" altLang="zh-CN"/>
          </a:p>
          <a:p>
            <a:pPr lvl="1" eaLnBrk="1" hangingPunct="1">
              <a:buClr>
                <a:srgbClr val="FF3300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机器</a:t>
            </a:r>
            <a:r>
              <a:rPr lang="en-US" altLang="zh-CN" sz="3200">
                <a:solidFill>
                  <a:schemeClr val="tx1"/>
                </a:solidFill>
                <a:sym typeface="Wingdings" panose="05000000000000000000" pitchFamily="2" charset="2"/>
              </a:rPr>
              <a:t>1</a:t>
            </a: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：</a:t>
            </a:r>
            <a:r>
              <a:rPr lang="en-US" altLang="zh-CN" sz="3200">
                <a:solidFill>
                  <a:schemeClr val="tx1"/>
                </a:solidFill>
                <a:sym typeface="Wingdings" panose="05000000000000000000" pitchFamily="2" charset="2"/>
              </a:rPr>
              <a:t>4</a:t>
            </a: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字节，</a:t>
            </a:r>
            <a:r>
              <a:rPr lang="en-US" altLang="zh-CN" sz="3200">
                <a:solidFill>
                  <a:schemeClr val="tx1"/>
                </a:solidFill>
                <a:sym typeface="Wingdings" panose="05000000000000000000" pitchFamily="2" charset="2"/>
              </a:rPr>
              <a:t>a</a:t>
            </a: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之后</a:t>
            </a:r>
            <a:r>
              <a:rPr lang="en-US" altLang="zh-CN" sz="3200">
                <a:solidFill>
                  <a:schemeClr val="tx1"/>
                </a:solidFill>
                <a:sym typeface="Wingdings" panose="05000000000000000000" pitchFamily="2" charset="2"/>
              </a:rPr>
              <a:t>1</a:t>
            </a: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字节补丁</a:t>
            </a:r>
            <a:endParaRPr lang="zh-CN" altLang="en-US" sz="320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vl="1" eaLnBrk="1" hangingPunct="1">
              <a:buClr>
                <a:srgbClr val="FF3300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机器</a:t>
            </a:r>
            <a:r>
              <a:rPr lang="en-US" altLang="zh-CN" sz="3200">
                <a:solidFill>
                  <a:schemeClr val="tx1"/>
                </a:solidFill>
                <a:sym typeface="Wingdings" panose="05000000000000000000" pitchFamily="2" charset="2"/>
              </a:rPr>
              <a:t>2</a:t>
            </a: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：</a:t>
            </a:r>
            <a:r>
              <a:rPr lang="en-US" altLang="zh-CN" sz="3200">
                <a:solidFill>
                  <a:schemeClr val="tx1"/>
                </a:solidFill>
                <a:sym typeface="Wingdings" panose="05000000000000000000" pitchFamily="2" charset="2"/>
              </a:rPr>
              <a:t>16</a:t>
            </a:r>
            <a:r>
              <a:rPr lang="zh-CN" altLang="en-US" sz="3200">
                <a:solidFill>
                  <a:schemeClr val="tx1"/>
                </a:solidFill>
                <a:sym typeface="Wingdings" panose="05000000000000000000" pitchFamily="2" charset="2"/>
              </a:rPr>
              <a:t>字节</a:t>
            </a:r>
            <a:endParaRPr lang="zh-CN" altLang="en-US" sz="320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7.3  </a:t>
            </a:r>
            <a:r>
              <a:rPr lang="zh-CN" altLang="en-US"/>
              <a:t>内存分配策略</a:t>
            </a:r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静态分配（</a:t>
            </a:r>
            <a:r>
              <a:rPr lang="en-US" altLang="zh-CN">
                <a:solidFill>
                  <a:srgbClr val="FF3300"/>
                </a:solidFill>
              </a:rPr>
              <a:t>static</a:t>
            </a:r>
            <a:r>
              <a:rPr lang="zh-CN" altLang="en-US"/>
              <a:t>）</a:t>
            </a:r>
            <a:endParaRPr lang="zh-CN" altLang="en-US"/>
          </a:p>
          <a:p>
            <a:pPr marL="990600" lvl="1" indent="-533400" eaLnBrk="1" hangingPunct="1"/>
            <a:r>
              <a:rPr lang="zh-CN" altLang="en-US"/>
              <a:t>在编译时（运行之前）确定所有数据的内存分布</a:t>
            </a:r>
            <a:endParaRPr lang="zh-CN" altLang="en-US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栈分配（</a:t>
            </a:r>
            <a:r>
              <a:rPr lang="en-US" altLang="zh-CN">
                <a:solidFill>
                  <a:srgbClr val="FF3300"/>
                </a:solidFill>
              </a:rPr>
              <a:t>stack</a:t>
            </a:r>
            <a:r>
              <a:rPr lang="zh-CN" altLang="en-US"/>
              <a:t>）</a:t>
            </a:r>
            <a:endParaRPr lang="zh-CN" altLang="en-US"/>
          </a:p>
          <a:p>
            <a:pPr marL="990600" lvl="1" indent="-533400" eaLnBrk="1" hangingPunct="1"/>
            <a:r>
              <a:rPr lang="zh-CN" altLang="en-US"/>
              <a:t>利用栈管理运行时存储</a:t>
            </a:r>
            <a:endParaRPr lang="zh-CN" altLang="en-US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堆分配（</a:t>
            </a:r>
            <a:r>
              <a:rPr lang="en-US" altLang="zh-CN">
                <a:solidFill>
                  <a:srgbClr val="FF3300"/>
                </a:solidFill>
              </a:rPr>
              <a:t>heap</a:t>
            </a:r>
            <a:r>
              <a:rPr lang="zh-CN" altLang="en-US"/>
              <a:t>）</a:t>
            </a:r>
            <a:endParaRPr lang="zh-CN" altLang="en-US"/>
          </a:p>
          <a:p>
            <a:pPr marL="990600" lvl="1" indent="-533400" eaLnBrk="1" hangingPunct="1"/>
            <a:r>
              <a:rPr lang="zh-CN" altLang="en-US"/>
              <a:t>允许用户在运行时动态地在堆之上分配、释放内存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7.3.1  </a:t>
            </a:r>
            <a:r>
              <a:rPr lang="zh-CN" altLang="en-US"/>
              <a:t>静态分配策略</a:t>
            </a:r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/>
              <a:t>局限性</a:t>
            </a:r>
            <a:endParaRPr lang="zh-CN" altLang="en-US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数据对象的大小和对其内存位置的限制，必须在编译时已知</a:t>
            </a:r>
            <a:endParaRPr lang="zh-CN" altLang="en-US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不允许递归</a:t>
            </a:r>
            <a:r>
              <a:rPr lang="zh-CN" altLang="en-US">
                <a:sym typeface="Wingdings" panose="05000000000000000000" pitchFamily="2" charset="2"/>
              </a:rPr>
              <a:t></a:t>
            </a:r>
            <a:br>
              <a:rPr lang="zh-CN" altLang="en-US"/>
            </a:br>
            <a:r>
              <a:rPr lang="zh-CN" altLang="en-US"/>
              <a:t>对过程的多次活动，局部名字都绑定到相同的存储位置</a:t>
            </a:r>
            <a:r>
              <a:rPr lang="en-US" altLang="zh-CN"/>
              <a:t>——</a:t>
            </a:r>
            <a:r>
              <a:rPr lang="zh-CN" altLang="en-US"/>
              <a:t>局部名字的值在多次调用间会得到保持（</a:t>
            </a:r>
            <a:r>
              <a:rPr lang="en-US" altLang="zh-CN">
                <a:solidFill>
                  <a:schemeClr val="hlink"/>
                </a:solidFill>
              </a:rPr>
              <a:t>retain</a:t>
            </a:r>
            <a:r>
              <a:rPr lang="zh-CN" altLang="en-US"/>
              <a:t>）</a:t>
            </a:r>
            <a:endParaRPr lang="zh-CN" altLang="en-US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不允许动态数据分配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7.4 Fortran</a:t>
            </a:r>
            <a:r>
              <a:rPr lang="zh-CN" altLang="en-US"/>
              <a:t>的静态分配</a:t>
            </a: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PROGRAM CNSUME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CHARACTER * 50 BUF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INTEGER NEXT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CHARACTER C, PRDUCE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DATA NEXT /1/,  BUF /‘ ’/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6		C = PRDUCE()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BUF(NEXT:NEXT) = C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NEXT = NEXT + 1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IF (C .NE. ‘ ’) GOTO 6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WRITE (*, ‘(A)’) BUF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END</a:t>
            </a:r>
            <a:endParaRPr lang="en-US" altLang="zh-CN" sz="2400" dirty="0"/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ltGray">
          <a:xfrm>
            <a:off x="0" y="22860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accent2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赋初值</a:t>
            </a:r>
            <a:endParaRPr lang="zh-CN" altLang="en-US" sz="2400">
              <a:solidFill>
                <a:schemeClr val="accent2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ltGray">
          <a:xfrm>
            <a:off x="914400" y="2667000"/>
            <a:ext cx="76200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7.4 Fortran</a:t>
            </a:r>
            <a:r>
              <a:rPr lang="zh-CN" altLang="en-US"/>
              <a:t>的静态分配（续）</a:t>
            </a:r>
            <a:endParaRPr lang="zh-CN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CHARACTER FUNCTION PRDUCE()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CHARACTER * 80 BUFFER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INTEGER NEXT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SAVE BUFFER, NEXT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DATA NEXT /81/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IF (NEXT .GT. 80) THEN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READ (*, ‘(A)’) BUFFER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NEXT = 1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END IF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PRDUCE = BUFFER(NEXT:NEXT)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NEXT = NEXT + 1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END</a:t>
            </a:r>
            <a:endParaRPr lang="en-US" altLang="zh-CN" sz="2400"/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ltGray">
          <a:xfrm>
            <a:off x="304800" y="21336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“</a:t>
            </a:r>
            <a:r>
              <a:rPr lang="zh-CN" altLang="en-US" sz="2400">
                <a:solidFill>
                  <a:schemeClr val="accent2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保持”</a:t>
            </a:r>
            <a:endParaRPr lang="zh-CN" altLang="en-US" sz="2400">
              <a:solidFill>
                <a:schemeClr val="accent2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8677" name="Line 5"/>
          <p:cNvSpPr>
            <a:spLocks noChangeShapeType="1"/>
          </p:cNvSpPr>
          <p:nvPr/>
        </p:nvSpPr>
        <p:spPr bwMode="ltGray">
          <a:xfrm>
            <a:off x="1312863" y="2514600"/>
            <a:ext cx="896937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7.4 Fortran</a:t>
            </a:r>
            <a:r>
              <a:rPr lang="zh-CN" altLang="en-US"/>
              <a:t>的静态分配（续）</a:t>
            </a:r>
            <a:endParaRPr lang="zh-CN" altLang="en-US"/>
          </a:p>
        </p:txBody>
      </p:sp>
      <p:pic>
        <p:nvPicPr>
          <p:cNvPr id="29699" name="Picture 7" descr="fortra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600200"/>
            <a:ext cx="6340475" cy="477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7.4 Fortran</a:t>
            </a:r>
            <a:r>
              <a:rPr lang="zh-CN" altLang="en-US"/>
              <a:t>的静态分配（续）</a:t>
            </a:r>
            <a:endParaRPr lang="zh-CN" alt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用户输入“</a:t>
            </a:r>
            <a:r>
              <a:rPr lang="en-US" altLang="zh-CN" sz="2800" dirty="0"/>
              <a:t>hello world</a:t>
            </a:r>
            <a:r>
              <a:rPr lang="zh-CN" altLang="en-US" sz="2800" dirty="0"/>
              <a:t>”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PRDUCE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常态：缓冲区字符</a:t>
            </a:r>
            <a:r>
              <a:rPr lang="zh-CN" altLang="en-US" sz="2400" dirty="0">
                <a:sym typeface="Wingdings" panose="05000000000000000000" pitchFamily="2" charset="2"/>
              </a:rPr>
              <a:t></a:t>
            </a:r>
            <a:r>
              <a:rPr lang="en-US" altLang="zh-CN" sz="2400" dirty="0"/>
              <a:t>CNSUME</a:t>
            </a:r>
            <a:r>
              <a:rPr lang="zh-CN" altLang="en-US" sz="2400" dirty="0"/>
              <a:t>，</a:t>
            </a:r>
            <a:r>
              <a:rPr lang="en-US" altLang="zh-CN" sz="2400" dirty="0"/>
              <a:t>NEXT</a:t>
            </a:r>
            <a:r>
              <a:rPr lang="zh-CN" altLang="en-US" sz="2400" dirty="0"/>
              <a:t>加</a:t>
            </a:r>
            <a:r>
              <a:rPr lang="en-US" altLang="zh-CN" sz="2400" dirty="0"/>
              <a:t>1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缓冲区用完（</a:t>
            </a:r>
            <a:r>
              <a:rPr lang="en-US" altLang="zh-CN" sz="2400" dirty="0"/>
              <a:t>NEXT&gt;80</a:t>
            </a:r>
            <a:r>
              <a:rPr lang="zh-CN" altLang="en-US" sz="2400" dirty="0"/>
              <a:t>），重新读取用户输入</a:t>
            </a:r>
            <a:endParaRPr lang="zh-CN" altLang="en-US" sz="2400" dirty="0"/>
          </a:p>
          <a:p>
            <a:pPr eaLnBrk="1" hangingPunct="1"/>
            <a:r>
              <a:rPr lang="zh-CN" altLang="en-US" sz="2800" dirty="0"/>
              <a:t>第一次调用：</a:t>
            </a:r>
            <a:r>
              <a:rPr lang="en-US" altLang="zh-CN" sz="2800" dirty="0"/>
              <a:t>NEXT=81</a:t>
            </a:r>
            <a:r>
              <a:rPr lang="zh-CN" altLang="en-US" sz="2800" dirty="0"/>
              <a:t>，用户输入</a:t>
            </a:r>
            <a:r>
              <a:rPr lang="zh-CN" altLang="en-US" sz="2800" dirty="0">
                <a:sym typeface="Wingdings" panose="05000000000000000000" pitchFamily="2" charset="2"/>
              </a:rPr>
              <a:t></a:t>
            </a:r>
            <a:r>
              <a:rPr lang="en-US" altLang="zh-CN" sz="2800" dirty="0"/>
              <a:t>BUFFER</a:t>
            </a:r>
            <a:r>
              <a:rPr lang="zh-CN" altLang="en-US" sz="2800" dirty="0"/>
              <a:t>，</a:t>
            </a:r>
            <a:r>
              <a:rPr lang="en-US" altLang="zh-CN" sz="2800" dirty="0"/>
              <a:t>NEXT</a:t>
            </a:r>
            <a:r>
              <a:rPr lang="en-US" altLang="zh-CN" sz="2800" dirty="0">
                <a:sym typeface="Wingdings" panose="05000000000000000000" pitchFamily="2" charset="2"/>
              </a:rPr>
              <a:t>1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zh-CN" altLang="en-US" sz="2800" dirty="0"/>
              <a:t>‘</a:t>
            </a:r>
            <a:r>
              <a:rPr lang="en-US" altLang="zh-CN" sz="2800" dirty="0"/>
              <a:t>h</a:t>
            </a:r>
            <a:r>
              <a:rPr lang="zh-CN" altLang="en-US" sz="2800" dirty="0"/>
              <a:t>’</a:t>
            </a:r>
            <a:r>
              <a:rPr lang="en-US" altLang="zh-CN" sz="2800" dirty="0">
                <a:sym typeface="Wingdings" panose="05000000000000000000" pitchFamily="2" charset="2"/>
              </a:rPr>
              <a:t></a:t>
            </a:r>
            <a:r>
              <a:rPr lang="en-US" altLang="zh-CN" sz="2800" dirty="0"/>
              <a:t>CNSUME</a:t>
            </a:r>
            <a:r>
              <a:rPr lang="zh-CN" altLang="en-US" sz="2800" dirty="0"/>
              <a:t>，</a:t>
            </a:r>
            <a:r>
              <a:rPr lang="en-US" altLang="zh-CN" sz="2800" dirty="0"/>
              <a:t>NEXT</a:t>
            </a:r>
            <a:r>
              <a:rPr lang="zh-CN" altLang="en-US" sz="2800" dirty="0"/>
              <a:t>加</a:t>
            </a:r>
            <a:r>
              <a:rPr lang="en-US" altLang="zh-CN" sz="2800" dirty="0"/>
              <a:t>1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第二次，</a:t>
            </a:r>
            <a:r>
              <a:rPr lang="en-US" altLang="zh-CN" sz="2800" dirty="0">
                <a:solidFill>
                  <a:schemeClr val="hlink"/>
                </a:solidFill>
              </a:rPr>
              <a:t>BUFFER</a:t>
            </a:r>
            <a:r>
              <a:rPr lang="zh-CN" altLang="en-US" sz="2800" dirty="0">
                <a:solidFill>
                  <a:schemeClr val="hlink"/>
                </a:solidFill>
              </a:rPr>
              <a:t>未变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chemeClr val="hlink"/>
                </a:solidFill>
              </a:rPr>
              <a:t>NEXT</a:t>
            </a:r>
            <a:r>
              <a:rPr lang="zh-CN" altLang="en-US" sz="2800" dirty="0">
                <a:solidFill>
                  <a:schemeClr val="hlink"/>
                </a:solidFill>
              </a:rPr>
              <a:t>未变</a:t>
            </a:r>
            <a:r>
              <a:rPr lang="en-US" altLang="zh-CN" sz="2800" dirty="0">
                <a:solidFill>
                  <a:schemeClr val="hlink"/>
                </a:solidFill>
              </a:rPr>
              <a:t>=2</a:t>
            </a:r>
            <a:r>
              <a:rPr lang="zh-CN" altLang="en-US" sz="2800" dirty="0"/>
              <a:t>，‘</a:t>
            </a:r>
            <a:r>
              <a:rPr lang="en-US" altLang="zh-CN" sz="2800" dirty="0"/>
              <a:t>e</a:t>
            </a:r>
            <a:r>
              <a:rPr lang="zh-CN" altLang="en-US" sz="2800" dirty="0"/>
              <a:t> ’ </a:t>
            </a:r>
            <a:r>
              <a:rPr lang="en-US" altLang="zh-CN" sz="2800" dirty="0">
                <a:sym typeface="Wingdings" panose="05000000000000000000" pitchFamily="2" charset="2"/>
              </a:rPr>
              <a:t>CNSUME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ym typeface="Wingdings" panose="05000000000000000000" pitchFamily="2" charset="2"/>
              </a:rPr>
              <a:t>NEXT</a:t>
            </a:r>
            <a:r>
              <a:rPr lang="zh-CN" altLang="en-US" sz="2800" dirty="0">
                <a:sym typeface="Wingdings" panose="05000000000000000000" pitchFamily="2" charset="2"/>
              </a:rPr>
              <a:t>加</a:t>
            </a:r>
            <a:r>
              <a:rPr lang="en-US" altLang="zh-CN" sz="2800" dirty="0">
                <a:sym typeface="Wingdings" panose="05000000000000000000" pitchFamily="2" charset="2"/>
              </a:rPr>
              <a:t>1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eaLnBrk="1" hangingPunct="1"/>
            <a:r>
              <a:rPr lang="en-US" altLang="zh-CN" sz="2800" dirty="0">
                <a:sym typeface="Wingdings" panose="05000000000000000000" pitchFamily="2" charset="2"/>
              </a:rPr>
              <a:t>…</a:t>
            </a:r>
            <a:endParaRPr lang="en-US" altLang="zh-CN" sz="2800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7.3.2  </a:t>
            </a:r>
            <a:r>
              <a:rPr lang="zh-CN" altLang="en-US"/>
              <a:t>栈分配策略</a:t>
            </a:r>
            <a:endParaRPr lang="zh-CN" alt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过程调用</a:t>
            </a:r>
            <a:r>
              <a:rPr lang="en-US" altLang="zh-CN"/>
              <a:t>——push </a:t>
            </a:r>
            <a:r>
              <a:rPr lang="zh-CN" altLang="en-US"/>
              <a:t>活动记录</a:t>
            </a:r>
            <a:endParaRPr lang="zh-CN" altLang="en-US"/>
          </a:p>
          <a:p>
            <a:pPr eaLnBrk="1" hangingPunct="1"/>
            <a:r>
              <a:rPr lang="zh-CN" altLang="en-US"/>
              <a:t>过程返回</a:t>
            </a:r>
            <a:r>
              <a:rPr lang="en-US" altLang="zh-CN"/>
              <a:t>——pop </a:t>
            </a:r>
            <a:r>
              <a:rPr lang="zh-CN" altLang="en-US"/>
              <a:t>活动记录</a:t>
            </a:r>
            <a:endParaRPr lang="zh-CN" altLang="en-US"/>
          </a:p>
          <a:p>
            <a:pPr eaLnBrk="1" hangingPunct="1"/>
            <a:r>
              <a:rPr lang="zh-CN" altLang="en-US"/>
              <a:t>每次过程活动，局部名字都绑定到新的位置</a:t>
            </a:r>
            <a:endParaRPr lang="zh-CN" altLang="en-US"/>
          </a:p>
          <a:p>
            <a:pPr eaLnBrk="1" hangingPunct="1"/>
            <a:r>
              <a:rPr lang="zh-CN" altLang="en-US"/>
              <a:t>过程结束，局部名字空间被释放</a:t>
            </a:r>
            <a:r>
              <a:rPr lang="en-US" altLang="zh-CN"/>
              <a:t>——</a:t>
            </a:r>
            <a:r>
              <a:rPr lang="zh-CN" altLang="en-US"/>
              <a:t>值丢失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7.5  </a:t>
            </a:r>
            <a:r>
              <a:rPr lang="zh-CN" altLang="en-US"/>
              <a:t>快速排序执行过程</a:t>
            </a:r>
            <a:endParaRPr lang="zh-CN" altLang="en-US"/>
          </a:p>
        </p:txBody>
      </p:sp>
      <p:pic>
        <p:nvPicPr>
          <p:cNvPr id="32771" name="Picture 5" descr="stack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295400"/>
            <a:ext cx="5805488" cy="456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调用序列（</a:t>
            </a:r>
            <a:r>
              <a:rPr lang="en-US" altLang="zh-CN">
                <a:solidFill>
                  <a:srgbClr val="FF3300"/>
                </a:solidFill>
              </a:rPr>
              <a:t>calling sequence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创建活动记录，填写相关信息的代码</a:t>
            </a:r>
            <a:endParaRPr lang="zh-CN" altLang="en-US"/>
          </a:p>
          <a:p>
            <a:pPr eaLnBrk="1" hangingPunct="1"/>
            <a:r>
              <a:rPr lang="zh-CN" altLang="en-US"/>
              <a:t>返回序列，</a:t>
            </a:r>
            <a:r>
              <a:rPr lang="en-US" altLang="zh-CN">
                <a:solidFill>
                  <a:srgbClr val="FF3300"/>
                </a:solidFill>
              </a:rPr>
              <a:t>return sequence</a:t>
            </a:r>
            <a:endParaRPr lang="en-US" altLang="zh-CN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/>
              <a:t>划分到调用函数和被调用函数两部分</a:t>
            </a:r>
            <a:endParaRPr lang="zh-CN" altLang="en-US"/>
          </a:p>
          <a:p>
            <a:pPr eaLnBrk="1" hangingPunct="1"/>
            <a:r>
              <a:rPr lang="zh-CN" altLang="en-US"/>
              <a:t>较早确定大小的信息放在活动记录中部</a:t>
            </a:r>
            <a:endParaRPr lang="zh-CN" altLang="en-US"/>
          </a:p>
          <a:p>
            <a:pPr lvl="1" eaLnBrk="1" hangingPunct="1"/>
            <a:r>
              <a:rPr lang="zh-CN" altLang="en-US"/>
              <a:t>控制链接、访问链接、机器状态信息</a:t>
            </a:r>
            <a:endParaRPr lang="zh-CN" altLang="en-US"/>
          </a:p>
          <a:p>
            <a:pPr lvl="1" eaLnBrk="1" hangingPunct="1"/>
            <a:r>
              <a:rPr lang="zh-CN" altLang="en-US"/>
              <a:t>临时单元</a:t>
            </a:r>
            <a:endParaRPr lang="zh-CN" altLang="en-US"/>
          </a:p>
          <a:p>
            <a:pPr lvl="1" eaLnBrk="1" hangingPunct="1"/>
            <a:r>
              <a:rPr lang="zh-CN" altLang="en-US"/>
              <a:t>实际参数、返回值</a:t>
            </a:r>
            <a:endParaRPr lang="zh-CN" altLang="en-US"/>
          </a:p>
          <a:p>
            <a:pPr lvl="1" eaLnBrk="1" hangingPunct="1"/>
            <a:r>
              <a:rPr lang="zh-CN" altLang="en-US"/>
              <a:t>局部数据，</a:t>
            </a:r>
            <a:r>
              <a:rPr lang="en-US" altLang="zh-CN"/>
              <a:t>Pascal</a:t>
            </a:r>
            <a:r>
              <a:rPr lang="zh-CN" altLang="en-US"/>
              <a:t>局部数组</a:t>
            </a:r>
            <a:endParaRPr lang="zh-CN" altLang="en-US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ltGray">
          <a:xfrm>
            <a:off x="669925" y="3886200"/>
            <a:ext cx="54927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大小确定</a:t>
            </a:r>
            <a:endParaRPr lang="zh-CN" altLang="en-US" sz="24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3797" name="Text Box 6"/>
          <p:cNvSpPr txBox="1">
            <a:spLocks noChangeArrowheads="1"/>
          </p:cNvSpPr>
          <p:nvPr/>
        </p:nvSpPr>
        <p:spPr bwMode="ltGray">
          <a:xfrm>
            <a:off x="1050925" y="3886200"/>
            <a:ext cx="54927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</a:rPr>
              <a:t>早</a:t>
            </a:r>
            <a:r>
              <a:rPr lang="zh-CN" altLang="en-US" sz="2400">
                <a:solidFill>
                  <a:schemeClr val="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晚</a:t>
            </a:r>
            <a:endParaRPr lang="zh-CN" altLang="en-US" sz="24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调用序列（续）</a:t>
            </a: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/>
              <a:t>调用者计算实际参数</a:t>
            </a:r>
            <a:endParaRPr lang="zh-CN" altLang="en-US" sz="2800" dirty="0"/>
          </a:p>
        </p:txBody>
      </p:sp>
      <p:grpSp>
        <p:nvGrpSpPr>
          <p:cNvPr id="4" name="Group 11"/>
          <p:cNvGrpSpPr/>
          <p:nvPr/>
        </p:nvGrpSpPr>
        <p:grpSpPr bwMode="auto">
          <a:xfrm>
            <a:off x="1943100" y="1988840"/>
            <a:ext cx="5257800" cy="4654550"/>
            <a:chOff x="1152" y="940"/>
            <a:chExt cx="3695" cy="3188"/>
          </a:xfrm>
        </p:grpSpPr>
        <p:pic>
          <p:nvPicPr>
            <p:cNvPr id="5" name="Picture 10" descr="callseq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940"/>
              <a:ext cx="3695" cy="3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reeform 5"/>
            <p:cNvSpPr/>
            <p:nvPr/>
          </p:nvSpPr>
          <p:spPr bwMode="ltGray">
            <a:xfrm>
              <a:off x="1427" y="2208"/>
              <a:ext cx="948" cy="1170"/>
            </a:xfrm>
            <a:custGeom>
              <a:avLst/>
              <a:gdLst>
                <a:gd name="T0" fmla="*/ 948 w 948"/>
                <a:gd name="T1" fmla="*/ 1018 h 1170"/>
                <a:gd name="T2" fmla="*/ 146 w 948"/>
                <a:gd name="T3" fmla="*/ 1028 h 1170"/>
                <a:gd name="T4" fmla="*/ 75 w 948"/>
                <a:gd name="T5" fmla="*/ 168 h 1170"/>
                <a:gd name="T6" fmla="*/ 520 w 948"/>
                <a:gd name="T7" fmla="*/ 19 h 11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8"/>
                <a:gd name="T13" fmla="*/ 0 h 1170"/>
                <a:gd name="T14" fmla="*/ 948 w 948"/>
                <a:gd name="T15" fmla="*/ 1170 h 11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8" h="1170">
                  <a:moveTo>
                    <a:pt x="948" y="1018"/>
                  </a:moveTo>
                  <a:cubicBezTo>
                    <a:pt x="816" y="1020"/>
                    <a:pt x="292" y="1170"/>
                    <a:pt x="146" y="1028"/>
                  </a:cubicBezTo>
                  <a:cubicBezTo>
                    <a:pt x="0" y="886"/>
                    <a:pt x="13" y="336"/>
                    <a:pt x="75" y="168"/>
                  </a:cubicBezTo>
                  <a:cubicBezTo>
                    <a:pt x="137" y="0"/>
                    <a:pt x="427" y="50"/>
                    <a:pt x="520" y="19"/>
                  </a:cubicBezTo>
                </a:path>
              </a:pathLst>
            </a:custGeom>
            <a:noFill/>
            <a:ln w="25400" cap="flat" cmpd="sng">
              <a:solidFill>
                <a:schemeClr val="tx2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7"/>
            <p:cNvSpPr/>
            <p:nvPr/>
          </p:nvSpPr>
          <p:spPr bwMode="ltGray">
            <a:xfrm>
              <a:off x="1425" y="960"/>
              <a:ext cx="975" cy="965"/>
            </a:xfrm>
            <a:custGeom>
              <a:avLst/>
              <a:gdLst>
                <a:gd name="T0" fmla="*/ 975 w 975"/>
                <a:gd name="T1" fmla="*/ 864 h 965"/>
                <a:gd name="T2" fmla="*/ 152 w 975"/>
                <a:gd name="T3" fmla="*/ 821 h 965"/>
                <a:gd name="T4" fmla="*/ 63 w 975"/>
                <a:gd name="T5" fmla="*/ 0 h 965"/>
                <a:gd name="T6" fmla="*/ 0 60000 65536"/>
                <a:gd name="T7" fmla="*/ 0 60000 65536"/>
                <a:gd name="T8" fmla="*/ 0 60000 65536"/>
                <a:gd name="T9" fmla="*/ 0 w 975"/>
                <a:gd name="T10" fmla="*/ 0 h 965"/>
                <a:gd name="T11" fmla="*/ 975 w 975"/>
                <a:gd name="T12" fmla="*/ 965 h 9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5" h="965">
                  <a:moveTo>
                    <a:pt x="975" y="864"/>
                  </a:moveTo>
                  <a:cubicBezTo>
                    <a:pt x="838" y="857"/>
                    <a:pt x="304" y="965"/>
                    <a:pt x="152" y="821"/>
                  </a:cubicBezTo>
                  <a:cubicBezTo>
                    <a:pt x="0" y="677"/>
                    <a:pt x="82" y="171"/>
                    <a:pt x="63" y="0"/>
                  </a:cubicBezTo>
                </a:path>
              </a:pathLst>
            </a:custGeom>
            <a:noFill/>
            <a:ln w="25400" cap="flat" cmpd="sng">
              <a:solidFill>
                <a:schemeClr val="hlink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调用序列（续）</a:t>
            </a: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288" y="1371600"/>
            <a:ext cx="8848800" cy="4724400"/>
          </a:xfrm>
        </p:spPr>
        <p:txBody>
          <a:bodyPr/>
          <a:lstStyle/>
          <a:p>
            <a:pPr marL="609600" indent="-609600" eaLnBrk="1" hangingPunct="1">
              <a:buFont typeface="+mj-lt"/>
              <a:buAutoNum type="arabicPeriod" startAt="2"/>
            </a:pPr>
            <a:r>
              <a:rPr lang="zh-CN" altLang="en-US" sz="2800" dirty="0"/>
              <a:t>调用者存储</a:t>
            </a:r>
            <a:r>
              <a:rPr lang="zh-CN" altLang="en-US" sz="2800" dirty="0">
                <a:solidFill>
                  <a:schemeClr val="folHlink"/>
                </a:solidFill>
                <a:ea typeface="黑体" panose="02010609060101010101" pitchFamily="49" charset="-122"/>
              </a:rPr>
              <a:t>返回地址</a:t>
            </a:r>
            <a:r>
              <a:rPr lang="zh-CN" altLang="en-US" sz="2800" dirty="0"/>
              <a:t>（被调用函数返回后继续运行的代码位置）和</a:t>
            </a:r>
            <a:r>
              <a:rPr lang="en-US" altLang="zh-CN" sz="2800" dirty="0" err="1">
                <a:solidFill>
                  <a:schemeClr val="folHlink"/>
                </a:solidFill>
                <a:ea typeface="黑体" panose="02010609060101010101" pitchFamily="49" charset="-122"/>
              </a:rPr>
              <a:t>top_sp</a:t>
            </a:r>
            <a:r>
              <a:rPr lang="zh-CN" altLang="en-US" sz="2800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旧值</a:t>
            </a:r>
            <a:r>
              <a:rPr lang="zh-CN" altLang="en-US" sz="2800" dirty="0"/>
              <a:t>，然后将</a:t>
            </a:r>
            <a:r>
              <a:rPr lang="en-US" altLang="zh-CN" sz="2800" dirty="0" err="1">
                <a:solidFill>
                  <a:schemeClr val="folHlink"/>
                </a:solidFill>
              </a:rPr>
              <a:t>top_sp</a:t>
            </a:r>
            <a:r>
              <a:rPr lang="zh-CN" altLang="en-US" sz="2800" dirty="0"/>
              <a:t>调整到下图位置</a:t>
            </a:r>
            <a:r>
              <a:rPr lang="en-US" altLang="zh-CN" sz="2800" dirty="0"/>
              <a:t>——</a:t>
            </a:r>
            <a:r>
              <a:rPr lang="zh-CN" altLang="en-US" sz="2800" dirty="0"/>
              <a:t>要跨过</a:t>
            </a:r>
            <a:br>
              <a:rPr lang="en-US" altLang="zh-CN" sz="2800" dirty="0"/>
            </a:br>
            <a:r>
              <a:rPr lang="zh-CN" altLang="en-US" sz="2800" dirty="0"/>
              <a:t>调用者的</a:t>
            </a:r>
            <a:r>
              <a:rPr lang="zh-CN" altLang="en-US" sz="2800" dirty="0">
                <a:solidFill>
                  <a:srgbClr val="FF3300"/>
                </a:solidFill>
                <a:ea typeface="黑体" panose="02010609060101010101" pitchFamily="49" charset="-122"/>
              </a:rPr>
              <a:t>局部数据</a:t>
            </a:r>
            <a:r>
              <a:rPr lang="zh-CN" altLang="en-US" sz="2800" dirty="0"/>
              <a:t>和</a:t>
            </a:r>
            <a:br>
              <a:rPr lang="en-US" altLang="zh-CN" sz="2800" dirty="0"/>
            </a:br>
            <a:r>
              <a:rPr lang="zh-CN" altLang="en-US" sz="2800" dirty="0">
                <a:solidFill>
                  <a:srgbClr val="FF3300"/>
                </a:solidFill>
                <a:ea typeface="黑体" panose="02010609060101010101" pitchFamily="49" charset="-122"/>
              </a:rPr>
              <a:t>临时单元</a:t>
            </a:r>
            <a:r>
              <a:rPr lang="zh-CN" altLang="en-US" sz="2800" dirty="0"/>
              <a:t>以及</a:t>
            </a:r>
            <a:br>
              <a:rPr lang="en-US" altLang="zh-CN" sz="2800" dirty="0"/>
            </a:br>
            <a:r>
              <a:rPr lang="zh-CN" altLang="en-US" sz="2800" dirty="0"/>
              <a:t>被调用者的</a:t>
            </a:r>
            <a:r>
              <a:rPr lang="zh-CN" altLang="en-US" sz="2800" dirty="0">
                <a:solidFill>
                  <a:srgbClr val="FF3300"/>
                </a:solidFill>
                <a:ea typeface="黑体" panose="02010609060101010101" pitchFamily="49" charset="-122"/>
              </a:rPr>
              <a:t>实际参数</a:t>
            </a:r>
            <a:br>
              <a:rPr lang="en-US" altLang="zh-CN" sz="2800" dirty="0">
                <a:solidFill>
                  <a:srgbClr val="FF3300"/>
                </a:solidFill>
                <a:ea typeface="黑体" panose="02010609060101010101" pitchFamily="49" charset="-122"/>
              </a:rPr>
            </a:b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rgbClr val="FF3300"/>
                </a:solidFill>
                <a:ea typeface="黑体" panose="02010609060101010101" pitchFamily="49" charset="-122"/>
              </a:rPr>
              <a:t>状态区</a:t>
            </a:r>
            <a:endParaRPr lang="zh-CN" altLang="en-US" sz="2800" dirty="0">
              <a:solidFill>
                <a:srgbClr val="FF33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Group 11"/>
          <p:cNvGrpSpPr>
            <a:grpSpLocks noChangeAspect="1"/>
          </p:cNvGrpSpPr>
          <p:nvPr/>
        </p:nvGrpSpPr>
        <p:grpSpPr bwMode="auto">
          <a:xfrm>
            <a:off x="3995936" y="2420888"/>
            <a:ext cx="4732020" cy="4189095"/>
            <a:chOff x="1152" y="940"/>
            <a:chExt cx="3695" cy="3188"/>
          </a:xfrm>
        </p:grpSpPr>
        <p:pic>
          <p:nvPicPr>
            <p:cNvPr id="5" name="Picture 10" descr="callseq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940"/>
              <a:ext cx="3695" cy="3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reeform 5"/>
            <p:cNvSpPr/>
            <p:nvPr/>
          </p:nvSpPr>
          <p:spPr bwMode="ltGray">
            <a:xfrm>
              <a:off x="1427" y="2208"/>
              <a:ext cx="948" cy="1170"/>
            </a:xfrm>
            <a:custGeom>
              <a:avLst/>
              <a:gdLst>
                <a:gd name="T0" fmla="*/ 948 w 948"/>
                <a:gd name="T1" fmla="*/ 1018 h 1170"/>
                <a:gd name="T2" fmla="*/ 146 w 948"/>
                <a:gd name="T3" fmla="*/ 1028 h 1170"/>
                <a:gd name="T4" fmla="*/ 75 w 948"/>
                <a:gd name="T5" fmla="*/ 168 h 1170"/>
                <a:gd name="T6" fmla="*/ 520 w 948"/>
                <a:gd name="T7" fmla="*/ 19 h 11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8"/>
                <a:gd name="T13" fmla="*/ 0 h 1170"/>
                <a:gd name="T14" fmla="*/ 948 w 948"/>
                <a:gd name="T15" fmla="*/ 1170 h 11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8" h="1170">
                  <a:moveTo>
                    <a:pt x="948" y="1018"/>
                  </a:moveTo>
                  <a:cubicBezTo>
                    <a:pt x="816" y="1020"/>
                    <a:pt x="292" y="1170"/>
                    <a:pt x="146" y="1028"/>
                  </a:cubicBezTo>
                  <a:cubicBezTo>
                    <a:pt x="0" y="886"/>
                    <a:pt x="13" y="336"/>
                    <a:pt x="75" y="168"/>
                  </a:cubicBezTo>
                  <a:cubicBezTo>
                    <a:pt x="137" y="0"/>
                    <a:pt x="427" y="50"/>
                    <a:pt x="520" y="19"/>
                  </a:cubicBezTo>
                </a:path>
              </a:pathLst>
            </a:custGeom>
            <a:noFill/>
            <a:ln w="25400" cap="flat" cmpd="sng">
              <a:solidFill>
                <a:schemeClr val="tx2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7"/>
            <p:cNvSpPr/>
            <p:nvPr/>
          </p:nvSpPr>
          <p:spPr bwMode="ltGray">
            <a:xfrm>
              <a:off x="1425" y="960"/>
              <a:ext cx="975" cy="965"/>
            </a:xfrm>
            <a:custGeom>
              <a:avLst/>
              <a:gdLst>
                <a:gd name="T0" fmla="*/ 975 w 975"/>
                <a:gd name="T1" fmla="*/ 864 h 965"/>
                <a:gd name="T2" fmla="*/ 152 w 975"/>
                <a:gd name="T3" fmla="*/ 821 h 965"/>
                <a:gd name="T4" fmla="*/ 63 w 975"/>
                <a:gd name="T5" fmla="*/ 0 h 965"/>
                <a:gd name="T6" fmla="*/ 0 60000 65536"/>
                <a:gd name="T7" fmla="*/ 0 60000 65536"/>
                <a:gd name="T8" fmla="*/ 0 60000 65536"/>
                <a:gd name="T9" fmla="*/ 0 w 975"/>
                <a:gd name="T10" fmla="*/ 0 h 965"/>
                <a:gd name="T11" fmla="*/ 975 w 975"/>
                <a:gd name="T12" fmla="*/ 965 h 9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5" h="965">
                  <a:moveTo>
                    <a:pt x="975" y="864"/>
                  </a:moveTo>
                  <a:cubicBezTo>
                    <a:pt x="838" y="857"/>
                    <a:pt x="304" y="965"/>
                    <a:pt x="152" y="821"/>
                  </a:cubicBezTo>
                  <a:cubicBezTo>
                    <a:pt x="0" y="677"/>
                    <a:pt x="82" y="171"/>
                    <a:pt x="63" y="0"/>
                  </a:cubicBezTo>
                </a:path>
              </a:pathLst>
            </a:custGeom>
            <a:noFill/>
            <a:ln w="25400" cap="flat" cmpd="sng">
              <a:solidFill>
                <a:schemeClr val="hlink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调用序列（续）</a:t>
            </a: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+mj-lt"/>
              <a:buAutoNum type="arabicPeriod" startAt="3"/>
            </a:pPr>
            <a:r>
              <a:rPr lang="zh-CN" altLang="en-US" sz="2800" dirty="0"/>
              <a:t>被调用者保存</a:t>
            </a:r>
            <a:r>
              <a:rPr lang="zh-CN" altLang="en-US" sz="2800" dirty="0">
                <a:solidFill>
                  <a:schemeClr val="folHlink"/>
                </a:solidFill>
                <a:ea typeface="黑体" panose="02010609060101010101" pitchFamily="49" charset="-122"/>
              </a:rPr>
              <a:t>寄存器值</a:t>
            </a:r>
            <a:r>
              <a:rPr lang="zh-CN" altLang="en-US" sz="2800" dirty="0"/>
              <a:t>和其他</a:t>
            </a:r>
            <a:r>
              <a:rPr lang="zh-CN" altLang="en-US" sz="2800" dirty="0">
                <a:solidFill>
                  <a:schemeClr val="folHlink"/>
                </a:solidFill>
                <a:ea typeface="黑体" panose="02010609060101010101" pitchFamily="49" charset="-122"/>
              </a:rPr>
              <a:t>状态信息</a:t>
            </a:r>
            <a:endParaRPr lang="zh-CN" altLang="en-US" sz="2800" dirty="0">
              <a:solidFill>
                <a:schemeClr val="folHlink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Group 11"/>
          <p:cNvGrpSpPr/>
          <p:nvPr/>
        </p:nvGrpSpPr>
        <p:grpSpPr bwMode="auto">
          <a:xfrm>
            <a:off x="1943100" y="2060848"/>
            <a:ext cx="5257800" cy="4654550"/>
            <a:chOff x="1152" y="940"/>
            <a:chExt cx="3695" cy="3188"/>
          </a:xfrm>
        </p:grpSpPr>
        <p:pic>
          <p:nvPicPr>
            <p:cNvPr id="5" name="Picture 10" descr="callseq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940"/>
              <a:ext cx="3695" cy="3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reeform 5"/>
            <p:cNvSpPr/>
            <p:nvPr/>
          </p:nvSpPr>
          <p:spPr bwMode="ltGray">
            <a:xfrm>
              <a:off x="1427" y="2208"/>
              <a:ext cx="948" cy="1170"/>
            </a:xfrm>
            <a:custGeom>
              <a:avLst/>
              <a:gdLst>
                <a:gd name="T0" fmla="*/ 948 w 948"/>
                <a:gd name="T1" fmla="*/ 1018 h 1170"/>
                <a:gd name="T2" fmla="*/ 146 w 948"/>
                <a:gd name="T3" fmla="*/ 1028 h 1170"/>
                <a:gd name="T4" fmla="*/ 75 w 948"/>
                <a:gd name="T5" fmla="*/ 168 h 1170"/>
                <a:gd name="T6" fmla="*/ 520 w 948"/>
                <a:gd name="T7" fmla="*/ 19 h 11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8"/>
                <a:gd name="T13" fmla="*/ 0 h 1170"/>
                <a:gd name="T14" fmla="*/ 948 w 948"/>
                <a:gd name="T15" fmla="*/ 1170 h 11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8" h="1170">
                  <a:moveTo>
                    <a:pt x="948" y="1018"/>
                  </a:moveTo>
                  <a:cubicBezTo>
                    <a:pt x="816" y="1020"/>
                    <a:pt x="292" y="1170"/>
                    <a:pt x="146" y="1028"/>
                  </a:cubicBezTo>
                  <a:cubicBezTo>
                    <a:pt x="0" y="886"/>
                    <a:pt x="13" y="336"/>
                    <a:pt x="75" y="168"/>
                  </a:cubicBezTo>
                  <a:cubicBezTo>
                    <a:pt x="137" y="0"/>
                    <a:pt x="427" y="50"/>
                    <a:pt x="520" y="19"/>
                  </a:cubicBezTo>
                </a:path>
              </a:pathLst>
            </a:custGeom>
            <a:noFill/>
            <a:ln w="25400" cap="flat" cmpd="sng">
              <a:solidFill>
                <a:schemeClr val="tx2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7"/>
            <p:cNvSpPr/>
            <p:nvPr/>
          </p:nvSpPr>
          <p:spPr bwMode="ltGray">
            <a:xfrm>
              <a:off x="1425" y="960"/>
              <a:ext cx="975" cy="965"/>
            </a:xfrm>
            <a:custGeom>
              <a:avLst/>
              <a:gdLst>
                <a:gd name="T0" fmla="*/ 975 w 975"/>
                <a:gd name="T1" fmla="*/ 864 h 965"/>
                <a:gd name="T2" fmla="*/ 152 w 975"/>
                <a:gd name="T3" fmla="*/ 821 h 965"/>
                <a:gd name="T4" fmla="*/ 63 w 975"/>
                <a:gd name="T5" fmla="*/ 0 h 965"/>
                <a:gd name="T6" fmla="*/ 0 60000 65536"/>
                <a:gd name="T7" fmla="*/ 0 60000 65536"/>
                <a:gd name="T8" fmla="*/ 0 60000 65536"/>
                <a:gd name="T9" fmla="*/ 0 w 975"/>
                <a:gd name="T10" fmla="*/ 0 h 965"/>
                <a:gd name="T11" fmla="*/ 975 w 975"/>
                <a:gd name="T12" fmla="*/ 965 h 9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5" h="965">
                  <a:moveTo>
                    <a:pt x="975" y="864"/>
                  </a:moveTo>
                  <a:cubicBezTo>
                    <a:pt x="838" y="857"/>
                    <a:pt x="304" y="965"/>
                    <a:pt x="152" y="821"/>
                  </a:cubicBezTo>
                  <a:cubicBezTo>
                    <a:pt x="0" y="677"/>
                    <a:pt x="82" y="171"/>
                    <a:pt x="63" y="0"/>
                  </a:cubicBezTo>
                </a:path>
              </a:pathLst>
            </a:custGeom>
            <a:noFill/>
            <a:ln w="25400" cap="flat" cmpd="sng">
              <a:solidFill>
                <a:schemeClr val="hlink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调用序列（续）</a:t>
            </a: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+mj-lt"/>
              <a:buAutoNum type="arabicPeriod" startAt="4"/>
            </a:pPr>
            <a:r>
              <a:rPr lang="zh-CN" altLang="en-US" sz="2800" dirty="0"/>
              <a:t>被调用者初始化</a:t>
            </a:r>
            <a:r>
              <a:rPr lang="zh-CN" altLang="en-US" sz="2800" dirty="0">
                <a:solidFill>
                  <a:schemeClr val="folHlink"/>
                </a:solidFill>
                <a:ea typeface="黑体" panose="02010609060101010101" pitchFamily="49" charset="-122"/>
              </a:rPr>
              <a:t>局部数据</a:t>
            </a:r>
            <a:r>
              <a:rPr lang="zh-CN" altLang="en-US" sz="2800" dirty="0"/>
              <a:t>，开始运行</a:t>
            </a:r>
            <a:endParaRPr lang="zh-CN" altLang="en-US" sz="2800" dirty="0"/>
          </a:p>
        </p:txBody>
      </p:sp>
      <p:grpSp>
        <p:nvGrpSpPr>
          <p:cNvPr id="6" name="Group 11"/>
          <p:cNvGrpSpPr/>
          <p:nvPr/>
        </p:nvGrpSpPr>
        <p:grpSpPr bwMode="auto">
          <a:xfrm>
            <a:off x="1943100" y="1988840"/>
            <a:ext cx="5257800" cy="4654550"/>
            <a:chOff x="1152" y="940"/>
            <a:chExt cx="3695" cy="3188"/>
          </a:xfrm>
        </p:grpSpPr>
        <p:pic>
          <p:nvPicPr>
            <p:cNvPr id="7" name="Picture 10" descr="callseq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940"/>
              <a:ext cx="3695" cy="3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5"/>
            <p:cNvSpPr/>
            <p:nvPr/>
          </p:nvSpPr>
          <p:spPr bwMode="ltGray">
            <a:xfrm>
              <a:off x="1427" y="2208"/>
              <a:ext cx="948" cy="1170"/>
            </a:xfrm>
            <a:custGeom>
              <a:avLst/>
              <a:gdLst>
                <a:gd name="T0" fmla="*/ 948 w 948"/>
                <a:gd name="T1" fmla="*/ 1018 h 1170"/>
                <a:gd name="T2" fmla="*/ 146 w 948"/>
                <a:gd name="T3" fmla="*/ 1028 h 1170"/>
                <a:gd name="T4" fmla="*/ 75 w 948"/>
                <a:gd name="T5" fmla="*/ 168 h 1170"/>
                <a:gd name="T6" fmla="*/ 520 w 948"/>
                <a:gd name="T7" fmla="*/ 19 h 11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8"/>
                <a:gd name="T13" fmla="*/ 0 h 1170"/>
                <a:gd name="T14" fmla="*/ 948 w 948"/>
                <a:gd name="T15" fmla="*/ 1170 h 11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8" h="1170">
                  <a:moveTo>
                    <a:pt x="948" y="1018"/>
                  </a:moveTo>
                  <a:cubicBezTo>
                    <a:pt x="816" y="1020"/>
                    <a:pt x="292" y="1170"/>
                    <a:pt x="146" y="1028"/>
                  </a:cubicBezTo>
                  <a:cubicBezTo>
                    <a:pt x="0" y="886"/>
                    <a:pt x="13" y="336"/>
                    <a:pt x="75" y="168"/>
                  </a:cubicBezTo>
                  <a:cubicBezTo>
                    <a:pt x="137" y="0"/>
                    <a:pt x="427" y="50"/>
                    <a:pt x="520" y="19"/>
                  </a:cubicBezTo>
                </a:path>
              </a:pathLst>
            </a:custGeom>
            <a:noFill/>
            <a:ln w="25400" cap="flat" cmpd="sng">
              <a:solidFill>
                <a:schemeClr val="tx2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/>
          </p:nvSpPr>
          <p:spPr bwMode="ltGray">
            <a:xfrm>
              <a:off x="1425" y="960"/>
              <a:ext cx="975" cy="965"/>
            </a:xfrm>
            <a:custGeom>
              <a:avLst/>
              <a:gdLst>
                <a:gd name="T0" fmla="*/ 975 w 975"/>
                <a:gd name="T1" fmla="*/ 864 h 965"/>
                <a:gd name="T2" fmla="*/ 152 w 975"/>
                <a:gd name="T3" fmla="*/ 821 h 965"/>
                <a:gd name="T4" fmla="*/ 63 w 975"/>
                <a:gd name="T5" fmla="*/ 0 h 965"/>
                <a:gd name="T6" fmla="*/ 0 60000 65536"/>
                <a:gd name="T7" fmla="*/ 0 60000 65536"/>
                <a:gd name="T8" fmla="*/ 0 60000 65536"/>
                <a:gd name="T9" fmla="*/ 0 w 975"/>
                <a:gd name="T10" fmla="*/ 0 h 965"/>
                <a:gd name="T11" fmla="*/ 975 w 975"/>
                <a:gd name="T12" fmla="*/ 965 h 9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5" h="965">
                  <a:moveTo>
                    <a:pt x="975" y="864"/>
                  </a:moveTo>
                  <a:cubicBezTo>
                    <a:pt x="838" y="857"/>
                    <a:pt x="304" y="965"/>
                    <a:pt x="152" y="821"/>
                  </a:cubicBezTo>
                  <a:cubicBezTo>
                    <a:pt x="0" y="677"/>
                    <a:pt x="82" y="171"/>
                    <a:pt x="63" y="0"/>
                  </a:cubicBezTo>
                </a:path>
              </a:pathLst>
            </a:custGeom>
            <a:noFill/>
            <a:ln w="25400" cap="flat" cmpd="sng">
              <a:solidFill>
                <a:schemeClr val="hlink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返回序列</a:t>
            </a: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被调用者设置</a:t>
            </a:r>
            <a:r>
              <a:rPr lang="zh-CN" altLang="en-US">
                <a:solidFill>
                  <a:schemeClr val="folHlink"/>
                </a:solidFill>
                <a:ea typeface="黑体" panose="02010609060101010101" pitchFamily="49" charset="-122"/>
              </a:rPr>
              <a:t>返回值</a:t>
            </a:r>
            <a:r>
              <a:rPr lang="zh-CN" altLang="en-US"/>
              <a:t>（位于栈底，与调用者活动记录相邻）</a:t>
            </a:r>
            <a:endParaRPr lang="zh-CN" altLang="en-US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利用保存的状态信息，被调用者恢复</a:t>
            </a:r>
            <a:r>
              <a:rPr lang="en-US" altLang="zh-CN">
                <a:solidFill>
                  <a:schemeClr val="folHlink"/>
                </a:solidFill>
              </a:rPr>
              <a:t>top_sp</a:t>
            </a:r>
            <a:r>
              <a:rPr lang="zh-CN" altLang="en-US"/>
              <a:t>和其他</a:t>
            </a:r>
            <a:r>
              <a:rPr lang="zh-CN" altLang="en-US">
                <a:solidFill>
                  <a:schemeClr val="folHlink"/>
                </a:solidFill>
                <a:ea typeface="黑体" panose="02010609060101010101" pitchFamily="49" charset="-122"/>
              </a:rPr>
              <a:t>寄存器</a:t>
            </a:r>
            <a:r>
              <a:rPr lang="zh-CN" altLang="en-US"/>
              <a:t>，然后跳转到</a:t>
            </a:r>
            <a:r>
              <a:rPr lang="zh-CN" altLang="en-US">
                <a:solidFill>
                  <a:schemeClr val="folHlink"/>
                </a:solidFill>
                <a:ea typeface="黑体" panose="02010609060101010101" pitchFamily="49" charset="-122"/>
              </a:rPr>
              <a:t>返回地址</a:t>
            </a:r>
            <a:endParaRPr lang="zh-CN" altLang="en-US">
              <a:solidFill>
                <a:schemeClr val="folHlink"/>
              </a:solidFill>
              <a:ea typeface="黑体" panose="02010609060101010101" pitchFamily="49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调用者复制</a:t>
            </a:r>
            <a:r>
              <a:rPr lang="zh-CN" altLang="en-US">
                <a:solidFill>
                  <a:schemeClr val="folHlink"/>
                </a:solidFill>
                <a:ea typeface="黑体" panose="02010609060101010101" pitchFamily="49" charset="-122"/>
              </a:rPr>
              <a:t>返回值</a:t>
            </a:r>
            <a:endParaRPr lang="zh-CN" altLang="en-US">
              <a:solidFill>
                <a:schemeClr val="folHlink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可变长度数据</a:t>
            </a:r>
            <a:endParaRPr lang="zh-CN" altLang="en-US"/>
          </a:p>
        </p:txBody>
      </p:sp>
      <p:grpSp>
        <p:nvGrpSpPr>
          <p:cNvPr id="37891" name="Group 13"/>
          <p:cNvGrpSpPr/>
          <p:nvPr/>
        </p:nvGrpSpPr>
        <p:grpSpPr bwMode="auto">
          <a:xfrm>
            <a:off x="1295400" y="1250950"/>
            <a:ext cx="5410200" cy="5332413"/>
            <a:chOff x="384" y="788"/>
            <a:chExt cx="3600" cy="3548"/>
          </a:xfrm>
        </p:grpSpPr>
        <p:pic>
          <p:nvPicPr>
            <p:cNvPr id="37892" name="Picture 12" descr="variable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" y="788"/>
              <a:ext cx="2541" cy="3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893" name="Text Box 5"/>
            <p:cNvSpPr txBox="1">
              <a:spLocks noChangeArrowheads="1"/>
            </p:cNvSpPr>
            <p:nvPr/>
          </p:nvSpPr>
          <p:spPr bwMode="ltGray">
            <a:xfrm>
              <a:off x="384" y="3243"/>
              <a:ext cx="76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ahoma" panose="020B0604030504040204" pitchFamily="34" charset="0"/>
                </a:rPr>
                <a:t>top_sp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37894" name="Line 6"/>
            <p:cNvSpPr>
              <a:spLocks noChangeShapeType="1"/>
            </p:cNvSpPr>
            <p:nvPr/>
          </p:nvSpPr>
          <p:spPr bwMode="ltGray">
            <a:xfrm>
              <a:off x="1104" y="3387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5" name="Text Box 7"/>
            <p:cNvSpPr txBox="1">
              <a:spLocks noChangeArrowheads="1"/>
            </p:cNvSpPr>
            <p:nvPr/>
          </p:nvSpPr>
          <p:spPr bwMode="ltGray">
            <a:xfrm>
              <a:off x="672" y="4032"/>
              <a:ext cx="52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ahoma" panose="020B0604030504040204" pitchFamily="34" charset="0"/>
                </a:rPr>
                <a:t>top</a:t>
              </a:r>
              <a:endParaRPr lang="en-US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37896" name="Line 8"/>
            <p:cNvSpPr>
              <a:spLocks noChangeShapeType="1"/>
            </p:cNvSpPr>
            <p:nvPr/>
          </p:nvSpPr>
          <p:spPr bwMode="ltGray">
            <a:xfrm>
              <a:off x="1152" y="41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7" name="Freeform 9"/>
            <p:cNvSpPr/>
            <p:nvPr/>
          </p:nvSpPr>
          <p:spPr bwMode="ltGray">
            <a:xfrm>
              <a:off x="2688" y="1464"/>
              <a:ext cx="362" cy="936"/>
            </a:xfrm>
            <a:custGeom>
              <a:avLst/>
              <a:gdLst>
                <a:gd name="T0" fmla="*/ 0 w 362"/>
                <a:gd name="T1" fmla="*/ 72 h 936"/>
                <a:gd name="T2" fmla="*/ 298 w 362"/>
                <a:gd name="T3" fmla="*/ 104 h 936"/>
                <a:gd name="T4" fmla="*/ 336 w 362"/>
                <a:gd name="T5" fmla="*/ 696 h 936"/>
                <a:gd name="T6" fmla="*/ 144 w 362"/>
                <a:gd name="T7" fmla="*/ 936 h 9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2"/>
                <a:gd name="T13" fmla="*/ 0 h 936"/>
                <a:gd name="T14" fmla="*/ 362 w 362"/>
                <a:gd name="T15" fmla="*/ 936 h 9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2" h="936">
                  <a:moveTo>
                    <a:pt x="0" y="72"/>
                  </a:moveTo>
                  <a:cubicBezTo>
                    <a:pt x="50" y="77"/>
                    <a:pt x="242" y="0"/>
                    <a:pt x="298" y="104"/>
                  </a:cubicBezTo>
                  <a:cubicBezTo>
                    <a:pt x="354" y="208"/>
                    <a:pt x="362" y="557"/>
                    <a:pt x="336" y="696"/>
                  </a:cubicBezTo>
                  <a:cubicBezTo>
                    <a:pt x="310" y="835"/>
                    <a:pt x="228" y="888"/>
                    <a:pt x="144" y="936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8" name="Freeform 10"/>
            <p:cNvSpPr/>
            <p:nvPr/>
          </p:nvSpPr>
          <p:spPr bwMode="ltGray">
            <a:xfrm>
              <a:off x="2688" y="1671"/>
              <a:ext cx="504" cy="945"/>
            </a:xfrm>
            <a:custGeom>
              <a:avLst/>
              <a:gdLst>
                <a:gd name="T0" fmla="*/ 0 w 504"/>
                <a:gd name="T1" fmla="*/ 81 h 945"/>
                <a:gd name="T2" fmla="*/ 422 w 504"/>
                <a:gd name="T3" fmla="*/ 110 h 945"/>
                <a:gd name="T4" fmla="*/ 458 w 504"/>
                <a:gd name="T5" fmla="*/ 739 h 945"/>
                <a:gd name="T6" fmla="*/ 144 w 504"/>
                <a:gd name="T7" fmla="*/ 945 h 9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04"/>
                <a:gd name="T13" fmla="*/ 0 h 945"/>
                <a:gd name="T14" fmla="*/ 504 w 504"/>
                <a:gd name="T15" fmla="*/ 945 h 9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04" h="945">
                  <a:moveTo>
                    <a:pt x="0" y="81"/>
                  </a:moveTo>
                  <a:cubicBezTo>
                    <a:pt x="70" y="86"/>
                    <a:pt x="346" y="0"/>
                    <a:pt x="422" y="110"/>
                  </a:cubicBezTo>
                  <a:cubicBezTo>
                    <a:pt x="498" y="220"/>
                    <a:pt x="504" y="600"/>
                    <a:pt x="458" y="739"/>
                  </a:cubicBezTo>
                  <a:cubicBezTo>
                    <a:pt x="412" y="878"/>
                    <a:pt x="209" y="902"/>
                    <a:pt x="144" y="945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9" name="Freeform 11"/>
            <p:cNvSpPr/>
            <p:nvPr/>
          </p:nvSpPr>
          <p:spPr bwMode="ltGray">
            <a:xfrm>
              <a:off x="2688" y="1876"/>
              <a:ext cx="676" cy="932"/>
            </a:xfrm>
            <a:custGeom>
              <a:avLst/>
              <a:gdLst>
                <a:gd name="T0" fmla="*/ 0 w 676"/>
                <a:gd name="T1" fmla="*/ 68 h 932"/>
                <a:gd name="T2" fmla="*/ 582 w 676"/>
                <a:gd name="T3" fmla="*/ 118 h 932"/>
                <a:gd name="T4" fmla="*/ 564 w 676"/>
                <a:gd name="T5" fmla="*/ 774 h 932"/>
                <a:gd name="T6" fmla="*/ 144 w 676"/>
                <a:gd name="T7" fmla="*/ 932 h 9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6"/>
                <a:gd name="T13" fmla="*/ 0 h 932"/>
                <a:gd name="T14" fmla="*/ 676 w 676"/>
                <a:gd name="T15" fmla="*/ 932 h 9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6" h="932">
                  <a:moveTo>
                    <a:pt x="0" y="68"/>
                  </a:moveTo>
                  <a:cubicBezTo>
                    <a:pt x="97" y="76"/>
                    <a:pt x="488" y="0"/>
                    <a:pt x="582" y="118"/>
                  </a:cubicBezTo>
                  <a:cubicBezTo>
                    <a:pt x="676" y="236"/>
                    <a:pt x="637" y="638"/>
                    <a:pt x="564" y="774"/>
                  </a:cubicBezTo>
                  <a:cubicBezTo>
                    <a:pt x="491" y="910"/>
                    <a:pt x="231" y="899"/>
                    <a:pt x="144" y="932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7.3.3  </a:t>
            </a:r>
            <a:r>
              <a:rPr lang="zh-CN" altLang="en-US"/>
              <a:t>空悬（</a:t>
            </a:r>
            <a:r>
              <a:rPr lang="en-US" altLang="zh-CN">
                <a:solidFill>
                  <a:srgbClr val="FF3300"/>
                </a:solidFill>
              </a:rPr>
              <a:t>dangling</a:t>
            </a:r>
            <a:r>
              <a:rPr lang="zh-CN" altLang="en-US"/>
              <a:t>）引用</a:t>
            </a: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7.6</a:t>
            </a:r>
            <a:r>
              <a:rPr lang="zh-CN" altLang="en-US" dirty="0"/>
              <a:t>：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内存空间已释放，但还存在指向它的引用</a:t>
            </a:r>
            <a:r>
              <a:rPr lang="en-US" altLang="zh-CN" dirty="0"/>
              <a:t>——</a:t>
            </a:r>
            <a:r>
              <a:rPr lang="zh-CN" altLang="en-US" dirty="0"/>
              <a:t>程序员的错误！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int *dangle()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{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	int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23;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	return &amp;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main()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{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	int *p;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	p = dangle();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}</a:t>
            </a:r>
            <a:endParaRPr lang="en-US" altLang="zh-CN" sz="2400" dirty="0"/>
          </a:p>
        </p:txBody>
      </p:sp>
      <p:sp>
        <p:nvSpPr>
          <p:cNvPr id="2" name="Rectangle 2"/>
          <p:cNvSpPr>
            <a:spLocks noGrp="1" noChangeArrowheads="1"/>
          </p:cNvSpPr>
          <p:nvPr/>
        </p:nvSpPr>
        <p:spPr>
          <a:xfrm>
            <a:off x="6588125" y="764540"/>
            <a:ext cx="178943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sz="4800" b="1">
                <a:solidFill>
                  <a:srgbClr val="FF0000"/>
                </a:solidFill>
              </a:rPr>
              <a:t>不考</a:t>
            </a:r>
            <a:endParaRPr lang="zh-CN" sz="48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7.3.4  </a:t>
            </a:r>
            <a:r>
              <a:rPr lang="zh-CN" altLang="en-US"/>
              <a:t>堆分配策略</a:t>
            </a:r>
            <a:endParaRPr lang="zh-CN" alt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5626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栈分配策略的局限，不能处理下列情况</a:t>
            </a:r>
            <a:endParaRPr lang="zh-CN" altLang="en-US" sz="2800"/>
          </a:p>
          <a:p>
            <a:pPr marL="990600" lvl="1" indent="-533400" eaLnBrk="1" hangingPunct="1"/>
            <a:r>
              <a:rPr lang="zh-CN" altLang="en-US" sz="2400"/>
              <a:t>局部名字的值在活动结束后能够保持</a:t>
            </a:r>
            <a:endParaRPr lang="zh-CN" altLang="en-US" sz="2400"/>
          </a:p>
          <a:p>
            <a:pPr marL="990600" lvl="1" indent="-533400" eaLnBrk="1" hangingPunct="1"/>
            <a:r>
              <a:rPr lang="zh-CN" altLang="en-US" sz="2400"/>
              <a:t>被调用函数的活动生存期比调用者长</a:t>
            </a:r>
            <a:r>
              <a:rPr lang="en-US" altLang="zh-CN" sz="2400"/>
              <a:t>——</a:t>
            </a:r>
            <a:r>
              <a:rPr lang="zh-CN" altLang="en-US" sz="2400"/>
              <a:t>可用活动树表示控制流的语言无法实现</a:t>
            </a:r>
            <a:endParaRPr lang="zh-CN" altLang="en-US" sz="2400"/>
          </a:p>
          <a:p>
            <a:pPr marL="609600" indent="-609600" eaLnBrk="1" hangingPunct="1"/>
            <a:r>
              <a:rPr lang="zh-CN" altLang="en-US" sz="2800"/>
              <a:t>对小的（或大小已知的）活动记录</a:t>
            </a:r>
            <a:endParaRPr lang="zh-CN" altLang="en-US" sz="280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为若干可能大小，创建空闲块链表（静态）</a:t>
            </a:r>
            <a:endParaRPr lang="zh-CN" altLang="en-US" sz="240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为大小为</a:t>
            </a:r>
            <a:r>
              <a:rPr lang="en-US" altLang="zh-CN" sz="2400"/>
              <a:t>s</a:t>
            </a:r>
            <a:r>
              <a:rPr lang="zh-CN" altLang="en-US" sz="2400"/>
              <a:t>的活动记录分配空间，尽量使用</a:t>
            </a:r>
            <a:r>
              <a:rPr lang="en-US" altLang="zh-CN" sz="2400"/>
              <a:t>s’</a:t>
            </a:r>
            <a:r>
              <a:rPr lang="zh-CN" altLang="en-US" sz="2400"/>
              <a:t>的空闲块表，</a:t>
            </a:r>
            <a:r>
              <a:rPr lang="en-US" altLang="zh-CN" sz="2400"/>
              <a:t>s’</a:t>
            </a:r>
            <a:r>
              <a:rPr lang="zh-CN" altLang="en-US" sz="2400"/>
              <a:t>为大于等于</a:t>
            </a:r>
            <a:r>
              <a:rPr lang="en-US" altLang="zh-CN" sz="2400"/>
              <a:t>s</a:t>
            </a:r>
            <a:r>
              <a:rPr lang="zh-CN" altLang="en-US" sz="2400"/>
              <a:t>的最小值。空间释放时，将块退回空闲块链表</a:t>
            </a:r>
            <a:endParaRPr lang="zh-CN" altLang="en-US" sz="240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对大块内存分配，利用堆管理器</a:t>
            </a:r>
            <a:endParaRPr lang="zh-CN" altLang="en-US" sz="2400"/>
          </a:p>
        </p:txBody>
      </p:sp>
      <p:sp>
        <p:nvSpPr>
          <p:cNvPr id="2" name="Rectangle 2"/>
          <p:cNvSpPr>
            <a:spLocks noGrp="1" noChangeArrowheads="1"/>
          </p:cNvSpPr>
          <p:nvPr/>
        </p:nvSpPr>
        <p:spPr>
          <a:xfrm>
            <a:off x="6300470" y="228600"/>
            <a:ext cx="178943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sz="4800" b="1">
                <a:solidFill>
                  <a:srgbClr val="FF0000"/>
                </a:solidFill>
              </a:rPr>
              <a:t>不考</a:t>
            </a:r>
            <a:endParaRPr lang="zh-CN" sz="48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9" descr="heap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0"/>
            <a:ext cx="5808663" cy="472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堆分配策略（续）</a:t>
            </a:r>
            <a:endParaRPr lang="zh-CN" altLang="en-US"/>
          </a:p>
        </p:txBody>
      </p:sp>
      <p:sp>
        <p:nvSpPr>
          <p:cNvPr id="40964" name="Freeform 6"/>
          <p:cNvSpPr/>
          <p:nvPr/>
        </p:nvSpPr>
        <p:spPr bwMode="ltGray">
          <a:xfrm>
            <a:off x="3478213" y="1463675"/>
            <a:ext cx="1017587" cy="2497138"/>
          </a:xfrm>
          <a:custGeom>
            <a:avLst/>
            <a:gdLst>
              <a:gd name="T0" fmla="*/ 2147483646 w 641"/>
              <a:gd name="T1" fmla="*/ 2147483646 h 1573"/>
              <a:gd name="T2" fmla="*/ 2147483646 w 641"/>
              <a:gd name="T3" fmla="*/ 2147483646 h 1573"/>
              <a:gd name="T4" fmla="*/ 2147483646 w 641"/>
              <a:gd name="T5" fmla="*/ 2147483646 h 1573"/>
              <a:gd name="T6" fmla="*/ 2147483646 w 641"/>
              <a:gd name="T7" fmla="*/ 2147483646 h 1573"/>
              <a:gd name="T8" fmla="*/ 0 60000 65536"/>
              <a:gd name="T9" fmla="*/ 0 60000 65536"/>
              <a:gd name="T10" fmla="*/ 0 60000 65536"/>
              <a:gd name="T11" fmla="*/ 0 60000 65536"/>
              <a:gd name="T12" fmla="*/ 0 w 641"/>
              <a:gd name="T13" fmla="*/ 0 h 1573"/>
              <a:gd name="T14" fmla="*/ 641 w 641"/>
              <a:gd name="T15" fmla="*/ 1573 h 157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1" h="1573">
                <a:moveTo>
                  <a:pt x="641" y="1478"/>
                </a:moveTo>
                <a:cubicBezTo>
                  <a:pt x="552" y="1459"/>
                  <a:pt x="205" y="1573"/>
                  <a:pt x="104" y="1364"/>
                </a:cubicBezTo>
                <a:cubicBezTo>
                  <a:pt x="3" y="1155"/>
                  <a:pt x="0" y="442"/>
                  <a:pt x="33" y="221"/>
                </a:cubicBezTo>
                <a:cubicBezTo>
                  <a:pt x="66" y="0"/>
                  <a:pt x="248" y="76"/>
                  <a:pt x="305" y="38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5" name="Freeform 7"/>
          <p:cNvSpPr/>
          <p:nvPr/>
        </p:nvSpPr>
        <p:spPr bwMode="ltGray">
          <a:xfrm>
            <a:off x="2897188" y="1384300"/>
            <a:ext cx="1549400" cy="4194175"/>
          </a:xfrm>
          <a:custGeom>
            <a:avLst/>
            <a:gdLst>
              <a:gd name="T0" fmla="*/ 2147483646 w 976"/>
              <a:gd name="T1" fmla="*/ 2147483646 h 2642"/>
              <a:gd name="T2" fmla="*/ 2147483646 w 976"/>
              <a:gd name="T3" fmla="*/ 2147483646 h 2642"/>
              <a:gd name="T4" fmla="*/ 2147483646 w 976"/>
              <a:gd name="T5" fmla="*/ 2147483646 h 2642"/>
              <a:gd name="T6" fmla="*/ 2147483646 w 976"/>
              <a:gd name="T7" fmla="*/ 2147483646 h 2642"/>
              <a:gd name="T8" fmla="*/ 0 60000 65536"/>
              <a:gd name="T9" fmla="*/ 0 60000 65536"/>
              <a:gd name="T10" fmla="*/ 0 60000 65536"/>
              <a:gd name="T11" fmla="*/ 0 60000 65536"/>
              <a:gd name="T12" fmla="*/ 0 w 976"/>
              <a:gd name="T13" fmla="*/ 0 h 2642"/>
              <a:gd name="T14" fmla="*/ 976 w 976"/>
              <a:gd name="T15" fmla="*/ 2642 h 26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76" h="2642">
                <a:moveTo>
                  <a:pt x="976" y="2574"/>
                </a:moveTo>
                <a:cubicBezTo>
                  <a:pt x="837" y="2524"/>
                  <a:pt x="284" y="2642"/>
                  <a:pt x="142" y="2274"/>
                </a:cubicBezTo>
                <a:cubicBezTo>
                  <a:pt x="0" y="1906"/>
                  <a:pt x="42" y="738"/>
                  <a:pt x="125" y="369"/>
                </a:cubicBezTo>
                <a:cubicBezTo>
                  <a:pt x="208" y="0"/>
                  <a:pt x="532" y="123"/>
                  <a:pt x="639" y="58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6" name="Text Box 8"/>
          <p:cNvSpPr txBox="1">
            <a:spLocks noChangeArrowheads="1"/>
          </p:cNvSpPr>
          <p:nvPr/>
        </p:nvSpPr>
        <p:spPr bwMode="ltGray">
          <a:xfrm>
            <a:off x="7086600" y="3276600"/>
            <a:ext cx="1752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r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的活动记录得到保持</a:t>
            </a:r>
            <a:endParaRPr lang="zh-CN" altLang="en-US" sz="2400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7.4  </a:t>
            </a:r>
            <a:r>
              <a:rPr lang="zh-CN" altLang="en-US"/>
              <a:t>访问非局部名字</a:t>
            </a: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栈</a:t>
            </a:r>
            <a:endParaRPr lang="zh-CN" altLang="en-US"/>
          </a:p>
          <a:p>
            <a:pPr eaLnBrk="1" hangingPunct="1"/>
            <a:r>
              <a:rPr lang="zh-CN" altLang="en-US"/>
              <a:t>词法</a:t>
            </a:r>
            <a:r>
              <a:rPr lang="en-US" altLang="zh-CN"/>
              <a:t>/</a:t>
            </a:r>
            <a:r>
              <a:rPr lang="zh-CN" altLang="en-US"/>
              <a:t>静态作用域规则</a:t>
            </a:r>
            <a:br>
              <a:rPr lang="zh-CN" altLang="en-US"/>
            </a:br>
            <a:r>
              <a:rPr lang="en-US" altLang="zh-CN">
                <a:solidFill>
                  <a:srgbClr val="FF3300"/>
                </a:solidFill>
              </a:rPr>
              <a:t>lexical-</a:t>
            </a:r>
            <a:r>
              <a:rPr lang="zh-CN" altLang="en-US"/>
              <a:t>，</a:t>
            </a:r>
            <a:r>
              <a:rPr lang="en-US" altLang="zh-CN">
                <a:solidFill>
                  <a:srgbClr val="FF3300"/>
                </a:solidFill>
              </a:rPr>
              <a:t>static-scope rule</a:t>
            </a:r>
            <a:br>
              <a:rPr lang="en-US" altLang="zh-CN"/>
            </a:br>
            <a:r>
              <a:rPr lang="en-US" altLang="zh-CN"/>
              <a:t>C</a:t>
            </a:r>
            <a:r>
              <a:rPr lang="zh-CN" altLang="en-US"/>
              <a:t>、</a:t>
            </a:r>
            <a:r>
              <a:rPr lang="en-US" altLang="zh-CN"/>
              <a:t>Pascal</a:t>
            </a:r>
            <a:r>
              <a:rPr lang="zh-CN" altLang="en-US"/>
              <a:t>、</a:t>
            </a:r>
            <a:r>
              <a:rPr lang="en-US" altLang="zh-CN"/>
              <a:t>Ada</a:t>
            </a:r>
            <a:br>
              <a:rPr lang="en-US" altLang="zh-CN"/>
            </a:br>
            <a:r>
              <a:rPr lang="zh-CN" altLang="en-US"/>
              <a:t>嵌套问题</a:t>
            </a:r>
            <a:endParaRPr lang="zh-CN" altLang="en-US"/>
          </a:p>
          <a:p>
            <a:pPr eaLnBrk="1" hangingPunct="1"/>
            <a:r>
              <a:rPr lang="zh-CN" altLang="en-US"/>
              <a:t>动态作用域规则</a:t>
            </a:r>
            <a:br>
              <a:rPr lang="zh-CN" altLang="en-US"/>
            </a:br>
            <a:r>
              <a:rPr lang="en-US" altLang="zh-CN">
                <a:solidFill>
                  <a:srgbClr val="FF3300"/>
                </a:solidFill>
              </a:rPr>
              <a:t>dynamic-scope rule</a:t>
            </a:r>
            <a:br>
              <a:rPr lang="en-US" altLang="zh-CN"/>
            </a:br>
            <a:r>
              <a:rPr lang="en-US" altLang="zh-CN"/>
              <a:t>Lisp</a:t>
            </a:r>
            <a:r>
              <a:rPr lang="zh-CN" altLang="en-US"/>
              <a:t>、</a:t>
            </a:r>
            <a:r>
              <a:rPr lang="en-US" altLang="zh-CN"/>
              <a:t>APL</a:t>
            </a:r>
            <a:r>
              <a:rPr lang="zh-CN" altLang="en-US"/>
              <a:t>、</a:t>
            </a:r>
            <a:r>
              <a:rPr lang="en-US" altLang="zh-CN"/>
              <a:t>Snobol</a:t>
            </a:r>
            <a:endParaRPr lang="en-US" altLang="zh-CN"/>
          </a:p>
        </p:txBody>
      </p:sp>
      <p:sp>
        <p:nvSpPr>
          <p:cNvPr id="2" name="Rectangle 2"/>
          <p:cNvSpPr>
            <a:spLocks noGrp="1" noChangeArrowheads="1"/>
          </p:cNvSpPr>
          <p:nvPr/>
        </p:nvSpPr>
        <p:spPr>
          <a:xfrm>
            <a:off x="6516370" y="332740"/>
            <a:ext cx="178943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sz="4800" b="1">
                <a:solidFill>
                  <a:srgbClr val="FF0000"/>
                </a:solidFill>
              </a:rPr>
              <a:t>不考</a:t>
            </a:r>
            <a:endParaRPr lang="zh-CN" sz="48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7.4.1  </a:t>
            </a:r>
            <a:r>
              <a:rPr lang="zh-CN" altLang="en-US"/>
              <a:t>程序块（</a:t>
            </a:r>
            <a:r>
              <a:rPr lang="en-US" altLang="zh-CN">
                <a:solidFill>
                  <a:srgbClr val="FF3300"/>
                </a:solidFill>
              </a:rPr>
              <a:t>block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语句块＋它的局部数据声明</a:t>
            </a:r>
            <a:br>
              <a:rPr lang="zh-CN" altLang="en-US"/>
            </a:br>
            <a:r>
              <a:rPr lang="en-US" altLang="zh-CN"/>
              <a:t>{ </a:t>
            </a:r>
            <a:r>
              <a:rPr lang="zh-CN" altLang="en-US"/>
              <a:t>声明	语句</a:t>
            </a:r>
            <a:r>
              <a:rPr lang="en-US" altLang="zh-CN"/>
              <a:t>}</a:t>
            </a:r>
            <a:endParaRPr lang="en-US" altLang="zh-CN"/>
          </a:p>
          <a:p>
            <a:pPr eaLnBrk="1" hangingPunct="1"/>
            <a:r>
              <a:rPr lang="zh-CN" altLang="en-US"/>
              <a:t>特性：嵌套结构、不会交叉</a:t>
            </a:r>
            <a:endParaRPr lang="zh-CN" altLang="en-US"/>
          </a:p>
          <a:p>
            <a:pPr eaLnBrk="1" hangingPunct="1"/>
            <a:r>
              <a:rPr lang="zh-CN" altLang="en-US"/>
              <a:t>“最近嵌套规则”，</a:t>
            </a:r>
            <a:r>
              <a:rPr lang="en-US" altLang="zh-CN">
                <a:solidFill>
                  <a:srgbClr val="FF3300"/>
                </a:solidFill>
              </a:rPr>
              <a:t>most closely nested rule</a:t>
            </a:r>
            <a:endParaRPr lang="en-US" altLang="zh-CN">
              <a:solidFill>
                <a:srgbClr val="FF3300"/>
              </a:solidFill>
            </a:endParaRPr>
          </a:p>
          <a:p>
            <a:pPr lvl="1" eaLnBrk="1" hangingPunct="1"/>
            <a:r>
              <a:rPr lang="zh-CN" altLang="en-US"/>
              <a:t>对于块</a:t>
            </a:r>
            <a:r>
              <a:rPr lang="en-US" altLang="zh-CN"/>
              <a:t>B</a:t>
            </a:r>
            <a:r>
              <a:rPr lang="zh-CN" altLang="en-US"/>
              <a:t>中的声明，其作用域包括</a:t>
            </a:r>
            <a:r>
              <a:rPr lang="en-US" altLang="zh-CN"/>
              <a:t>B</a:t>
            </a:r>
            <a:endParaRPr lang="en-US" altLang="zh-CN"/>
          </a:p>
          <a:p>
            <a:pPr lvl="1" eaLnBrk="1" hangingPunct="1"/>
            <a:r>
              <a:rPr lang="zh-CN" altLang="en-US"/>
              <a:t>块</a:t>
            </a:r>
            <a:r>
              <a:rPr lang="en-US" altLang="zh-CN"/>
              <a:t>B</a:t>
            </a:r>
            <a:r>
              <a:rPr lang="zh-CN" altLang="en-US"/>
              <a:t>中未声明名字</a:t>
            </a:r>
            <a:r>
              <a:rPr lang="en-US" altLang="zh-CN"/>
              <a:t>x</a:t>
            </a:r>
            <a:r>
              <a:rPr lang="zh-CN" altLang="en-US"/>
              <a:t>，则</a:t>
            </a:r>
            <a:r>
              <a:rPr lang="en-US" altLang="zh-CN"/>
              <a:t>B</a:t>
            </a:r>
            <a:r>
              <a:rPr lang="zh-CN" altLang="en-US"/>
              <a:t>中对</a:t>
            </a:r>
            <a:r>
              <a:rPr lang="en-US" altLang="zh-CN"/>
              <a:t>x</a:t>
            </a:r>
            <a:r>
              <a:rPr lang="zh-CN" altLang="en-US"/>
              <a:t>的引用由某个外层块</a:t>
            </a:r>
            <a:r>
              <a:rPr lang="en-US" altLang="zh-CN"/>
              <a:t>B’</a:t>
            </a:r>
            <a:r>
              <a:rPr lang="zh-CN" altLang="en-US"/>
              <a:t>中</a:t>
            </a:r>
            <a:r>
              <a:rPr lang="en-US" altLang="zh-CN"/>
              <a:t>x</a:t>
            </a:r>
            <a:r>
              <a:rPr lang="zh-CN" altLang="en-US"/>
              <a:t>的声明所确定，</a:t>
            </a:r>
            <a:r>
              <a:rPr lang="en-US" altLang="zh-CN"/>
              <a:t>B’</a:t>
            </a:r>
            <a:r>
              <a:rPr lang="zh-CN" altLang="en-US"/>
              <a:t>满足：</a:t>
            </a:r>
            <a:endParaRPr lang="zh-CN" altLang="en-US"/>
          </a:p>
          <a:p>
            <a:pPr lvl="2" eaLnBrk="1" hangingPunct="1"/>
            <a:r>
              <a:rPr lang="zh-CN" altLang="en-US"/>
              <a:t>在包围</a:t>
            </a:r>
            <a:r>
              <a:rPr lang="en-US" altLang="zh-CN"/>
              <a:t>B</a:t>
            </a:r>
            <a:r>
              <a:rPr lang="zh-CN" altLang="en-US"/>
              <a:t>的，且有</a:t>
            </a:r>
            <a:r>
              <a:rPr lang="en-US" altLang="zh-CN"/>
              <a:t>x</a:t>
            </a:r>
            <a:r>
              <a:rPr lang="zh-CN" altLang="en-US"/>
              <a:t>的声明的外层块中，</a:t>
            </a:r>
            <a:r>
              <a:rPr lang="en-US" altLang="zh-CN"/>
              <a:t>B’</a:t>
            </a:r>
            <a:r>
              <a:rPr lang="zh-CN" altLang="en-US"/>
              <a:t>是距离</a:t>
            </a:r>
            <a:r>
              <a:rPr lang="en-US" altLang="zh-CN"/>
              <a:t>B</a:t>
            </a:r>
            <a:r>
              <a:rPr lang="zh-CN" altLang="en-US"/>
              <a:t>最近的那个</a:t>
            </a:r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嵌套块作用域示例</a:t>
            </a:r>
            <a:endParaRPr lang="zh-CN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772400" cy="54102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main()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{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int a = 0;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int b = 0;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{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int b = 1;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{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	int a = 2;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	printf(“%d %d\n”, a, b);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}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{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	int b = 3;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	printf(“%d %d\n”, a, b);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}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printf(“%d %d\n”, a, b);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}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printf(“%d %d\n”, a, b);</a:t>
            </a:r>
            <a:endParaRPr lang="en-US" altLang="zh-CN" sz="2400"/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}</a:t>
            </a:r>
            <a:endParaRPr lang="en-US" altLang="zh-CN" sz="2400"/>
          </a:p>
        </p:txBody>
      </p:sp>
      <p:sp>
        <p:nvSpPr>
          <p:cNvPr id="44036" name="Line 4"/>
          <p:cNvSpPr>
            <a:spLocks noChangeShapeType="1"/>
          </p:cNvSpPr>
          <p:nvPr/>
        </p:nvSpPr>
        <p:spPr bwMode="ltGray">
          <a:xfrm>
            <a:off x="950913" y="2057400"/>
            <a:ext cx="0" cy="44196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ltGray">
          <a:xfrm flipH="1">
            <a:off x="1255713" y="2895600"/>
            <a:ext cx="0" cy="29718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8" name="Line 6"/>
          <p:cNvSpPr>
            <a:spLocks noChangeShapeType="1"/>
          </p:cNvSpPr>
          <p:nvPr/>
        </p:nvSpPr>
        <p:spPr bwMode="ltGray">
          <a:xfrm flipH="1">
            <a:off x="1865313" y="3505200"/>
            <a:ext cx="0" cy="5334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ltGray">
          <a:xfrm flipH="1">
            <a:off x="1865313" y="4724400"/>
            <a:ext cx="0" cy="6096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0" name="Text Box 8"/>
          <p:cNvSpPr txBox="1">
            <a:spLocks noChangeArrowheads="1"/>
          </p:cNvSpPr>
          <p:nvPr/>
        </p:nvSpPr>
        <p:spPr bwMode="ltGray">
          <a:xfrm>
            <a:off x="798513" y="3733800"/>
            <a:ext cx="304800" cy="365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B</a:t>
            </a:r>
            <a:r>
              <a:rPr lang="en-US" altLang="zh-CN" sz="2400" baseline="-25000">
                <a:latin typeface="Tahoma" panose="020B0604030504040204" pitchFamily="34" charset="0"/>
              </a:rPr>
              <a:t>0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44041" name="Text Box 9"/>
          <p:cNvSpPr txBox="1">
            <a:spLocks noChangeArrowheads="1"/>
          </p:cNvSpPr>
          <p:nvPr/>
        </p:nvSpPr>
        <p:spPr bwMode="ltGray">
          <a:xfrm>
            <a:off x="1103313" y="4054475"/>
            <a:ext cx="304800" cy="365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B</a:t>
            </a:r>
            <a:r>
              <a:rPr lang="en-US" altLang="zh-CN" sz="2400" baseline="-250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44042" name="Text Box 10"/>
          <p:cNvSpPr txBox="1">
            <a:spLocks noChangeArrowheads="1"/>
          </p:cNvSpPr>
          <p:nvPr/>
        </p:nvSpPr>
        <p:spPr bwMode="ltGray">
          <a:xfrm>
            <a:off x="1712913" y="3581400"/>
            <a:ext cx="304800" cy="365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B</a:t>
            </a:r>
            <a:r>
              <a:rPr lang="en-US" altLang="zh-CN" sz="2400" baseline="-250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44043" name="Text Box 11"/>
          <p:cNvSpPr txBox="1">
            <a:spLocks noChangeArrowheads="1"/>
          </p:cNvSpPr>
          <p:nvPr/>
        </p:nvSpPr>
        <p:spPr bwMode="ltGray">
          <a:xfrm>
            <a:off x="1712913" y="4800600"/>
            <a:ext cx="304800" cy="365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B</a:t>
            </a:r>
            <a:r>
              <a:rPr lang="en-US" altLang="zh-CN" sz="2400" baseline="-250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44044" name="Text Box 12"/>
          <p:cNvSpPr txBox="1">
            <a:spLocks noChangeArrowheads="1"/>
          </p:cNvSpPr>
          <p:nvPr/>
        </p:nvSpPr>
        <p:spPr bwMode="ltGray">
          <a:xfrm>
            <a:off x="4800600" y="1371600"/>
            <a:ext cx="3733800" cy="180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声明</a:t>
            </a:r>
            <a:r>
              <a:rPr lang="zh-CN" altLang="en-US" sz="2400">
                <a:latin typeface="Tahoma" panose="020B0604030504040204" pitchFamily="34" charset="0"/>
              </a:rPr>
              <a:t>		    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作用域</a:t>
            </a:r>
            <a:endParaRPr lang="zh-CN" altLang="en-US" sz="2400">
              <a:solidFill>
                <a:schemeClr val="folHlink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int a = 0;            B</a:t>
            </a:r>
            <a:r>
              <a:rPr lang="en-US" altLang="zh-CN" sz="2400" baseline="-25000">
                <a:latin typeface="Tahoma" panose="020B0604030504040204" pitchFamily="34" charset="0"/>
              </a:rPr>
              <a:t>0</a:t>
            </a:r>
            <a:r>
              <a:rPr lang="en-US" altLang="zh-CN" sz="2400">
                <a:latin typeface="Tahoma" panose="020B0604030504040204" pitchFamily="34" charset="0"/>
              </a:rPr>
              <a:t>-B</a:t>
            </a:r>
            <a:r>
              <a:rPr lang="en-US" altLang="zh-CN" sz="2400" baseline="-25000">
                <a:latin typeface="Tahoma" panose="020B0604030504040204" pitchFamily="34" charset="0"/>
              </a:rPr>
              <a:t>2</a:t>
            </a:r>
            <a:endParaRPr lang="en-US" altLang="zh-CN" sz="2400" baseline="-25000"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int b = 0;            B</a:t>
            </a:r>
            <a:r>
              <a:rPr lang="en-US" altLang="zh-CN" sz="2400" baseline="-25000">
                <a:latin typeface="Tahoma" panose="020B0604030504040204" pitchFamily="34" charset="0"/>
              </a:rPr>
              <a:t>0</a:t>
            </a:r>
            <a:r>
              <a:rPr lang="en-US" altLang="zh-CN" sz="2400">
                <a:latin typeface="Tahoma" panose="020B0604030504040204" pitchFamily="34" charset="0"/>
              </a:rPr>
              <a:t>-B</a:t>
            </a:r>
            <a:r>
              <a:rPr lang="en-US" altLang="zh-CN" sz="2400" baseline="-25000">
                <a:latin typeface="Tahoma" panose="020B0604030504040204" pitchFamily="34" charset="0"/>
              </a:rPr>
              <a:t>1</a:t>
            </a:r>
            <a:endParaRPr lang="en-US" altLang="zh-CN" sz="2400"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int b = 1;            B</a:t>
            </a:r>
            <a:r>
              <a:rPr lang="en-US" altLang="zh-CN" sz="2400" baseline="-25000">
                <a:latin typeface="Tahoma" panose="020B0604030504040204" pitchFamily="34" charset="0"/>
              </a:rPr>
              <a:t>1</a:t>
            </a:r>
            <a:r>
              <a:rPr lang="en-US" altLang="zh-CN" sz="2400">
                <a:latin typeface="Tahoma" panose="020B0604030504040204" pitchFamily="34" charset="0"/>
              </a:rPr>
              <a:t>-B</a:t>
            </a:r>
            <a:r>
              <a:rPr lang="en-US" altLang="zh-CN" sz="2400" baseline="-250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int a = 2; 		B</a:t>
            </a:r>
            <a:r>
              <a:rPr lang="en-US" altLang="zh-CN" sz="2400" baseline="-25000">
                <a:latin typeface="Tahoma" panose="020B0604030504040204" pitchFamily="34" charset="0"/>
              </a:rPr>
              <a:t>2</a:t>
            </a:r>
            <a:endParaRPr lang="en-US" altLang="zh-CN" sz="2400">
              <a:latin typeface="Tahoma" panose="020B0604030504040204" pitchFamily="34" charset="0"/>
            </a:endParaRPr>
          </a:p>
          <a:p>
            <a:pPr eaLnBrk="1" hangingPunct="1">
              <a:lnSpc>
                <a:spcPct val="7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int b = 3; 		B</a:t>
            </a:r>
            <a:r>
              <a:rPr lang="en-US" altLang="zh-CN" sz="2400" baseline="-25000">
                <a:latin typeface="Tahoma" panose="020B0604030504040204" pitchFamily="34" charset="0"/>
              </a:rPr>
              <a:t>3</a:t>
            </a:r>
            <a:endParaRPr lang="en-US" altLang="zh-CN" sz="2400">
              <a:latin typeface="Tahoma" panose="020B0604030504040204" pitchFamily="34" charset="0"/>
            </a:endParaRPr>
          </a:p>
        </p:txBody>
      </p:sp>
      <p:sp>
        <p:nvSpPr>
          <p:cNvPr id="41997" name="Text Box 13"/>
          <p:cNvSpPr txBox="1">
            <a:spLocks noChangeArrowheads="1"/>
          </p:cNvSpPr>
          <p:nvPr/>
        </p:nvSpPr>
        <p:spPr bwMode="ltGray">
          <a:xfrm>
            <a:off x="6248400" y="3886200"/>
            <a:ext cx="1828800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latin typeface="Tahoma" panose="020B0604030504040204" pitchFamily="34" charset="0"/>
              </a:rPr>
              <a:t>运行结果</a:t>
            </a:r>
            <a:endParaRPr lang="zh-CN" altLang="en-US" sz="2400">
              <a:latin typeface="Tahoma" panose="020B0604030504040204" pitchFamily="34" charset="0"/>
            </a:endParaRPr>
          </a:p>
          <a:p>
            <a:pPr algn="ctr" eaLnBrk="1" hangingPunct="1">
              <a:lnSpc>
                <a:spcPct val="8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2	1</a:t>
            </a:r>
            <a:endParaRPr lang="en-US" altLang="zh-CN" sz="2400">
              <a:latin typeface="Tahoma" panose="020B0604030504040204" pitchFamily="34" charset="0"/>
            </a:endParaRPr>
          </a:p>
          <a:p>
            <a:pPr algn="ctr" eaLnBrk="1" hangingPunct="1">
              <a:lnSpc>
                <a:spcPct val="8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0	3</a:t>
            </a:r>
            <a:endParaRPr lang="en-US" altLang="zh-CN" sz="2400">
              <a:latin typeface="Tahoma" panose="020B0604030504040204" pitchFamily="34" charset="0"/>
            </a:endParaRPr>
          </a:p>
          <a:p>
            <a:pPr algn="ctr" eaLnBrk="1" hangingPunct="1">
              <a:lnSpc>
                <a:spcPct val="8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0	1</a:t>
            </a:r>
            <a:endParaRPr lang="en-US" altLang="zh-CN" sz="2400">
              <a:latin typeface="Tahoma" panose="020B0604030504040204" pitchFamily="34" charset="0"/>
            </a:endParaRPr>
          </a:p>
          <a:p>
            <a:pPr algn="ctr" eaLnBrk="1" hangingPunct="1">
              <a:lnSpc>
                <a:spcPct val="85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0	0</a:t>
            </a:r>
            <a:endParaRPr lang="en-US" altLang="zh-CN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实现方法</a:t>
            </a:r>
            <a:endParaRPr lang="zh-CN" alt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栈实现，将块看作无参过程，进入块时为局部变量分配空间，退出时释放</a:t>
            </a:r>
            <a:endParaRPr lang="zh-CN" altLang="en-US" dirty="0"/>
          </a:p>
          <a:p>
            <a:pPr eaLnBrk="1" hangingPunct="1"/>
            <a:r>
              <a:rPr lang="zh-CN" altLang="en-US" dirty="0"/>
              <a:t>为过程中所有块</a:t>
            </a:r>
            <a:r>
              <a:rPr lang="zh-CN" altLang="en-US"/>
              <a:t>一起分配内存</a:t>
            </a:r>
            <a:endParaRPr lang="zh-CN" altLang="en-US" dirty="0"/>
          </a:p>
        </p:txBody>
      </p:sp>
      <p:pic>
        <p:nvPicPr>
          <p:cNvPr id="45060" name="Picture 4" descr="nes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481" y="3167953"/>
            <a:ext cx="1951038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7.4.2  </a:t>
            </a:r>
            <a:r>
              <a:rPr lang="zh-CN" altLang="en-US"/>
              <a:t>无过程嵌套的静态作用域</a:t>
            </a: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</a:t>
            </a:r>
            <a:endParaRPr lang="en-US" altLang="zh-CN"/>
          </a:p>
          <a:p>
            <a:pPr eaLnBrk="1" hangingPunct="1"/>
            <a:r>
              <a:rPr lang="zh-CN" altLang="en-US"/>
              <a:t>局部名字</a:t>
            </a:r>
            <a:r>
              <a:rPr lang="en-US" altLang="zh-CN"/>
              <a:t>——</a:t>
            </a:r>
            <a:r>
              <a:rPr lang="zh-CN" altLang="en-US"/>
              <a:t>栈</a:t>
            </a:r>
            <a:endParaRPr lang="zh-CN" altLang="en-US"/>
          </a:p>
          <a:p>
            <a:pPr eaLnBrk="1" hangingPunct="1"/>
            <a:r>
              <a:rPr lang="zh-CN" altLang="en-US"/>
              <a:t>任何过程之外的名字</a:t>
            </a:r>
            <a:r>
              <a:rPr lang="en-US" altLang="zh-CN"/>
              <a:t>——</a:t>
            </a:r>
            <a:r>
              <a:rPr lang="zh-CN" altLang="en-US"/>
              <a:t>静态分配</a:t>
            </a:r>
            <a:endParaRPr lang="zh-CN" altLang="en-US"/>
          </a:p>
          <a:p>
            <a:pPr eaLnBrk="1" hangingPunct="1"/>
            <a:r>
              <a:rPr lang="zh-CN" altLang="en-US"/>
              <a:t>非局部</a:t>
            </a:r>
            <a:r>
              <a:rPr lang="en-US" altLang="zh-CN"/>
              <a:t>——</a:t>
            </a:r>
            <a:r>
              <a:rPr lang="zh-CN" altLang="en-US"/>
              <a:t>全局概念</a:t>
            </a:r>
            <a:endParaRPr lang="zh-CN" altLang="en-US"/>
          </a:p>
          <a:p>
            <a:pPr eaLnBrk="1" hangingPunct="1"/>
            <a:r>
              <a:rPr lang="zh-CN" altLang="en-US"/>
              <a:t>过程可作为参数和返回值</a:t>
            </a:r>
            <a:r>
              <a:rPr lang="zh-CN" altLang="en-US">
                <a:sym typeface="Wingdings" panose="05000000000000000000" pitchFamily="2" charset="2"/>
              </a:rPr>
              <a:t>非局部名字都可用静态地址访问到</a:t>
            </a:r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过程作为参数</a:t>
            </a:r>
            <a:r>
              <a:rPr lang="en-US" altLang="zh-CN"/>
              <a:t>——</a:t>
            </a:r>
            <a:r>
              <a:rPr lang="zh-CN" altLang="en-US"/>
              <a:t>无嵌套情况</a:t>
            </a:r>
            <a:endParaRPr lang="zh-CN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program pass(input, output);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var </a:t>
            </a:r>
            <a:r>
              <a:rPr lang="en-US" altLang="zh-CN" sz="2400" u="sng">
                <a:solidFill>
                  <a:schemeClr val="folHlink"/>
                </a:solidFill>
              </a:rPr>
              <a:t>m</a:t>
            </a:r>
            <a:r>
              <a:rPr lang="en-US" altLang="zh-CN" sz="2400"/>
              <a:t> : integer;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function f(n : integer) : integer;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begin 	f := </a:t>
            </a:r>
            <a:r>
              <a:rPr lang="en-US" altLang="zh-CN" sz="2400" u="sng">
                <a:solidFill>
                  <a:schemeClr val="folHlink"/>
                </a:solidFill>
              </a:rPr>
              <a:t>m</a:t>
            </a:r>
            <a:r>
              <a:rPr lang="en-US" altLang="zh-CN" sz="2400"/>
              <a:t> + n end;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function g(n : integer) : integer;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begin	g := </a:t>
            </a:r>
            <a:r>
              <a:rPr lang="en-US" altLang="zh-CN" sz="2400" u="sng">
                <a:solidFill>
                  <a:schemeClr val="folHlink"/>
                </a:solidFill>
              </a:rPr>
              <a:t>m</a:t>
            </a:r>
            <a:r>
              <a:rPr lang="en-US" altLang="zh-CN" sz="2400"/>
              <a:t> * n end;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procedure b(function h(n : integer) : integer);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begin	write(h(2)) end;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begin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</a:t>
            </a:r>
            <a:r>
              <a:rPr lang="en-US" altLang="zh-CN" sz="2400" u="sng">
                <a:solidFill>
                  <a:schemeClr val="folHlink"/>
                </a:solidFill>
              </a:rPr>
              <a:t>m</a:t>
            </a:r>
            <a:r>
              <a:rPr lang="en-US" altLang="zh-CN" sz="2400"/>
              <a:t> := 0;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b(f); b(g); writeln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end.</a:t>
            </a:r>
            <a:endParaRPr lang="en-US" altLang="zh-CN" sz="2400"/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ltGray">
          <a:xfrm>
            <a:off x="5638800" y="5562600"/>
            <a:ext cx="22098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latin typeface="Tahoma" panose="020B0604030504040204" pitchFamily="34" charset="0"/>
              </a:rPr>
              <a:t>运行结果：</a:t>
            </a:r>
            <a:endParaRPr lang="zh-CN" altLang="en-US" sz="240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ahoma" panose="020B0604030504040204" pitchFamily="34" charset="0"/>
              </a:rPr>
              <a:t>2	0</a:t>
            </a:r>
            <a:endParaRPr lang="en-US" altLang="zh-CN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7.4.3  </a:t>
            </a:r>
            <a:r>
              <a:rPr lang="zh-CN" altLang="en-US" sz="4000"/>
              <a:t>包含过程嵌套的静态作用域</a:t>
            </a:r>
            <a:endParaRPr lang="zh-CN" altLang="en-US" sz="400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Pascal</a:t>
            </a:r>
            <a:r>
              <a:rPr lang="zh-CN" altLang="en-US"/>
              <a:t>，最近嵌套规则</a:t>
            </a:r>
            <a:endParaRPr lang="zh-CN" altLang="en-US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program sort(input, output);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var a : array[0..10] of integer;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      x : integer;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procedure readarray;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var i : integer;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begin … a … end {readarray};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procedure exchange(i, j : integer);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begin x:=a[i];a[i]:=a[j];a[j]:=x end {exchange};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procedure quicksort(m, n : integer);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var k, v : integer;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function partition(y, z : integer) : integer;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var i, j : integer;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begin …a…  …v…  end {partition};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begin … end {quicksort};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begin … end {sort}.</a:t>
            </a:r>
            <a:endParaRPr lang="en-US" altLang="zh-CN" sz="2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嵌套深度（</a:t>
            </a:r>
            <a:r>
              <a:rPr lang="en-US" altLang="zh-CN">
                <a:solidFill>
                  <a:srgbClr val="FF3300"/>
                </a:solidFill>
              </a:rPr>
              <a:t>nesting depth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sort				1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readarray		2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exchange		2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quicksort		2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	partition		3</a:t>
            </a:r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访问链接</a:t>
            </a:r>
            <a:endParaRPr lang="zh-CN" alt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</a:t>
            </a:r>
            <a:r>
              <a:rPr lang="zh-CN" altLang="en-US"/>
              <a:t>直接嵌套在</a:t>
            </a:r>
            <a:r>
              <a:rPr lang="en-US" altLang="zh-CN"/>
              <a:t>q</a:t>
            </a:r>
            <a:r>
              <a:rPr lang="zh-CN" altLang="en-US"/>
              <a:t>内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Wingdings" panose="05000000000000000000" pitchFamily="2" charset="2"/>
              </a:rPr>
              <a:t>p</a:t>
            </a:r>
            <a:r>
              <a:rPr lang="zh-CN" altLang="en-US">
                <a:sym typeface="Wingdings" panose="05000000000000000000" pitchFamily="2" charset="2"/>
              </a:rPr>
              <a:t>的访问链接指向</a:t>
            </a:r>
            <a:r>
              <a:rPr lang="en-US" altLang="zh-CN">
                <a:sym typeface="Wingdings" panose="05000000000000000000" pitchFamily="2" charset="2"/>
              </a:rPr>
              <a:t>q</a:t>
            </a:r>
            <a:r>
              <a:rPr lang="zh-CN" altLang="en-US">
                <a:sym typeface="Wingdings" panose="05000000000000000000" pitchFamily="2" charset="2"/>
              </a:rPr>
              <a:t>的最近一次活动记录内的访问链接</a:t>
            </a:r>
            <a:endParaRPr lang="zh-CN" altLang="en-US"/>
          </a:p>
        </p:txBody>
      </p:sp>
      <p:pic>
        <p:nvPicPr>
          <p:cNvPr id="50180" name="Picture 4" descr="accesslin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075" y="2528888"/>
            <a:ext cx="6359525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Freeform 5"/>
          <p:cNvSpPr/>
          <p:nvPr/>
        </p:nvSpPr>
        <p:spPr bwMode="ltGray">
          <a:xfrm>
            <a:off x="2476500" y="3095625"/>
            <a:ext cx="454025" cy="717550"/>
          </a:xfrm>
          <a:custGeom>
            <a:avLst/>
            <a:gdLst>
              <a:gd name="T0" fmla="*/ 0 w 286"/>
              <a:gd name="T1" fmla="*/ 2147483646 h 452"/>
              <a:gd name="T2" fmla="*/ 2147483646 w 286"/>
              <a:gd name="T3" fmla="*/ 2147483646 h 452"/>
              <a:gd name="T4" fmla="*/ 2147483646 w 286"/>
              <a:gd name="T5" fmla="*/ 2147483646 h 452"/>
              <a:gd name="T6" fmla="*/ 2147483646 w 286"/>
              <a:gd name="T7" fmla="*/ 0 h 452"/>
              <a:gd name="T8" fmla="*/ 0 60000 65536"/>
              <a:gd name="T9" fmla="*/ 0 60000 65536"/>
              <a:gd name="T10" fmla="*/ 0 60000 65536"/>
              <a:gd name="T11" fmla="*/ 0 60000 65536"/>
              <a:gd name="T12" fmla="*/ 0 w 286"/>
              <a:gd name="T13" fmla="*/ 0 h 452"/>
              <a:gd name="T14" fmla="*/ 286 w 286"/>
              <a:gd name="T15" fmla="*/ 452 h 4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6" h="452">
                <a:moveTo>
                  <a:pt x="0" y="451"/>
                </a:moveTo>
                <a:cubicBezTo>
                  <a:pt x="41" y="441"/>
                  <a:pt x="210" y="452"/>
                  <a:pt x="248" y="389"/>
                </a:cubicBezTo>
                <a:cubicBezTo>
                  <a:pt x="286" y="326"/>
                  <a:pt x="268" y="135"/>
                  <a:pt x="230" y="70"/>
                </a:cubicBezTo>
                <a:cubicBezTo>
                  <a:pt x="192" y="5"/>
                  <a:pt x="62" y="15"/>
                  <a:pt x="17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2" name="Freeform 6"/>
          <p:cNvSpPr/>
          <p:nvPr/>
        </p:nvSpPr>
        <p:spPr bwMode="ltGray">
          <a:xfrm>
            <a:off x="4233863" y="3122613"/>
            <a:ext cx="349250" cy="717550"/>
          </a:xfrm>
          <a:custGeom>
            <a:avLst/>
            <a:gdLst>
              <a:gd name="T0" fmla="*/ 0 w 220"/>
              <a:gd name="T1" fmla="*/ 2147483646 h 452"/>
              <a:gd name="T2" fmla="*/ 2147483646 w 220"/>
              <a:gd name="T3" fmla="*/ 2147483646 h 452"/>
              <a:gd name="T4" fmla="*/ 2147483646 w 220"/>
              <a:gd name="T5" fmla="*/ 2147483646 h 452"/>
              <a:gd name="T6" fmla="*/ 2147483646 w 220"/>
              <a:gd name="T7" fmla="*/ 0 h 452"/>
              <a:gd name="T8" fmla="*/ 0 60000 65536"/>
              <a:gd name="T9" fmla="*/ 0 60000 65536"/>
              <a:gd name="T10" fmla="*/ 0 60000 65536"/>
              <a:gd name="T11" fmla="*/ 0 60000 65536"/>
              <a:gd name="T12" fmla="*/ 0 w 220"/>
              <a:gd name="T13" fmla="*/ 0 h 452"/>
              <a:gd name="T14" fmla="*/ 220 w 220"/>
              <a:gd name="T15" fmla="*/ 452 h 4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0" h="452">
                <a:moveTo>
                  <a:pt x="0" y="434"/>
                </a:moveTo>
                <a:cubicBezTo>
                  <a:pt x="31" y="429"/>
                  <a:pt x="154" y="452"/>
                  <a:pt x="186" y="399"/>
                </a:cubicBezTo>
                <a:cubicBezTo>
                  <a:pt x="218" y="346"/>
                  <a:pt x="220" y="181"/>
                  <a:pt x="195" y="115"/>
                </a:cubicBezTo>
                <a:cubicBezTo>
                  <a:pt x="170" y="49"/>
                  <a:pt x="69" y="24"/>
                  <a:pt x="36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3" name="Freeform 7"/>
          <p:cNvSpPr/>
          <p:nvPr/>
        </p:nvSpPr>
        <p:spPr bwMode="ltGray">
          <a:xfrm>
            <a:off x="4262438" y="3051175"/>
            <a:ext cx="636587" cy="1708150"/>
          </a:xfrm>
          <a:custGeom>
            <a:avLst/>
            <a:gdLst>
              <a:gd name="T0" fmla="*/ 0 w 401"/>
              <a:gd name="T1" fmla="*/ 2147483646 h 1076"/>
              <a:gd name="T2" fmla="*/ 2147483646 w 401"/>
              <a:gd name="T3" fmla="*/ 2147483646 h 1076"/>
              <a:gd name="T4" fmla="*/ 2147483646 w 401"/>
              <a:gd name="T5" fmla="*/ 2147483646 h 1076"/>
              <a:gd name="T6" fmla="*/ 2147483646 w 401"/>
              <a:gd name="T7" fmla="*/ 2147483646 h 1076"/>
              <a:gd name="T8" fmla="*/ 0 60000 65536"/>
              <a:gd name="T9" fmla="*/ 0 60000 65536"/>
              <a:gd name="T10" fmla="*/ 0 60000 65536"/>
              <a:gd name="T11" fmla="*/ 0 60000 65536"/>
              <a:gd name="T12" fmla="*/ 0 w 401"/>
              <a:gd name="T13" fmla="*/ 0 h 1076"/>
              <a:gd name="T14" fmla="*/ 401 w 401"/>
              <a:gd name="T15" fmla="*/ 1076 h 10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1" h="1076">
                <a:moveTo>
                  <a:pt x="0" y="1020"/>
                </a:moveTo>
                <a:cubicBezTo>
                  <a:pt x="58" y="1005"/>
                  <a:pt x="291" y="1076"/>
                  <a:pt x="346" y="931"/>
                </a:cubicBezTo>
                <a:cubicBezTo>
                  <a:pt x="401" y="786"/>
                  <a:pt x="383" y="304"/>
                  <a:pt x="328" y="152"/>
                </a:cubicBezTo>
                <a:cubicBezTo>
                  <a:pt x="273" y="0"/>
                  <a:pt x="83" y="47"/>
                  <a:pt x="18" y="19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4" name="Freeform 10"/>
          <p:cNvSpPr/>
          <p:nvPr/>
        </p:nvSpPr>
        <p:spPr bwMode="ltGray">
          <a:xfrm>
            <a:off x="6048375" y="4757738"/>
            <a:ext cx="376238" cy="793750"/>
          </a:xfrm>
          <a:custGeom>
            <a:avLst/>
            <a:gdLst>
              <a:gd name="T0" fmla="*/ 0 w 237"/>
              <a:gd name="T1" fmla="*/ 2147483646 h 500"/>
              <a:gd name="T2" fmla="*/ 2147483646 w 237"/>
              <a:gd name="T3" fmla="*/ 2147483646 h 500"/>
              <a:gd name="T4" fmla="*/ 2147483646 w 237"/>
              <a:gd name="T5" fmla="*/ 2147483646 h 500"/>
              <a:gd name="T6" fmla="*/ 0 w 237"/>
              <a:gd name="T7" fmla="*/ 2147483646 h 500"/>
              <a:gd name="T8" fmla="*/ 0 60000 65536"/>
              <a:gd name="T9" fmla="*/ 0 60000 65536"/>
              <a:gd name="T10" fmla="*/ 0 60000 65536"/>
              <a:gd name="T11" fmla="*/ 0 60000 65536"/>
              <a:gd name="T12" fmla="*/ 0 w 237"/>
              <a:gd name="T13" fmla="*/ 0 h 500"/>
              <a:gd name="T14" fmla="*/ 237 w 237"/>
              <a:gd name="T15" fmla="*/ 500 h 5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7" h="500">
                <a:moveTo>
                  <a:pt x="0" y="477"/>
                </a:moveTo>
                <a:cubicBezTo>
                  <a:pt x="32" y="468"/>
                  <a:pt x="171" y="500"/>
                  <a:pt x="204" y="432"/>
                </a:cubicBezTo>
                <a:cubicBezTo>
                  <a:pt x="237" y="364"/>
                  <a:pt x="229" y="138"/>
                  <a:pt x="195" y="69"/>
                </a:cubicBezTo>
                <a:cubicBezTo>
                  <a:pt x="161" y="0"/>
                  <a:pt x="41" y="27"/>
                  <a:pt x="0" y="1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5" name="Freeform 17"/>
          <p:cNvSpPr/>
          <p:nvPr/>
        </p:nvSpPr>
        <p:spPr bwMode="ltGray">
          <a:xfrm>
            <a:off x="7807325" y="2868613"/>
            <a:ext cx="985838" cy="3676650"/>
          </a:xfrm>
          <a:custGeom>
            <a:avLst/>
            <a:gdLst>
              <a:gd name="T0" fmla="*/ 0 w 621"/>
              <a:gd name="T1" fmla="*/ 2147483646 h 2316"/>
              <a:gd name="T2" fmla="*/ 2147483646 w 621"/>
              <a:gd name="T3" fmla="*/ 2147483646 h 2316"/>
              <a:gd name="T4" fmla="*/ 2147483646 w 621"/>
              <a:gd name="T5" fmla="*/ 2147483646 h 2316"/>
              <a:gd name="T6" fmla="*/ 2147483646 w 621"/>
              <a:gd name="T7" fmla="*/ 2147483646 h 2316"/>
              <a:gd name="T8" fmla="*/ 0 60000 65536"/>
              <a:gd name="T9" fmla="*/ 0 60000 65536"/>
              <a:gd name="T10" fmla="*/ 0 60000 65536"/>
              <a:gd name="T11" fmla="*/ 0 60000 65536"/>
              <a:gd name="T12" fmla="*/ 0 w 621"/>
              <a:gd name="T13" fmla="*/ 0 h 2316"/>
              <a:gd name="T14" fmla="*/ 621 w 621"/>
              <a:gd name="T15" fmla="*/ 2316 h 23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1" h="2316">
                <a:moveTo>
                  <a:pt x="0" y="2190"/>
                </a:moveTo>
                <a:cubicBezTo>
                  <a:pt x="89" y="2159"/>
                  <a:pt x="443" y="2316"/>
                  <a:pt x="532" y="2003"/>
                </a:cubicBezTo>
                <a:cubicBezTo>
                  <a:pt x="621" y="1690"/>
                  <a:pt x="616" y="620"/>
                  <a:pt x="532" y="310"/>
                </a:cubicBezTo>
                <a:cubicBezTo>
                  <a:pt x="448" y="0"/>
                  <a:pt x="132" y="177"/>
                  <a:pt x="27" y="142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6" name="Freeform 18"/>
          <p:cNvSpPr/>
          <p:nvPr/>
        </p:nvSpPr>
        <p:spPr bwMode="ltGray">
          <a:xfrm>
            <a:off x="5991225" y="3119438"/>
            <a:ext cx="349250" cy="717550"/>
          </a:xfrm>
          <a:custGeom>
            <a:avLst/>
            <a:gdLst>
              <a:gd name="T0" fmla="*/ 0 w 220"/>
              <a:gd name="T1" fmla="*/ 2147483646 h 452"/>
              <a:gd name="T2" fmla="*/ 2147483646 w 220"/>
              <a:gd name="T3" fmla="*/ 2147483646 h 452"/>
              <a:gd name="T4" fmla="*/ 2147483646 w 220"/>
              <a:gd name="T5" fmla="*/ 2147483646 h 452"/>
              <a:gd name="T6" fmla="*/ 2147483646 w 220"/>
              <a:gd name="T7" fmla="*/ 0 h 452"/>
              <a:gd name="T8" fmla="*/ 0 60000 65536"/>
              <a:gd name="T9" fmla="*/ 0 60000 65536"/>
              <a:gd name="T10" fmla="*/ 0 60000 65536"/>
              <a:gd name="T11" fmla="*/ 0 60000 65536"/>
              <a:gd name="T12" fmla="*/ 0 w 220"/>
              <a:gd name="T13" fmla="*/ 0 h 452"/>
              <a:gd name="T14" fmla="*/ 220 w 220"/>
              <a:gd name="T15" fmla="*/ 452 h 4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0" h="452">
                <a:moveTo>
                  <a:pt x="0" y="434"/>
                </a:moveTo>
                <a:cubicBezTo>
                  <a:pt x="31" y="429"/>
                  <a:pt x="154" y="452"/>
                  <a:pt x="186" y="399"/>
                </a:cubicBezTo>
                <a:cubicBezTo>
                  <a:pt x="218" y="346"/>
                  <a:pt x="220" y="181"/>
                  <a:pt x="195" y="115"/>
                </a:cubicBezTo>
                <a:cubicBezTo>
                  <a:pt x="170" y="49"/>
                  <a:pt x="69" y="24"/>
                  <a:pt x="36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7" name="Freeform 19"/>
          <p:cNvSpPr/>
          <p:nvPr/>
        </p:nvSpPr>
        <p:spPr bwMode="ltGray">
          <a:xfrm>
            <a:off x="6019800" y="3048000"/>
            <a:ext cx="636588" cy="1708150"/>
          </a:xfrm>
          <a:custGeom>
            <a:avLst/>
            <a:gdLst>
              <a:gd name="T0" fmla="*/ 0 w 401"/>
              <a:gd name="T1" fmla="*/ 2147483646 h 1076"/>
              <a:gd name="T2" fmla="*/ 2147483646 w 401"/>
              <a:gd name="T3" fmla="*/ 2147483646 h 1076"/>
              <a:gd name="T4" fmla="*/ 2147483646 w 401"/>
              <a:gd name="T5" fmla="*/ 2147483646 h 1076"/>
              <a:gd name="T6" fmla="*/ 2147483646 w 401"/>
              <a:gd name="T7" fmla="*/ 2147483646 h 1076"/>
              <a:gd name="T8" fmla="*/ 0 60000 65536"/>
              <a:gd name="T9" fmla="*/ 0 60000 65536"/>
              <a:gd name="T10" fmla="*/ 0 60000 65536"/>
              <a:gd name="T11" fmla="*/ 0 60000 65536"/>
              <a:gd name="T12" fmla="*/ 0 w 401"/>
              <a:gd name="T13" fmla="*/ 0 h 1076"/>
              <a:gd name="T14" fmla="*/ 401 w 401"/>
              <a:gd name="T15" fmla="*/ 1076 h 10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1" h="1076">
                <a:moveTo>
                  <a:pt x="0" y="1020"/>
                </a:moveTo>
                <a:cubicBezTo>
                  <a:pt x="58" y="1005"/>
                  <a:pt x="291" y="1076"/>
                  <a:pt x="346" y="931"/>
                </a:cubicBezTo>
                <a:cubicBezTo>
                  <a:pt x="401" y="786"/>
                  <a:pt x="383" y="304"/>
                  <a:pt x="328" y="152"/>
                </a:cubicBezTo>
                <a:cubicBezTo>
                  <a:pt x="273" y="0"/>
                  <a:pt x="83" y="47"/>
                  <a:pt x="18" y="19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8" name="Freeform 20"/>
          <p:cNvSpPr/>
          <p:nvPr/>
        </p:nvSpPr>
        <p:spPr bwMode="ltGray">
          <a:xfrm>
            <a:off x="7800975" y="4757738"/>
            <a:ext cx="376238" cy="793750"/>
          </a:xfrm>
          <a:custGeom>
            <a:avLst/>
            <a:gdLst>
              <a:gd name="T0" fmla="*/ 0 w 237"/>
              <a:gd name="T1" fmla="*/ 2147483646 h 500"/>
              <a:gd name="T2" fmla="*/ 2147483646 w 237"/>
              <a:gd name="T3" fmla="*/ 2147483646 h 500"/>
              <a:gd name="T4" fmla="*/ 2147483646 w 237"/>
              <a:gd name="T5" fmla="*/ 2147483646 h 500"/>
              <a:gd name="T6" fmla="*/ 0 w 237"/>
              <a:gd name="T7" fmla="*/ 2147483646 h 500"/>
              <a:gd name="T8" fmla="*/ 0 60000 65536"/>
              <a:gd name="T9" fmla="*/ 0 60000 65536"/>
              <a:gd name="T10" fmla="*/ 0 60000 65536"/>
              <a:gd name="T11" fmla="*/ 0 60000 65536"/>
              <a:gd name="T12" fmla="*/ 0 w 237"/>
              <a:gd name="T13" fmla="*/ 0 h 500"/>
              <a:gd name="T14" fmla="*/ 237 w 237"/>
              <a:gd name="T15" fmla="*/ 500 h 5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7" h="500">
                <a:moveTo>
                  <a:pt x="0" y="477"/>
                </a:moveTo>
                <a:cubicBezTo>
                  <a:pt x="32" y="468"/>
                  <a:pt x="171" y="500"/>
                  <a:pt x="204" y="432"/>
                </a:cubicBezTo>
                <a:cubicBezTo>
                  <a:pt x="237" y="364"/>
                  <a:pt x="229" y="138"/>
                  <a:pt x="195" y="69"/>
                </a:cubicBezTo>
                <a:cubicBezTo>
                  <a:pt x="161" y="0"/>
                  <a:pt x="41" y="27"/>
                  <a:pt x="0" y="16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9" name="Freeform 21"/>
          <p:cNvSpPr/>
          <p:nvPr/>
        </p:nvSpPr>
        <p:spPr bwMode="ltGray">
          <a:xfrm>
            <a:off x="7743825" y="3119438"/>
            <a:ext cx="349250" cy="717550"/>
          </a:xfrm>
          <a:custGeom>
            <a:avLst/>
            <a:gdLst>
              <a:gd name="T0" fmla="*/ 0 w 220"/>
              <a:gd name="T1" fmla="*/ 2147483646 h 452"/>
              <a:gd name="T2" fmla="*/ 2147483646 w 220"/>
              <a:gd name="T3" fmla="*/ 2147483646 h 452"/>
              <a:gd name="T4" fmla="*/ 2147483646 w 220"/>
              <a:gd name="T5" fmla="*/ 2147483646 h 452"/>
              <a:gd name="T6" fmla="*/ 2147483646 w 220"/>
              <a:gd name="T7" fmla="*/ 0 h 452"/>
              <a:gd name="T8" fmla="*/ 0 60000 65536"/>
              <a:gd name="T9" fmla="*/ 0 60000 65536"/>
              <a:gd name="T10" fmla="*/ 0 60000 65536"/>
              <a:gd name="T11" fmla="*/ 0 60000 65536"/>
              <a:gd name="T12" fmla="*/ 0 w 220"/>
              <a:gd name="T13" fmla="*/ 0 h 452"/>
              <a:gd name="T14" fmla="*/ 220 w 220"/>
              <a:gd name="T15" fmla="*/ 452 h 4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0" h="452">
                <a:moveTo>
                  <a:pt x="0" y="434"/>
                </a:moveTo>
                <a:cubicBezTo>
                  <a:pt x="31" y="429"/>
                  <a:pt x="154" y="452"/>
                  <a:pt x="186" y="399"/>
                </a:cubicBezTo>
                <a:cubicBezTo>
                  <a:pt x="218" y="346"/>
                  <a:pt x="220" y="181"/>
                  <a:pt x="195" y="115"/>
                </a:cubicBezTo>
                <a:cubicBezTo>
                  <a:pt x="170" y="49"/>
                  <a:pt x="69" y="24"/>
                  <a:pt x="36" y="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0" name="Freeform 22"/>
          <p:cNvSpPr/>
          <p:nvPr/>
        </p:nvSpPr>
        <p:spPr bwMode="ltGray">
          <a:xfrm>
            <a:off x="7772400" y="3048000"/>
            <a:ext cx="636588" cy="1708150"/>
          </a:xfrm>
          <a:custGeom>
            <a:avLst/>
            <a:gdLst>
              <a:gd name="T0" fmla="*/ 0 w 401"/>
              <a:gd name="T1" fmla="*/ 2147483646 h 1076"/>
              <a:gd name="T2" fmla="*/ 2147483646 w 401"/>
              <a:gd name="T3" fmla="*/ 2147483646 h 1076"/>
              <a:gd name="T4" fmla="*/ 2147483646 w 401"/>
              <a:gd name="T5" fmla="*/ 2147483646 h 1076"/>
              <a:gd name="T6" fmla="*/ 2147483646 w 401"/>
              <a:gd name="T7" fmla="*/ 2147483646 h 1076"/>
              <a:gd name="T8" fmla="*/ 0 60000 65536"/>
              <a:gd name="T9" fmla="*/ 0 60000 65536"/>
              <a:gd name="T10" fmla="*/ 0 60000 65536"/>
              <a:gd name="T11" fmla="*/ 0 60000 65536"/>
              <a:gd name="T12" fmla="*/ 0 w 401"/>
              <a:gd name="T13" fmla="*/ 0 h 1076"/>
              <a:gd name="T14" fmla="*/ 401 w 401"/>
              <a:gd name="T15" fmla="*/ 1076 h 10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1" h="1076">
                <a:moveTo>
                  <a:pt x="0" y="1020"/>
                </a:moveTo>
                <a:cubicBezTo>
                  <a:pt x="58" y="1005"/>
                  <a:pt x="291" y="1076"/>
                  <a:pt x="346" y="931"/>
                </a:cubicBezTo>
                <a:cubicBezTo>
                  <a:pt x="401" y="786"/>
                  <a:pt x="383" y="304"/>
                  <a:pt x="328" y="152"/>
                </a:cubicBezTo>
                <a:cubicBezTo>
                  <a:pt x="273" y="0"/>
                  <a:pt x="83" y="47"/>
                  <a:pt x="18" y="19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使用访问链接</a:t>
            </a: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/>
              <a:t>过程</a:t>
            </a:r>
            <a:r>
              <a:rPr lang="en-US" altLang="zh-CN"/>
              <a:t>p</a:t>
            </a:r>
            <a:r>
              <a:rPr lang="zh-CN" altLang="en-US"/>
              <a:t>（嵌套深度</a:t>
            </a:r>
            <a:r>
              <a:rPr lang="en-US" altLang="zh-CN"/>
              <a:t>n</a:t>
            </a:r>
            <a:r>
              <a:rPr lang="en-US" altLang="zh-CN" baseline="-25000"/>
              <a:t>p</a:t>
            </a:r>
            <a:r>
              <a:rPr lang="zh-CN" altLang="en-US"/>
              <a:t>）访问非局部数据</a:t>
            </a:r>
            <a:r>
              <a:rPr lang="en-US" altLang="zh-CN"/>
              <a:t>a</a:t>
            </a:r>
            <a:r>
              <a:rPr lang="zh-CN" altLang="en-US"/>
              <a:t>（嵌套深度</a:t>
            </a:r>
            <a:r>
              <a:rPr lang="en-US" altLang="zh-CN"/>
              <a:t>n</a:t>
            </a:r>
            <a:r>
              <a:rPr lang="en-US" altLang="zh-CN" baseline="-25000"/>
              <a:t>a</a:t>
            </a:r>
            <a:r>
              <a:rPr lang="zh-CN" altLang="en-US"/>
              <a:t>），</a:t>
            </a:r>
            <a:r>
              <a:rPr lang="en-US" altLang="zh-CN"/>
              <a:t>n</a:t>
            </a:r>
            <a:r>
              <a:rPr lang="en-US" altLang="zh-CN" baseline="-25000"/>
              <a:t>a</a:t>
            </a:r>
            <a:r>
              <a:rPr lang="en-US" altLang="zh-CN"/>
              <a:t>&lt;=n</a:t>
            </a:r>
            <a:r>
              <a:rPr lang="en-US" altLang="zh-CN" baseline="-25000"/>
              <a:t>p</a:t>
            </a:r>
            <a:r>
              <a:rPr lang="zh-CN" altLang="en-US"/>
              <a:t>，访问方法为：</a:t>
            </a:r>
            <a:endParaRPr lang="zh-CN" altLang="en-US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当控制流到达</a:t>
            </a:r>
            <a:r>
              <a:rPr lang="en-US" altLang="zh-CN"/>
              <a:t>p</a:t>
            </a:r>
            <a:r>
              <a:rPr lang="zh-CN" altLang="en-US"/>
              <a:t>，其活动记录位于栈顶。从它的访问链接开始，遍历</a:t>
            </a:r>
            <a:r>
              <a:rPr lang="en-US" altLang="zh-CN"/>
              <a:t>n</a:t>
            </a:r>
            <a:r>
              <a:rPr lang="en-US" altLang="zh-CN" baseline="-25000"/>
              <a:t>p</a:t>
            </a:r>
            <a:r>
              <a:rPr lang="en-US" altLang="zh-CN"/>
              <a:t>-n</a:t>
            </a:r>
            <a:r>
              <a:rPr lang="en-US" altLang="zh-CN" baseline="-25000"/>
              <a:t>a</a:t>
            </a:r>
            <a:r>
              <a:rPr lang="zh-CN" altLang="en-US"/>
              <a:t>（此值在编译阶段即可获得）个访问链接</a:t>
            </a:r>
            <a:endParaRPr lang="zh-CN" altLang="en-US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此时即可到达</a:t>
            </a:r>
            <a:r>
              <a:rPr lang="en-US" altLang="zh-CN"/>
              <a:t>a</a:t>
            </a:r>
            <a:r>
              <a:rPr lang="zh-CN" altLang="en-US"/>
              <a:t>所在过程的活动记录，由其访问链接地址即可得到</a:t>
            </a:r>
            <a:r>
              <a:rPr lang="en-US" altLang="zh-CN"/>
              <a:t>a</a:t>
            </a:r>
            <a:r>
              <a:rPr lang="zh-CN" altLang="en-US"/>
              <a:t>的地址</a:t>
            </a:r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设置访问链接</a:t>
            </a:r>
            <a:endParaRPr lang="zh-CN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10200"/>
          </a:xfrm>
        </p:spPr>
        <p:txBody>
          <a:bodyPr/>
          <a:lstStyle/>
          <a:p>
            <a:pPr marL="609600" indent="-609600" eaLnBrk="1" hangingPunct="1"/>
            <a:r>
              <a:rPr lang="zh-CN" altLang="en-US"/>
              <a:t>调用序列代码的一部分，假定过程</a:t>
            </a:r>
            <a:r>
              <a:rPr lang="en-US" altLang="zh-CN"/>
              <a:t>p</a:t>
            </a:r>
            <a:r>
              <a:rPr lang="zh-CN" altLang="en-US"/>
              <a:t>（嵌套深度</a:t>
            </a:r>
            <a:r>
              <a:rPr lang="en-US" altLang="zh-CN"/>
              <a:t>n</a:t>
            </a:r>
            <a:r>
              <a:rPr lang="en-US" altLang="zh-CN" baseline="-25000"/>
              <a:t>p</a:t>
            </a:r>
            <a:r>
              <a:rPr lang="zh-CN" altLang="en-US"/>
              <a:t>）调用过程</a:t>
            </a:r>
            <a:r>
              <a:rPr lang="en-US" altLang="zh-CN"/>
              <a:t>x</a:t>
            </a:r>
            <a:r>
              <a:rPr lang="zh-CN" altLang="en-US"/>
              <a:t>（嵌套深度</a:t>
            </a:r>
            <a:r>
              <a:rPr lang="en-US" altLang="zh-CN"/>
              <a:t>n</a:t>
            </a:r>
            <a:r>
              <a:rPr lang="en-US" altLang="zh-CN" baseline="-25000"/>
              <a:t>x</a:t>
            </a:r>
            <a:r>
              <a:rPr lang="zh-CN" altLang="en-US"/>
              <a:t>）</a:t>
            </a:r>
            <a:endParaRPr lang="zh-CN" altLang="en-US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/>
              <a:t>n</a:t>
            </a:r>
            <a:r>
              <a:rPr lang="en-US" altLang="zh-CN" baseline="-25000"/>
              <a:t>p</a:t>
            </a:r>
            <a:r>
              <a:rPr lang="en-US" altLang="zh-CN"/>
              <a:t>&lt;n</a:t>
            </a:r>
            <a:r>
              <a:rPr lang="en-US" altLang="zh-CN" baseline="-25000"/>
              <a:t>x</a:t>
            </a:r>
            <a:br>
              <a:rPr lang="en-US" altLang="zh-CN" baseline="-25000"/>
            </a:br>
            <a:r>
              <a:rPr lang="en-US" altLang="zh-CN">
                <a:sym typeface="Wingdings" panose="05000000000000000000" pitchFamily="2" charset="2"/>
              </a:rPr>
              <a:t>x</a:t>
            </a:r>
            <a:r>
              <a:rPr lang="zh-CN" altLang="en-US">
                <a:sym typeface="Wingdings" panose="05000000000000000000" pitchFamily="2" charset="2"/>
              </a:rPr>
              <a:t>在</a:t>
            </a:r>
            <a:r>
              <a:rPr lang="en-US" altLang="zh-CN">
                <a:sym typeface="Wingdings" panose="05000000000000000000" pitchFamily="2" charset="2"/>
              </a:rPr>
              <a:t>p</a:t>
            </a:r>
            <a:r>
              <a:rPr lang="zh-CN" altLang="en-US">
                <a:sym typeface="Wingdings" panose="05000000000000000000" pitchFamily="2" charset="2"/>
              </a:rPr>
              <a:t>内部声明，应将</a:t>
            </a:r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zh-CN" altLang="en-US">
                <a:sym typeface="Wingdings" panose="05000000000000000000" pitchFamily="2" charset="2"/>
              </a:rPr>
              <a:t>的访问链接指向</a:t>
            </a:r>
            <a:r>
              <a:rPr lang="en-US" altLang="zh-CN">
                <a:sym typeface="Wingdings" panose="05000000000000000000" pitchFamily="2" charset="2"/>
              </a:rPr>
              <a:t>p</a:t>
            </a:r>
            <a:r>
              <a:rPr lang="zh-CN" altLang="en-US">
                <a:sym typeface="Wingdings" panose="05000000000000000000" pitchFamily="2" charset="2"/>
              </a:rPr>
              <a:t>的访问链接</a:t>
            </a:r>
            <a:endParaRPr lang="zh-CN" altLang="en-US">
              <a:sym typeface="Wingdings" panose="05000000000000000000" pitchFamily="2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>
                <a:sym typeface="Wingdings" panose="05000000000000000000" pitchFamily="2" charset="2"/>
              </a:rPr>
              <a:t>n</a:t>
            </a:r>
            <a:r>
              <a:rPr lang="en-US" altLang="zh-CN" baseline="-25000">
                <a:sym typeface="Wingdings" panose="05000000000000000000" pitchFamily="2" charset="2"/>
              </a:rPr>
              <a:t>p</a:t>
            </a:r>
            <a:r>
              <a:rPr lang="en-US" altLang="zh-CN">
                <a:sym typeface="Wingdings" panose="05000000000000000000" pitchFamily="2" charset="2"/>
              </a:rPr>
              <a:t>&gt;=n</a:t>
            </a:r>
            <a:r>
              <a:rPr lang="en-US" altLang="zh-CN" baseline="-25000">
                <a:sym typeface="Wingdings" panose="05000000000000000000" pitchFamily="2" charset="2"/>
              </a:rPr>
              <a:t>x</a:t>
            </a:r>
            <a:br>
              <a:rPr lang="en-US" altLang="zh-CN" baseline="-25000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</a:t>
            </a:r>
            <a:r>
              <a:rPr lang="zh-CN" altLang="en-US">
                <a:sym typeface="Wingdings" panose="05000000000000000000" pitchFamily="2" charset="2"/>
              </a:rPr>
              <a:t>当前包含</a:t>
            </a:r>
            <a:r>
              <a:rPr lang="en-US" altLang="zh-CN">
                <a:sym typeface="Wingdings" panose="05000000000000000000" pitchFamily="2" charset="2"/>
              </a:rPr>
              <a:t>p</a:t>
            </a:r>
            <a:r>
              <a:rPr lang="zh-CN" altLang="en-US">
                <a:sym typeface="Wingdings" panose="05000000000000000000" pitchFamily="2" charset="2"/>
              </a:rPr>
              <a:t>和</a:t>
            </a:r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zh-CN" altLang="en-US">
                <a:sym typeface="Wingdings" panose="05000000000000000000" pitchFamily="2" charset="2"/>
              </a:rPr>
              <a:t>，深度为</a:t>
            </a:r>
            <a:r>
              <a:rPr lang="en-US" altLang="zh-CN">
                <a:sym typeface="Wingdings" panose="05000000000000000000" pitchFamily="2" charset="2"/>
              </a:rPr>
              <a:t>1, 2, …, n</a:t>
            </a:r>
            <a:r>
              <a:rPr lang="en-US" altLang="zh-CN" baseline="-25000">
                <a:sym typeface="Wingdings" panose="05000000000000000000" pitchFamily="2" charset="2"/>
              </a:rPr>
              <a:t>x</a:t>
            </a:r>
            <a:r>
              <a:rPr lang="en-US" altLang="zh-CN">
                <a:sym typeface="Wingdings" panose="05000000000000000000" pitchFamily="2" charset="2"/>
              </a:rPr>
              <a:t>-1</a:t>
            </a:r>
            <a:r>
              <a:rPr lang="zh-CN" altLang="en-US">
                <a:sym typeface="Wingdings" panose="05000000000000000000" pitchFamily="2" charset="2"/>
              </a:rPr>
              <a:t>的过程必然是相同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从</a:t>
            </a:r>
            <a:r>
              <a:rPr lang="en-US" altLang="zh-CN">
                <a:sym typeface="Wingdings" panose="05000000000000000000" pitchFamily="2" charset="2"/>
              </a:rPr>
              <a:t>p</a:t>
            </a:r>
            <a:r>
              <a:rPr lang="zh-CN" altLang="en-US">
                <a:sym typeface="Wingdings" panose="05000000000000000000" pitchFamily="2" charset="2"/>
              </a:rPr>
              <a:t>开始，遍历</a:t>
            </a:r>
            <a:r>
              <a:rPr lang="en-US" altLang="zh-CN">
                <a:sym typeface="Wingdings" panose="05000000000000000000" pitchFamily="2" charset="2"/>
              </a:rPr>
              <a:t>n</a:t>
            </a:r>
            <a:r>
              <a:rPr lang="en-US" altLang="zh-CN" baseline="-25000">
                <a:sym typeface="Wingdings" panose="05000000000000000000" pitchFamily="2" charset="2"/>
              </a:rPr>
              <a:t>p</a:t>
            </a:r>
            <a:r>
              <a:rPr lang="en-US" altLang="zh-CN">
                <a:sym typeface="Wingdings" panose="05000000000000000000" pitchFamily="2" charset="2"/>
              </a:rPr>
              <a:t>-n</a:t>
            </a:r>
            <a:r>
              <a:rPr lang="en-US" altLang="zh-CN" baseline="-25000">
                <a:sym typeface="Wingdings" panose="05000000000000000000" pitchFamily="2" charset="2"/>
              </a:rPr>
              <a:t>x</a:t>
            </a:r>
            <a:r>
              <a:rPr lang="en-US" altLang="zh-CN">
                <a:sym typeface="Wingdings" panose="05000000000000000000" pitchFamily="2" charset="2"/>
              </a:rPr>
              <a:t>+1</a:t>
            </a:r>
            <a:r>
              <a:rPr lang="zh-CN" altLang="en-US">
                <a:sym typeface="Wingdings" panose="05000000000000000000" pitchFamily="2" charset="2"/>
              </a:rPr>
              <a:t>个访问链接，到达同时包含</a:t>
            </a:r>
            <a:r>
              <a:rPr lang="en-US" altLang="zh-CN">
                <a:sym typeface="Wingdings" panose="05000000000000000000" pitchFamily="2" charset="2"/>
              </a:rPr>
              <a:t>p</a:t>
            </a:r>
            <a:r>
              <a:rPr lang="zh-CN" altLang="en-US">
                <a:sym typeface="Wingdings" panose="05000000000000000000" pitchFamily="2" charset="2"/>
              </a:rPr>
              <a:t>、</a:t>
            </a:r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zh-CN" altLang="en-US">
                <a:sym typeface="Wingdings" panose="05000000000000000000" pitchFamily="2" charset="2"/>
              </a:rPr>
              <a:t>的最近的过程的活动记录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zh-CN" altLang="en-US">
                <a:sym typeface="Wingdings" panose="05000000000000000000" pitchFamily="2" charset="2"/>
              </a:rPr>
              <a:t>的访问链接应指向此记录的访问链接</a:t>
            </a:r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过程作为参数的情况</a:t>
            </a:r>
            <a:endParaRPr lang="zh-CN" alt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program param(input, output);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procedure b(function h(n : integer) : integer);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begin writeln(h(2)) end { b };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procedure c;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var m : integer;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function f(n : integer) : integer;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	begin f := m + n end { f };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begin m := 0; b(f) end { c };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begin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c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end.</a:t>
            </a:r>
            <a:endParaRPr lang="en-US" altLang="zh-CN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过程作为参数的情况（续）</a:t>
            </a:r>
            <a:endParaRPr lang="zh-CN" alt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当过程作为参数传递时，对应的访问链接也一起传递</a:t>
            </a:r>
            <a:endParaRPr lang="zh-CN" altLang="en-US"/>
          </a:p>
        </p:txBody>
      </p:sp>
      <p:pic>
        <p:nvPicPr>
          <p:cNvPr id="54276" name="Picture 4" descr="procedureparamete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0" y="2414588"/>
            <a:ext cx="2343150" cy="421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7" name="Freeform 5"/>
          <p:cNvSpPr/>
          <p:nvPr/>
        </p:nvSpPr>
        <p:spPr bwMode="ltGray">
          <a:xfrm>
            <a:off x="2819400" y="4732338"/>
            <a:ext cx="1138238" cy="1311275"/>
          </a:xfrm>
          <a:custGeom>
            <a:avLst/>
            <a:gdLst>
              <a:gd name="T0" fmla="*/ 2147483646 w 717"/>
              <a:gd name="T1" fmla="*/ 2147483646 h 826"/>
              <a:gd name="T2" fmla="*/ 2147483646 w 717"/>
              <a:gd name="T3" fmla="*/ 2147483646 h 826"/>
              <a:gd name="T4" fmla="*/ 2147483646 w 717"/>
              <a:gd name="T5" fmla="*/ 2147483646 h 826"/>
              <a:gd name="T6" fmla="*/ 2147483646 w 717"/>
              <a:gd name="T7" fmla="*/ 2147483646 h 826"/>
              <a:gd name="T8" fmla="*/ 2147483646 w 717"/>
              <a:gd name="T9" fmla="*/ 2147483646 h 8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17"/>
              <a:gd name="T16" fmla="*/ 0 h 826"/>
              <a:gd name="T17" fmla="*/ 717 w 717"/>
              <a:gd name="T18" fmla="*/ 826 h 8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17" h="826">
                <a:moveTo>
                  <a:pt x="659" y="605"/>
                </a:moveTo>
                <a:cubicBezTo>
                  <a:pt x="653" y="636"/>
                  <a:pt x="717" y="774"/>
                  <a:pt x="623" y="792"/>
                </a:cubicBezTo>
                <a:cubicBezTo>
                  <a:pt x="529" y="810"/>
                  <a:pt x="184" y="826"/>
                  <a:pt x="92" y="712"/>
                </a:cubicBezTo>
                <a:cubicBezTo>
                  <a:pt x="0" y="598"/>
                  <a:pt x="14" y="218"/>
                  <a:pt x="74" y="109"/>
                </a:cubicBezTo>
                <a:cubicBezTo>
                  <a:pt x="134" y="0"/>
                  <a:pt x="376" y="67"/>
                  <a:pt x="455" y="56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8" name="Freeform 6"/>
          <p:cNvSpPr/>
          <p:nvPr/>
        </p:nvSpPr>
        <p:spPr bwMode="ltGray">
          <a:xfrm>
            <a:off x="5734050" y="3306763"/>
            <a:ext cx="676275" cy="1341437"/>
          </a:xfrm>
          <a:custGeom>
            <a:avLst/>
            <a:gdLst>
              <a:gd name="T0" fmla="*/ 0 w 426"/>
              <a:gd name="T1" fmla="*/ 2147483646 h 845"/>
              <a:gd name="T2" fmla="*/ 2147483646 w 426"/>
              <a:gd name="T3" fmla="*/ 2147483646 h 845"/>
              <a:gd name="T4" fmla="*/ 2147483646 w 426"/>
              <a:gd name="T5" fmla="*/ 2147483646 h 845"/>
              <a:gd name="T6" fmla="*/ 2147483646 w 426"/>
              <a:gd name="T7" fmla="*/ 2147483646 h 845"/>
              <a:gd name="T8" fmla="*/ 0 60000 65536"/>
              <a:gd name="T9" fmla="*/ 0 60000 65536"/>
              <a:gd name="T10" fmla="*/ 0 60000 65536"/>
              <a:gd name="T11" fmla="*/ 0 60000 65536"/>
              <a:gd name="T12" fmla="*/ 0 w 426"/>
              <a:gd name="T13" fmla="*/ 0 h 845"/>
              <a:gd name="T14" fmla="*/ 426 w 426"/>
              <a:gd name="T15" fmla="*/ 845 h 84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6" h="845">
                <a:moveTo>
                  <a:pt x="0" y="782"/>
                </a:moveTo>
                <a:cubicBezTo>
                  <a:pt x="61" y="774"/>
                  <a:pt x="304" y="845"/>
                  <a:pt x="365" y="733"/>
                </a:cubicBezTo>
                <a:cubicBezTo>
                  <a:pt x="426" y="621"/>
                  <a:pt x="418" y="224"/>
                  <a:pt x="365" y="112"/>
                </a:cubicBezTo>
                <a:cubicBezTo>
                  <a:pt x="312" y="0"/>
                  <a:pt x="114" y="72"/>
                  <a:pt x="48" y="6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9" name="Freeform 7"/>
          <p:cNvSpPr/>
          <p:nvPr/>
        </p:nvSpPr>
        <p:spPr bwMode="ltGray">
          <a:xfrm>
            <a:off x="5778500" y="3198813"/>
            <a:ext cx="906463" cy="3001962"/>
          </a:xfrm>
          <a:custGeom>
            <a:avLst/>
            <a:gdLst>
              <a:gd name="T0" fmla="*/ 0 w 571"/>
              <a:gd name="T1" fmla="*/ 2147483646 h 1891"/>
              <a:gd name="T2" fmla="*/ 2147483646 w 571"/>
              <a:gd name="T3" fmla="*/ 2147483646 h 1891"/>
              <a:gd name="T4" fmla="*/ 2147483646 w 571"/>
              <a:gd name="T5" fmla="*/ 2147483646 h 1891"/>
              <a:gd name="T6" fmla="*/ 2147483646 w 571"/>
              <a:gd name="T7" fmla="*/ 2147483646 h 1891"/>
              <a:gd name="T8" fmla="*/ 0 60000 65536"/>
              <a:gd name="T9" fmla="*/ 0 60000 65536"/>
              <a:gd name="T10" fmla="*/ 0 60000 65536"/>
              <a:gd name="T11" fmla="*/ 0 60000 65536"/>
              <a:gd name="T12" fmla="*/ 0 w 571"/>
              <a:gd name="T13" fmla="*/ 0 h 1891"/>
              <a:gd name="T14" fmla="*/ 571 w 571"/>
              <a:gd name="T15" fmla="*/ 1891 h 18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1" h="1891">
                <a:moveTo>
                  <a:pt x="0" y="1846"/>
                </a:moveTo>
                <a:cubicBezTo>
                  <a:pt x="77" y="1809"/>
                  <a:pt x="377" y="1891"/>
                  <a:pt x="461" y="1625"/>
                </a:cubicBezTo>
                <a:cubicBezTo>
                  <a:pt x="545" y="1359"/>
                  <a:pt x="571" y="502"/>
                  <a:pt x="505" y="251"/>
                </a:cubicBezTo>
                <a:cubicBezTo>
                  <a:pt x="439" y="0"/>
                  <a:pt x="154" y="146"/>
                  <a:pt x="62" y="118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Display</a:t>
            </a:r>
            <a:r>
              <a:rPr lang="zh-CN" altLang="en-US"/>
              <a:t>表</a:t>
            </a: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一维数组</a:t>
            </a:r>
            <a:r>
              <a:rPr lang="en-US" altLang="zh-CN"/>
              <a:t>d[i]</a:t>
            </a:r>
            <a:r>
              <a:rPr lang="zh-CN" altLang="en-US"/>
              <a:t>：将嵌套深度为</a:t>
            </a:r>
            <a:r>
              <a:rPr lang="en-US" altLang="zh-CN"/>
              <a:t>i</a:t>
            </a:r>
            <a:r>
              <a:rPr lang="zh-CN" altLang="en-US"/>
              <a:t>的过程的访问链接串起来</a:t>
            </a:r>
            <a:endParaRPr lang="zh-CN" altLang="en-US"/>
          </a:p>
        </p:txBody>
      </p:sp>
      <p:pic>
        <p:nvPicPr>
          <p:cNvPr id="55300" name="Picture 6" descr="displa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971800"/>
            <a:ext cx="7748588" cy="313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Display</a:t>
            </a:r>
            <a:r>
              <a:rPr lang="zh-CN" altLang="en-US"/>
              <a:t>表（续）</a:t>
            </a:r>
            <a:endParaRPr lang="zh-CN" altLang="en-US"/>
          </a:p>
        </p:txBody>
      </p:sp>
      <p:pic>
        <p:nvPicPr>
          <p:cNvPr id="56323" name="Picture 7" descr="display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113" y="1371600"/>
            <a:ext cx="7913687" cy="544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display</a:t>
            </a:r>
            <a:r>
              <a:rPr lang="zh-CN" altLang="en-US"/>
              <a:t>表的设置</a:t>
            </a: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当设置嵌套深度为</a:t>
            </a:r>
            <a:r>
              <a:rPr lang="en-US" altLang="zh-CN"/>
              <a:t>i</a:t>
            </a:r>
            <a:r>
              <a:rPr lang="zh-CN" altLang="en-US"/>
              <a:t>的过程的活动记录</a:t>
            </a:r>
            <a:endParaRPr lang="zh-CN" altLang="en-US"/>
          </a:p>
          <a:p>
            <a:pPr lvl="1" eaLnBrk="1" hangingPunct="1"/>
            <a:r>
              <a:rPr lang="zh-CN" altLang="en-US"/>
              <a:t>旧的</a:t>
            </a:r>
            <a:r>
              <a:rPr lang="en-US" altLang="zh-CN"/>
              <a:t>d[i]</a:t>
            </a:r>
            <a:r>
              <a:rPr lang="zh-CN" altLang="en-US"/>
              <a:t>值保存入新的活动记录</a:t>
            </a:r>
            <a:endParaRPr lang="zh-CN" altLang="en-US"/>
          </a:p>
          <a:p>
            <a:pPr lvl="1" eaLnBrk="1" hangingPunct="1"/>
            <a:r>
              <a:rPr lang="zh-CN" altLang="en-US"/>
              <a:t>设置</a:t>
            </a:r>
            <a:r>
              <a:rPr lang="en-US" altLang="zh-CN"/>
              <a:t>d[i]</a:t>
            </a:r>
            <a:r>
              <a:rPr lang="zh-CN" altLang="en-US"/>
              <a:t>指向新的活动记录</a:t>
            </a:r>
            <a:endParaRPr lang="zh-CN" altLang="en-US"/>
          </a:p>
          <a:p>
            <a:pPr eaLnBrk="1" hangingPunct="1"/>
            <a:r>
              <a:rPr lang="zh-CN" altLang="en-US"/>
              <a:t>正确性：假定嵌套深度</a:t>
            </a:r>
            <a:r>
              <a:rPr lang="en-US" altLang="zh-CN"/>
              <a:t>j</a:t>
            </a:r>
            <a:r>
              <a:rPr lang="zh-CN" altLang="en-US"/>
              <a:t>的过程调用深度</a:t>
            </a:r>
            <a:r>
              <a:rPr lang="en-US" altLang="zh-CN"/>
              <a:t>i</a:t>
            </a:r>
            <a:r>
              <a:rPr lang="zh-CN" altLang="en-US"/>
              <a:t>的过程</a:t>
            </a:r>
            <a:endParaRPr lang="zh-CN" altLang="en-US"/>
          </a:p>
          <a:p>
            <a:pPr lvl="1" eaLnBrk="1" hangingPunct="1"/>
            <a:r>
              <a:rPr lang="en-US" altLang="zh-CN"/>
              <a:t>j&lt;i</a:t>
            </a:r>
            <a:r>
              <a:rPr lang="zh-CN" altLang="en-US"/>
              <a:t>：</a:t>
            </a:r>
            <a:r>
              <a:rPr lang="zh-CN" altLang="en-US">
                <a:sym typeface="Wingdings" panose="05000000000000000000" pitchFamily="2" charset="2"/>
              </a:rPr>
              <a:t></a:t>
            </a:r>
            <a:r>
              <a:rPr lang="en-US" altLang="zh-CN">
                <a:sym typeface="Wingdings" panose="05000000000000000000" pitchFamily="2" charset="2"/>
              </a:rPr>
              <a:t>i=j+1</a:t>
            </a:r>
            <a:r>
              <a:rPr lang="zh-CN" altLang="en-US">
                <a:sym typeface="Wingdings" panose="05000000000000000000" pitchFamily="2" charset="2"/>
              </a:rPr>
              <a:t>，</a:t>
            </a:r>
            <a:r>
              <a:rPr lang="en-US" altLang="zh-CN">
                <a:sym typeface="Wingdings" panose="05000000000000000000" pitchFamily="2" charset="2"/>
              </a:rPr>
              <a:t>d[1]~d[j]</a:t>
            </a:r>
            <a:r>
              <a:rPr lang="zh-CN" altLang="en-US">
                <a:sym typeface="Wingdings" panose="05000000000000000000" pitchFamily="2" charset="2"/>
              </a:rPr>
              <a:t>无需改变，</a:t>
            </a:r>
            <a:r>
              <a:rPr lang="en-US" altLang="zh-CN">
                <a:sym typeface="Wingdings" panose="05000000000000000000" pitchFamily="2" charset="2"/>
              </a:rPr>
              <a:t>d[i]</a:t>
            </a:r>
            <a:r>
              <a:rPr lang="zh-CN" altLang="en-US">
                <a:sym typeface="Wingdings" panose="05000000000000000000" pitchFamily="2" charset="2"/>
              </a:rPr>
              <a:t>指向新活动记录，上面</a:t>
            </a:r>
            <a:r>
              <a:rPr lang="en-US" altLang="zh-CN">
                <a:sym typeface="Wingdings" panose="05000000000000000000" pitchFamily="2" charset="2"/>
              </a:rPr>
              <a:t>(a)</a:t>
            </a:r>
            <a:r>
              <a:rPr lang="zh-CN" altLang="en-US">
                <a:sym typeface="Wingdings" panose="05000000000000000000" pitchFamily="2" charset="2"/>
              </a:rPr>
              <a:t>图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>
                <a:sym typeface="Wingdings" panose="05000000000000000000" pitchFamily="2" charset="2"/>
              </a:rPr>
              <a:t>j&gt;=i</a:t>
            </a:r>
            <a:r>
              <a:rPr lang="zh-CN" altLang="en-US">
                <a:sym typeface="Wingdings" panose="05000000000000000000" pitchFamily="2" charset="2"/>
              </a:rPr>
              <a:t>：包含两个过程，嵌套深度</a:t>
            </a:r>
            <a:r>
              <a:rPr lang="en-US" altLang="zh-CN">
                <a:sym typeface="Wingdings" panose="05000000000000000000" pitchFamily="2" charset="2"/>
              </a:rPr>
              <a:t>1,2,…,i-1</a:t>
            </a:r>
            <a:r>
              <a:rPr lang="zh-CN" altLang="en-US">
                <a:sym typeface="Wingdings" panose="05000000000000000000" pitchFamily="2" charset="2"/>
              </a:rPr>
              <a:t>的过程必然是相同的，将旧</a:t>
            </a:r>
            <a:r>
              <a:rPr lang="en-US" altLang="zh-CN">
                <a:sym typeface="Wingdings" panose="05000000000000000000" pitchFamily="2" charset="2"/>
              </a:rPr>
              <a:t>d[i]</a:t>
            </a:r>
            <a:r>
              <a:rPr lang="zh-CN" altLang="en-US">
                <a:sym typeface="Wingdings" panose="05000000000000000000" pitchFamily="2" charset="2"/>
              </a:rPr>
              <a:t>保存到新活动记录，并设置它指向新活动记录即可，上面</a:t>
            </a:r>
            <a:r>
              <a:rPr lang="en-US" altLang="zh-CN">
                <a:sym typeface="Wingdings" panose="05000000000000000000" pitchFamily="2" charset="2"/>
              </a:rPr>
              <a:t>(d)</a:t>
            </a:r>
            <a:r>
              <a:rPr lang="zh-CN" altLang="en-US">
                <a:sym typeface="Wingdings" panose="05000000000000000000" pitchFamily="2" charset="2"/>
              </a:rPr>
              <a:t>图</a:t>
            </a:r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7.4.4  </a:t>
            </a:r>
            <a:r>
              <a:rPr lang="zh-CN" altLang="en-US"/>
              <a:t>动态作用域</a:t>
            </a:r>
            <a:endParaRPr lang="zh-CN" alt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嵌套关系，调用关系</a:t>
            </a:r>
            <a:r>
              <a:rPr lang="zh-CN" altLang="en-US">
                <a:sym typeface="Wingdings" panose="05000000000000000000" pitchFamily="2" charset="2"/>
              </a:rPr>
              <a:t>决定名字绑定</a:t>
            </a:r>
            <a:endParaRPr lang="zh-CN" altLang="en-US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program dynamic(input, output);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var r : real;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procedure show;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begin write(r : 5 : 3) end;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procedure small;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var r : real;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begin r := 0.125; show end;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begin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r := 0.25;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show; small; writeln;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show; small; writeln;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end.</a:t>
            </a:r>
            <a:endParaRPr lang="en-US" altLang="zh-CN" sz="2400">
              <a:sym typeface="Wingdings" panose="05000000000000000000" pitchFamily="2" charset="2"/>
            </a:endParaRPr>
          </a:p>
        </p:txBody>
      </p:sp>
      <p:sp>
        <p:nvSpPr>
          <p:cNvPr id="58372" name="Line 4"/>
          <p:cNvSpPr>
            <a:spLocks noChangeShapeType="1"/>
          </p:cNvSpPr>
          <p:nvPr/>
        </p:nvSpPr>
        <p:spPr bwMode="ltGray">
          <a:xfrm>
            <a:off x="1676400" y="1524000"/>
            <a:ext cx="1524000" cy="228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3" name="Line 5"/>
          <p:cNvSpPr>
            <a:spLocks noChangeShapeType="1"/>
          </p:cNvSpPr>
          <p:nvPr/>
        </p:nvSpPr>
        <p:spPr bwMode="ltGray">
          <a:xfrm flipH="1">
            <a:off x="1676400" y="1524000"/>
            <a:ext cx="1524000" cy="228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4" name="Text Box 6"/>
          <p:cNvSpPr txBox="1">
            <a:spLocks noChangeArrowheads="1"/>
          </p:cNvSpPr>
          <p:nvPr/>
        </p:nvSpPr>
        <p:spPr bwMode="ltGray">
          <a:xfrm>
            <a:off x="6477000" y="2057400"/>
            <a:ext cx="2286000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静态绑定结果</a:t>
            </a:r>
            <a:endParaRPr lang="zh-CN" altLang="en-US" sz="2400">
              <a:solidFill>
                <a:schemeClr val="folHlink"/>
              </a:solidFill>
              <a:latin typeface="Tahoma" panose="020B0604030504040204" pitchFamily="34" charset="0"/>
            </a:endParaRPr>
          </a:p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0.250	0.250</a:t>
            </a:r>
            <a:endParaRPr lang="en-US" altLang="zh-CN" sz="2400">
              <a:solidFill>
                <a:schemeClr val="folHlink"/>
              </a:solidFill>
              <a:latin typeface="Tahoma" panose="020B0604030504040204" pitchFamily="34" charset="0"/>
            </a:endParaRPr>
          </a:p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0.250	0.250</a:t>
            </a:r>
            <a:b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</a:br>
            <a:endParaRPr lang="en-US" altLang="zh-CN" sz="2400">
              <a:solidFill>
                <a:schemeClr val="folHlink"/>
              </a:solidFill>
              <a:latin typeface="Tahoma" panose="020B0604030504040204" pitchFamily="34" charset="0"/>
            </a:endParaRPr>
          </a:p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动态绑定结果</a:t>
            </a:r>
            <a:endParaRPr lang="zh-CN" altLang="en-US" sz="2400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0.250	0.125</a:t>
            </a:r>
            <a:endParaRPr lang="en-US" altLang="zh-CN" sz="2400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0.250	0.125</a:t>
            </a:r>
            <a:endParaRPr lang="en-US" altLang="zh-CN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58375" name="Text Box 7"/>
          <p:cNvSpPr txBox="1">
            <a:spLocks noChangeArrowheads="1"/>
          </p:cNvSpPr>
          <p:nvPr/>
        </p:nvSpPr>
        <p:spPr bwMode="ltGray">
          <a:xfrm>
            <a:off x="4495800" y="4648200"/>
            <a:ext cx="2133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此处调用</a:t>
            </a: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show</a:t>
            </a:r>
            <a:b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</a:b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r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绑定到</a:t>
            </a:r>
            <a:endParaRPr lang="zh-CN" altLang="en-US" sz="2400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58376" name="Freeform 8"/>
          <p:cNvSpPr/>
          <p:nvPr/>
        </p:nvSpPr>
        <p:spPr bwMode="ltGray">
          <a:xfrm>
            <a:off x="3505200" y="3886200"/>
            <a:ext cx="3416300" cy="1219200"/>
          </a:xfrm>
          <a:custGeom>
            <a:avLst/>
            <a:gdLst>
              <a:gd name="T0" fmla="*/ 2147483646 w 2152"/>
              <a:gd name="T1" fmla="*/ 2147483646 h 768"/>
              <a:gd name="T2" fmla="*/ 2147483646 w 2152"/>
              <a:gd name="T3" fmla="*/ 2147483646 h 768"/>
              <a:gd name="T4" fmla="*/ 2147483646 w 2152"/>
              <a:gd name="T5" fmla="*/ 2147483646 h 768"/>
              <a:gd name="T6" fmla="*/ 0 w 2152"/>
              <a:gd name="T7" fmla="*/ 2147483646 h 768"/>
              <a:gd name="T8" fmla="*/ 0 60000 65536"/>
              <a:gd name="T9" fmla="*/ 0 60000 65536"/>
              <a:gd name="T10" fmla="*/ 0 60000 65536"/>
              <a:gd name="T11" fmla="*/ 0 60000 65536"/>
              <a:gd name="T12" fmla="*/ 0 w 2152"/>
              <a:gd name="T13" fmla="*/ 0 h 768"/>
              <a:gd name="T14" fmla="*/ 2152 w 2152"/>
              <a:gd name="T15" fmla="*/ 768 h 7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52" h="768">
                <a:moveTo>
                  <a:pt x="1632" y="768"/>
                </a:moveTo>
                <a:cubicBezTo>
                  <a:pt x="1892" y="752"/>
                  <a:pt x="2152" y="736"/>
                  <a:pt x="2112" y="624"/>
                </a:cubicBezTo>
                <a:cubicBezTo>
                  <a:pt x="2072" y="512"/>
                  <a:pt x="1744" y="192"/>
                  <a:pt x="1392" y="96"/>
                </a:cubicBezTo>
                <a:cubicBezTo>
                  <a:pt x="1040" y="0"/>
                  <a:pt x="520" y="24"/>
                  <a:pt x="0" y="48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7" name="Text Box 9"/>
          <p:cNvSpPr txBox="1">
            <a:spLocks noChangeArrowheads="1"/>
          </p:cNvSpPr>
          <p:nvPr/>
        </p:nvSpPr>
        <p:spPr bwMode="ltGray">
          <a:xfrm>
            <a:off x="0" y="5410200"/>
            <a:ext cx="2133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此处调用</a:t>
            </a: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show</a:t>
            </a:r>
            <a:b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</a:b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r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绑定到</a:t>
            </a:r>
            <a:endParaRPr lang="zh-CN" altLang="en-US" sz="2400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58378" name="Line 10"/>
          <p:cNvSpPr>
            <a:spLocks noChangeShapeType="1"/>
          </p:cNvSpPr>
          <p:nvPr/>
        </p:nvSpPr>
        <p:spPr bwMode="ltGray">
          <a:xfrm>
            <a:off x="4572000" y="4343400"/>
            <a:ext cx="8382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9" name="Line 11"/>
          <p:cNvSpPr>
            <a:spLocks noChangeShapeType="1"/>
          </p:cNvSpPr>
          <p:nvPr/>
        </p:nvSpPr>
        <p:spPr bwMode="ltGray">
          <a:xfrm flipH="1">
            <a:off x="1143000" y="5334000"/>
            <a:ext cx="1066800" cy="152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0" name="Freeform 12"/>
          <p:cNvSpPr/>
          <p:nvPr/>
        </p:nvSpPr>
        <p:spPr bwMode="ltGray">
          <a:xfrm>
            <a:off x="-39688" y="2205038"/>
            <a:ext cx="1639888" cy="4306887"/>
          </a:xfrm>
          <a:custGeom>
            <a:avLst/>
            <a:gdLst>
              <a:gd name="T0" fmla="*/ 2147483646 w 1033"/>
              <a:gd name="T1" fmla="*/ 2147483646 h 2713"/>
              <a:gd name="T2" fmla="*/ 2147483646 w 1033"/>
              <a:gd name="T3" fmla="*/ 2147483646 h 2713"/>
              <a:gd name="T4" fmla="*/ 2147483646 w 1033"/>
              <a:gd name="T5" fmla="*/ 2147483646 h 2713"/>
              <a:gd name="T6" fmla="*/ 2147483646 w 1033"/>
              <a:gd name="T7" fmla="*/ 2147483646 h 2713"/>
              <a:gd name="T8" fmla="*/ 2147483646 w 1033"/>
              <a:gd name="T9" fmla="*/ 2147483646 h 271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33"/>
              <a:gd name="T16" fmla="*/ 0 h 2713"/>
              <a:gd name="T17" fmla="*/ 1033 w 1033"/>
              <a:gd name="T18" fmla="*/ 2713 h 271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33" h="2713">
                <a:moveTo>
                  <a:pt x="1009" y="2342"/>
                </a:moveTo>
                <a:cubicBezTo>
                  <a:pt x="984" y="2383"/>
                  <a:pt x="1012" y="2590"/>
                  <a:pt x="858" y="2590"/>
                </a:cubicBezTo>
                <a:cubicBezTo>
                  <a:pt x="704" y="2590"/>
                  <a:pt x="174" y="2713"/>
                  <a:pt x="87" y="2342"/>
                </a:cubicBezTo>
                <a:cubicBezTo>
                  <a:pt x="0" y="1971"/>
                  <a:pt x="177" y="732"/>
                  <a:pt x="335" y="366"/>
                </a:cubicBezTo>
                <a:cubicBezTo>
                  <a:pt x="493" y="0"/>
                  <a:pt x="888" y="193"/>
                  <a:pt x="1033" y="147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实现方法</a:t>
            </a:r>
            <a:endParaRPr lang="zh-CN" alt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深访问，</a:t>
            </a:r>
            <a:r>
              <a:rPr lang="en-US" altLang="zh-CN" dirty="0">
                <a:solidFill>
                  <a:srgbClr val="FF3300"/>
                </a:solidFill>
              </a:rPr>
              <a:t>deep access</a:t>
            </a:r>
            <a:endParaRPr lang="en-US" altLang="zh-CN" dirty="0">
              <a:solidFill>
                <a:srgbClr val="FF3300"/>
              </a:solidFill>
            </a:endParaRPr>
          </a:p>
          <a:p>
            <a:pPr marL="990600" lvl="1" indent="-533400" eaLnBrk="1" hangingPunct="1"/>
            <a:r>
              <a:rPr lang="zh-CN" altLang="en-US" dirty="0"/>
              <a:t>访问链接，控制链接</a:t>
            </a:r>
            <a:endParaRPr lang="zh-CN" altLang="en-US" dirty="0"/>
          </a:p>
          <a:p>
            <a:pPr marL="990600" lvl="1" indent="-533400" eaLnBrk="1" hangingPunct="1"/>
            <a:r>
              <a:rPr lang="zh-CN" altLang="en-US" dirty="0"/>
              <a:t>“深入”控制栈</a:t>
            </a:r>
            <a:endParaRPr lang="zh-CN" altLang="en-US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浅访问，</a:t>
            </a:r>
            <a:r>
              <a:rPr lang="en-US" altLang="zh-CN" dirty="0">
                <a:solidFill>
                  <a:srgbClr val="FF3300"/>
                </a:solidFill>
              </a:rPr>
              <a:t>shallow access</a:t>
            </a:r>
            <a:endParaRPr lang="en-US" altLang="zh-CN" dirty="0">
              <a:solidFill>
                <a:srgbClr val="FF3300"/>
              </a:solidFill>
            </a:endParaRPr>
          </a:p>
          <a:p>
            <a:pPr marL="990600" lvl="1" indent="-533400" eaLnBrk="1" hangingPunct="1"/>
            <a:r>
              <a:rPr lang="zh-CN" altLang="en-US" dirty="0"/>
              <a:t>名字的当前绑定值保存在静态区域</a:t>
            </a:r>
            <a:endParaRPr lang="zh-CN" altLang="en-US" dirty="0"/>
          </a:p>
          <a:p>
            <a:pPr marL="990600" lvl="1" indent="-533400" eaLnBrk="1" hangingPunct="1"/>
            <a:r>
              <a:rPr lang="zh-CN" altLang="en-US" dirty="0"/>
              <a:t>过程</a:t>
            </a:r>
            <a:r>
              <a:rPr lang="en-US" altLang="zh-CN" dirty="0"/>
              <a:t>p</a:t>
            </a:r>
            <a:r>
              <a:rPr lang="zh-CN" altLang="en-US" dirty="0"/>
              <a:t>新的活动开始，它的局部名字</a:t>
            </a:r>
            <a:r>
              <a:rPr lang="en-US" altLang="zh-CN" dirty="0"/>
              <a:t>n</a:t>
            </a:r>
            <a:r>
              <a:rPr lang="zh-CN" altLang="en-US" dirty="0"/>
              <a:t>接管为</a:t>
            </a:r>
            <a:r>
              <a:rPr lang="en-US" altLang="zh-CN" dirty="0"/>
              <a:t>n</a:t>
            </a:r>
            <a:r>
              <a:rPr lang="zh-CN" altLang="en-US" dirty="0"/>
              <a:t>分配的静态区域</a:t>
            </a:r>
            <a:endParaRPr lang="zh-CN" altLang="en-US" dirty="0"/>
          </a:p>
          <a:p>
            <a:pPr marL="990600" lvl="1" indent="-533400" eaLnBrk="1" hangingPunct="1"/>
            <a:r>
              <a:rPr lang="en-US" altLang="zh-CN" dirty="0"/>
              <a:t>n</a:t>
            </a:r>
            <a:r>
              <a:rPr lang="zh-CN" altLang="en-US" dirty="0"/>
              <a:t>的原值可保存在</a:t>
            </a:r>
            <a:r>
              <a:rPr lang="en-US" altLang="zh-CN" dirty="0"/>
              <a:t>p</a:t>
            </a:r>
            <a:r>
              <a:rPr lang="zh-CN" altLang="en-US" dirty="0"/>
              <a:t>的活动记录中，当活动结束时恢复</a:t>
            </a:r>
            <a:endParaRPr lang="zh-CN" altLang="en-US" dirty="0"/>
          </a:p>
        </p:txBody>
      </p:sp>
      <p:sp>
        <p:nvSpPr>
          <p:cNvPr id="59396" name="Line 4"/>
          <p:cNvSpPr>
            <a:spLocks noChangeShapeType="1"/>
          </p:cNvSpPr>
          <p:nvPr/>
        </p:nvSpPr>
        <p:spPr bwMode="ltGray">
          <a:xfrm>
            <a:off x="2133600" y="2133600"/>
            <a:ext cx="1524000" cy="228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397" name="Line 5"/>
          <p:cNvSpPr>
            <a:spLocks noChangeShapeType="1"/>
          </p:cNvSpPr>
          <p:nvPr/>
        </p:nvSpPr>
        <p:spPr bwMode="ltGray">
          <a:xfrm flipH="1">
            <a:off x="2133600" y="2133600"/>
            <a:ext cx="1524000" cy="228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7.5  </a:t>
            </a:r>
            <a:r>
              <a:rPr lang="zh-CN" altLang="en-US"/>
              <a:t>参数传递</a:t>
            </a:r>
            <a:endParaRPr lang="zh-CN" altLang="en-US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CN"/>
              <a:t>7.5.1  </a:t>
            </a:r>
            <a:r>
              <a:rPr lang="zh-CN" altLang="en-US"/>
              <a:t>传值方式，</a:t>
            </a:r>
            <a:r>
              <a:rPr lang="en-US" altLang="zh-CN">
                <a:solidFill>
                  <a:srgbClr val="FF3300"/>
                </a:solidFill>
              </a:rPr>
              <a:t>call-by-value</a:t>
            </a:r>
            <a:endParaRPr lang="en-US" altLang="zh-CN">
              <a:solidFill>
                <a:srgbClr val="FF3300"/>
              </a:solidFill>
            </a:endParaRPr>
          </a:p>
          <a:p>
            <a:pPr lvl="1" eaLnBrk="1" hangingPunct="1"/>
            <a:r>
              <a:rPr lang="zh-CN" altLang="en-US"/>
              <a:t>形参与局部名字同样处理</a:t>
            </a:r>
            <a:r>
              <a:rPr lang="zh-CN" altLang="en-US">
                <a:sym typeface="Wingdings" panose="05000000000000000000" pitchFamily="2" charset="2"/>
              </a:rPr>
              <a:t>存储位置在被调用函数的活动记录中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调用函数计算实参值，将其右值放置到形参的存储位置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对形参的操作不会影响实参的值</a:t>
            </a:r>
            <a:endParaRPr lang="zh-CN" altLang="en-US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传值方式例</a:t>
            </a:r>
            <a:endParaRPr lang="zh-CN" alt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void swap(int x, int y)</a:t>
            </a:r>
            <a:endParaRPr lang="en-US" altLang="zh-CN" sz="2400"/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{	int temp;</a:t>
            </a:r>
            <a:endParaRPr lang="en-US" altLang="zh-CN" sz="2400"/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temp = x; x = y; y = temp;	}</a:t>
            </a:r>
            <a:endParaRPr lang="en-US" altLang="zh-CN" sz="2400"/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void main()</a:t>
            </a:r>
            <a:endParaRPr lang="en-US" altLang="zh-CN" sz="2400"/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{	int a = 1, b = 2;</a:t>
            </a:r>
            <a:endParaRPr lang="en-US" altLang="zh-CN" sz="2400"/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swap(a, b);	</a:t>
            </a:r>
            <a:endParaRPr lang="en-US" altLang="zh-CN" sz="2400"/>
          </a:p>
          <a:p>
            <a:pPr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printf(“a is now %d, b is </a:t>
            </a:r>
            <a:br>
              <a:rPr lang="en-US" altLang="zh-CN" sz="2400"/>
            </a:br>
            <a:r>
              <a:rPr lang="en-US" altLang="zh-CN" sz="2400"/>
              <a:t>	now %d\n”, a, b); }</a:t>
            </a:r>
            <a:endParaRPr lang="en-US" altLang="zh-CN" sz="2400"/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ltGray">
          <a:xfrm>
            <a:off x="5562600" y="2133600"/>
            <a:ext cx="3276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结果</a:t>
            </a:r>
            <a:b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</a:b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a is now 1, b is now 2</a:t>
            </a:r>
            <a:endParaRPr lang="en-US" altLang="zh-CN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5" name="Group 4"/>
          <p:cNvGraphicFramePr>
            <a:graphicFrameLocks noGrp="1"/>
          </p:cNvGraphicFramePr>
          <p:nvPr/>
        </p:nvGraphicFramePr>
        <p:xfrm>
          <a:off x="5364163" y="3405188"/>
          <a:ext cx="1524000" cy="2387600"/>
        </p:xfrm>
        <a:graphic>
          <a:graphicData uri="http://schemas.openxmlformats.org/drawingml/2006/table">
            <a:tbl>
              <a:tblPr/>
              <a:tblGrid>
                <a:gridCol w="1524000"/>
              </a:tblGrid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调用者</a:t>
                      </a:r>
                      <a:b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存储空间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Group 18"/>
          <p:cNvGraphicFramePr>
            <a:graphicFrameLocks noGrp="1"/>
          </p:cNvGraphicFramePr>
          <p:nvPr/>
        </p:nvGraphicFramePr>
        <p:xfrm>
          <a:off x="7269163" y="3405188"/>
          <a:ext cx="1524000" cy="2832100"/>
        </p:xfrm>
        <a:graphic>
          <a:graphicData uri="http://schemas.openxmlformats.org/drawingml/2006/table">
            <a:tbl>
              <a:tblPr/>
              <a:tblGrid>
                <a:gridCol w="1524000"/>
              </a:tblGrid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swap</a:t>
                      </a:r>
                      <a:b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存储空间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temp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通过传递指针改变实参值</a:t>
            </a:r>
            <a:endParaRPr lang="zh-CN" alt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void swap(int *x, int *y)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	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int temp;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temp = *x; *x = *y; *y = temp;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void main()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	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int a = 1, b = 2;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swap(&amp;a, &amp;b);	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printf(“a is now %d, b is now %d\n”, a, b);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  <a:endParaRPr lang="en-US" altLang="zh-CN" sz="2800"/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ltGray">
          <a:xfrm>
            <a:off x="5334000" y="3962400"/>
            <a:ext cx="3276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结果</a:t>
            </a:r>
            <a:b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</a:b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a is now 2, b is now 1</a:t>
            </a:r>
            <a:endParaRPr lang="en-US" altLang="zh-CN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ltGray">
          <a:xfrm>
            <a:off x="6096000" y="19812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显式传递地址</a:t>
            </a:r>
            <a:endParaRPr lang="zh-CN" altLang="en-US" sz="2400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62470" name="Freeform 6"/>
          <p:cNvSpPr/>
          <p:nvPr/>
        </p:nvSpPr>
        <p:spPr bwMode="ltGray">
          <a:xfrm>
            <a:off x="3165475" y="2362200"/>
            <a:ext cx="3387725" cy="2139950"/>
          </a:xfrm>
          <a:custGeom>
            <a:avLst/>
            <a:gdLst>
              <a:gd name="T0" fmla="*/ 2147483646 w 2134"/>
              <a:gd name="T1" fmla="*/ 0 h 1348"/>
              <a:gd name="T2" fmla="*/ 0 w 2134"/>
              <a:gd name="T3" fmla="*/ 2147483646 h 1348"/>
              <a:gd name="T4" fmla="*/ 0 60000 65536"/>
              <a:gd name="T5" fmla="*/ 0 60000 65536"/>
              <a:gd name="T6" fmla="*/ 0 w 2134"/>
              <a:gd name="T7" fmla="*/ 0 h 1348"/>
              <a:gd name="T8" fmla="*/ 2134 w 2134"/>
              <a:gd name="T9" fmla="*/ 1348 h 13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34" h="1348">
                <a:moveTo>
                  <a:pt x="2134" y="0"/>
                </a:moveTo>
                <a:lnTo>
                  <a:pt x="0" y="1348"/>
                </a:lnTo>
              </a:path>
            </a:pathLst>
          </a:cu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1" name="Freeform 7"/>
          <p:cNvSpPr/>
          <p:nvPr/>
        </p:nvSpPr>
        <p:spPr bwMode="ltGray">
          <a:xfrm>
            <a:off x="3784600" y="1617663"/>
            <a:ext cx="2692400" cy="592137"/>
          </a:xfrm>
          <a:custGeom>
            <a:avLst/>
            <a:gdLst>
              <a:gd name="T0" fmla="*/ 2147483646 w 1696"/>
              <a:gd name="T1" fmla="*/ 2147483646 h 373"/>
              <a:gd name="T2" fmla="*/ 0 w 1696"/>
              <a:gd name="T3" fmla="*/ 0 h 373"/>
              <a:gd name="T4" fmla="*/ 0 60000 65536"/>
              <a:gd name="T5" fmla="*/ 0 60000 65536"/>
              <a:gd name="T6" fmla="*/ 0 w 1696"/>
              <a:gd name="T7" fmla="*/ 0 h 373"/>
              <a:gd name="T8" fmla="*/ 1696 w 1696"/>
              <a:gd name="T9" fmla="*/ 373 h 37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96" h="373">
                <a:moveTo>
                  <a:pt x="1696" y="37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7.5.2  </a:t>
            </a:r>
            <a:r>
              <a:rPr lang="zh-CN" altLang="en-US"/>
              <a:t>传地址方式</a:t>
            </a:r>
            <a:endParaRPr lang="zh-CN" alt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call-by-reference</a:t>
            </a:r>
            <a:r>
              <a:rPr lang="zh-CN" altLang="en-US"/>
              <a:t>，</a:t>
            </a:r>
            <a:r>
              <a:rPr lang="en-US" altLang="zh-CN">
                <a:solidFill>
                  <a:srgbClr val="FF3300"/>
                </a:solidFill>
              </a:rPr>
              <a:t>call-by-address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en-US" altLang="zh-CN">
                <a:solidFill>
                  <a:srgbClr val="FF3300"/>
                </a:solidFill>
              </a:rPr>
              <a:t>call-by-location</a:t>
            </a:r>
            <a:r>
              <a:rPr lang="zh-CN" altLang="en-US"/>
              <a:t>，隐含传递地址</a:t>
            </a:r>
            <a:endParaRPr lang="zh-CN" altLang="en-US"/>
          </a:p>
          <a:p>
            <a:pPr lvl="1" eaLnBrk="1" hangingPunct="1"/>
            <a:r>
              <a:rPr lang="zh-CN" altLang="en-US"/>
              <a:t>实参是名字或表达式，且具有左值，则其左值将被传递给形参</a:t>
            </a:r>
            <a:endParaRPr lang="zh-CN" altLang="en-US"/>
          </a:p>
          <a:p>
            <a:pPr lvl="1" eaLnBrk="1" hangingPunct="1"/>
            <a:r>
              <a:rPr lang="zh-CN" altLang="en-US"/>
              <a:t>实参无左值，如</a:t>
            </a:r>
            <a:r>
              <a:rPr lang="en-US" altLang="zh-CN"/>
              <a:t>a+b</a:t>
            </a:r>
            <a:r>
              <a:rPr lang="zh-CN" altLang="en-US"/>
              <a:t>或</a:t>
            </a:r>
            <a:r>
              <a:rPr lang="en-US" altLang="zh-CN"/>
              <a:t>2</a:t>
            </a:r>
            <a:r>
              <a:rPr lang="zh-CN" altLang="en-US"/>
              <a:t>，则为其分配新的空间，将此空间的地址传递给形参</a:t>
            </a:r>
            <a:endParaRPr lang="zh-CN" altLang="en-US"/>
          </a:p>
          <a:p>
            <a:pPr lvl="1" eaLnBrk="1" hangingPunct="1"/>
            <a:r>
              <a:rPr lang="zh-CN" altLang="en-US"/>
              <a:t>形参与实参</a:t>
            </a:r>
            <a:r>
              <a:rPr lang="en-US" altLang="zh-CN"/>
              <a:t>——</a:t>
            </a:r>
            <a:r>
              <a:rPr lang="zh-CN" altLang="en-US"/>
              <a:t>同一个数据对象</a:t>
            </a:r>
            <a:endParaRPr lang="zh-CN" altLang="en-US"/>
          </a:p>
          <a:p>
            <a:pPr lvl="1" eaLnBrk="1" hangingPunct="1"/>
            <a:r>
              <a:rPr lang="zh-CN" altLang="en-US"/>
              <a:t>引用形参</a:t>
            </a:r>
            <a:r>
              <a:rPr lang="en-US" altLang="zh-CN"/>
              <a:t>——</a:t>
            </a:r>
            <a:r>
              <a:rPr lang="zh-CN" altLang="en-US"/>
              <a:t>用传递来的指针进行间接引用</a:t>
            </a:r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7.7</a:t>
            </a:r>
            <a:endParaRPr lang="en-US" altLang="zh-CN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program reference(input, output)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var a, b : integer;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procedure swap(</a:t>
            </a:r>
            <a:r>
              <a:rPr lang="en-US" altLang="zh-CN" sz="2000" u="sng"/>
              <a:t>var</a:t>
            </a:r>
            <a:r>
              <a:rPr lang="en-US" altLang="zh-CN" sz="2000"/>
              <a:t> x, y : integer);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var temp : integer;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begin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temp := x; x := y; y := temp;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end;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begin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a := 1; b := 2;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swap(a, b);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writeln(‘a =‘, a); writeln(‘b =‘, b);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end.</a:t>
            </a:r>
            <a:endParaRPr lang="en-US" altLang="zh-CN" sz="2000"/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ltGray">
          <a:xfrm>
            <a:off x="5029200" y="2895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传地址方式</a:t>
            </a:r>
            <a:endParaRPr lang="zh-CN" altLang="en-US" sz="2400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64517" name="Line 5"/>
          <p:cNvSpPr>
            <a:spLocks noChangeShapeType="1"/>
          </p:cNvSpPr>
          <p:nvPr/>
        </p:nvSpPr>
        <p:spPr bwMode="ltGray">
          <a:xfrm flipH="1" flipV="1">
            <a:off x="3048000" y="2362200"/>
            <a:ext cx="2286000" cy="685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ltGray">
          <a:xfrm>
            <a:off x="5219700" y="1539875"/>
            <a:ext cx="3276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结果</a:t>
            </a:r>
            <a:b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</a:b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a </a:t>
            </a: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＝ </a:t>
            </a: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2</a:t>
            </a:r>
            <a:b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</a:b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b </a:t>
            </a: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＝ </a:t>
            </a:r>
            <a:r>
              <a:rPr lang="en-US" altLang="zh-CN" sz="2400">
                <a:solidFill>
                  <a:srgbClr val="FF3300"/>
                </a:solidFill>
                <a:latin typeface="Tahoma" panose="020B0604030504040204" pitchFamily="34" charset="0"/>
              </a:rPr>
              <a:t>1</a:t>
            </a:r>
            <a:endParaRPr lang="en-US" altLang="zh-CN" sz="24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7" name="Group 4"/>
          <p:cNvGraphicFramePr>
            <a:graphicFrameLocks noGrp="1"/>
          </p:cNvGraphicFramePr>
          <p:nvPr/>
        </p:nvGraphicFramePr>
        <p:xfrm>
          <a:off x="6354763" y="3500438"/>
          <a:ext cx="1219200" cy="2387600"/>
        </p:xfrm>
        <a:graphic>
          <a:graphicData uri="http://schemas.openxmlformats.org/drawingml/2006/table">
            <a:tbl>
              <a:tblPr/>
              <a:tblGrid>
                <a:gridCol w="1219200"/>
              </a:tblGrid>
              <a:tr h="4445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调用者</a:t>
                      </a:r>
                      <a:b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存储空间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a: 2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b: 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Group 22"/>
          <p:cNvGraphicFramePr>
            <a:graphicFrameLocks noGrp="1"/>
          </p:cNvGraphicFramePr>
          <p:nvPr/>
        </p:nvGraphicFramePr>
        <p:xfrm>
          <a:off x="7802563" y="3500438"/>
          <a:ext cx="1219200" cy="2832100"/>
        </p:xfrm>
        <a:graphic>
          <a:graphicData uri="http://schemas.openxmlformats.org/drawingml/2006/table">
            <a:tbl>
              <a:tblPr/>
              <a:tblGrid>
                <a:gridCol w="1219200"/>
              </a:tblGrid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swap</a:t>
                      </a:r>
                      <a:b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存储空间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x:1000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y:1004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temp: 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4549" name="Line 39"/>
          <p:cNvSpPr>
            <a:spLocks noChangeShapeType="1"/>
          </p:cNvSpPr>
          <p:nvPr/>
        </p:nvSpPr>
        <p:spPr bwMode="ltGray">
          <a:xfrm flipH="1">
            <a:off x="7526338" y="4762500"/>
            <a:ext cx="504825" cy="190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50" name="Line 40"/>
          <p:cNvSpPr>
            <a:spLocks noChangeShapeType="1"/>
          </p:cNvSpPr>
          <p:nvPr/>
        </p:nvSpPr>
        <p:spPr bwMode="ltGray">
          <a:xfrm flipH="1" flipV="1">
            <a:off x="7526338" y="5138738"/>
            <a:ext cx="504825" cy="190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" name="Group 41"/>
          <p:cNvGraphicFramePr>
            <a:graphicFrameLocks noGrp="1"/>
          </p:cNvGraphicFramePr>
          <p:nvPr/>
        </p:nvGraphicFramePr>
        <p:xfrm>
          <a:off x="5364163" y="4554538"/>
          <a:ext cx="1219200" cy="1778000"/>
        </p:xfrm>
        <a:graphic>
          <a:graphicData uri="http://schemas.openxmlformats.org/drawingml/2006/table">
            <a:tbl>
              <a:tblPr/>
              <a:tblGrid>
                <a:gridCol w="1219200"/>
              </a:tblGrid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1000: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1004: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7.7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若调用</a:t>
            </a:r>
            <a:r>
              <a:rPr lang="en-US" altLang="zh-CN" sz="2800"/>
              <a:t>swap(i, a[i])</a:t>
            </a:r>
            <a:endParaRPr lang="en-US" altLang="zh-CN" sz="280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将</a:t>
            </a:r>
            <a:r>
              <a:rPr lang="en-US" altLang="zh-CN" sz="2400"/>
              <a:t>i</a:t>
            </a:r>
            <a:r>
              <a:rPr lang="zh-CN" altLang="en-US" sz="2400"/>
              <a:t>和</a:t>
            </a:r>
            <a:r>
              <a:rPr lang="en-US" altLang="zh-CN" sz="2400"/>
              <a:t>a[i]</a:t>
            </a:r>
            <a:r>
              <a:rPr lang="zh-CN" altLang="en-US" sz="2400"/>
              <a:t>的左值复制到</a:t>
            </a:r>
            <a:r>
              <a:rPr lang="en-US" altLang="zh-CN" sz="2400"/>
              <a:t>swap</a:t>
            </a:r>
            <a:r>
              <a:rPr lang="zh-CN" altLang="en-US" sz="2400"/>
              <a:t>的活动记录中，假定保存在</a:t>
            </a:r>
            <a:r>
              <a:rPr lang="en-US" altLang="zh-CN" sz="2400"/>
              <a:t>arg1</a:t>
            </a:r>
            <a:r>
              <a:rPr lang="zh-CN" altLang="en-US" sz="2400"/>
              <a:t>和</a:t>
            </a:r>
            <a:r>
              <a:rPr lang="en-US" altLang="zh-CN" sz="2400"/>
              <a:t>arg2</a:t>
            </a:r>
            <a:r>
              <a:rPr lang="zh-CN" altLang="en-US" sz="2400"/>
              <a:t>两个位置</a:t>
            </a:r>
            <a:r>
              <a:rPr lang="en-US" altLang="zh-CN" sz="2400"/>
              <a:t>——</a:t>
            </a:r>
            <a:r>
              <a:rPr lang="zh-CN" altLang="en-US" sz="2400"/>
              <a:t>分别对应形参</a:t>
            </a:r>
            <a:r>
              <a:rPr lang="en-US" altLang="zh-CN" sz="2400"/>
              <a:t>x</a:t>
            </a:r>
            <a:r>
              <a:rPr lang="zh-CN" altLang="en-US" sz="2400"/>
              <a:t>和</a:t>
            </a:r>
            <a:r>
              <a:rPr lang="en-US" altLang="zh-CN" sz="2400"/>
              <a:t>y</a:t>
            </a:r>
            <a:endParaRPr lang="en-US" altLang="zh-CN" sz="240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temp:=x——</a:t>
            </a:r>
            <a:r>
              <a:rPr lang="zh-CN" altLang="en-US" sz="2400"/>
              <a:t>将</a:t>
            </a:r>
            <a:r>
              <a:rPr lang="en-US" altLang="zh-CN" sz="2400"/>
              <a:t>arg1</a:t>
            </a:r>
            <a:r>
              <a:rPr lang="zh-CN" altLang="en-US" sz="2400"/>
              <a:t>指向位置的值（</a:t>
            </a:r>
            <a:r>
              <a:rPr lang="en-US" altLang="zh-CN" sz="2400"/>
              <a:t>i</a:t>
            </a:r>
            <a:r>
              <a:rPr lang="zh-CN" altLang="en-US" sz="2400"/>
              <a:t>的初值，假定为</a:t>
            </a:r>
            <a:r>
              <a:rPr lang="en-US" altLang="zh-CN" sz="2400"/>
              <a:t>I</a:t>
            </a:r>
            <a:r>
              <a:rPr lang="en-US" altLang="zh-CN" sz="2400" baseline="-25000"/>
              <a:t>0</a:t>
            </a:r>
            <a:r>
              <a:rPr lang="zh-CN" altLang="en-US" sz="2400"/>
              <a:t>）赋予</a:t>
            </a:r>
            <a:r>
              <a:rPr lang="en-US" altLang="zh-CN" sz="2400"/>
              <a:t>temp</a:t>
            </a:r>
            <a:endParaRPr lang="en-US" altLang="zh-CN" sz="240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x:=y——</a:t>
            </a:r>
            <a:r>
              <a:rPr lang="zh-CN" altLang="en-US" sz="2400"/>
              <a:t>将</a:t>
            </a:r>
            <a:r>
              <a:rPr lang="en-US" altLang="zh-CN" sz="2400"/>
              <a:t>arg2</a:t>
            </a:r>
            <a:r>
              <a:rPr lang="zh-CN" altLang="en-US" sz="2400"/>
              <a:t>指向位置的值赋予</a:t>
            </a:r>
            <a:r>
              <a:rPr lang="en-US" altLang="zh-CN" sz="2400"/>
              <a:t>arg1</a:t>
            </a:r>
            <a:r>
              <a:rPr lang="zh-CN" altLang="en-US" sz="2400"/>
              <a:t>指向的位置</a:t>
            </a:r>
            <a:r>
              <a:rPr lang="en-US" altLang="zh-CN" sz="2400"/>
              <a:t>——i := a[I</a:t>
            </a:r>
            <a:r>
              <a:rPr lang="en-US" altLang="zh-CN" sz="2400" baseline="-25000"/>
              <a:t>0</a:t>
            </a:r>
            <a:r>
              <a:rPr lang="en-US" altLang="zh-CN" sz="2400"/>
              <a:t>]</a:t>
            </a:r>
            <a:endParaRPr lang="en-US" altLang="zh-CN" sz="240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y:=temp——</a:t>
            </a:r>
            <a:r>
              <a:rPr lang="zh-CN" altLang="en-US" sz="2400"/>
              <a:t>将</a:t>
            </a:r>
            <a:r>
              <a:rPr lang="en-US" altLang="zh-CN" sz="2400"/>
              <a:t>temp</a:t>
            </a:r>
            <a:r>
              <a:rPr lang="zh-CN" altLang="en-US" sz="2400"/>
              <a:t>的值赋予</a:t>
            </a:r>
            <a:r>
              <a:rPr lang="en-US" altLang="zh-CN" sz="2400"/>
              <a:t>arg2</a:t>
            </a:r>
            <a:r>
              <a:rPr lang="zh-CN" altLang="en-US" sz="2400"/>
              <a:t>指向的位置</a:t>
            </a:r>
            <a:r>
              <a:rPr lang="en-US" altLang="zh-CN" sz="2400"/>
              <a:t>——a[I</a:t>
            </a:r>
            <a:r>
              <a:rPr lang="en-US" altLang="zh-CN" sz="2400" baseline="-25000"/>
              <a:t>0</a:t>
            </a:r>
            <a:r>
              <a:rPr lang="en-US" altLang="zh-CN" sz="2400"/>
              <a:t>]:=I</a:t>
            </a:r>
            <a:r>
              <a:rPr lang="en-US" altLang="zh-CN" sz="2400" baseline="-25000"/>
              <a:t>0</a:t>
            </a:r>
            <a:endParaRPr lang="en-US" altLang="zh-CN" sz="24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7.5.3  </a:t>
            </a:r>
            <a:r>
              <a:rPr lang="zh-CN" altLang="en-US"/>
              <a:t>复制－恢复方式</a:t>
            </a:r>
            <a:endParaRPr lang="zh-CN" alt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zh-CN">
                <a:solidFill>
                  <a:srgbClr val="FF3300"/>
                </a:solidFill>
              </a:rPr>
              <a:t>copy-restore</a:t>
            </a:r>
            <a:r>
              <a:rPr lang="zh-CN" altLang="en-US"/>
              <a:t>，传值和传地址的混合，</a:t>
            </a:r>
            <a:br>
              <a:rPr lang="zh-CN" altLang="en-US"/>
            </a:br>
            <a:r>
              <a:rPr lang="en-US" altLang="zh-CN">
                <a:solidFill>
                  <a:srgbClr val="FF3300"/>
                </a:solidFill>
              </a:rPr>
              <a:t>copy-in</a:t>
            </a:r>
            <a:r>
              <a:rPr lang="zh-CN" altLang="en-US"/>
              <a:t>，</a:t>
            </a:r>
            <a:r>
              <a:rPr lang="en-US" altLang="zh-CN">
                <a:solidFill>
                  <a:srgbClr val="FF3300"/>
                </a:solidFill>
              </a:rPr>
              <a:t>value-result</a:t>
            </a:r>
            <a:endParaRPr lang="en-US" altLang="zh-CN">
              <a:solidFill>
                <a:srgbClr val="FF3300"/>
              </a:solidFill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进入被调用函数之前，计算实参值，将其右值传送到被调用函数（传值）。另外，若实参有左值的话，还要求出左值</a:t>
            </a:r>
            <a:endParaRPr lang="zh-CN" altLang="en-US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当调用返回时，将形参当前的右值复制回实参左值指向位置。</a:t>
            </a:r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endParaRPr lang="zh-CN" alt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program copyout(input, output);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var a : integer;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procedure unsafe(var x : integer);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begin x := 2; a := 0; end;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begin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a := 1; unsafe(a); writeln(a);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end.</a:t>
            </a:r>
            <a:endParaRPr lang="en-US" altLang="zh-CN" sz="2000"/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ltGray">
          <a:xfrm>
            <a:off x="5791200" y="1676400"/>
            <a:ext cx="28956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传地址方式</a:t>
            </a:r>
            <a:b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</a:b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a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x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指向相同内存地址，先被赋值为</a:t>
            </a: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2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，然后赋值为</a:t>
            </a: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0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，因此最终</a:t>
            </a: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a</a:t>
            </a:r>
            <a:r>
              <a:rPr lang="zh-CN" altLang="en-US" sz="2400">
                <a:solidFill>
                  <a:schemeClr val="folHlink"/>
                </a:solidFill>
                <a:latin typeface="Tahoma" panose="020B0604030504040204" pitchFamily="34" charset="0"/>
              </a:rPr>
              <a:t>的值为</a:t>
            </a:r>
            <a:r>
              <a:rPr lang="en-US" altLang="zh-CN" sz="2400">
                <a:solidFill>
                  <a:schemeClr val="folHlink"/>
                </a:solidFill>
                <a:latin typeface="Tahoma" panose="020B0604030504040204" pitchFamily="34" charset="0"/>
              </a:rPr>
              <a:t>0</a:t>
            </a:r>
            <a:endParaRPr lang="en-US" altLang="zh-CN" sz="2400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67589" name="Freeform 5"/>
          <p:cNvSpPr/>
          <p:nvPr/>
        </p:nvSpPr>
        <p:spPr bwMode="ltGray">
          <a:xfrm>
            <a:off x="3938588" y="2251075"/>
            <a:ext cx="2025650" cy="309563"/>
          </a:xfrm>
          <a:custGeom>
            <a:avLst/>
            <a:gdLst>
              <a:gd name="T0" fmla="*/ 2147483646 w 1276"/>
              <a:gd name="T1" fmla="*/ 0 h 195"/>
              <a:gd name="T2" fmla="*/ 0 w 1276"/>
              <a:gd name="T3" fmla="*/ 2147483646 h 195"/>
              <a:gd name="T4" fmla="*/ 0 60000 65536"/>
              <a:gd name="T5" fmla="*/ 0 60000 65536"/>
              <a:gd name="T6" fmla="*/ 0 w 1276"/>
              <a:gd name="T7" fmla="*/ 0 h 195"/>
              <a:gd name="T8" fmla="*/ 1276 w 1276"/>
              <a:gd name="T9" fmla="*/ 195 h 19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76" h="195">
                <a:moveTo>
                  <a:pt x="1276" y="0"/>
                </a:moveTo>
                <a:lnTo>
                  <a:pt x="0" y="195"/>
                </a:lnTo>
              </a:path>
            </a:pathLst>
          </a:cu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0" name="Freeform 6"/>
          <p:cNvSpPr/>
          <p:nvPr/>
        </p:nvSpPr>
        <p:spPr bwMode="ltGray">
          <a:xfrm>
            <a:off x="5064125" y="3352800"/>
            <a:ext cx="3756025" cy="327025"/>
          </a:xfrm>
          <a:custGeom>
            <a:avLst/>
            <a:gdLst>
              <a:gd name="T0" fmla="*/ 2147483646 w 2366"/>
              <a:gd name="T1" fmla="*/ 0 h 206"/>
              <a:gd name="T2" fmla="*/ 2147483646 w 2366"/>
              <a:gd name="T3" fmla="*/ 2147483646 h 206"/>
              <a:gd name="T4" fmla="*/ 0 w 2366"/>
              <a:gd name="T5" fmla="*/ 2147483646 h 206"/>
              <a:gd name="T6" fmla="*/ 0 60000 65536"/>
              <a:gd name="T7" fmla="*/ 0 60000 65536"/>
              <a:gd name="T8" fmla="*/ 0 60000 65536"/>
              <a:gd name="T9" fmla="*/ 0 w 2366"/>
              <a:gd name="T10" fmla="*/ 0 h 206"/>
              <a:gd name="T11" fmla="*/ 2366 w 2366"/>
              <a:gd name="T12" fmla="*/ 206 h 2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66" h="206">
                <a:moveTo>
                  <a:pt x="1946" y="0"/>
                </a:moveTo>
                <a:cubicBezTo>
                  <a:pt x="2134" y="72"/>
                  <a:pt x="2366" y="178"/>
                  <a:pt x="2042" y="192"/>
                </a:cubicBezTo>
                <a:cubicBezTo>
                  <a:pt x="1718" y="206"/>
                  <a:pt x="425" y="108"/>
                  <a:pt x="0" y="86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1" name="Text Box 8"/>
          <p:cNvSpPr txBox="1">
            <a:spLocks noChangeArrowheads="1"/>
          </p:cNvSpPr>
          <p:nvPr/>
        </p:nvSpPr>
        <p:spPr bwMode="ltGray">
          <a:xfrm>
            <a:off x="533400" y="3962400"/>
            <a:ext cx="3810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3300"/>
                </a:solidFill>
                <a:latin typeface="Tahoma" panose="020B0604030504040204" pitchFamily="34" charset="0"/>
              </a:rPr>
              <a:t>复制－恢复方式</a:t>
            </a:r>
            <a:br>
              <a:rPr lang="zh-CN" altLang="en-US" sz="2000">
                <a:solidFill>
                  <a:srgbClr val="FF3300"/>
                </a:solidFill>
                <a:latin typeface="Tahoma" panose="020B0604030504040204" pitchFamily="34" charset="0"/>
              </a:rPr>
            </a:b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a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、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x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指向不同内存地址，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unsafe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结束后，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a=0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，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x=2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，此时进行恢复，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x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a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，最终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a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的值为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2</a:t>
            </a:r>
            <a:endParaRPr lang="en-US" altLang="zh-CN" sz="2000">
              <a:solidFill>
                <a:schemeClr val="folHlink"/>
              </a:solidFill>
              <a:latin typeface="Tahoma" panose="020B0604030504040204" pitchFamily="34" charset="0"/>
            </a:endParaRPr>
          </a:p>
        </p:txBody>
      </p:sp>
      <p:sp>
        <p:nvSpPr>
          <p:cNvPr id="67592" name="Freeform 9"/>
          <p:cNvSpPr/>
          <p:nvPr/>
        </p:nvSpPr>
        <p:spPr bwMode="ltGray">
          <a:xfrm>
            <a:off x="9525" y="2673350"/>
            <a:ext cx="2143125" cy="2447925"/>
          </a:xfrm>
          <a:custGeom>
            <a:avLst/>
            <a:gdLst>
              <a:gd name="T0" fmla="*/ 2147483646 w 1350"/>
              <a:gd name="T1" fmla="*/ 2147483646 h 1542"/>
              <a:gd name="T2" fmla="*/ 2147483646 w 1350"/>
              <a:gd name="T3" fmla="*/ 2147483646 h 1542"/>
              <a:gd name="T4" fmla="*/ 2147483646 w 1350"/>
              <a:gd name="T5" fmla="*/ 2147483646 h 1542"/>
              <a:gd name="T6" fmla="*/ 2147483646 w 1350"/>
              <a:gd name="T7" fmla="*/ 0 h 1542"/>
              <a:gd name="T8" fmla="*/ 0 60000 65536"/>
              <a:gd name="T9" fmla="*/ 0 60000 65536"/>
              <a:gd name="T10" fmla="*/ 0 60000 65536"/>
              <a:gd name="T11" fmla="*/ 0 60000 65536"/>
              <a:gd name="T12" fmla="*/ 0 w 1350"/>
              <a:gd name="T13" fmla="*/ 0 h 1542"/>
              <a:gd name="T14" fmla="*/ 1350 w 1350"/>
              <a:gd name="T15" fmla="*/ 1542 h 15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50" h="1542">
                <a:moveTo>
                  <a:pt x="473" y="1542"/>
                </a:moveTo>
                <a:cubicBezTo>
                  <a:pt x="414" y="1473"/>
                  <a:pt x="153" y="1318"/>
                  <a:pt x="109" y="1107"/>
                </a:cubicBezTo>
                <a:cubicBezTo>
                  <a:pt x="65" y="896"/>
                  <a:pt x="0" y="458"/>
                  <a:pt x="207" y="274"/>
                </a:cubicBezTo>
                <a:cubicBezTo>
                  <a:pt x="414" y="90"/>
                  <a:pt x="1112" y="57"/>
                  <a:pt x="1350" y="0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3" name="Freeform 10"/>
          <p:cNvSpPr/>
          <p:nvPr/>
        </p:nvSpPr>
        <p:spPr bwMode="ltGray">
          <a:xfrm>
            <a:off x="4037013" y="3559175"/>
            <a:ext cx="590550" cy="1766888"/>
          </a:xfrm>
          <a:custGeom>
            <a:avLst/>
            <a:gdLst>
              <a:gd name="T0" fmla="*/ 0 w 372"/>
              <a:gd name="T1" fmla="*/ 2147483646 h 1113"/>
              <a:gd name="T2" fmla="*/ 2147483646 w 372"/>
              <a:gd name="T3" fmla="*/ 2147483646 h 1113"/>
              <a:gd name="T4" fmla="*/ 2147483646 w 372"/>
              <a:gd name="T5" fmla="*/ 0 h 1113"/>
              <a:gd name="T6" fmla="*/ 0 60000 65536"/>
              <a:gd name="T7" fmla="*/ 0 60000 65536"/>
              <a:gd name="T8" fmla="*/ 0 60000 65536"/>
              <a:gd name="T9" fmla="*/ 0 w 372"/>
              <a:gd name="T10" fmla="*/ 0 h 1113"/>
              <a:gd name="T11" fmla="*/ 372 w 372"/>
              <a:gd name="T12" fmla="*/ 1113 h 11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2" h="1113">
                <a:moveTo>
                  <a:pt x="0" y="992"/>
                </a:moveTo>
                <a:cubicBezTo>
                  <a:pt x="49" y="985"/>
                  <a:pt x="222" y="1113"/>
                  <a:pt x="284" y="948"/>
                </a:cubicBezTo>
                <a:cubicBezTo>
                  <a:pt x="346" y="783"/>
                  <a:pt x="354" y="197"/>
                  <a:pt x="372" y="0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7.5.4  </a:t>
            </a:r>
            <a:r>
              <a:rPr lang="zh-CN" altLang="en-US"/>
              <a:t>传名方式</a:t>
            </a:r>
            <a:r>
              <a:rPr lang="en-US" altLang="zh-CN"/>
              <a:t>(</a:t>
            </a:r>
            <a:r>
              <a:rPr lang="en-US" altLang="zh-CN">
                <a:solidFill>
                  <a:srgbClr val="FF3300"/>
                </a:solidFill>
              </a:rPr>
              <a:t>call-by-name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zh-CN" sz="2800"/>
              <a:t>Algol</a:t>
            </a:r>
            <a:r>
              <a:rPr lang="zh-CN" altLang="en-US" sz="2800"/>
              <a:t>，拷贝规则，</a:t>
            </a:r>
            <a:r>
              <a:rPr lang="en-US" altLang="zh-CN" sz="2800">
                <a:solidFill>
                  <a:srgbClr val="FF3300"/>
                </a:solidFill>
              </a:rPr>
              <a:t>copy-rule</a:t>
            </a:r>
            <a:endParaRPr lang="en-US" altLang="zh-CN" sz="2800">
              <a:solidFill>
                <a:srgbClr val="FF3300"/>
              </a:solidFill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过程像宏一样处理</a:t>
            </a:r>
            <a:endParaRPr lang="zh-CN" altLang="en-US" sz="2400"/>
          </a:p>
          <a:p>
            <a:pPr marL="1371600" lvl="2" indent="-457200" eaLnBrk="1" hangingPunct="1"/>
            <a:r>
              <a:rPr lang="zh-CN" altLang="en-US" sz="2000"/>
              <a:t>被调用</a:t>
            </a:r>
            <a:r>
              <a:rPr lang="en-US" altLang="zh-CN" sz="2000"/>
              <a:t>——</a:t>
            </a:r>
            <a:r>
              <a:rPr lang="zh-CN" altLang="en-US" sz="2000"/>
              <a:t>用过程体程序文本替换过程名</a:t>
            </a:r>
            <a:endParaRPr lang="zh-CN" altLang="en-US" sz="2000"/>
          </a:p>
          <a:p>
            <a:pPr marL="1371600" lvl="2" indent="-457200" eaLnBrk="1" hangingPunct="1"/>
            <a:r>
              <a:rPr lang="zh-CN" altLang="en-US" sz="2000"/>
              <a:t>实参的程序文本替换形参</a:t>
            </a:r>
            <a:endParaRPr lang="zh-CN" altLang="en-US" sz="2000"/>
          </a:p>
          <a:p>
            <a:pPr marL="1371600" lvl="2" indent="-457200" eaLnBrk="1" hangingPunct="1"/>
            <a:r>
              <a:rPr lang="zh-CN" altLang="en-US" sz="2000"/>
              <a:t>宏扩展，</a:t>
            </a:r>
            <a:r>
              <a:rPr lang="en-US" altLang="zh-CN" sz="2000"/>
              <a:t>marco-expansion</a:t>
            </a:r>
            <a:br>
              <a:rPr lang="en-US" altLang="zh-CN" sz="2000"/>
            </a:br>
            <a:r>
              <a:rPr lang="zh-CN" altLang="en-US" sz="2000"/>
              <a:t>内联扩展，</a:t>
            </a:r>
            <a:r>
              <a:rPr lang="en-US" altLang="zh-CN" sz="2000"/>
              <a:t>in-line expansion</a:t>
            </a:r>
            <a:endParaRPr lang="en-US" altLang="zh-CN" sz="200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被调用过程内的局部名字保证与调用过程中的名字不混淆</a:t>
            </a:r>
            <a:r>
              <a:rPr lang="en-US" altLang="zh-CN" sz="2400"/>
              <a:t>——</a:t>
            </a:r>
            <a:r>
              <a:rPr lang="zh-CN" altLang="en-US" sz="2400"/>
              <a:t>可认为这些局部名字在宏扩展前改名为独一无二的名字</a:t>
            </a:r>
            <a:endParaRPr lang="zh-CN" altLang="en-US" sz="240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实参可能被加以括号，以保证完整性</a:t>
            </a:r>
            <a:endParaRPr lang="zh-CN" altLang="en-US" sz="24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7.8</a:t>
            </a:r>
            <a:endParaRPr lang="en-US" altLang="zh-CN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…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swap(i, a[i]);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…</a:t>
            </a:r>
            <a:endParaRPr lang="en-US" altLang="zh-CN" sz="2000"/>
          </a:p>
          <a:p>
            <a:pPr eaLnBrk="1" hangingPunct="1"/>
            <a:r>
              <a:rPr lang="zh-CN" altLang="en-US" sz="2800"/>
              <a:t>在传名方式下，实际上相当于如下代码</a:t>
            </a:r>
            <a:endParaRPr lang="zh-CN" altLang="en-US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…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temp := i;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i := a[i];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a[i] := temp;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…</a:t>
            </a:r>
            <a:endParaRPr lang="en-US" altLang="zh-CN" sz="2000"/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ltGray">
          <a:xfrm>
            <a:off x="3733800" y="3048000"/>
            <a:ext cx="548640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3300"/>
                </a:solidFill>
                <a:latin typeface="Tahoma" panose="020B0604030504040204" pitchFamily="34" charset="0"/>
              </a:rPr>
              <a:t>结果与传值、传地址均不相同！</a:t>
            </a:r>
            <a:endParaRPr lang="zh-CN" altLang="en-US" sz="2000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设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baseline="-25000">
                <a:solidFill>
                  <a:schemeClr val="folHlink"/>
                </a:solidFill>
                <a:latin typeface="Tahoma" panose="020B0604030504040204" pitchFamily="34" charset="0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=1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，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a[1]=0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</a:rPr>
              <a:t>，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baseline="-25000">
                <a:solidFill>
                  <a:schemeClr val="folHlink"/>
                </a:solidFill>
                <a:latin typeface="Tahoma" panose="020B0604030504040204" pitchFamily="34" charset="0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temp1temp</a:t>
            </a:r>
            <a:endParaRPr lang="en-US" altLang="zh-CN" sz="2000">
              <a:solidFill>
                <a:schemeClr val="folHlink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a[I</a:t>
            </a:r>
            <a:r>
              <a:rPr lang="en-US" altLang="zh-CN" sz="2000" baseline="-25000">
                <a:solidFill>
                  <a:schemeClr val="folHlink"/>
                </a:solidFill>
                <a:latin typeface="Tahoma" panose="020B0604030504040204" pitchFamily="34" charset="0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</a:rPr>
              <a:t>]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i——0i</a:t>
            </a:r>
            <a:endParaRPr lang="en-US" altLang="zh-CN" sz="2000">
              <a:solidFill>
                <a:schemeClr val="folHlink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I</a:t>
            </a:r>
            <a:r>
              <a:rPr lang="en-US" altLang="zh-CN" sz="2000" baseline="-25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a[a[I</a:t>
            </a:r>
            <a:r>
              <a:rPr lang="en-US" altLang="zh-CN" sz="2000" baseline="-25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]]——1a[0]</a:t>
            </a:r>
            <a:endParaRPr lang="en-US" altLang="zh-CN" sz="2000">
              <a:solidFill>
                <a:schemeClr val="folHlink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而期望的是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I</a:t>
            </a:r>
            <a:r>
              <a:rPr lang="en-US" altLang="zh-CN" sz="2000" baseline="-25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a[I</a:t>
            </a:r>
            <a:r>
              <a:rPr lang="en-US" altLang="zh-CN" sz="2000" baseline="-25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0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]——1a[1]</a:t>
            </a:r>
            <a:endParaRPr lang="en-US" altLang="zh-CN" sz="2000">
              <a:solidFill>
                <a:schemeClr val="folHlink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原因：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x:=temp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，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x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的地址此时才计算，</a:t>
            </a:r>
            <a:endParaRPr lang="zh-CN" altLang="en-US" sz="2000">
              <a:solidFill>
                <a:schemeClr val="folHlink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而传地址方式确定</a:t>
            </a:r>
            <a:r>
              <a:rPr lang="en-US" altLang="zh-CN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x</a:t>
            </a:r>
            <a:r>
              <a:rPr lang="zh-CN" altLang="en-US" sz="2000">
                <a:solidFill>
                  <a:schemeClr val="folHlink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地址的位置</a:t>
            </a:r>
            <a:endParaRPr lang="zh-CN" altLang="en-US" sz="2000">
              <a:solidFill>
                <a:schemeClr val="folHlink"/>
              </a:solidFill>
              <a:latin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69637" name="Line 5"/>
          <p:cNvSpPr>
            <a:spLocks noChangeShapeType="1"/>
          </p:cNvSpPr>
          <p:nvPr/>
        </p:nvSpPr>
        <p:spPr bwMode="ltGray">
          <a:xfrm flipH="1">
            <a:off x="2209800" y="3581400"/>
            <a:ext cx="1524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8" name="Line 6"/>
          <p:cNvSpPr>
            <a:spLocks noChangeShapeType="1"/>
          </p:cNvSpPr>
          <p:nvPr/>
        </p:nvSpPr>
        <p:spPr bwMode="ltGray">
          <a:xfrm flipH="1">
            <a:off x="2133600" y="3962400"/>
            <a:ext cx="16002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9" name="Line 7"/>
          <p:cNvSpPr>
            <a:spLocks noChangeShapeType="1"/>
          </p:cNvSpPr>
          <p:nvPr/>
        </p:nvSpPr>
        <p:spPr bwMode="ltGray">
          <a:xfrm flipH="1">
            <a:off x="2590800" y="4343400"/>
            <a:ext cx="1143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0" name="Line 8"/>
          <p:cNvSpPr>
            <a:spLocks noChangeShapeType="1"/>
          </p:cNvSpPr>
          <p:nvPr/>
        </p:nvSpPr>
        <p:spPr bwMode="ltGray">
          <a:xfrm flipH="1" flipV="1">
            <a:off x="2590800" y="4419600"/>
            <a:ext cx="12192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1" name="Freeform 9"/>
          <p:cNvSpPr/>
          <p:nvPr/>
        </p:nvSpPr>
        <p:spPr bwMode="ltGray">
          <a:xfrm>
            <a:off x="261938" y="3160713"/>
            <a:ext cx="7475537" cy="2466975"/>
          </a:xfrm>
          <a:custGeom>
            <a:avLst/>
            <a:gdLst>
              <a:gd name="T0" fmla="*/ 2147483646 w 4709"/>
              <a:gd name="T1" fmla="*/ 2147483646 h 1554"/>
              <a:gd name="T2" fmla="*/ 2147483646 w 4709"/>
              <a:gd name="T3" fmla="*/ 2147483646 h 1554"/>
              <a:gd name="T4" fmla="*/ 2147483646 w 4709"/>
              <a:gd name="T5" fmla="*/ 2147483646 h 1554"/>
              <a:gd name="T6" fmla="*/ 2147483646 w 4709"/>
              <a:gd name="T7" fmla="*/ 2147483646 h 1554"/>
              <a:gd name="T8" fmla="*/ 2147483646 w 4709"/>
              <a:gd name="T9" fmla="*/ 2147483646 h 1554"/>
              <a:gd name="T10" fmla="*/ 2147483646 w 4709"/>
              <a:gd name="T11" fmla="*/ 2147483646 h 155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709"/>
              <a:gd name="T19" fmla="*/ 0 h 1554"/>
              <a:gd name="T20" fmla="*/ 4709 w 4709"/>
              <a:gd name="T21" fmla="*/ 1554 h 155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709" h="1554">
                <a:moveTo>
                  <a:pt x="4470" y="1350"/>
                </a:moveTo>
                <a:cubicBezTo>
                  <a:pt x="4460" y="1378"/>
                  <a:pt x="4709" y="1497"/>
                  <a:pt x="4408" y="1518"/>
                </a:cubicBezTo>
                <a:cubicBezTo>
                  <a:pt x="4107" y="1539"/>
                  <a:pt x="3328" y="1554"/>
                  <a:pt x="2662" y="1474"/>
                </a:cubicBezTo>
                <a:cubicBezTo>
                  <a:pt x="1996" y="1394"/>
                  <a:pt x="822" y="1261"/>
                  <a:pt x="411" y="1040"/>
                </a:cubicBezTo>
                <a:cubicBezTo>
                  <a:pt x="0" y="819"/>
                  <a:pt x="158" y="290"/>
                  <a:pt x="198" y="145"/>
                </a:cubicBezTo>
                <a:cubicBezTo>
                  <a:pt x="238" y="0"/>
                  <a:pt x="556" y="166"/>
                  <a:pt x="650" y="171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7.9  </a:t>
            </a:r>
            <a:r>
              <a:rPr lang="zh-CN" altLang="en-US"/>
              <a:t>内联函数</a:t>
            </a:r>
            <a:endParaRPr lang="zh-CN" alt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x := f(A) + f(B);	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ym typeface="Wingdings" panose="05000000000000000000" pitchFamily="2" charset="2"/>
              </a:rPr>
              <a:t></a:t>
            </a:r>
            <a:endParaRPr lang="en-US" altLang="zh-CN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1 </a:t>
            </a:r>
            <a:r>
              <a:rPr lang="en-US" altLang="zh-CN"/>
              <a:t>:= A;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2 </a:t>
            </a:r>
            <a:r>
              <a:rPr lang="en-US" altLang="zh-CN"/>
              <a:t>:= B;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3 </a:t>
            </a:r>
            <a:r>
              <a:rPr lang="en-US" altLang="zh-CN"/>
              <a:t>:= f(t</a:t>
            </a:r>
            <a:r>
              <a:rPr lang="en-US" altLang="zh-CN" baseline="-25000"/>
              <a:t>1</a:t>
            </a:r>
            <a:r>
              <a:rPr lang="en-US" altLang="zh-CN"/>
              <a:t>);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4 </a:t>
            </a:r>
            <a:r>
              <a:rPr lang="en-US" altLang="zh-CN"/>
              <a:t>:= f(t</a:t>
            </a:r>
            <a:r>
              <a:rPr lang="en-US" altLang="zh-CN" baseline="-25000"/>
              <a:t>2</a:t>
            </a:r>
            <a:r>
              <a:rPr lang="en-US" altLang="zh-CN"/>
              <a:t>);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x := t</a:t>
            </a:r>
            <a:r>
              <a:rPr lang="en-US" altLang="zh-CN" baseline="-25000"/>
              <a:t>3</a:t>
            </a:r>
            <a:r>
              <a:rPr lang="en-US" altLang="zh-CN"/>
              <a:t> + t</a:t>
            </a:r>
            <a:r>
              <a:rPr lang="en-US" altLang="zh-CN" baseline="-25000"/>
              <a:t>4</a:t>
            </a:r>
            <a:r>
              <a:rPr lang="en-US" altLang="zh-CN"/>
              <a:t>;</a:t>
            </a:r>
            <a:endParaRPr lang="en-US" altLang="zh-CN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7.6 </a:t>
            </a:r>
            <a:r>
              <a:rPr lang="zh-CN" altLang="en-US"/>
              <a:t>符号表</a:t>
            </a:r>
            <a:endParaRPr lang="zh-CN" alt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 sz="2800"/>
              <a:t>保存作用域和绑定信息</a:t>
            </a:r>
            <a:endParaRPr lang="zh-CN" altLang="en-US" sz="2800"/>
          </a:p>
          <a:p>
            <a:pPr eaLnBrk="1" hangingPunct="1"/>
            <a:r>
              <a:rPr lang="zh-CN" altLang="en-US" sz="2800"/>
              <a:t>基本操作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添加新标识符</a:t>
            </a:r>
            <a:r>
              <a:rPr lang="en-US" altLang="zh-CN" sz="2400"/>
              <a:t>——insert</a:t>
            </a:r>
            <a:endParaRPr lang="en-US" altLang="zh-CN" sz="2400"/>
          </a:p>
          <a:p>
            <a:pPr lvl="1" eaLnBrk="1" hangingPunct="1"/>
            <a:r>
              <a:rPr lang="zh-CN" altLang="en-US" sz="2400"/>
              <a:t>查找标识符</a:t>
            </a:r>
            <a:r>
              <a:rPr lang="en-US" altLang="zh-CN" sz="2400"/>
              <a:t>——lookup</a:t>
            </a:r>
            <a:endParaRPr lang="en-US" altLang="zh-CN" sz="2400"/>
          </a:p>
          <a:p>
            <a:pPr eaLnBrk="1" hangingPunct="1"/>
            <a:r>
              <a:rPr lang="zh-CN" altLang="en-US" sz="2800"/>
              <a:t>符号表表项</a:t>
            </a:r>
            <a:r>
              <a:rPr lang="en-US" altLang="zh-CN" sz="2800"/>
              <a:t>——</a:t>
            </a:r>
            <a:r>
              <a:rPr lang="zh-CN" altLang="en-US" sz="2800"/>
              <a:t>记录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一致性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某些信息保存在外部，用指针指向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两个主要组成部分</a:t>
            </a:r>
            <a:endParaRPr lang="zh-CN" altLang="en-US" sz="2400"/>
          </a:p>
          <a:p>
            <a:pPr lvl="2" eaLnBrk="1" hangingPunct="1"/>
            <a:r>
              <a:rPr lang="zh-CN" altLang="en-US" sz="2000"/>
              <a:t>名字：定长字符串；统一保存，指针指向</a:t>
            </a:r>
            <a:endParaRPr lang="zh-CN" altLang="en-US" sz="2000"/>
          </a:p>
          <a:p>
            <a:pPr lvl="2" eaLnBrk="1" hangingPunct="1"/>
            <a:r>
              <a:rPr lang="zh-CN" altLang="en-US" sz="2000"/>
              <a:t>属性</a:t>
            </a:r>
            <a:endParaRPr lang="zh-CN" altLang="en-US" sz="20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实现方式一：线性表</a:t>
            </a:r>
            <a:endParaRPr lang="zh-CN" alt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sz="2800"/>
              <a:t>数组方式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固定大小，可能浪费，也可能不足</a:t>
            </a:r>
            <a:endParaRPr lang="zh-CN" altLang="en-US" sz="2400"/>
          </a:p>
          <a:p>
            <a:pPr eaLnBrk="1" hangingPunct="1"/>
            <a:r>
              <a:rPr lang="zh-CN" altLang="en-US" sz="2800"/>
              <a:t>链表方式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动态内存分配，根据输入大小确定</a:t>
            </a:r>
            <a:endParaRPr lang="zh-CN" altLang="en-US" sz="2400"/>
          </a:p>
          <a:p>
            <a:pPr eaLnBrk="1" hangingPunct="1"/>
            <a:r>
              <a:rPr lang="zh-CN" altLang="en-US" sz="2800"/>
              <a:t>时间复杂度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查找操作：与表大小线性关系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插入操作</a:t>
            </a:r>
            <a:endParaRPr lang="zh-CN" altLang="en-US" sz="2400"/>
          </a:p>
          <a:p>
            <a:pPr lvl="2" eaLnBrk="1" hangingPunct="1"/>
            <a:r>
              <a:rPr lang="zh-CN" altLang="en-US" sz="2000"/>
              <a:t>一个名字允许多个表项（不检查）：常数时间</a:t>
            </a:r>
            <a:endParaRPr lang="zh-CN" altLang="en-US" sz="2000"/>
          </a:p>
          <a:p>
            <a:pPr lvl="2" eaLnBrk="1" hangingPunct="1"/>
            <a:r>
              <a:rPr lang="zh-CN" altLang="en-US" sz="2000"/>
              <a:t>检查重复表项：线性</a:t>
            </a:r>
            <a:endParaRPr lang="zh-CN" altLang="en-US" sz="2000"/>
          </a:p>
          <a:p>
            <a:pPr lvl="1" eaLnBrk="1" hangingPunct="1"/>
            <a:r>
              <a:rPr lang="en-US" altLang="zh-CN" sz="2400"/>
              <a:t>n</a:t>
            </a:r>
            <a:r>
              <a:rPr lang="zh-CN" altLang="en-US" sz="2400"/>
              <a:t>次插入，</a:t>
            </a:r>
            <a:r>
              <a:rPr lang="en-US" altLang="zh-CN" sz="2400"/>
              <a:t>e</a:t>
            </a:r>
            <a:r>
              <a:rPr lang="zh-CN" altLang="en-US" sz="2400"/>
              <a:t>次查找：</a:t>
            </a:r>
            <a:r>
              <a:rPr lang="en-US" altLang="zh-CN" sz="2400"/>
              <a:t>cn(n+e)</a:t>
            </a:r>
            <a:r>
              <a:rPr lang="zh-CN" altLang="en-US" sz="2400"/>
              <a:t>，</a:t>
            </a:r>
            <a:r>
              <a:rPr lang="en-US" altLang="zh-CN" sz="2400"/>
              <a:t>O(n</a:t>
            </a:r>
            <a:r>
              <a:rPr lang="en-US" altLang="zh-CN" sz="2400" baseline="30000"/>
              <a:t>2</a:t>
            </a:r>
            <a:r>
              <a:rPr lang="en-US" altLang="zh-CN" sz="2400"/>
              <a:t>)</a:t>
            </a:r>
            <a:endParaRPr lang="en-US" altLang="zh-CN" sz="24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实现方式二：</a:t>
            </a:r>
            <a:r>
              <a:rPr lang="en-US" altLang="zh-CN"/>
              <a:t>hash</a:t>
            </a:r>
            <a:r>
              <a:rPr lang="zh-CN" altLang="en-US"/>
              <a:t>表</a:t>
            </a:r>
            <a:endParaRPr lang="zh-CN" alt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开地址法：“链表数组”</a:t>
            </a:r>
            <a:endParaRPr lang="zh-CN" altLang="en-US"/>
          </a:p>
          <a:p>
            <a:pPr lvl="1" eaLnBrk="1" hangingPunct="1"/>
            <a:r>
              <a:rPr lang="zh-CN" altLang="en-US"/>
              <a:t>长度</a:t>
            </a:r>
            <a:r>
              <a:rPr lang="en-US" altLang="zh-CN"/>
              <a:t>m</a:t>
            </a:r>
            <a:r>
              <a:rPr lang="zh-CN" altLang="en-US"/>
              <a:t>的数组，每个元素为指向一个符号表项链表的指针</a:t>
            </a:r>
            <a:endParaRPr lang="zh-CN" altLang="en-US"/>
          </a:p>
          <a:p>
            <a:pPr lvl="1" eaLnBrk="1" hangingPunct="1"/>
            <a:r>
              <a:rPr lang="en-US" altLang="zh-CN"/>
              <a:t>hash</a:t>
            </a:r>
            <a:r>
              <a:rPr lang="zh-CN" altLang="en-US"/>
              <a:t>函数：</a:t>
            </a:r>
            <a:r>
              <a:rPr lang="en-US" altLang="zh-CN"/>
              <a:t>H(</a:t>
            </a:r>
            <a:r>
              <a:rPr lang="zh-CN" altLang="en-US"/>
              <a:t>名字</a:t>
            </a:r>
            <a:r>
              <a:rPr lang="en-US" altLang="zh-CN"/>
              <a:t>)</a:t>
            </a:r>
            <a:r>
              <a:rPr lang="en-US" altLang="zh-CN">
                <a:sym typeface="Wingdings" panose="05000000000000000000" pitchFamily="2" charset="2"/>
              </a:rPr>
              <a:t>{0, 1, …, m-1}</a:t>
            </a:r>
            <a:endParaRPr lang="en-US" altLang="zh-CN"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>
                <a:sym typeface="Wingdings" panose="05000000000000000000" pitchFamily="2" charset="2"/>
              </a:rPr>
              <a:t>H(</a:t>
            </a:r>
            <a:r>
              <a:rPr lang="zh-CN" altLang="en-US">
                <a:sym typeface="Wingdings" panose="05000000000000000000" pitchFamily="2" charset="2"/>
              </a:rPr>
              <a:t>名字</a:t>
            </a:r>
            <a:r>
              <a:rPr lang="en-US" altLang="zh-CN">
                <a:sym typeface="Wingdings" panose="05000000000000000000" pitchFamily="2" charset="2"/>
              </a:rPr>
              <a:t>)=i</a:t>
            </a:r>
            <a:r>
              <a:rPr lang="zh-CN" altLang="en-US">
                <a:sym typeface="Wingdings" panose="05000000000000000000" pitchFamily="2" charset="2"/>
              </a:rPr>
              <a:t>名字存入第</a:t>
            </a:r>
            <a:r>
              <a:rPr lang="en-US" altLang="zh-CN">
                <a:sym typeface="Wingdings" panose="05000000000000000000" pitchFamily="2" charset="2"/>
              </a:rPr>
              <a:t>i</a:t>
            </a:r>
            <a:r>
              <a:rPr lang="zh-CN" altLang="en-US">
                <a:sym typeface="Wingdings" panose="05000000000000000000" pitchFamily="2" charset="2"/>
              </a:rPr>
              <a:t>个链表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若</a:t>
            </a:r>
            <a:r>
              <a:rPr lang="en-US" altLang="zh-CN">
                <a:sym typeface="Wingdings" panose="05000000000000000000" pitchFamily="2" charset="2"/>
              </a:rPr>
              <a:t>hash</a:t>
            </a:r>
            <a:r>
              <a:rPr lang="zh-CN" altLang="en-US">
                <a:sym typeface="Wingdings" panose="05000000000000000000" pitchFamily="2" charset="2"/>
              </a:rPr>
              <a:t>函数设计良好，每个链表长度</a:t>
            </a:r>
            <a:r>
              <a:rPr lang="en-US" altLang="zh-CN">
                <a:sym typeface="Wingdings" panose="05000000000000000000" pitchFamily="2" charset="2"/>
              </a:rPr>
              <a:t>n/m</a:t>
            </a:r>
            <a:endParaRPr lang="en-US" altLang="zh-CN"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/>
              <a:t>n</a:t>
            </a:r>
            <a:r>
              <a:rPr lang="zh-CN" altLang="en-US"/>
              <a:t>次插入，</a:t>
            </a:r>
            <a:r>
              <a:rPr lang="en-US" altLang="zh-CN"/>
              <a:t>e</a:t>
            </a:r>
            <a:r>
              <a:rPr lang="zh-CN" altLang="en-US"/>
              <a:t>次查找：</a:t>
            </a:r>
            <a:r>
              <a:rPr lang="en-US" altLang="zh-CN"/>
              <a:t>cn(n+e)/m</a:t>
            </a:r>
            <a:endParaRPr lang="en-US" altLang="zh-CN"/>
          </a:p>
          <a:p>
            <a:pPr lvl="1" eaLnBrk="1" hangingPunct="1"/>
            <a:r>
              <a:rPr lang="en-US" altLang="zh-CN"/>
              <a:t>hash</a:t>
            </a:r>
            <a:r>
              <a:rPr lang="zh-CN" altLang="en-US"/>
              <a:t>函数的计算应该很高效</a:t>
            </a:r>
            <a:endParaRPr lang="zh-CN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hash</a:t>
            </a:r>
            <a:r>
              <a:rPr lang="zh-CN" altLang="en-US"/>
              <a:t>函数的选择</a:t>
            </a:r>
            <a:endParaRPr lang="zh-CN" alt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原则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计算简单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使表项均匀分布</a:t>
            </a:r>
            <a:endParaRPr lang="zh-CN" altLang="en-US" sz="2400"/>
          </a:p>
          <a:p>
            <a:pPr eaLnBrk="1" hangingPunct="1"/>
            <a:r>
              <a:rPr lang="zh-CN" altLang="en-US" sz="2800"/>
              <a:t>常用算法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字符</a:t>
            </a:r>
            <a:r>
              <a:rPr lang="zh-CN" altLang="en-US" sz="2400">
                <a:sym typeface="Wingdings" panose="05000000000000000000" pitchFamily="2" charset="2"/>
              </a:rPr>
              <a:t>整数名字整数序列</a:t>
            </a:r>
            <a:r>
              <a:rPr lang="en-US" altLang="zh-CN" sz="2400">
                <a:sym typeface="Wingdings" panose="05000000000000000000" pitchFamily="2" charset="2"/>
              </a:rPr>
              <a:t>c</a:t>
            </a:r>
            <a:r>
              <a:rPr lang="en-US" altLang="zh-CN" sz="2400" baseline="-25000">
                <a:sym typeface="Wingdings" panose="05000000000000000000" pitchFamily="2" charset="2"/>
              </a:rPr>
              <a:t>1</a:t>
            </a:r>
            <a:r>
              <a:rPr lang="en-US" altLang="zh-CN" sz="2400">
                <a:sym typeface="Wingdings" panose="05000000000000000000" pitchFamily="2" charset="2"/>
              </a:rPr>
              <a:t>, …, c</a:t>
            </a:r>
            <a:r>
              <a:rPr lang="en-US" altLang="zh-CN" sz="2400" baseline="-25000">
                <a:sym typeface="Wingdings" panose="05000000000000000000" pitchFamily="2" charset="2"/>
              </a:rPr>
              <a:t>k</a:t>
            </a:r>
            <a:endParaRPr lang="en-US" altLang="zh-CN" sz="240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对整数序列进行数学运算单一整数结果</a:t>
            </a:r>
            <a:endParaRPr lang="zh-CN" altLang="en-US" sz="240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对</a:t>
            </a:r>
            <a:r>
              <a:rPr lang="en-US" altLang="zh-CN" sz="2400">
                <a:sym typeface="Wingdings" panose="05000000000000000000" pitchFamily="2" charset="2"/>
              </a:rPr>
              <a:t>m</a:t>
            </a:r>
            <a:r>
              <a:rPr lang="zh-CN" altLang="en-US" sz="2400">
                <a:sym typeface="Wingdings" panose="05000000000000000000" pitchFamily="2" charset="2"/>
              </a:rPr>
              <a:t>取模</a:t>
            </a:r>
            <a:endParaRPr lang="zh-CN" altLang="en-US" sz="240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800"/>
              <a:t>如：</a:t>
            </a:r>
            <a:r>
              <a:rPr lang="en-US" altLang="zh-CN" sz="2800"/>
              <a:t>h</a:t>
            </a:r>
            <a:r>
              <a:rPr lang="en-US" altLang="zh-CN" sz="2800" baseline="-25000"/>
              <a:t>0</a:t>
            </a:r>
            <a:r>
              <a:rPr lang="en-US" altLang="zh-CN" sz="2800"/>
              <a:t>=0</a:t>
            </a:r>
            <a:r>
              <a:rPr lang="zh-CN" altLang="en-US" sz="2800"/>
              <a:t>，</a:t>
            </a:r>
            <a:r>
              <a:rPr lang="en-US" altLang="zh-CN" sz="2800"/>
              <a:t>h</a:t>
            </a:r>
            <a:r>
              <a:rPr lang="en-US" altLang="zh-CN" sz="2800" baseline="-25000"/>
              <a:t>i</a:t>
            </a:r>
            <a:r>
              <a:rPr lang="en-US" altLang="zh-CN" sz="2800"/>
              <a:t>=65599*h</a:t>
            </a:r>
            <a:r>
              <a:rPr lang="en-US" altLang="zh-CN" sz="2800" baseline="-25000"/>
              <a:t>i-1</a:t>
            </a:r>
            <a:r>
              <a:rPr lang="en-US" altLang="zh-CN" sz="2800"/>
              <a:t>+c</a:t>
            </a:r>
            <a:r>
              <a:rPr lang="en-US" altLang="zh-CN" sz="2800" baseline="-25000"/>
              <a:t>i</a:t>
            </a:r>
            <a:r>
              <a:rPr lang="zh-CN" altLang="en-US" sz="2800"/>
              <a:t>，</a:t>
            </a:r>
            <a:r>
              <a:rPr lang="en-US" altLang="zh-CN" sz="2800"/>
              <a:t>H=h</a:t>
            </a:r>
            <a:r>
              <a:rPr lang="en-US" altLang="zh-CN" sz="2800" baseline="-25000"/>
              <a:t>k</a:t>
            </a:r>
            <a:r>
              <a:rPr lang="en-US" altLang="zh-CN" sz="2800"/>
              <a:t>%m</a:t>
            </a:r>
            <a:endParaRPr lang="en-US" altLang="zh-CN" sz="28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作用域的处理</a:t>
            </a:r>
            <a:endParaRPr lang="zh-CN" altLang="en-US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每个作用域一个符号表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对应活动记录，附着于语法树结点</a:t>
            </a:r>
            <a:endParaRPr lang="zh-CN" altLang="en-US" sz="2400"/>
          </a:p>
          <a:p>
            <a:pPr eaLnBrk="1" hangingPunct="1"/>
            <a:r>
              <a:rPr lang="zh-CN" altLang="en-US" sz="2800"/>
              <a:t>处理作用域</a:t>
            </a:r>
            <a:r>
              <a:rPr lang="en-US" altLang="zh-CN" sz="2800"/>
              <a:t>——</a:t>
            </a:r>
            <a:r>
              <a:rPr lang="zh-CN" altLang="en-US" sz="2800"/>
              <a:t>为过程、块编号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符号表项</a:t>
            </a:r>
            <a:r>
              <a:rPr lang="en-US" altLang="zh-CN" sz="2400"/>
              <a:t>——</a:t>
            </a:r>
            <a:r>
              <a:rPr lang="zh-CN" altLang="en-US" sz="2400"/>
              <a:t>保存名字和过程号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名字匹配</a:t>
            </a:r>
            <a:r>
              <a:rPr lang="en-US" altLang="zh-CN" sz="2400"/>
              <a:t>——</a:t>
            </a:r>
            <a:r>
              <a:rPr lang="zh-CN" altLang="en-US" sz="2400"/>
              <a:t>名字字符串</a:t>
            </a:r>
            <a:r>
              <a:rPr lang="en-US" altLang="zh-CN" sz="2400"/>
              <a:t>&amp;</a:t>
            </a:r>
            <a:r>
              <a:rPr lang="zh-CN" altLang="en-US" sz="2400"/>
              <a:t>过程编号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符号表操作</a:t>
            </a:r>
            <a:endParaRPr lang="zh-CN" altLang="en-US" sz="2400"/>
          </a:p>
          <a:p>
            <a:pPr lvl="2" eaLnBrk="1" hangingPunct="1"/>
            <a:r>
              <a:rPr lang="en-US" altLang="zh-CN" sz="2000"/>
              <a:t>lookup</a:t>
            </a:r>
            <a:r>
              <a:rPr lang="zh-CN" altLang="en-US" sz="2000"/>
              <a:t>：查找最近创建的表项</a:t>
            </a:r>
            <a:endParaRPr lang="zh-CN" altLang="en-US" sz="2000"/>
          </a:p>
          <a:p>
            <a:pPr lvl="2" eaLnBrk="1" hangingPunct="1"/>
            <a:r>
              <a:rPr lang="en-US" altLang="zh-CN" sz="2000"/>
              <a:t>insert</a:t>
            </a:r>
            <a:r>
              <a:rPr lang="zh-CN" altLang="en-US" sz="2000"/>
              <a:t>：创建新表项</a:t>
            </a:r>
            <a:endParaRPr lang="zh-CN" altLang="en-US" sz="2000"/>
          </a:p>
          <a:p>
            <a:pPr lvl="2" eaLnBrk="1" hangingPunct="1"/>
            <a:r>
              <a:rPr lang="en-US" altLang="zh-CN" sz="2000"/>
              <a:t>delete</a:t>
            </a:r>
            <a:r>
              <a:rPr lang="zh-CN" altLang="en-US" sz="2000"/>
              <a:t>：删除最近创建的表项</a:t>
            </a:r>
            <a:endParaRPr lang="zh-CN" altLang="en-US" sz="20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链表实现方式</a:t>
            </a:r>
            <a:endParaRPr lang="zh-CN" alt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2860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 sz="2800"/>
              <a:t>front</a:t>
            </a:r>
            <a:r>
              <a:rPr lang="zh-CN" altLang="en-US" sz="2800"/>
              <a:t>：最近创建的符号表项</a:t>
            </a:r>
            <a:endParaRPr lang="zh-CN" altLang="en-US" sz="2800"/>
          </a:p>
          <a:p>
            <a:pPr eaLnBrk="1" hangingPunct="1"/>
            <a:r>
              <a:rPr lang="en-US" altLang="zh-CN" sz="2800"/>
              <a:t>insert</a:t>
            </a:r>
            <a:r>
              <a:rPr lang="zh-CN" altLang="en-US" sz="2800"/>
              <a:t>：创建表项，插入到</a:t>
            </a:r>
            <a:r>
              <a:rPr lang="en-US" altLang="zh-CN" sz="2800"/>
              <a:t>front</a:t>
            </a:r>
            <a:r>
              <a:rPr lang="zh-CN" altLang="en-US" sz="2800"/>
              <a:t>之前</a:t>
            </a:r>
            <a:endParaRPr lang="zh-CN" altLang="en-US" sz="2800"/>
          </a:p>
          <a:p>
            <a:pPr eaLnBrk="1" hangingPunct="1"/>
            <a:r>
              <a:rPr lang="en-US" altLang="zh-CN" sz="2800"/>
              <a:t>lookup</a:t>
            </a:r>
            <a:r>
              <a:rPr lang="zh-CN" altLang="en-US" sz="2800"/>
              <a:t>：从</a:t>
            </a:r>
            <a:r>
              <a:rPr lang="en-US" altLang="zh-CN" sz="2800"/>
              <a:t>front</a:t>
            </a:r>
            <a:r>
              <a:rPr lang="zh-CN" altLang="en-US" sz="2800"/>
              <a:t>开始遍历链表</a:t>
            </a:r>
            <a:endParaRPr lang="zh-CN" altLang="en-US" sz="2800"/>
          </a:p>
          <a:p>
            <a:pPr eaLnBrk="1" hangingPunct="1"/>
            <a:r>
              <a:rPr lang="en-US" altLang="zh-CN" sz="2800"/>
              <a:t>delete</a:t>
            </a:r>
            <a:endParaRPr lang="en-US" altLang="zh-CN" sz="2800"/>
          </a:p>
          <a:p>
            <a:pPr lvl="1" eaLnBrk="1" hangingPunct="1"/>
            <a:r>
              <a:rPr lang="zh-CN" altLang="en-US" sz="2400"/>
              <a:t>无需保存过程编号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同一过程名字相邻，保存每个过程位置即可</a:t>
            </a:r>
            <a:endParaRPr lang="zh-CN" altLang="en-US" sz="2400"/>
          </a:p>
        </p:txBody>
      </p:sp>
      <p:pic>
        <p:nvPicPr>
          <p:cNvPr id="76804" name="Picture 4" descr="symtbl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8153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hash</a:t>
            </a:r>
            <a:r>
              <a:rPr lang="zh-CN" altLang="en-US"/>
              <a:t>表实现方式</a:t>
            </a:r>
            <a:endParaRPr lang="zh-CN" altLang="en-US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lookup</a:t>
            </a:r>
            <a:r>
              <a:rPr lang="zh-CN" altLang="en-US"/>
              <a:t>：相同名字总是存入同一链表，在对应链表搜索相同过程编号者即可</a:t>
            </a:r>
            <a:endParaRPr lang="zh-CN" altLang="en-US"/>
          </a:p>
          <a:p>
            <a:pPr eaLnBrk="1" hangingPunct="1"/>
            <a:r>
              <a:rPr lang="en-US" altLang="zh-CN"/>
              <a:t>delete</a:t>
            </a:r>
            <a:endParaRPr lang="en-US" altLang="zh-CN"/>
          </a:p>
          <a:p>
            <a:pPr lvl="1" eaLnBrk="1" hangingPunct="1"/>
            <a:r>
              <a:rPr lang="zh-CN" altLang="en-US"/>
              <a:t>无需遍历</a:t>
            </a:r>
            <a:r>
              <a:rPr lang="en-US" altLang="zh-CN"/>
              <a:t>hash</a:t>
            </a:r>
            <a:r>
              <a:rPr lang="zh-CN" altLang="en-US"/>
              <a:t>表所有链表</a:t>
            </a:r>
            <a:endParaRPr lang="zh-CN" altLang="en-US"/>
          </a:p>
          <a:p>
            <a:pPr lvl="1" eaLnBrk="1" hangingPunct="1"/>
            <a:r>
              <a:rPr lang="zh-CN" altLang="en-US"/>
              <a:t>作用域指针，</a:t>
            </a:r>
            <a:r>
              <a:rPr lang="en-US" altLang="zh-CN"/>
              <a:t>scope link</a:t>
            </a:r>
            <a:r>
              <a:rPr lang="zh-CN" altLang="en-US"/>
              <a:t>，相同作用域的所有表项串接起来</a:t>
            </a:r>
            <a:endParaRPr lang="zh-CN" altLang="en-US"/>
          </a:p>
          <a:p>
            <a:pPr lvl="1" eaLnBrk="1" hangingPunct="1"/>
            <a:r>
              <a:rPr lang="zh-CN" altLang="en-US"/>
              <a:t>指针设置问题</a:t>
            </a:r>
            <a:endParaRPr lang="zh-CN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7.7  </a:t>
            </a:r>
            <a:r>
              <a:rPr lang="zh-CN" altLang="en-US"/>
              <a:t>高级语言的动态内存分配</a:t>
            </a:r>
            <a:endParaRPr lang="zh-CN" alt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堆</a:t>
            </a:r>
            <a:endParaRPr lang="zh-CN" altLang="en-US" sz="2800"/>
          </a:p>
          <a:p>
            <a:pPr eaLnBrk="1" hangingPunct="1"/>
            <a:r>
              <a:rPr lang="zh-CN" altLang="en-US" sz="2800"/>
              <a:t>显式方式：</a:t>
            </a:r>
            <a:r>
              <a:rPr lang="en-US" altLang="zh-CN" sz="2800"/>
              <a:t>new, delete</a:t>
            </a:r>
            <a:endParaRPr lang="en-US" altLang="zh-CN" sz="2800"/>
          </a:p>
          <a:p>
            <a:pPr eaLnBrk="1" hangingPunct="1"/>
            <a:r>
              <a:rPr lang="zh-CN" altLang="en-US" sz="2800"/>
              <a:t>隐式方式：中间计算结果</a:t>
            </a:r>
            <a:endParaRPr lang="zh-CN" altLang="en-US" sz="2800"/>
          </a:p>
          <a:p>
            <a:pPr eaLnBrk="1" hangingPunct="1"/>
            <a:r>
              <a:rPr lang="zh-CN" altLang="en-US" sz="2800"/>
              <a:t>垃圾内存（</a:t>
            </a:r>
            <a:r>
              <a:rPr lang="en-US" altLang="zh-CN" sz="2800">
                <a:solidFill>
                  <a:srgbClr val="FF3300"/>
                </a:solidFill>
              </a:rPr>
              <a:t>garbage</a:t>
            </a:r>
            <a:r>
              <a:rPr lang="zh-CN" altLang="en-US" sz="2800"/>
              <a:t>）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已分配内存未被任何指针引用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垃圾收集，</a:t>
            </a:r>
            <a:r>
              <a:rPr lang="en-US" altLang="zh-CN" sz="2400">
                <a:solidFill>
                  <a:srgbClr val="FF3300"/>
                </a:solidFill>
              </a:rPr>
              <a:t>garbage collection</a:t>
            </a:r>
            <a:endParaRPr lang="en-US" altLang="zh-CN" sz="240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sz="2800"/>
              <a:t>空悬引用（</a:t>
            </a:r>
            <a:r>
              <a:rPr lang="en-US" altLang="zh-CN" sz="2800">
                <a:solidFill>
                  <a:srgbClr val="FF3300"/>
                </a:solidFill>
              </a:rPr>
              <a:t>dangling reference</a:t>
            </a:r>
            <a:r>
              <a:rPr lang="zh-CN" altLang="en-US" sz="2800"/>
              <a:t>）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指针指向无效区域</a:t>
            </a:r>
            <a:endParaRPr lang="zh-CN" altLang="en-US" sz="24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7.8  </a:t>
            </a:r>
            <a:r>
              <a:rPr lang="zh-CN" altLang="en-US"/>
              <a:t>动态内存分配的处理</a:t>
            </a:r>
            <a:endParaRPr lang="zh-CN" altLang="en-US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显式方式，定长块分配</a:t>
            </a:r>
            <a:endParaRPr lang="zh-CN" altLang="en-US"/>
          </a:p>
        </p:txBody>
      </p:sp>
      <p:pic>
        <p:nvPicPr>
          <p:cNvPr id="79876" name="Picture 4" descr="dynamic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33600"/>
            <a:ext cx="7297738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Freeform 5"/>
          <p:cNvSpPr/>
          <p:nvPr/>
        </p:nvSpPr>
        <p:spPr bwMode="ltGray">
          <a:xfrm>
            <a:off x="5421313" y="2286000"/>
            <a:ext cx="819150" cy="838200"/>
          </a:xfrm>
          <a:custGeom>
            <a:avLst/>
            <a:gdLst>
              <a:gd name="T0" fmla="*/ 2147483646 w 516"/>
              <a:gd name="T1" fmla="*/ 2147483646 h 528"/>
              <a:gd name="T2" fmla="*/ 2147483646 w 516"/>
              <a:gd name="T3" fmla="*/ 2147483646 h 528"/>
              <a:gd name="T4" fmla="*/ 2147483646 w 516"/>
              <a:gd name="T5" fmla="*/ 2147483646 h 528"/>
              <a:gd name="T6" fmla="*/ 2147483646 w 516"/>
              <a:gd name="T7" fmla="*/ 2147483646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516"/>
              <a:gd name="T13" fmla="*/ 0 h 528"/>
              <a:gd name="T14" fmla="*/ 516 w 516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6" h="528">
                <a:moveTo>
                  <a:pt x="41" y="528"/>
                </a:moveTo>
                <a:cubicBezTo>
                  <a:pt x="45" y="454"/>
                  <a:pt x="0" y="162"/>
                  <a:pt x="68" y="84"/>
                </a:cubicBezTo>
                <a:cubicBezTo>
                  <a:pt x="136" y="6"/>
                  <a:pt x="382" y="0"/>
                  <a:pt x="449" y="58"/>
                </a:cubicBezTo>
                <a:cubicBezTo>
                  <a:pt x="516" y="116"/>
                  <a:pt x="468" y="354"/>
                  <a:pt x="473" y="432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8" name="Freeform 6"/>
          <p:cNvSpPr/>
          <p:nvPr/>
        </p:nvSpPr>
        <p:spPr bwMode="ltGray">
          <a:xfrm>
            <a:off x="6705600" y="2286000"/>
            <a:ext cx="819150" cy="838200"/>
          </a:xfrm>
          <a:custGeom>
            <a:avLst/>
            <a:gdLst>
              <a:gd name="T0" fmla="*/ 2147483646 w 516"/>
              <a:gd name="T1" fmla="*/ 2147483646 h 528"/>
              <a:gd name="T2" fmla="*/ 2147483646 w 516"/>
              <a:gd name="T3" fmla="*/ 2147483646 h 528"/>
              <a:gd name="T4" fmla="*/ 2147483646 w 516"/>
              <a:gd name="T5" fmla="*/ 2147483646 h 528"/>
              <a:gd name="T6" fmla="*/ 2147483646 w 516"/>
              <a:gd name="T7" fmla="*/ 2147483646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516"/>
              <a:gd name="T13" fmla="*/ 0 h 528"/>
              <a:gd name="T14" fmla="*/ 516 w 516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6" h="528">
                <a:moveTo>
                  <a:pt x="41" y="528"/>
                </a:moveTo>
                <a:cubicBezTo>
                  <a:pt x="45" y="454"/>
                  <a:pt x="0" y="162"/>
                  <a:pt x="68" y="84"/>
                </a:cubicBezTo>
                <a:cubicBezTo>
                  <a:pt x="136" y="6"/>
                  <a:pt x="382" y="0"/>
                  <a:pt x="449" y="58"/>
                </a:cubicBezTo>
                <a:cubicBezTo>
                  <a:pt x="516" y="116"/>
                  <a:pt x="468" y="354"/>
                  <a:pt x="473" y="432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9" name="Freeform 7"/>
          <p:cNvSpPr/>
          <p:nvPr/>
        </p:nvSpPr>
        <p:spPr bwMode="ltGray">
          <a:xfrm>
            <a:off x="5821363" y="4114800"/>
            <a:ext cx="819150" cy="838200"/>
          </a:xfrm>
          <a:custGeom>
            <a:avLst/>
            <a:gdLst>
              <a:gd name="T0" fmla="*/ 2147483646 w 516"/>
              <a:gd name="T1" fmla="*/ 2147483646 h 528"/>
              <a:gd name="T2" fmla="*/ 2147483646 w 516"/>
              <a:gd name="T3" fmla="*/ 2147483646 h 528"/>
              <a:gd name="T4" fmla="*/ 2147483646 w 516"/>
              <a:gd name="T5" fmla="*/ 2147483646 h 528"/>
              <a:gd name="T6" fmla="*/ 2147483646 w 516"/>
              <a:gd name="T7" fmla="*/ 2147483646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516"/>
              <a:gd name="T13" fmla="*/ 0 h 528"/>
              <a:gd name="T14" fmla="*/ 516 w 516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6" h="528">
                <a:moveTo>
                  <a:pt x="41" y="528"/>
                </a:moveTo>
                <a:cubicBezTo>
                  <a:pt x="45" y="454"/>
                  <a:pt x="0" y="162"/>
                  <a:pt x="68" y="84"/>
                </a:cubicBezTo>
                <a:cubicBezTo>
                  <a:pt x="136" y="6"/>
                  <a:pt x="382" y="0"/>
                  <a:pt x="449" y="58"/>
                </a:cubicBezTo>
                <a:cubicBezTo>
                  <a:pt x="516" y="116"/>
                  <a:pt x="468" y="354"/>
                  <a:pt x="473" y="432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0" name="Freeform 8"/>
          <p:cNvSpPr/>
          <p:nvPr/>
        </p:nvSpPr>
        <p:spPr bwMode="ltGray">
          <a:xfrm>
            <a:off x="7105650" y="4114800"/>
            <a:ext cx="819150" cy="838200"/>
          </a:xfrm>
          <a:custGeom>
            <a:avLst/>
            <a:gdLst>
              <a:gd name="T0" fmla="*/ 2147483646 w 516"/>
              <a:gd name="T1" fmla="*/ 2147483646 h 528"/>
              <a:gd name="T2" fmla="*/ 2147483646 w 516"/>
              <a:gd name="T3" fmla="*/ 2147483646 h 528"/>
              <a:gd name="T4" fmla="*/ 2147483646 w 516"/>
              <a:gd name="T5" fmla="*/ 2147483646 h 528"/>
              <a:gd name="T6" fmla="*/ 2147483646 w 516"/>
              <a:gd name="T7" fmla="*/ 2147483646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516"/>
              <a:gd name="T13" fmla="*/ 0 h 528"/>
              <a:gd name="T14" fmla="*/ 516 w 516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6" h="528">
                <a:moveTo>
                  <a:pt x="41" y="528"/>
                </a:moveTo>
                <a:cubicBezTo>
                  <a:pt x="45" y="454"/>
                  <a:pt x="0" y="162"/>
                  <a:pt x="68" y="84"/>
                </a:cubicBezTo>
                <a:cubicBezTo>
                  <a:pt x="136" y="6"/>
                  <a:pt x="382" y="0"/>
                  <a:pt x="449" y="58"/>
                </a:cubicBezTo>
                <a:cubicBezTo>
                  <a:pt x="516" y="116"/>
                  <a:pt x="468" y="354"/>
                  <a:pt x="473" y="432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1" name="Freeform 9"/>
          <p:cNvSpPr/>
          <p:nvPr/>
        </p:nvSpPr>
        <p:spPr bwMode="ltGray">
          <a:xfrm>
            <a:off x="2622550" y="4294188"/>
            <a:ext cx="2570163" cy="658812"/>
          </a:xfrm>
          <a:custGeom>
            <a:avLst/>
            <a:gdLst>
              <a:gd name="T0" fmla="*/ 2147483646 w 1619"/>
              <a:gd name="T1" fmla="*/ 2147483646 h 415"/>
              <a:gd name="T2" fmla="*/ 2147483646 w 1619"/>
              <a:gd name="T3" fmla="*/ 2147483646 h 415"/>
              <a:gd name="T4" fmla="*/ 2147483646 w 1619"/>
              <a:gd name="T5" fmla="*/ 2147483646 h 415"/>
              <a:gd name="T6" fmla="*/ 2147483646 w 1619"/>
              <a:gd name="T7" fmla="*/ 2147483646 h 415"/>
              <a:gd name="T8" fmla="*/ 0 60000 65536"/>
              <a:gd name="T9" fmla="*/ 0 60000 65536"/>
              <a:gd name="T10" fmla="*/ 0 60000 65536"/>
              <a:gd name="T11" fmla="*/ 0 60000 65536"/>
              <a:gd name="T12" fmla="*/ 0 w 1619"/>
              <a:gd name="T13" fmla="*/ 0 h 415"/>
              <a:gd name="T14" fmla="*/ 1619 w 1619"/>
              <a:gd name="T15" fmla="*/ 415 h 4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19" h="415">
                <a:moveTo>
                  <a:pt x="28" y="415"/>
                </a:moveTo>
                <a:cubicBezTo>
                  <a:pt x="61" y="356"/>
                  <a:pt x="0" y="126"/>
                  <a:pt x="227" y="63"/>
                </a:cubicBezTo>
                <a:cubicBezTo>
                  <a:pt x="454" y="0"/>
                  <a:pt x="1157" y="2"/>
                  <a:pt x="1388" y="37"/>
                </a:cubicBezTo>
                <a:cubicBezTo>
                  <a:pt x="1619" y="72"/>
                  <a:pt x="1565" y="222"/>
                  <a:pt x="1612" y="271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隐式方式的内存释放问题</a:t>
            </a:r>
            <a:endParaRPr lang="zh-CN" alt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609600" indent="-609600" eaLnBrk="1" hangingPunct="1"/>
            <a:r>
              <a:rPr lang="zh-CN" altLang="en-US"/>
              <a:t>记录指向内存块的所有指针</a:t>
            </a:r>
            <a:endParaRPr lang="zh-CN" altLang="en-US"/>
          </a:p>
          <a:p>
            <a:pPr marL="609600" indent="-609600" eaLnBrk="1" hangingPunct="1"/>
            <a:r>
              <a:rPr lang="zh-CN" altLang="en-US"/>
              <a:t>处理两个问题</a:t>
            </a:r>
            <a:endParaRPr lang="zh-CN" altLang="en-US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块边界</a:t>
            </a:r>
            <a:endParaRPr lang="zh-CN" altLang="en-US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辨别块是否被使用</a:t>
            </a:r>
            <a:endParaRPr lang="zh-CN" altLang="en-US"/>
          </a:p>
          <a:p>
            <a:pPr marL="1371600" lvl="2" indent="-457200" eaLnBrk="1" hangingPunct="1">
              <a:buFont typeface="Wingdings" panose="05000000000000000000" pitchFamily="2" charset="2"/>
              <a:buAutoNum type="alphaLcParenR"/>
            </a:pPr>
            <a:r>
              <a:rPr lang="zh-CN" altLang="en-US"/>
              <a:t>引用计数法，</a:t>
            </a:r>
            <a:r>
              <a:rPr lang="en-US" altLang="zh-CN"/>
              <a:t>reference count</a:t>
            </a:r>
            <a:br>
              <a:rPr lang="en-US" altLang="zh-CN"/>
            </a:br>
            <a:r>
              <a:rPr lang="zh-CN" altLang="en-US"/>
              <a:t>记录引用块的指针数目</a:t>
            </a:r>
            <a:br>
              <a:rPr lang="zh-CN" altLang="en-US"/>
            </a:br>
            <a:r>
              <a:rPr lang="zh-CN" altLang="en-US"/>
              <a:t>计数</a:t>
            </a:r>
            <a:r>
              <a:rPr lang="en-US" altLang="zh-CN"/>
              <a:t>=0</a:t>
            </a:r>
            <a:r>
              <a:rPr lang="en-US" altLang="zh-CN">
                <a:sym typeface="Wingdings" panose="05000000000000000000" pitchFamily="2" charset="2"/>
              </a:rPr>
              <a:t></a:t>
            </a:r>
            <a:r>
              <a:rPr lang="zh-CN" altLang="en-US">
                <a:sym typeface="Wingdings" panose="05000000000000000000" pitchFamily="2" charset="2"/>
              </a:rPr>
              <a:t>可以释放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性能影响较大</a:t>
            </a:r>
            <a:endParaRPr lang="zh-CN" altLang="en-US">
              <a:sym typeface="Wingdings" panose="05000000000000000000" pitchFamily="2" charset="2"/>
            </a:endParaRPr>
          </a:p>
          <a:p>
            <a:pPr marL="1371600" lvl="2" indent="-457200" eaLnBrk="1" hangingPunct="1">
              <a:buFont typeface="Wingdings" panose="05000000000000000000" pitchFamily="2" charset="2"/>
              <a:buAutoNum type="alphaLcParenR"/>
            </a:pPr>
            <a:r>
              <a:rPr lang="zh-CN" altLang="en-US">
                <a:sym typeface="Wingdings" panose="05000000000000000000" pitchFamily="2" charset="2"/>
              </a:rPr>
              <a:t>标记技术，</a:t>
            </a:r>
            <a:r>
              <a:rPr lang="en-US" altLang="zh-CN">
                <a:sym typeface="Wingdings" panose="05000000000000000000" pitchFamily="2" charset="2"/>
              </a:rPr>
              <a:t>marking technique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暂停程序，检查所有指针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引用的内存块标记为</a:t>
            </a:r>
            <a:r>
              <a:rPr lang="en-US" altLang="zh-CN">
                <a:sym typeface="Wingdings" panose="05000000000000000000" pitchFamily="2" charset="2"/>
              </a:rPr>
              <a:t>used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未引用的内存块标记未</a:t>
            </a:r>
            <a:r>
              <a:rPr lang="en-US" altLang="zh-CN">
                <a:sym typeface="Wingdings" panose="05000000000000000000" pitchFamily="2" charset="2"/>
              </a:rPr>
              <a:t>unused</a:t>
            </a:r>
            <a:r>
              <a:rPr lang="zh-CN" altLang="en-US">
                <a:sym typeface="Wingdings" panose="05000000000000000000" pitchFamily="2" charset="2"/>
              </a:rPr>
              <a:t>，可释放</a:t>
            </a:r>
            <a:endParaRPr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lcc</a:t>
            </a:r>
            <a:r>
              <a:rPr lang="zh-CN" altLang="en-US"/>
              <a:t>的运行时环境处理</a:t>
            </a:r>
            <a:endParaRPr lang="zh-CN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1924" name="AutoShape 4"/>
          <p:cNvSpPr>
            <a:spLocks noChangeArrowheads="1"/>
          </p:cNvSpPr>
          <p:nvPr/>
        </p:nvSpPr>
        <p:spPr bwMode="ltGray">
          <a:xfrm>
            <a:off x="3492500" y="5084763"/>
            <a:ext cx="2663825" cy="431800"/>
          </a:xfrm>
          <a:prstGeom prst="flowChartDocumen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callee</a:t>
            </a:r>
            <a:r>
              <a:rPr lang="zh-CN" altLang="en-US" sz="2000">
                <a:latin typeface="Tahoma" panose="020B0604030504040204" pitchFamily="34" charset="0"/>
              </a:rPr>
              <a:t>的帧</a:t>
            </a:r>
            <a:endParaRPr lang="zh-CN" altLang="en-US" sz="2000">
              <a:latin typeface="Tahoma" panose="020B0604030504040204" pitchFamily="34" charset="0"/>
            </a:endParaRPr>
          </a:p>
        </p:txBody>
      </p:sp>
      <p:graphicFrame>
        <p:nvGraphicFramePr>
          <p:cNvPr id="96286" name="Group 30"/>
          <p:cNvGraphicFramePr>
            <a:graphicFrameLocks noGrp="1"/>
          </p:cNvGraphicFramePr>
          <p:nvPr/>
        </p:nvGraphicFramePr>
        <p:xfrm>
          <a:off x="3492500" y="2174875"/>
          <a:ext cx="2663825" cy="2773484"/>
        </p:xfrm>
        <a:graphic>
          <a:graphicData uri="http://schemas.openxmlformats.org/drawingml/2006/table">
            <a:tbl>
              <a:tblPr/>
              <a:tblGrid>
                <a:gridCol w="2663825"/>
              </a:tblGrid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输入参数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返回地址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存储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ebx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存储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esi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存储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edi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存储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ebp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局部变量和全局变量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1943" name="AutoShape 31"/>
          <p:cNvSpPr>
            <a:spLocks noChangeArrowheads="1"/>
          </p:cNvSpPr>
          <p:nvPr/>
        </p:nvSpPr>
        <p:spPr bwMode="ltGray">
          <a:xfrm flipV="1">
            <a:off x="3492500" y="1628775"/>
            <a:ext cx="2663825" cy="431800"/>
          </a:xfrm>
          <a:prstGeom prst="flowChartDocumen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caller</a:t>
            </a:r>
            <a:r>
              <a:rPr lang="zh-CN" altLang="en-US" sz="2000">
                <a:latin typeface="Tahoma" panose="020B0604030504040204" pitchFamily="34" charset="0"/>
              </a:rPr>
              <a:t>的帧</a:t>
            </a:r>
            <a:endParaRPr lang="zh-CN" altLang="en-US" sz="2000">
              <a:latin typeface="Tahoma" panose="020B0604030504040204" pitchFamily="34" charset="0"/>
            </a:endParaRPr>
          </a:p>
        </p:txBody>
      </p:sp>
      <p:sp>
        <p:nvSpPr>
          <p:cNvPr id="81944" name="Text Box 32"/>
          <p:cNvSpPr txBox="1">
            <a:spLocks noChangeArrowheads="1"/>
          </p:cNvSpPr>
          <p:nvPr/>
        </p:nvSpPr>
        <p:spPr bwMode="ltGray">
          <a:xfrm>
            <a:off x="1906588" y="4687888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esp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sp>
        <p:nvSpPr>
          <p:cNvPr id="81945" name="Line 33"/>
          <p:cNvSpPr>
            <a:spLocks noChangeShapeType="1"/>
          </p:cNvSpPr>
          <p:nvPr/>
        </p:nvSpPr>
        <p:spPr bwMode="ltGray">
          <a:xfrm>
            <a:off x="2484438" y="4903788"/>
            <a:ext cx="10080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6" name="Text Box 34"/>
          <p:cNvSpPr txBox="1">
            <a:spLocks noChangeArrowheads="1"/>
          </p:cNvSpPr>
          <p:nvPr/>
        </p:nvSpPr>
        <p:spPr bwMode="ltGray">
          <a:xfrm>
            <a:off x="1908175" y="4040188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ebp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sp>
        <p:nvSpPr>
          <p:cNvPr id="81947" name="Line 35"/>
          <p:cNvSpPr>
            <a:spLocks noChangeShapeType="1"/>
          </p:cNvSpPr>
          <p:nvPr/>
        </p:nvSpPr>
        <p:spPr bwMode="ltGray">
          <a:xfrm>
            <a:off x="2486025" y="4256088"/>
            <a:ext cx="1008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8" name="Text Box 36"/>
          <p:cNvSpPr txBox="1">
            <a:spLocks noChangeArrowheads="1"/>
          </p:cNvSpPr>
          <p:nvPr/>
        </p:nvSpPr>
        <p:spPr bwMode="ltGray">
          <a:xfrm>
            <a:off x="6300788" y="4149725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0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sp>
        <p:nvSpPr>
          <p:cNvPr id="81949" name="Text Box 37"/>
          <p:cNvSpPr txBox="1">
            <a:spLocks noChangeArrowheads="1"/>
          </p:cNvSpPr>
          <p:nvPr/>
        </p:nvSpPr>
        <p:spPr bwMode="ltGray">
          <a:xfrm>
            <a:off x="6300788" y="375285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4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sp>
        <p:nvSpPr>
          <p:cNvPr id="81950" name="Text Box 38"/>
          <p:cNvSpPr txBox="1">
            <a:spLocks noChangeArrowheads="1"/>
          </p:cNvSpPr>
          <p:nvPr/>
        </p:nvSpPr>
        <p:spPr bwMode="ltGray">
          <a:xfrm>
            <a:off x="6300788" y="3392488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8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sp>
        <p:nvSpPr>
          <p:cNvPr id="81951" name="Text Box 39"/>
          <p:cNvSpPr txBox="1">
            <a:spLocks noChangeArrowheads="1"/>
          </p:cNvSpPr>
          <p:nvPr/>
        </p:nvSpPr>
        <p:spPr bwMode="ltGray">
          <a:xfrm>
            <a:off x="6300788" y="299720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12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sp>
        <p:nvSpPr>
          <p:cNvPr id="81952" name="Text Box 40"/>
          <p:cNvSpPr txBox="1">
            <a:spLocks noChangeArrowheads="1"/>
          </p:cNvSpPr>
          <p:nvPr/>
        </p:nvSpPr>
        <p:spPr bwMode="ltGray">
          <a:xfrm>
            <a:off x="6299200" y="256540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16</a:t>
            </a:r>
            <a:endParaRPr lang="en-US" altLang="zh-CN" sz="2000">
              <a:latin typeface="Tahoma" panose="020B0604030504040204" pitchFamily="34" charset="0"/>
            </a:endParaRPr>
          </a:p>
        </p:txBody>
      </p:sp>
      <p:sp>
        <p:nvSpPr>
          <p:cNvPr id="81953" name="Text Box 41"/>
          <p:cNvSpPr txBox="1">
            <a:spLocks noChangeArrowheads="1"/>
          </p:cNvSpPr>
          <p:nvPr/>
        </p:nvSpPr>
        <p:spPr bwMode="ltGray">
          <a:xfrm>
            <a:off x="6300788" y="2168525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Tahoma" panose="020B0604030504040204" pitchFamily="34" charset="0"/>
              </a:rPr>
              <a:t>20</a:t>
            </a:r>
            <a:endParaRPr lang="en-US" altLang="zh-CN" sz="2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lcc</a:t>
            </a:r>
            <a:r>
              <a:rPr lang="zh-CN" altLang="en-US"/>
              <a:t>的运行时环境处理</a:t>
            </a:r>
            <a:endParaRPr lang="zh-CN" altLang="en-US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调用序列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print(“%s: \n”, f-&gt;x.name);	// </a:t>
            </a:r>
            <a:r>
              <a:rPr lang="zh-CN" altLang="en-US" sz="2000"/>
              <a:t>打印函数起始标号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print(“push ebx\n”);		// </a:t>
            </a:r>
            <a:r>
              <a:rPr lang="zh-CN" altLang="en-US" sz="2000"/>
              <a:t>保存寄存器，设置栈指针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print(“push esi\n”);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print(“push edi\n”);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print(“push ebp\n”);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print(“mov ebp,esp\n”);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endParaRPr lang="en-US" altLang="zh-CN" sz="20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lcc</a:t>
            </a:r>
            <a:r>
              <a:rPr lang="zh-CN" altLang="en-US"/>
              <a:t>的运行时环境处理</a:t>
            </a:r>
            <a:endParaRPr lang="zh-CN" alt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计算参数在栈中偏移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offset = 16 + 4;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for (i = 0; callee[i]; i++) {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Symbol p = callee[i];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Symbol q = caller[i];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p-&gt;x.offset = q-&gt;x.offset;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p-&gt;x.name = q-&gt;x.name = stringf(“%d”, p-&gt;x.offset);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p-&gt;sclass = q-&gt;sclass = AUTO;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offset += roundup(q-&gt;type-&gt;size, 4);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endParaRPr lang="en-US" altLang="zh-CN" sz="20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lcc</a:t>
            </a:r>
            <a:r>
              <a:rPr lang="zh-CN" altLang="en-US"/>
              <a:t>的运行时环境处理</a:t>
            </a:r>
            <a:endParaRPr lang="zh-CN" alt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生成函数体代码，最后生成返回序列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print(“mov esp,ebp\n”);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print(“pop ebp\n”);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print(“pop edi\n”);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print(“pop esi\n”);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print(“pop ebx\n”);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print(“ret\n”);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endParaRPr lang="en-US" altLang="zh-CN" sz="20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lcc</a:t>
            </a:r>
            <a:r>
              <a:rPr lang="zh-CN" altLang="en-US"/>
              <a:t>的运行时环境处理</a:t>
            </a:r>
            <a:endParaRPr lang="zh-CN" altLang="en-US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数据定义</a:t>
            </a:r>
            <a:endParaRPr lang="zh-CN" altLang="en-US"/>
          </a:p>
          <a:p>
            <a:pPr lvl="1"/>
            <a:r>
              <a:rPr lang="zh-CN" altLang="en-US"/>
              <a:t>静态局部符号保证唯一名字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if (p-&gt;scope &gt;= LOCAL &amp;&amp; p-&gt;sclass == STATIC)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p-&gt;x.name = stringf(“L%d”, genlabel(1));</a:t>
            </a:r>
            <a:endParaRPr lang="en-US" altLang="zh-CN" sz="2000"/>
          </a:p>
          <a:p>
            <a:pPr lvl="1"/>
            <a:r>
              <a:rPr lang="zh-CN" altLang="en-US"/>
              <a:t>生成的符号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合法汇编名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if (p-&gt;generated)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p-&gt;x.name = stringf(“L%s”, p-&gt;name);</a:t>
            </a:r>
            <a:endParaRPr lang="en-US" altLang="zh-CN" sz="2000"/>
          </a:p>
          <a:p>
            <a:pPr lvl="1"/>
            <a:r>
              <a:rPr lang="zh-CN" altLang="en-US"/>
              <a:t>全局符号加下划线前缀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if (p-&gt;scope == GLOBAL || p-&gt;sclass == EXTERN)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	p-&gt;x.name = stringf(“_%s”, p-&gt;name);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...</a:t>
            </a:r>
            <a:endParaRPr lang="en-US" altLang="zh-CN" sz="20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lcc</a:t>
            </a:r>
            <a:r>
              <a:rPr lang="zh-CN" altLang="en-US"/>
              <a:t>的运行时环境处理</a:t>
            </a:r>
            <a:endParaRPr lang="zh-CN" altLang="en-US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数据定义</a:t>
            </a:r>
            <a:endParaRPr lang="zh-CN" altLang="en-US"/>
          </a:p>
          <a:p>
            <a:pPr lvl="1"/>
            <a:r>
              <a:rPr lang="zh-CN" altLang="en-US"/>
              <a:t>空间分配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case C: print(“db %d\n”, v.uc); return;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case S: print(“dw %d\n”, v.ss); return;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case I: print(“dd %d\n”, v.i); return;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case U: print(“dd 0%xH\n”, v.u); return;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case P: print(“dd 0%xH\n”, v.p); return;</a:t>
            </a:r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…</a:t>
            </a:r>
            <a:endParaRPr lang="en-US" altLang="zh-CN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FD1"/>
      </a:accent5>
      <a:accent6>
        <a:srgbClr val="2D2DB9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ends 2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11262</Words>
  <Application>WPS 演示</Application>
  <PresentationFormat>全屏显示(4:3)</PresentationFormat>
  <Paragraphs>937</Paragraphs>
  <Slides>83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93" baseType="lpstr">
      <vt:lpstr>Arial</vt:lpstr>
      <vt:lpstr>宋体</vt:lpstr>
      <vt:lpstr>Wingdings</vt:lpstr>
      <vt:lpstr>Tahoma</vt:lpstr>
      <vt:lpstr>Times New Roman</vt:lpstr>
      <vt:lpstr>黑体</vt:lpstr>
      <vt:lpstr>微软雅黑</vt:lpstr>
      <vt:lpstr>Arial Unicode MS</vt:lpstr>
      <vt:lpstr>Symbol</vt:lpstr>
      <vt:lpstr>Blends</vt:lpstr>
      <vt:lpstr>第七章  运行时环境</vt:lpstr>
      <vt:lpstr>学习内容</vt:lpstr>
      <vt:lpstr>7.1  源语言相关问题</vt:lpstr>
      <vt:lpstr>Pascal源码示例</vt:lpstr>
      <vt:lpstr>Pascal源码示例（续）</vt:lpstr>
      <vt:lpstr>Pascal源码示例（续）</vt:lpstr>
      <vt:lpstr>7.1.2  活动树（activation tree）</vt:lpstr>
      <vt:lpstr>过程的活动</vt:lpstr>
      <vt:lpstr>递归</vt:lpstr>
      <vt:lpstr>例7.1</vt:lpstr>
      <vt:lpstr>7.1.3  控制栈（control stack）</vt:lpstr>
      <vt:lpstr>例7.2</vt:lpstr>
      <vt:lpstr>7.1.4  作用域</vt:lpstr>
      <vt:lpstr>7.1.5  名字的绑定（binding）</vt:lpstr>
      <vt:lpstr>环境和状态</vt:lpstr>
      <vt:lpstr>7.1.6  影响存储组织的几个问题</vt:lpstr>
      <vt:lpstr>7.2  存储组织</vt:lpstr>
      <vt:lpstr>活动信息的保存</vt:lpstr>
      <vt:lpstr>7.2.2  活动记录(activation record)</vt:lpstr>
      <vt:lpstr>7.2.3  局部数据布局</vt:lpstr>
      <vt:lpstr>7.3  内存分配策略</vt:lpstr>
      <vt:lpstr>7.3.1  静态分配策略</vt:lpstr>
      <vt:lpstr>例7.4 Fortran的静态分配</vt:lpstr>
      <vt:lpstr>例7.4 Fortran的静态分配（续）</vt:lpstr>
      <vt:lpstr>例7.4 Fortran的静态分配（续）</vt:lpstr>
      <vt:lpstr>例7.4 Fortran的静态分配（续）</vt:lpstr>
      <vt:lpstr>7.3.2  栈分配策略</vt:lpstr>
      <vt:lpstr>例7.5  快速排序执行过程</vt:lpstr>
      <vt:lpstr>调用序列（calling sequence）</vt:lpstr>
      <vt:lpstr>调用序列（续）</vt:lpstr>
      <vt:lpstr>调用序列（续）</vt:lpstr>
      <vt:lpstr>调用序列（续）</vt:lpstr>
      <vt:lpstr>调用序列（续）</vt:lpstr>
      <vt:lpstr>返回序列</vt:lpstr>
      <vt:lpstr>可变长度数据</vt:lpstr>
      <vt:lpstr>7.3.3  空悬（dangling）引用</vt:lpstr>
      <vt:lpstr>7.3.4  堆分配策略</vt:lpstr>
      <vt:lpstr>堆分配策略（续）</vt:lpstr>
      <vt:lpstr>7.4  访问非局部名字</vt:lpstr>
      <vt:lpstr>7.4.1  程序块（block）</vt:lpstr>
      <vt:lpstr>嵌套块作用域示例</vt:lpstr>
      <vt:lpstr>实现方法</vt:lpstr>
      <vt:lpstr>7.4.2  无过程嵌套的静态作用域</vt:lpstr>
      <vt:lpstr>过程作为参数——无嵌套情况</vt:lpstr>
      <vt:lpstr>7.4.3  包含过程嵌套的静态作用域</vt:lpstr>
      <vt:lpstr>嵌套深度（nesting depth）</vt:lpstr>
      <vt:lpstr>访问链接</vt:lpstr>
      <vt:lpstr>使用访问链接</vt:lpstr>
      <vt:lpstr>设置访问链接</vt:lpstr>
      <vt:lpstr>过程作为参数的情况</vt:lpstr>
      <vt:lpstr>过程作为参数的情况（续）</vt:lpstr>
      <vt:lpstr>Display表</vt:lpstr>
      <vt:lpstr>Display表（续）</vt:lpstr>
      <vt:lpstr>display表的设置</vt:lpstr>
      <vt:lpstr>7.4.4  动态作用域</vt:lpstr>
      <vt:lpstr>实现方法</vt:lpstr>
      <vt:lpstr>7.5  参数传递</vt:lpstr>
      <vt:lpstr>传值方式例</vt:lpstr>
      <vt:lpstr>通过传递指针改变实参值</vt:lpstr>
      <vt:lpstr>7.5.2  传地址方式</vt:lpstr>
      <vt:lpstr>例7.7</vt:lpstr>
      <vt:lpstr>例7.7（续）</vt:lpstr>
      <vt:lpstr>7.5.3  复制－恢复方式</vt:lpstr>
      <vt:lpstr>例</vt:lpstr>
      <vt:lpstr>7.5.4  传名方式(call-by-name)</vt:lpstr>
      <vt:lpstr>例7.8</vt:lpstr>
      <vt:lpstr>例7.9  内联函数</vt:lpstr>
      <vt:lpstr>7.6 符号表</vt:lpstr>
      <vt:lpstr>实现方式一：线性表</vt:lpstr>
      <vt:lpstr>实现方式二：hash表</vt:lpstr>
      <vt:lpstr>hash函数的选择</vt:lpstr>
      <vt:lpstr>作用域的处理</vt:lpstr>
      <vt:lpstr>链表实现方式</vt:lpstr>
      <vt:lpstr>hash表实现方式</vt:lpstr>
      <vt:lpstr>7.7  高级语言的动态内存分配</vt:lpstr>
      <vt:lpstr>7.8  动态内存分配的处理</vt:lpstr>
      <vt:lpstr>隐式方式的内存释放问题</vt:lpstr>
      <vt:lpstr>lcc的运行时环境处理</vt:lpstr>
      <vt:lpstr>lcc的运行时环境处理</vt:lpstr>
      <vt:lpstr>lcc的运行时环境处理</vt:lpstr>
      <vt:lpstr>lcc的运行时环境处理</vt:lpstr>
      <vt:lpstr>lcc的运行时环境处理</vt:lpstr>
      <vt:lpstr>lcc的运行时环境处理</vt:lpstr>
    </vt:vector>
  </TitlesOfParts>
  <Company>南开大学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蒋枘言</cp:lastModifiedBy>
  <cp:revision>1652</cp:revision>
  <dcterms:created xsi:type="dcterms:W3CDTF">2003-06-05T11:51:00Z</dcterms:created>
  <dcterms:modified xsi:type="dcterms:W3CDTF">2025-12-22T09:17:04Z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54902180330F4282A0FC662626755BC7_12</vt:lpwstr>
  </property>
  <property fmtid="{D5CDD505-2E9C-101B-9397-08002B2CF9AE}" pid="3" name="KSOProductBuildVer">
    <vt:lpwstr>2052-12.1.0.20305</vt:lpwstr>
  </property>
</Properties>
</file>