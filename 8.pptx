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handoutMasterIdLst>
    <p:handoutMasterId r:id="rId92"/>
  </p:handoutMasterIdLst>
  <p:sldIdLst>
    <p:sldId id="256" r:id="rId3"/>
    <p:sldId id="30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508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509" r:id="rId23"/>
    <p:sldId id="274" r:id="rId24"/>
    <p:sldId id="275" r:id="rId25"/>
    <p:sldId id="310" r:id="rId26"/>
    <p:sldId id="311" r:id="rId27"/>
    <p:sldId id="276" r:id="rId28"/>
    <p:sldId id="277" r:id="rId29"/>
    <p:sldId id="278" r:id="rId30"/>
    <p:sldId id="315" r:id="rId31"/>
    <p:sldId id="312" r:id="rId33"/>
    <p:sldId id="280" r:id="rId34"/>
    <p:sldId id="281" r:id="rId35"/>
    <p:sldId id="308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313" r:id="rId44"/>
    <p:sldId id="314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04" r:id="rId61"/>
    <p:sldId id="305" r:id="rId62"/>
    <p:sldId id="306" r:id="rId63"/>
    <p:sldId id="316" r:id="rId64"/>
    <p:sldId id="317" r:id="rId65"/>
    <p:sldId id="318" r:id="rId66"/>
    <p:sldId id="322" r:id="rId67"/>
    <p:sldId id="323" r:id="rId68"/>
    <p:sldId id="319" r:id="rId69"/>
    <p:sldId id="320" r:id="rId70"/>
    <p:sldId id="321" r:id="rId71"/>
    <p:sldId id="326" r:id="rId72"/>
    <p:sldId id="324" r:id="rId73"/>
    <p:sldId id="325" r:id="rId74"/>
    <p:sldId id="328" r:id="rId75"/>
    <p:sldId id="329" r:id="rId76"/>
    <p:sldId id="330" r:id="rId77"/>
    <p:sldId id="327" r:id="rId78"/>
    <p:sldId id="495" r:id="rId79"/>
    <p:sldId id="499" r:id="rId80"/>
    <p:sldId id="496" r:id="rId81"/>
    <p:sldId id="504" r:id="rId82"/>
    <p:sldId id="506" r:id="rId83"/>
    <p:sldId id="507" r:id="rId84"/>
    <p:sldId id="505" r:id="rId85"/>
    <p:sldId id="498" r:id="rId86"/>
    <p:sldId id="501" r:id="rId87"/>
    <p:sldId id="503" r:id="rId88"/>
    <p:sldId id="497" r:id="rId89"/>
    <p:sldId id="500" r:id="rId90"/>
    <p:sldId id="502" r:id="rId91"/>
  </p:sldIdLst>
  <p:sldSz cx="9144000" cy="6858000" type="screen4x3"/>
  <p:notesSz cx="6759575" cy="98679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00FF"/>
    <a:srgbClr val="FFCF01"/>
    <a:srgbClr val="0000FF"/>
    <a:srgbClr val="996633"/>
    <a:srgbClr val="009900"/>
    <a:srgbClr val="CC0099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465" autoAdjust="0"/>
    <p:restoredTop sz="90929"/>
  </p:normalViewPr>
  <p:slideViewPr>
    <p:cSldViewPr showGuides="1">
      <p:cViewPr varScale="1">
        <p:scale>
          <a:sx n="115" d="100"/>
          <a:sy n="115" d="100"/>
        </p:scale>
        <p:origin x="438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6" d="100"/>
          <a:sy n="46" d="100"/>
        </p:scale>
        <p:origin x="-1469" y="-86"/>
      </p:cViewPr>
      <p:guideLst>
        <p:guide orient="horz" pos="3108"/>
        <p:guide pos="212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5" Type="http://schemas.openxmlformats.org/officeDocument/2006/relationships/tableStyles" Target="tableStyles.xml"/><Relationship Id="rId94" Type="http://schemas.openxmlformats.org/officeDocument/2006/relationships/viewProps" Target="viewProps.xml"/><Relationship Id="rId93" Type="http://schemas.openxmlformats.org/officeDocument/2006/relationships/presProps" Target="presProps.xml"/><Relationship Id="rId92" Type="http://schemas.openxmlformats.org/officeDocument/2006/relationships/handoutMaster" Target="handoutMasters/handoutMaster1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7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8938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31" tIns="45716" rIns="91431" bIns="45716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30638" y="0"/>
            <a:ext cx="2928937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31" tIns="45716" rIns="91431" bIns="45716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928938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31" tIns="45716" rIns="91431" bIns="45716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30638" y="9372600"/>
            <a:ext cx="2928937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31" tIns="45716" rIns="91431" bIns="45716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E636CC4-2B01-42EF-9F7F-19012669A6CC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8938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31" tIns="45716" rIns="91431" bIns="45716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30638" y="0"/>
            <a:ext cx="2928937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31" tIns="45716" rIns="91431" bIns="45716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4400" y="739775"/>
            <a:ext cx="4932363" cy="3698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0113" y="4687888"/>
            <a:ext cx="4959350" cy="44402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31" tIns="45716" rIns="91431" bIns="45716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28938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31" tIns="45716" rIns="91431" bIns="45716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30638" y="9372600"/>
            <a:ext cx="2928937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31" tIns="45716" rIns="91431" bIns="45716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F534744-A91E-439D-BB9E-B4DC05038856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F534744-A91E-439D-BB9E-B4DC0503885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61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E823E7D7-FB01-4C13-83CB-F959FA4CCE65}" type="slidenum">
              <a:rPr lang="en-US" altLang="zh-CN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9FC65C-0B23-4E3B-BA22-6613F7FDAED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F66605-20A5-4C05-A609-C1EE2CB8179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D7FD53-EDC0-44F6-B49E-9F6635CAA2D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A28EAD-5746-4E02-8194-B213ABA15A6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E1E78F-A5FB-417A-A26E-5E2C49C4264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90C7B3-8806-43B3-9B79-96F15D20506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7BFA59-35BF-4885-9BC7-532CC309C72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E263BD-4991-482C-A014-7B80850FA4E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2300DA-6AE1-4E7F-9A1A-7A3442F387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76200"/>
            <a:ext cx="1951038" cy="6019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76200"/>
            <a:ext cx="5700712" cy="6019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417927-5956-473D-94C3-76BED982BE2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557213"/>
            <a:ext cx="438150" cy="474662"/>
          </a:xfrm>
          <a:prstGeom prst="rect">
            <a:avLst/>
          </a:prstGeom>
          <a:solidFill>
            <a:srgbClr val="FFCF0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557213"/>
            <a:ext cx="328613" cy="474662"/>
          </a:xfrm>
          <a:prstGeom prst="rect">
            <a:avLst/>
          </a:prstGeom>
          <a:gradFill rotWithShape="0">
            <a:gsLst>
              <a:gs pos="0">
                <a:srgbClr val="FFCF01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9794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9794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9064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44926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2398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76200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13716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400"/>
            </a:lvl1pPr>
          </a:lstStyle>
          <a:p>
            <a:pPr>
              <a:defRPr/>
            </a:pPr>
            <a:fld id="{E655614F-DC4F-43F2-8511-92A4AC93306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SzPct val="75000"/>
        <a:buFont typeface="Wingdings" panose="05000000000000000000" pitchFamily="2" charset="2"/>
        <a:buChar char="m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9000"/>
        <a:buFont typeface="Wingdings" panose="05000000000000000000" pitchFamily="2" charset="2"/>
        <a:buChar char="q"/>
        <a:defRPr kumimoji="1" sz="2800">
          <a:solidFill>
            <a:srgbClr val="3333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Ø"/>
        <a:defRPr kumimoji="1" sz="2400">
          <a:solidFill>
            <a:srgbClr val="FF3300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7.xml"/><Relationship Id="rId17" Type="http://schemas.openxmlformats.org/officeDocument/2006/relationships/image" Target="../media/image17.png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77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34.xml"/><Relationship Id="rId17" Type="http://schemas.openxmlformats.org/officeDocument/2006/relationships/image" Target="../media/image17.png"/><Relationship Id="rId16" Type="http://schemas.openxmlformats.org/officeDocument/2006/relationships/tags" Target="../tags/tag33.xml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18.xml"/></Relationships>
</file>

<file path=ppt/slides/_rels/slide78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51.xml"/><Relationship Id="rId17" Type="http://schemas.openxmlformats.org/officeDocument/2006/relationships/image" Target="../media/image17.png"/><Relationship Id="rId16" Type="http://schemas.openxmlformats.org/officeDocument/2006/relationships/tags" Target="../tags/tag50.xml"/><Relationship Id="rId15" Type="http://schemas.openxmlformats.org/officeDocument/2006/relationships/tags" Target="../tags/tag49.xml"/><Relationship Id="rId14" Type="http://schemas.openxmlformats.org/officeDocument/2006/relationships/tags" Target="../tags/tag48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tags" Target="../tags/tag35.xml"/></Relationships>
</file>

<file path=ppt/slides/_rels/slide79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68.xml"/><Relationship Id="rId17" Type="http://schemas.openxmlformats.org/officeDocument/2006/relationships/image" Target="../media/image17.png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tags" Target="../tags/tag62.xml"/><Relationship Id="rId10" Type="http://schemas.openxmlformats.org/officeDocument/2006/relationships/tags" Target="../tags/tag61.xml"/><Relationship Id="rId1" Type="http://schemas.openxmlformats.org/officeDocument/2006/relationships/tags" Target="../tags/tag52.xml"/></Relationships>
</file>

<file path=ppt/slides/_rels/slide80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85.xml"/><Relationship Id="rId17" Type="http://schemas.openxmlformats.org/officeDocument/2006/relationships/image" Target="../media/image17.png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tags" Target="../tags/tag80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tags" Target="../tags/tag69.xml"/></Relationships>
</file>

<file path=ppt/slides/_rels/slide81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02.xml"/><Relationship Id="rId17" Type="http://schemas.openxmlformats.org/officeDocument/2006/relationships/image" Target="../media/image17.png"/><Relationship Id="rId16" Type="http://schemas.openxmlformats.org/officeDocument/2006/relationships/tags" Target="../tags/tag101.xml"/><Relationship Id="rId15" Type="http://schemas.openxmlformats.org/officeDocument/2006/relationships/tags" Target="../tags/tag100.xml"/><Relationship Id="rId14" Type="http://schemas.openxmlformats.org/officeDocument/2006/relationships/tags" Target="../tags/tag99.xml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tags" Target="../tags/tag86.xml"/></Relationships>
</file>

<file path=ppt/slides/_rels/slide82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15.xml"/><Relationship Id="rId13" Type="http://schemas.openxmlformats.org/officeDocument/2006/relationships/image" Target="../media/image17.png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tags" Target="../tags/tag103.xml"/></Relationships>
</file>

<file path=ppt/slides/_rels/slide83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32.xml"/><Relationship Id="rId17" Type="http://schemas.openxmlformats.org/officeDocument/2006/relationships/image" Target="../media/image17.png"/><Relationship Id="rId16" Type="http://schemas.openxmlformats.org/officeDocument/2006/relationships/tags" Target="../tags/tag131.xml"/><Relationship Id="rId15" Type="http://schemas.openxmlformats.org/officeDocument/2006/relationships/tags" Target="../tags/tag130.xml"/><Relationship Id="rId14" Type="http://schemas.openxmlformats.org/officeDocument/2006/relationships/tags" Target="../tags/tag129.xml"/><Relationship Id="rId13" Type="http://schemas.openxmlformats.org/officeDocument/2006/relationships/tags" Target="../tags/tag128.xml"/><Relationship Id="rId12" Type="http://schemas.openxmlformats.org/officeDocument/2006/relationships/tags" Target="../tags/tag127.xml"/><Relationship Id="rId11" Type="http://schemas.openxmlformats.org/officeDocument/2006/relationships/tags" Target="../tags/tag126.xml"/><Relationship Id="rId10" Type="http://schemas.openxmlformats.org/officeDocument/2006/relationships/tags" Target="../tags/tag125.xml"/><Relationship Id="rId1" Type="http://schemas.openxmlformats.org/officeDocument/2006/relationships/tags" Target="../tags/tag116.xml"/></Relationships>
</file>

<file path=ppt/slides/_rels/slide84.xml.rels><?xml version="1.0" encoding="UTF-8" standalone="yes"?>
<Relationships xmlns="http://schemas.openxmlformats.org/package/2006/relationships"><Relationship Id="rId9" Type="http://schemas.openxmlformats.org/officeDocument/2006/relationships/tags" Target="../tags/tag141.xml"/><Relationship Id="rId8" Type="http://schemas.openxmlformats.org/officeDocument/2006/relationships/tags" Target="../tags/tag140.xml"/><Relationship Id="rId7" Type="http://schemas.openxmlformats.org/officeDocument/2006/relationships/tags" Target="../tags/tag139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49.xml"/><Relationship Id="rId17" Type="http://schemas.openxmlformats.org/officeDocument/2006/relationships/image" Target="../media/image17.png"/><Relationship Id="rId16" Type="http://schemas.openxmlformats.org/officeDocument/2006/relationships/tags" Target="../tags/tag148.xml"/><Relationship Id="rId15" Type="http://schemas.openxmlformats.org/officeDocument/2006/relationships/tags" Target="../tags/tag147.xml"/><Relationship Id="rId14" Type="http://schemas.openxmlformats.org/officeDocument/2006/relationships/tags" Target="../tags/tag146.xml"/><Relationship Id="rId13" Type="http://schemas.openxmlformats.org/officeDocument/2006/relationships/tags" Target="../tags/tag145.xml"/><Relationship Id="rId12" Type="http://schemas.openxmlformats.org/officeDocument/2006/relationships/tags" Target="../tags/tag144.xml"/><Relationship Id="rId11" Type="http://schemas.openxmlformats.org/officeDocument/2006/relationships/tags" Target="../tags/tag143.xml"/><Relationship Id="rId10" Type="http://schemas.openxmlformats.org/officeDocument/2006/relationships/tags" Target="../tags/tag142.xml"/><Relationship Id="rId1" Type="http://schemas.openxmlformats.org/officeDocument/2006/relationships/tags" Target="../tags/tag133.xml"/></Relationships>
</file>

<file path=ppt/slides/_rels/slide85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tags" Target="../tags/tag157.xml"/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66.xml"/><Relationship Id="rId17" Type="http://schemas.openxmlformats.org/officeDocument/2006/relationships/image" Target="../media/image17.png"/><Relationship Id="rId16" Type="http://schemas.openxmlformats.org/officeDocument/2006/relationships/tags" Target="../tags/tag165.xml"/><Relationship Id="rId15" Type="http://schemas.openxmlformats.org/officeDocument/2006/relationships/tags" Target="../tags/tag164.xml"/><Relationship Id="rId14" Type="http://schemas.openxmlformats.org/officeDocument/2006/relationships/tags" Target="../tags/tag163.xml"/><Relationship Id="rId13" Type="http://schemas.openxmlformats.org/officeDocument/2006/relationships/tags" Target="../tags/tag162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tags" Target="../tags/tag159.xml"/><Relationship Id="rId1" Type="http://schemas.openxmlformats.org/officeDocument/2006/relationships/tags" Target="../tags/tag150.xml"/></Relationships>
</file>

<file path=ppt/slides/_rels/slide86.xml.rels><?xml version="1.0" encoding="UTF-8" standalone="yes"?>
<Relationships xmlns="http://schemas.openxmlformats.org/package/2006/relationships"><Relationship Id="rId9" Type="http://schemas.openxmlformats.org/officeDocument/2006/relationships/tags" Target="../tags/tag175.xml"/><Relationship Id="rId8" Type="http://schemas.openxmlformats.org/officeDocument/2006/relationships/tags" Target="../tags/tag174.xml"/><Relationship Id="rId7" Type="http://schemas.openxmlformats.org/officeDocument/2006/relationships/tags" Target="../tags/tag173.xml"/><Relationship Id="rId6" Type="http://schemas.openxmlformats.org/officeDocument/2006/relationships/tags" Target="../tags/tag172.xml"/><Relationship Id="rId5" Type="http://schemas.openxmlformats.org/officeDocument/2006/relationships/tags" Target="../tags/tag171.xml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83.xml"/><Relationship Id="rId17" Type="http://schemas.openxmlformats.org/officeDocument/2006/relationships/image" Target="../media/image17.png"/><Relationship Id="rId16" Type="http://schemas.openxmlformats.org/officeDocument/2006/relationships/tags" Target="../tags/tag182.xml"/><Relationship Id="rId15" Type="http://schemas.openxmlformats.org/officeDocument/2006/relationships/tags" Target="../tags/tag181.xml"/><Relationship Id="rId14" Type="http://schemas.openxmlformats.org/officeDocument/2006/relationships/tags" Target="../tags/tag180.xml"/><Relationship Id="rId13" Type="http://schemas.openxmlformats.org/officeDocument/2006/relationships/tags" Target="../tags/tag179.xml"/><Relationship Id="rId12" Type="http://schemas.openxmlformats.org/officeDocument/2006/relationships/tags" Target="../tags/tag178.xml"/><Relationship Id="rId11" Type="http://schemas.openxmlformats.org/officeDocument/2006/relationships/tags" Target="../tags/tag177.xml"/><Relationship Id="rId10" Type="http://schemas.openxmlformats.org/officeDocument/2006/relationships/tags" Target="../tags/tag176.xml"/><Relationship Id="rId1" Type="http://schemas.openxmlformats.org/officeDocument/2006/relationships/tags" Target="../tags/tag167.xml"/></Relationships>
</file>

<file path=ppt/slides/_rels/slide87.xml.rels><?xml version="1.0" encoding="UTF-8" standalone="yes"?>
<Relationships xmlns="http://schemas.openxmlformats.org/package/2006/relationships"><Relationship Id="rId9" Type="http://schemas.openxmlformats.org/officeDocument/2006/relationships/tags" Target="../tags/tag192.xml"/><Relationship Id="rId8" Type="http://schemas.openxmlformats.org/officeDocument/2006/relationships/tags" Target="../tags/tag191.xml"/><Relationship Id="rId7" Type="http://schemas.openxmlformats.org/officeDocument/2006/relationships/tags" Target="../tags/tag190.xml"/><Relationship Id="rId6" Type="http://schemas.openxmlformats.org/officeDocument/2006/relationships/tags" Target="../tags/tag189.xml"/><Relationship Id="rId5" Type="http://schemas.openxmlformats.org/officeDocument/2006/relationships/tags" Target="../tags/tag188.xml"/><Relationship Id="rId4" Type="http://schemas.openxmlformats.org/officeDocument/2006/relationships/tags" Target="../tags/tag187.xml"/><Relationship Id="rId3" Type="http://schemas.openxmlformats.org/officeDocument/2006/relationships/tags" Target="../tags/tag186.xml"/><Relationship Id="rId2" Type="http://schemas.openxmlformats.org/officeDocument/2006/relationships/tags" Target="../tags/tag185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200.xml"/><Relationship Id="rId17" Type="http://schemas.openxmlformats.org/officeDocument/2006/relationships/image" Target="../media/image17.png"/><Relationship Id="rId16" Type="http://schemas.openxmlformats.org/officeDocument/2006/relationships/tags" Target="../tags/tag199.xml"/><Relationship Id="rId15" Type="http://schemas.openxmlformats.org/officeDocument/2006/relationships/tags" Target="../tags/tag198.xml"/><Relationship Id="rId14" Type="http://schemas.openxmlformats.org/officeDocument/2006/relationships/tags" Target="../tags/tag197.xml"/><Relationship Id="rId13" Type="http://schemas.openxmlformats.org/officeDocument/2006/relationships/tags" Target="../tags/tag196.xml"/><Relationship Id="rId12" Type="http://schemas.openxmlformats.org/officeDocument/2006/relationships/tags" Target="../tags/tag195.xml"/><Relationship Id="rId11" Type="http://schemas.openxmlformats.org/officeDocument/2006/relationships/tags" Target="../tags/tag194.xml"/><Relationship Id="rId10" Type="http://schemas.openxmlformats.org/officeDocument/2006/relationships/tags" Target="../tags/tag193.xml"/><Relationship Id="rId1" Type="http://schemas.openxmlformats.org/officeDocument/2006/relationships/tags" Target="../tags/tag184.xml"/></Relationships>
</file>

<file path=ppt/slides/_rels/slide88.xml.rels><?xml version="1.0" encoding="UTF-8" standalone="yes"?>
<Relationships xmlns="http://schemas.openxmlformats.org/package/2006/relationships"><Relationship Id="rId9" Type="http://schemas.openxmlformats.org/officeDocument/2006/relationships/tags" Target="../tags/tag209.xml"/><Relationship Id="rId8" Type="http://schemas.openxmlformats.org/officeDocument/2006/relationships/tags" Target="../tags/tag208.xml"/><Relationship Id="rId7" Type="http://schemas.openxmlformats.org/officeDocument/2006/relationships/tags" Target="../tags/tag207.xml"/><Relationship Id="rId6" Type="http://schemas.openxmlformats.org/officeDocument/2006/relationships/tags" Target="../tags/tag206.xml"/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3" Type="http://schemas.openxmlformats.org/officeDocument/2006/relationships/tags" Target="../tags/tag203.xml"/><Relationship Id="rId2" Type="http://schemas.openxmlformats.org/officeDocument/2006/relationships/tags" Target="../tags/tag20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217.xml"/><Relationship Id="rId17" Type="http://schemas.openxmlformats.org/officeDocument/2006/relationships/image" Target="../media/image17.png"/><Relationship Id="rId16" Type="http://schemas.openxmlformats.org/officeDocument/2006/relationships/tags" Target="../tags/tag216.xml"/><Relationship Id="rId15" Type="http://schemas.openxmlformats.org/officeDocument/2006/relationships/tags" Target="../tags/tag215.xml"/><Relationship Id="rId14" Type="http://schemas.openxmlformats.org/officeDocument/2006/relationships/tags" Target="../tags/tag214.xml"/><Relationship Id="rId13" Type="http://schemas.openxmlformats.org/officeDocument/2006/relationships/tags" Target="../tags/tag213.xml"/><Relationship Id="rId12" Type="http://schemas.openxmlformats.org/officeDocument/2006/relationships/tags" Target="../tags/tag212.xml"/><Relationship Id="rId11" Type="http://schemas.openxmlformats.org/officeDocument/2006/relationships/tags" Target="../tags/tag211.xml"/><Relationship Id="rId10" Type="http://schemas.openxmlformats.org/officeDocument/2006/relationships/tags" Target="../tags/tag210.xml"/><Relationship Id="rId1" Type="http://schemas.openxmlformats.org/officeDocument/2006/relationships/tags" Target="../tags/tag20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743200"/>
            <a:ext cx="7793037" cy="1143000"/>
          </a:xfrm>
        </p:spPr>
        <p:txBody>
          <a:bodyPr/>
          <a:lstStyle/>
          <a:p>
            <a:pPr algn="ctr" eaLnBrk="1" hangingPunct="1"/>
            <a:r>
              <a:rPr lang="zh-CN" altLang="en-US"/>
              <a:t>第八章  中间代码生成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学习内容</a:t>
            </a: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三地址码表示方法</a:t>
            </a:r>
            <a:endParaRPr lang="zh-CN" altLang="en-US" dirty="0"/>
          </a:p>
          <a:p>
            <a:pPr eaLnBrk="1" hangingPunct="1"/>
            <a:r>
              <a:rPr lang="zh-CN" altLang="en-US" dirty="0"/>
              <a:t>声明语句的翻译</a:t>
            </a:r>
            <a:endParaRPr lang="zh-CN" altLang="en-US" dirty="0"/>
          </a:p>
          <a:p>
            <a:pPr eaLnBrk="1" hangingPunct="1"/>
            <a:r>
              <a:rPr lang="zh-CN" altLang="en-US" dirty="0"/>
              <a:t>赋值语句的翻译：数组寻址</a:t>
            </a:r>
            <a:endParaRPr lang="zh-CN" altLang="en-US" dirty="0"/>
          </a:p>
          <a:p>
            <a:pPr eaLnBrk="1" hangingPunct="1"/>
            <a:r>
              <a:rPr lang="zh-CN" altLang="en-US" dirty="0"/>
              <a:t>布尔表达式的翻译</a:t>
            </a:r>
            <a:endParaRPr lang="zh-CN" altLang="en-US" dirty="0"/>
          </a:p>
          <a:p>
            <a:pPr eaLnBrk="1" hangingPunct="1"/>
            <a:r>
              <a:rPr lang="en-US" altLang="zh-CN" dirty="0"/>
              <a:t>case</a:t>
            </a:r>
            <a:r>
              <a:rPr lang="zh-CN" altLang="en-US" dirty="0"/>
              <a:t>语句的翻译</a:t>
            </a:r>
            <a:endParaRPr lang="zh-CN" altLang="en-US" dirty="0"/>
          </a:p>
          <a:p>
            <a:pPr eaLnBrk="1" hangingPunct="1"/>
            <a:r>
              <a:rPr lang="en-US" altLang="zh-CN" dirty="0"/>
              <a:t>backpatching</a:t>
            </a:r>
            <a:r>
              <a:rPr lang="zh-CN" altLang="en-US" dirty="0"/>
              <a:t>技术的实现</a:t>
            </a:r>
            <a:endParaRPr lang="zh-CN" altLang="en-US" dirty="0"/>
          </a:p>
          <a:p>
            <a:pPr eaLnBrk="1" hangingPunct="1"/>
            <a:r>
              <a:rPr lang="zh-CN" altLang="en-US" dirty="0"/>
              <a:t>过程调用的翻译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4" descr="grap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0300" y="2286000"/>
            <a:ext cx="5016500" cy="214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8.1 </a:t>
            </a:r>
            <a:r>
              <a:rPr lang="zh-CN" altLang="en-US"/>
              <a:t>中间语言</a:t>
            </a:r>
            <a:endParaRPr lang="zh-CN" altLang="en-US"/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8.1.1  </a:t>
            </a:r>
            <a:r>
              <a:rPr lang="zh-CN" altLang="en-US" sz="2800"/>
              <a:t>图表示</a:t>
            </a:r>
            <a:endParaRPr lang="zh-CN" altLang="en-US" sz="28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a := b * -c + b * -c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语法树方式表示</a:t>
            </a:r>
            <a:endParaRPr lang="zh-CN" altLang="en-US" sz="240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后缀表示</a:t>
            </a:r>
            <a:r>
              <a:rPr lang="en-US" altLang="zh-CN" sz="2400"/>
              <a:t>——</a:t>
            </a:r>
            <a:r>
              <a:rPr lang="zh-CN" altLang="en-US" sz="2400"/>
              <a:t>语法树的线性表示方式</a:t>
            </a:r>
            <a:br>
              <a:rPr lang="zh-CN" altLang="en-US" sz="2400"/>
            </a:br>
            <a:r>
              <a:rPr lang="en-US" altLang="zh-CN" sz="2400"/>
              <a:t>a b c uminus * b c uminus * + assign</a:t>
            </a:r>
            <a:endParaRPr lang="en-US" altLang="zh-CN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语法制导定义构造语法树</a:t>
            </a:r>
            <a:endParaRPr lang="zh-CN" alt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u="sng"/>
              <a:t>PRODUCTION	Semantic Rule</a:t>
            </a:r>
            <a:endParaRPr lang="en-US" altLang="zh-CN" sz="2400" b="1" u="sng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S  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id := </a:t>
            </a:r>
            <a:r>
              <a:rPr lang="en-US" altLang="zh-CN" sz="2400">
                <a:sym typeface="Symbol" panose="05050102010706020507" pitchFamily="18" charset="2"/>
              </a:rPr>
              <a:t>E	{ S</a:t>
            </a:r>
            <a:r>
              <a:rPr lang="en-US" altLang="zh-CN" sz="2400" i="1">
                <a:sym typeface="Symbol" panose="05050102010706020507" pitchFamily="18" charset="2"/>
              </a:rPr>
              <a:t>.nptr = mknode </a:t>
            </a:r>
            <a:r>
              <a:rPr lang="en-US" altLang="zh-CN" sz="2400">
                <a:sym typeface="Symbol" panose="05050102010706020507" pitchFamily="18" charset="2"/>
              </a:rPr>
              <a:t>(‘assign’,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				</a:t>
            </a:r>
            <a:r>
              <a:rPr lang="en-US" altLang="zh-CN" sz="2400" i="1">
                <a:sym typeface="Symbol" panose="05050102010706020507" pitchFamily="18" charset="2"/>
              </a:rPr>
              <a:t>mkleaf</a:t>
            </a:r>
            <a:r>
              <a:rPr lang="en-US" altLang="zh-CN" sz="2400">
                <a:sym typeface="Symbol" panose="05050102010706020507" pitchFamily="18" charset="2"/>
              </a:rPr>
              <a:t>(id, id</a:t>
            </a:r>
            <a:r>
              <a:rPr lang="en-US" altLang="zh-CN" sz="2400" i="1">
                <a:sym typeface="Symbol" panose="05050102010706020507" pitchFamily="18" charset="2"/>
              </a:rPr>
              <a:t>.entry</a:t>
            </a:r>
            <a:r>
              <a:rPr lang="en-US" altLang="zh-CN" sz="2400">
                <a:sym typeface="Symbol" panose="05050102010706020507" pitchFamily="18" charset="2"/>
              </a:rPr>
              <a:t>)</a:t>
            </a:r>
            <a:r>
              <a:rPr lang="en-US" altLang="zh-CN" sz="2400" i="1">
                <a:sym typeface="Symbol" panose="05050102010706020507" pitchFamily="18" charset="2"/>
              </a:rPr>
              <a:t>, </a:t>
            </a:r>
            <a:r>
              <a:rPr lang="en-US" altLang="zh-CN" sz="2400">
                <a:sym typeface="Symbol" panose="05050102010706020507" pitchFamily="18" charset="2"/>
              </a:rPr>
              <a:t>E.</a:t>
            </a:r>
            <a:r>
              <a:rPr lang="en-US" altLang="zh-CN" sz="2400" i="1">
                <a:sym typeface="Symbol" panose="05050102010706020507" pitchFamily="18" charset="2"/>
              </a:rPr>
              <a:t>nptr</a:t>
            </a:r>
            <a:r>
              <a:rPr lang="en-US" altLang="zh-CN" sz="2400">
                <a:sym typeface="Symbol" panose="05050102010706020507" pitchFamily="18" charset="2"/>
              </a:rPr>
              <a:t>) }</a:t>
            </a:r>
            <a:endParaRPr lang="en-US" altLang="zh-CN" sz="2400" i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E  E</a:t>
            </a:r>
            <a:r>
              <a:rPr lang="en-US" altLang="zh-CN" sz="2400" baseline="-25000">
                <a:sym typeface="Symbol" panose="05050102010706020507" pitchFamily="18" charset="2"/>
              </a:rPr>
              <a:t>1</a:t>
            </a:r>
            <a:r>
              <a:rPr lang="en-US" altLang="zh-CN" sz="2400">
                <a:sym typeface="Symbol" panose="05050102010706020507" pitchFamily="18" charset="2"/>
              </a:rPr>
              <a:t> 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+ </a:t>
            </a:r>
            <a:r>
              <a:rPr lang="en-US" altLang="zh-CN" sz="2400">
                <a:sym typeface="Symbol" panose="05050102010706020507" pitchFamily="18" charset="2"/>
              </a:rPr>
              <a:t>E</a:t>
            </a:r>
            <a:r>
              <a:rPr lang="en-US" altLang="zh-CN" sz="2400" baseline="-25000">
                <a:sym typeface="Symbol" panose="05050102010706020507" pitchFamily="18" charset="2"/>
              </a:rPr>
              <a:t>2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	</a:t>
            </a:r>
            <a:r>
              <a:rPr lang="en-US" altLang="zh-CN" sz="2400">
                <a:sym typeface="Symbol" panose="05050102010706020507" pitchFamily="18" charset="2"/>
              </a:rPr>
              <a:t>{E.</a:t>
            </a:r>
            <a:r>
              <a:rPr lang="en-US" altLang="zh-CN" sz="2400" i="1">
                <a:sym typeface="Symbol" panose="05050102010706020507" pitchFamily="18" charset="2"/>
              </a:rPr>
              <a:t>nptr </a:t>
            </a:r>
            <a:r>
              <a:rPr lang="en-US" altLang="zh-CN" sz="2400">
                <a:sym typeface="Symbol" panose="05050102010706020507" pitchFamily="18" charset="2"/>
              </a:rPr>
              <a:t>= </a:t>
            </a:r>
            <a:r>
              <a:rPr lang="en-US" altLang="zh-CN" sz="2400" i="1">
                <a:sym typeface="Symbol" panose="05050102010706020507" pitchFamily="18" charset="2"/>
              </a:rPr>
              <a:t>mknode</a:t>
            </a:r>
            <a:r>
              <a:rPr lang="en-US" altLang="zh-CN" sz="2400">
                <a:sym typeface="Symbol" panose="05050102010706020507" pitchFamily="18" charset="2"/>
              </a:rPr>
              <a:t>(‘+’, E</a:t>
            </a:r>
            <a:r>
              <a:rPr lang="en-US" altLang="zh-CN" sz="2400" baseline="-25000">
                <a:sym typeface="Symbol" panose="05050102010706020507" pitchFamily="18" charset="2"/>
              </a:rPr>
              <a:t>1</a:t>
            </a:r>
            <a:r>
              <a:rPr lang="en-US" altLang="zh-CN" sz="2400">
                <a:sym typeface="Symbol" panose="05050102010706020507" pitchFamily="18" charset="2"/>
              </a:rPr>
              <a:t>.</a:t>
            </a:r>
            <a:r>
              <a:rPr lang="en-US" altLang="zh-CN" sz="2400" i="1">
                <a:sym typeface="Symbol" panose="05050102010706020507" pitchFamily="18" charset="2"/>
              </a:rPr>
              <a:t>nptr</a:t>
            </a:r>
            <a:r>
              <a:rPr lang="en-US" altLang="zh-CN" sz="2400">
                <a:sym typeface="Symbol" panose="05050102010706020507" pitchFamily="18" charset="2"/>
              </a:rPr>
              <a:t>,E</a:t>
            </a:r>
            <a:r>
              <a:rPr lang="en-US" altLang="zh-CN" sz="2400" baseline="-25000">
                <a:sym typeface="Symbol" panose="05050102010706020507" pitchFamily="18" charset="2"/>
              </a:rPr>
              <a:t>2</a:t>
            </a:r>
            <a:r>
              <a:rPr lang="en-US" altLang="zh-CN" sz="2400" i="1">
                <a:sym typeface="Symbol" panose="05050102010706020507" pitchFamily="18" charset="2"/>
              </a:rPr>
              <a:t>.nptr</a:t>
            </a:r>
            <a:r>
              <a:rPr lang="en-US" altLang="zh-CN" sz="2400">
                <a:sym typeface="Symbol" panose="05050102010706020507" pitchFamily="18" charset="2"/>
              </a:rPr>
              <a:t>)</a:t>
            </a:r>
            <a:r>
              <a:rPr lang="en-US" altLang="zh-CN" sz="2400" i="1">
                <a:sym typeface="Symbol" panose="05050102010706020507" pitchFamily="18" charset="2"/>
              </a:rPr>
              <a:t> </a:t>
            </a:r>
            <a:r>
              <a:rPr lang="en-US" altLang="zh-CN" sz="2400">
                <a:sym typeface="Symbol" panose="05050102010706020507" pitchFamily="18" charset="2"/>
              </a:rPr>
              <a:t>}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E  E</a:t>
            </a:r>
            <a:r>
              <a:rPr lang="en-US" altLang="zh-CN" sz="2400" baseline="-25000">
                <a:sym typeface="Symbol" panose="05050102010706020507" pitchFamily="18" charset="2"/>
              </a:rPr>
              <a:t>1</a:t>
            </a:r>
            <a:r>
              <a:rPr lang="en-US" altLang="zh-CN" sz="2400">
                <a:sym typeface="Symbol" panose="05050102010706020507" pitchFamily="18" charset="2"/>
              </a:rPr>
              <a:t> 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* </a:t>
            </a:r>
            <a:r>
              <a:rPr lang="en-US" altLang="zh-CN" sz="2400">
                <a:sym typeface="Symbol" panose="05050102010706020507" pitchFamily="18" charset="2"/>
              </a:rPr>
              <a:t>E</a:t>
            </a:r>
            <a:r>
              <a:rPr lang="en-US" altLang="zh-CN" sz="2400" baseline="-25000">
                <a:sym typeface="Symbol" panose="05050102010706020507" pitchFamily="18" charset="2"/>
              </a:rPr>
              <a:t>2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	</a:t>
            </a:r>
            <a:r>
              <a:rPr lang="en-US" altLang="zh-CN" sz="2400">
                <a:sym typeface="Symbol" panose="05050102010706020507" pitchFamily="18" charset="2"/>
              </a:rPr>
              <a:t>{E.</a:t>
            </a:r>
            <a:r>
              <a:rPr lang="en-US" altLang="zh-CN" sz="2400" i="1">
                <a:sym typeface="Symbol" panose="05050102010706020507" pitchFamily="18" charset="2"/>
              </a:rPr>
              <a:t>nptr </a:t>
            </a:r>
            <a:r>
              <a:rPr lang="en-US" altLang="zh-CN" sz="2400">
                <a:sym typeface="Symbol" panose="05050102010706020507" pitchFamily="18" charset="2"/>
              </a:rPr>
              <a:t>= </a:t>
            </a:r>
            <a:r>
              <a:rPr lang="en-US" altLang="zh-CN" sz="2400" i="1">
                <a:sym typeface="Symbol" panose="05050102010706020507" pitchFamily="18" charset="2"/>
              </a:rPr>
              <a:t>mknode</a:t>
            </a:r>
            <a:r>
              <a:rPr lang="en-US" altLang="zh-CN" sz="2400">
                <a:sym typeface="Symbol" panose="05050102010706020507" pitchFamily="18" charset="2"/>
              </a:rPr>
              <a:t>(‘*’, E</a:t>
            </a:r>
            <a:r>
              <a:rPr lang="en-US" altLang="zh-CN" sz="2400" baseline="-25000">
                <a:sym typeface="Symbol" panose="05050102010706020507" pitchFamily="18" charset="2"/>
              </a:rPr>
              <a:t>1</a:t>
            </a:r>
            <a:r>
              <a:rPr lang="en-US" altLang="zh-CN" sz="2400">
                <a:sym typeface="Symbol" panose="05050102010706020507" pitchFamily="18" charset="2"/>
              </a:rPr>
              <a:t>.</a:t>
            </a:r>
            <a:r>
              <a:rPr lang="en-US" altLang="zh-CN" sz="2400" i="1">
                <a:sym typeface="Symbol" panose="05050102010706020507" pitchFamily="18" charset="2"/>
              </a:rPr>
              <a:t>nptr</a:t>
            </a:r>
            <a:r>
              <a:rPr lang="en-US" altLang="zh-CN" sz="2400">
                <a:sym typeface="Symbol" panose="05050102010706020507" pitchFamily="18" charset="2"/>
              </a:rPr>
              <a:t>,E</a:t>
            </a:r>
            <a:r>
              <a:rPr lang="en-US" altLang="zh-CN" sz="2400" baseline="-25000">
                <a:sym typeface="Symbol" panose="05050102010706020507" pitchFamily="18" charset="2"/>
              </a:rPr>
              <a:t>2</a:t>
            </a:r>
            <a:r>
              <a:rPr lang="en-US" altLang="zh-CN" sz="2400" i="1">
                <a:sym typeface="Symbol" panose="05050102010706020507" pitchFamily="18" charset="2"/>
              </a:rPr>
              <a:t>.nptr</a:t>
            </a:r>
            <a:r>
              <a:rPr lang="en-US" altLang="zh-CN" sz="2400">
                <a:sym typeface="Symbol" panose="05050102010706020507" pitchFamily="18" charset="2"/>
              </a:rPr>
              <a:t>)</a:t>
            </a:r>
            <a:r>
              <a:rPr lang="en-US" altLang="zh-CN" sz="2400" i="1">
                <a:sym typeface="Symbol" panose="05050102010706020507" pitchFamily="18" charset="2"/>
              </a:rPr>
              <a:t> </a:t>
            </a:r>
            <a:r>
              <a:rPr lang="en-US" altLang="zh-CN" sz="2400">
                <a:sym typeface="Symbol" panose="05050102010706020507" pitchFamily="18" charset="2"/>
              </a:rPr>
              <a:t>}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E  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- </a:t>
            </a:r>
            <a:r>
              <a:rPr lang="en-US" altLang="zh-CN" sz="2400">
                <a:sym typeface="Symbol" panose="05050102010706020507" pitchFamily="18" charset="2"/>
              </a:rPr>
              <a:t>E</a:t>
            </a:r>
            <a:r>
              <a:rPr lang="en-US" altLang="zh-CN" sz="2400" baseline="-25000">
                <a:sym typeface="Symbol" panose="05050102010706020507" pitchFamily="18" charset="2"/>
              </a:rPr>
              <a:t>1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	</a:t>
            </a:r>
            <a:r>
              <a:rPr lang="en-US" altLang="zh-CN" sz="2400">
                <a:sym typeface="Symbol" panose="05050102010706020507" pitchFamily="18" charset="2"/>
              </a:rPr>
              <a:t>{E.</a:t>
            </a:r>
            <a:r>
              <a:rPr lang="en-US" altLang="zh-CN" sz="2400" i="1">
                <a:sym typeface="Symbol" panose="05050102010706020507" pitchFamily="18" charset="2"/>
              </a:rPr>
              <a:t>nptr </a:t>
            </a:r>
            <a:r>
              <a:rPr lang="en-US" altLang="zh-CN" sz="2400">
                <a:sym typeface="Symbol" panose="05050102010706020507" pitchFamily="18" charset="2"/>
              </a:rPr>
              <a:t>= </a:t>
            </a:r>
            <a:r>
              <a:rPr lang="en-US" altLang="zh-CN" sz="2400" i="1">
                <a:sym typeface="Symbol" panose="05050102010706020507" pitchFamily="18" charset="2"/>
              </a:rPr>
              <a:t>mknode</a:t>
            </a:r>
            <a:r>
              <a:rPr lang="en-US" altLang="zh-CN" sz="2400">
                <a:sym typeface="Symbol" panose="05050102010706020507" pitchFamily="18" charset="2"/>
              </a:rPr>
              <a:t>(‘uminus’, E</a:t>
            </a:r>
            <a:r>
              <a:rPr lang="en-US" altLang="zh-CN" sz="2400" baseline="-25000">
                <a:sym typeface="Symbol" panose="05050102010706020507" pitchFamily="18" charset="2"/>
              </a:rPr>
              <a:t>1</a:t>
            </a:r>
            <a:r>
              <a:rPr lang="en-US" altLang="zh-CN" sz="2400">
                <a:sym typeface="Symbol" panose="05050102010706020507" pitchFamily="18" charset="2"/>
              </a:rPr>
              <a:t>.</a:t>
            </a:r>
            <a:r>
              <a:rPr lang="en-US" altLang="zh-CN" sz="2400" i="1">
                <a:sym typeface="Symbol" panose="05050102010706020507" pitchFamily="18" charset="2"/>
              </a:rPr>
              <a:t>nptr</a:t>
            </a:r>
            <a:r>
              <a:rPr lang="en-US" altLang="zh-CN" sz="2400">
                <a:sym typeface="Symbol" panose="05050102010706020507" pitchFamily="18" charset="2"/>
              </a:rPr>
              <a:t>)</a:t>
            </a:r>
            <a:r>
              <a:rPr lang="en-US" altLang="zh-CN" sz="2400" i="1">
                <a:sym typeface="Symbol" panose="05050102010706020507" pitchFamily="18" charset="2"/>
              </a:rPr>
              <a:t> </a:t>
            </a:r>
            <a:r>
              <a:rPr lang="en-US" altLang="zh-CN" sz="2400">
                <a:sym typeface="Symbol" panose="05050102010706020507" pitchFamily="18" charset="2"/>
              </a:rPr>
              <a:t>}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E  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lang="en-US" altLang="zh-CN" sz="2400">
                <a:sym typeface="Symbol" panose="05050102010706020507" pitchFamily="18" charset="2"/>
              </a:rPr>
              <a:t>E</a:t>
            </a:r>
            <a:r>
              <a:rPr lang="en-US" altLang="zh-CN" sz="2400" baseline="-25000">
                <a:sym typeface="Symbol" panose="05050102010706020507" pitchFamily="18" charset="2"/>
              </a:rPr>
              <a:t>1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) 	</a:t>
            </a:r>
            <a:r>
              <a:rPr lang="en-US" altLang="zh-CN" sz="2400">
                <a:sym typeface="Symbol" panose="05050102010706020507" pitchFamily="18" charset="2"/>
              </a:rPr>
              <a:t>{E.</a:t>
            </a:r>
            <a:r>
              <a:rPr lang="en-US" altLang="zh-CN" sz="2400" i="1">
                <a:sym typeface="Symbol" panose="05050102010706020507" pitchFamily="18" charset="2"/>
              </a:rPr>
              <a:t>nptr </a:t>
            </a:r>
            <a:r>
              <a:rPr lang="en-US" altLang="zh-CN" sz="2400">
                <a:sym typeface="Symbol" panose="05050102010706020507" pitchFamily="18" charset="2"/>
              </a:rPr>
              <a:t>= E</a:t>
            </a:r>
            <a:r>
              <a:rPr lang="en-US" altLang="zh-CN" sz="2400" baseline="-25000">
                <a:sym typeface="Symbol" panose="05050102010706020507" pitchFamily="18" charset="2"/>
              </a:rPr>
              <a:t>1</a:t>
            </a:r>
            <a:r>
              <a:rPr lang="en-US" altLang="zh-CN" sz="2400">
                <a:sym typeface="Symbol" panose="05050102010706020507" pitchFamily="18" charset="2"/>
              </a:rPr>
              <a:t>.</a:t>
            </a:r>
            <a:r>
              <a:rPr lang="en-US" altLang="zh-CN" sz="2400" i="1">
                <a:sym typeface="Symbol" panose="05050102010706020507" pitchFamily="18" charset="2"/>
              </a:rPr>
              <a:t>nptr </a:t>
            </a:r>
            <a:r>
              <a:rPr lang="en-US" altLang="zh-CN" sz="2400">
                <a:sym typeface="Symbol" panose="05050102010706020507" pitchFamily="18" charset="2"/>
              </a:rPr>
              <a:t>}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E  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id 	</a:t>
            </a:r>
            <a:r>
              <a:rPr lang="en-US" altLang="zh-CN" sz="2400">
                <a:sym typeface="Symbol" panose="05050102010706020507" pitchFamily="18" charset="2"/>
              </a:rPr>
              <a:t>{E.</a:t>
            </a:r>
            <a:r>
              <a:rPr lang="en-US" altLang="zh-CN" sz="2400" i="1">
                <a:sym typeface="Symbol" panose="05050102010706020507" pitchFamily="18" charset="2"/>
              </a:rPr>
              <a:t>nptr </a:t>
            </a:r>
            <a:r>
              <a:rPr lang="en-US" altLang="zh-CN" sz="2400">
                <a:sym typeface="Symbol" panose="05050102010706020507" pitchFamily="18" charset="2"/>
              </a:rPr>
              <a:t>= </a:t>
            </a:r>
            <a:r>
              <a:rPr lang="en-US" altLang="zh-CN" sz="2400" i="1">
                <a:sym typeface="Symbol" panose="05050102010706020507" pitchFamily="18" charset="2"/>
              </a:rPr>
              <a:t>mkleaf</a:t>
            </a:r>
            <a:r>
              <a:rPr lang="en-US" altLang="zh-CN" sz="2400">
                <a:sym typeface="Symbol" panose="05050102010706020507" pitchFamily="18" charset="2"/>
              </a:rPr>
              <a:t>(id, id</a:t>
            </a:r>
            <a:r>
              <a:rPr lang="en-US" altLang="zh-CN" sz="2400" i="1">
                <a:sym typeface="Symbol" panose="05050102010706020507" pitchFamily="18" charset="2"/>
              </a:rPr>
              <a:t>.entry</a:t>
            </a:r>
            <a:r>
              <a:rPr lang="en-US" altLang="zh-CN" sz="2400">
                <a:sym typeface="Symbol" panose="05050102010706020507" pitchFamily="18" charset="2"/>
              </a:rPr>
              <a:t>)</a:t>
            </a:r>
            <a:r>
              <a:rPr lang="en-US" altLang="zh-CN" sz="2400" i="1">
                <a:sym typeface="Symbol" panose="05050102010706020507" pitchFamily="18" charset="2"/>
              </a:rPr>
              <a:t> </a:t>
            </a:r>
            <a:r>
              <a:rPr lang="en-US" altLang="zh-CN" sz="2400">
                <a:sym typeface="Symbol" panose="05050102010706020507" pitchFamily="18" charset="2"/>
              </a:rPr>
              <a:t>}</a:t>
            </a:r>
            <a:endParaRPr lang="en-US" altLang="zh-CN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语法树的计算机内部表示</a:t>
            </a:r>
            <a:endParaRPr lang="zh-CN" altLang="en-US"/>
          </a:p>
        </p:txBody>
      </p:sp>
      <p:pic>
        <p:nvPicPr>
          <p:cNvPr id="9219" name="Picture 4" descr="syntre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295400"/>
            <a:ext cx="5683250" cy="395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8.1.2  </a:t>
            </a:r>
            <a:r>
              <a:rPr lang="zh-CN" altLang="en-US"/>
              <a:t>三地址码</a:t>
            </a:r>
            <a:endParaRPr lang="zh-CN" alt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37125"/>
          </a:xfrm>
        </p:spPr>
        <p:txBody>
          <a:bodyPr/>
          <a:lstStyle/>
          <a:p>
            <a:pPr eaLnBrk="1" hangingPunct="1"/>
            <a:r>
              <a:rPr lang="en-US" altLang="zh-CN" sz="2800">
                <a:solidFill>
                  <a:srgbClr val="FF3300"/>
                </a:solidFill>
              </a:rPr>
              <a:t>Three-Address Code</a:t>
            </a:r>
            <a:endParaRPr lang="en-US" altLang="zh-CN" sz="2800">
              <a:solidFill>
                <a:srgbClr val="FF3300"/>
              </a:solidFill>
            </a:endParaRPr>
          </a:p>
          <a:p>
            <a:pPr eaLnBrk="1" hangingPunct="1"/>
            <a:r>
              <a:rPr lang="zh-CN" altLang="en-US" sz="2800"/>
              <a:t>一般形式：</a:t>
            </a:r>
            <a:r>
              <a:rPr lang="en-US" altLang="zh-CN" sz="2800"/>
              <a:t>x := y </a:t>
            </a:r>
            <a:r>
              <a:rPr lang="en-US" altLang="zh-CN" sz="2800" i="1"/>
              <a:t>op</a:t>
            </a:r>
            <a:r>
              <a:rPr lang="en-US" altLang="zh-CN" sz="2800"/>
              <a:t> z</a:t>
            </a:r>
            <a:endParaRPr lang="en-US" altLang="zh-CN" sz="2800"/>
          </a:p>
          <a:p>
            <a:pPr eaLnBrk="1" hangingPunct="1"/>
            <a:r>
              <a:rPr lang="zh-CN" altLang="en-US" sz="2800"/>
              <a:t>语法树、</a:t>
            </a:r>
            <a:r>
              <a:rPr lang="en-US" altLang="zh-CN" sz="2800"/>
              <a:t>dag</a:t>
            </a:r>
            <a:r>
              <a:rPr lang="zh-CN" altLang="en-US" sz="2800"/>
              <a:t>的线性化表示</a:t>
            </a:r>
            <a:endParaRPr lang="zh-CN" altLang="en-US" sz="28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t</a:t>
            </a:r>
            <a:r>
              <a:rPr lang="en-US" altLang="zh-CN" sz="2400" baseline="-25000"/>
              <a:t>1 </a:t>
            </a:r>
            <a:r>
              <a:rPr lang="en-US" altLang="zh-CN" sz="2400"/>
              <a:t>:= -c			t</a:t>
            </a:r>
            <a:r>
              <a:rPr lang="en-US" altLang="zh-CN" sz="2400" baseline="-25000"/>
              <a:t>1</a:t>
            </a:r>
            <a:r>
              <a:rPr lang="en-US" altLang="zh-CN" sz="2400"/>
              <a:t> := -c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t</a:t>
            </a:r>
            <a:r>
              <a:rPr lang="en-US" altLang="zh-CN" sz="2400" baseline="-25000"/>
              <a:t>2 </a:t>
            </a:r>
            <a:r>
              <a:rPr lang="en-US" altLang="zh-CN" sz="2400"/>
              <a:t>:= b * t</a:t>
            </a:r>
            <a:r>
              <a:rPr lang="en-US" altLang="zh-CN" sz="2400" baseline="-25000"/>
              <a:t>1		</a:t>
            </a:r>
            <a:r>
              <a:rPr lang="en-US" altLang="zh-CN" sz="2400"/>
              <a:t>t</a:t>
            </a:r>
            <a:r>
              <a:rPr lang="en-US" altLang="zh-CN" sz="2400" baseline="-25000"/>
              <a:t>2 </a:t>
            </a:r>
            <a:r>
              <a:rPr lang="en-US" altLang="zh-CN" sz="2400"/>
              <a:t>:= b * t</a:t>
            </a:r>
            <a:r>
              <a:rPr lang="en-US" altLang="zh-CN" sz="2400" baseline="-25000"/>
              <a:t>1</a:t>
            </a:r>
            <a:endParaRPr lang="en-US" altLang="zh-CN" sz="2400" baseline="-25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t</a:t>
            </a:r>
            <a:r>
              <a:rPr lang="en-US" altLang="zh-CN" sz="2400" baseline="-25000"/>
              <a:t>3 </a:t>
            </a:r>
            <a:r>
              <a:rPr lang="en-US" altLang="zh-CN" sz="2400"/>
              <a:t>:= -c			t</a:t>
            </a:r>
            <a:r>
              <a:rPr lang="en-US" altLang="zh-CN" sz="2400" baseline="-25000"/>
              <a:t>5</a:t>
            </a:r>
            <a:r>
              <a:rPr lang="en-US" altLang="zh-CN" sz="2400"/>
              <a:t> := t</a:t>
            </a:r>
            <a:r>
              <a:rPr lang="en-US" altLang="zh-CN" sz="2400" baseline="-25000"/>
              <a:t>2</a:t>
            </a:r>
            <a:r>
              <a:rPr lang="en-US" altLang="zh-CN" sz="2400"/>
              <a:t> + t</a:t>
            </a:r>
            <a:r>
              <a:rPr lang="en-US" altLang="zh-CN" sz="2400" baseline="-25000"/>
              <a:t>2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t</a:t>
            </a:r>
            <a:r>
              <a:rPr lang="en-US" altLang="zh-CN" sz="2400" baseline="-25000"/>
              <a:t>4</a:t>
            </a:r>
            <a:r>
              <a:rPr lang="en-US" altLang="zh-CN" sz="2400"/>
              <a:t> := b * t</a:t>
            </a:r>
            <a:r>
              <a:rPr lang="en-US" altLang="zh-CN" sz="2400" baseline="-25000"/>
              <a:t>3</a:t>
            </a:r>
            <a:r>
              <a:rPr lang="en-US" altLang="zh-CN" sz="2400"/>
              <a:t>		a := t</a:t>
            </a:r>
            <a:r>
              <a:rPr lang="en-US" altLang="zh-CN" sz="2400" baseline="-25000"/>
              <a:t>5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t</a:t>
            </a:r>
            <a:r>
              <a:rPr lang="en-US" altLang="zh-CN" sz="2400" baseline="-25000"/>
              <a:t>5</a:t>
            </a:r>
            <a:r>
              <a:rPr lang="en-US" altLang="zh-CN" sz="2400"/>
              <a:t> := t</a:t>
            </a:r>
            <a:r>
              <a:rPr lang="en-US" altLang="zh-CN" sz="2400" baseline="-25000"/>
              <a:t>2</a:t>
            </a:r>
            <a:r>
              <a:rPr lang="en-US" altLang="zh-CN" sz="2400"/>
              <a:t> + t</a:t>
            </a:r>
            <a:r>
              <a:rPr lang="en-US" altLang="zh-CN" sz="2400" baseline="-25000"/>
              <a:t>4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a := t</a:t>
            </a:r>
            <a:r>
              <a:rPr lang="en-US" altLang="zh-CN" sz="2400" baseline="-25000"/>
              <a:t>5</a:t>
            </a:r>
            <a:endParaRPr lang="en-US" altLang="zh-CN" sz="2400" baseline="-25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8.1.3  </a:t>
            </a:r>
            <a:r>
              <a:rPr lang="zh-CN" altLang="en-US"/>
              <a:t>三地址码语句类型</a:t>
            </a:r>
            <a:endParaRPr lang="zh-CN" alt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</p:spPr>
        <p:txBody>
          <a:bodyPr/>
          <a:lstStyle/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400"/>
              <a:t>二元运算：</a:t>
            </a:r>
            <a:r>
              <a:rPr lang="en-US" altLang="zh-CN" sz="2400"/>
              <a:t>x := y op z</a:t>
            </a:r>
            <a:endParaRPr lang="en-US" altLang="zh-CN" sz="2400"/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400"/>
              <a:t>一元运算：</a:t>
            </a:r>
            <a:r>
              <a:rPr lang="en-US" altLang="zh-CN" sz="2400"/>
              <a:t>x := op y</a:t>
            </a:r>
            <a:endParaRPr lang="en-US" altLang="zh-CN" sz="2400"/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400"/>
              <a:t>复制语句：</a:t>
            </a:r>
            <a:r>
              <a:rPr lang="en-US" altLang="zh-CN" sz="2400"/>
              <a:t>x := y</a:t>
            </a:r>
            <a:endParaRPr lang="en-US" altLang="zh-CN" sz="2400"/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400"/>
              <a:t>无条件转移：</a:t>
            </a:r>
            <a:r>
              <a:rPr lang="en-US" altLang="zh-CN" sz="2400"/>
              <a:t>goto L</a:t>
            </a:r>
            <a:endParaRPr lang="en-US" altLang="zh-CN" sz="2400"/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400"/>
              <a:t>条件转移：</a:t>
            </a:r>
            <a:r>
              <a:rPr lang="en-US" altLang="zh-CN" sz="2400"/>
              <a:t>if x relop y goto L</a:t>
            </a:r>
            <a:endParaRPr lang="en-US" altLang="zh-CN" sz="2400"/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400"/>
              <a:t>函数调用：</a:t>
            </a:r>
            <a:r>
              <a:rPr lang="en-US" altLang="zh-CN" sz="2400"/>
              <a:t>param x</a:t>
            </a:r>
            <a:r>
              <a:rPr lang="en-US" altLang="zh-CN" sz="2400" baseline="-25000"/>
              <a:t>1</a:t>
            </a:r>
            <a:br>
              <a:rPr lang="en-US" altLang="zh-CN" sz="2400" baseline="-25000"/>
            </a:br>
            <a:r>
              <a:rPr lang="en-US" altLang="zh-CN" sz="2400" baseline="-25000"/>
              <a:t>		      </a:t>
            </a:r>
            <a:r>
              <a:rPr lang="en-US" altLang="zh-CN" sz="2400"/>
              <a:t>param x</a:t>
            </a:r>
            <a:r>
              <a:rPr lang="en-US" altLang="zh-CN" sz="2400" baseline="-25000"/>
              <a:t>2</a:t>
            </a:r>
            <a:br>
              <a:rPr lang="en-US" altLang="zh-CN" sz="2400" baseline="-25000"/>
            </a:br>
            <a:r>
              <a:rPr lang="en-US" altLang="zh-CN" sz="2400" baseline="-25000"/>
              <a:t>		 </a:t>
            </a:r>
            <a:r>
              <a:rPr lang="en-US" altLang="zh-CN" sz="2400"/>
              <a:t>    …</a:t>
            </a:r>
            <a:br>
              <a:rPr lang="en-US" altLang="zh-CN" sz="2400"/>
            </a:br>
            <a:r>
              <a:rPr lang="en-US" altLang="zh-CN" sz="2400"/>
              <a:t>		    param x</a:t>
            </a:r>
            <a:r>
              <a:rPr lang="en-US" altLang="zh-CN" sz="2400" baseline="-25000"/>
              <a:t>n</a:t>
            </a:r>
            <a:br>
              <a:rPr lang="en-US" altLang="zh-CN" sz="2400" baseline="-25000"/>
            </a:br>
            <a:r>
              <a:rPr lang="en-US" altLang="zh-CN" sz="2400" baseline="-25000"/>
              <a:t>		      </a:t>
            </a:r>
            <a:r>
              <a:rPr lang="en-US" altLang="zh-CN" sz="2400"/>
              <a:t>call p, n</a:t>
            </a:r>
            <a:endParaRPr lang="en-US" altLang="zh-CN" sz="2400"/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400"/>
              <a:t>数组：</a:t>
            </a:r>
            <a:r>
              <a:rPr lang="en-US" altLang="zh-CN" sz="2400"/>
              <a:t>x := y [i] </a:t>
            </a:r>
            <a:r>
              <a:rPr lang="zh-CN" altLang="en-US" sz="2400"/>
              <a:t>，	</a:t>
            </a:r>
            <a:r>
              <a:rPr lang="en-US" altLang="zh-CN" sz="2400"/>
              <a:t>x [i] := y</a:t>
            </a:r>
            <a:endParaRPr lang="en-US" altLang="zh-CN" sz="2400"/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400"/>
              <a:t>指针：</a:t>
            </a:r>
            <a:r>
              <a:rPr lang="en-US" altLang="zh-CN" sz="2400"/>
              <a:t>x := &amp;y</a:t>
            </a:r>
            <a:r>
              <a:rPr lang="zh-CN" altLang="en-US" sz="2400"/>
              <a:t>，	</a:t>
            </a:r>
            <a:r>
              <a:rPr lang="en-US" altLang="zh-CN" sz="2400"/>
              <a:t>x := *y</a:t>
            </a:r>
            <a:endParaRPr lang="en-US" altLang="zh-CN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语法制导翻译生成三地址码</a:t>
            </a:r>
            <a:endParaRPr lang="zh-CN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以赋值语句</a:t>
            </a:r>
            <a:r>
              <a:rPr lang="en-US" altLang="zh-CN" dirty="0"/>
              <a:t>id := E</a:t>
            </a:r>
            <a:r>
              <a:rPr lang="zh-CN" altLang="en-US" dirty="0"/>
              <a:t>为例</a:t>
            </a:r>
            <a:endParaRPr lang="en-US" altLang="zh-CN" dirty="0"/>
          </a:p>
          <a:p>
            <a:pPr eaLnBrk="1" hangingPunct="1"/>
            <a:r>
              <a:rPr lang="zh-CN" altLang="en-US" dirty="0"/>
              <a:t>利用属性保存翻译结果</a:t>
            </a:r>
            <a:endParaRPr lang="zh-CN" altLang="en-US" dirty="0"/>
          </a:p>
          <a:p>
            <a:pPr lvl="1" eaLnBrk="1" hangingPunct="1"/>
            <a:r>
              <a:rPr lang="en-US" altLang="zh-CN" dirty="0" err="1"/>
              <a:t>E.code</a:t>
            </a:r>
            <a:r>
              <a:rPr lang="zh-CN" altLang="en-US" dirty="0"/>
              <a:t>：生成的计算</a:t>
            </a:r>
            <a:r>
              <a:rPr lang="en-US" altLang="zh-CN" dirty="0"/>
              <a:t>E</a:t>
            </a:r>
            <a:r>
              <a:rPr lang="zh-CN" altLang="en-US" dirty="0"/>
              <a:t>的三地址代码</a:t>
            </a:r>
            <a:endParaRPr lang="zh-CN" altLang="en-US" dirty="0"/>
          </a:p>
          <a:p>
            <a:pPr lvl="1" eaLnBrk="1" hangingPunct="1"/>
            <a:r>
              <a:rPr lang="en-US" altLang="zh-CN" dirty="0" err="1"/>
              <a:t>E.place</a:t>
            </a:r>
            <a:r>
              <a:rPr lang="zh-CN" altLang="en-US" dirty="0"/>
              <a:t>：代码</a:t>
            </a:r>
            <a:r>
              <a:rPr lang="en-US" altLang="zh-CN" dirty="0" err="1"/>
              <a:t>E.code</a:t>
            </a:r>
            <a:r>
              <a:rPr lang="zh-CN" altLang="en-US" dirty="0"/>
              <a:t>中</a:t>
            </a:r>
            <a:r>
              <a:rPr lang="en-US" altLang="zh-CN" dirty="0"/>
              <a:t>E</a:t>
            </a:r>
            <a:r>
              <a:rPr lang="zh-CN" altLang="en-US" dirty="0"/>
              <a:t>最终计算结果的存储位置（（临时）变量名）</a:t>
            </a:r>
            <a:endParaRPr lang="zh-CN" altLang="en-US" dirty="0"/>
          </a:p>
          <a:p>
            <a:pPr eaLnBrk="1" hangingPunct="1"/>
            <a:r>
              <a:rPr lang="en-US" altLang="zh-CN" dirty="0" err="1"/>
              <a:t>newtemp</a:t>
            </a:r>
            <a:r>
              <a:rPr lang="zh-CN" altLang="en-US" dirty="0"/>
              <a:t>：生成临时变量名</a:t>
            </a:r>
            <a:endParaRPr lang="zh-CN" altLang="en-US" dirty="0"/>
          </a:p>
          <a:p>
            <a:pPr eaLnBrk="1" hangingPunct="1"/>
            <a:r>
              <a:rPr lang="en-US" altLang="zh-CN" dirty="0"/>
              <a:t>gen</a:t>
            </a:r>
            <a:r>
              <a:rPr lang="zh-CN" altLang="en-US" dirty="0"/>
              <a:t>：生成一条三地址码指令（的文本串）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赋值语句的翻译</a:t>
            </a:r>
            <a:endParaRPr lang="zh-CN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371600"/>
            <a:ext cx="8040688" cy="5334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 u="sng" dirty="0"/>
              <a:t>PRODUCTION	Semantic Rule</a:t>
            </a:r>
            <a:endParaRPr lang="en-US" altLang="zh-CN" sz="2000" b="1" u="sng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S 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id := </a:t>
            </a:r>
            <a:r>
              <a:rPr lang="en-US" altLang="zh-CN" sz="2000" dirty="0">
                <a:sym typeface="Symbol" panose="05050102010706020507" pitchFamily="18" charset="2"/>
              </a:rPr>
              <a:t>E	{ </a:t>
            </a:r>
            <a:r>
              <a:rPr lang="en-US" altLang="zh-CN" sz="2000" dirty="0" err="1">
                <a:sym typeface="Symbol" panose="05050102010706020507" pitchFamily="18" charset="2"/>
              </a:rPr>
              <a:t>S</a:t>
            </a:r>
            <a:r>
              <a:rPr lang="en-US" altLang="zh-CN" sz="2000" i="1" dirty="0" err="1">
                <a:sym typeface="Symbol" panose="05050102010706020507" pitchFamily="18" charset="2"/>
              </a:rPr>
              <a:t>.code</a:t>
            </a:r>
            <a:r>
              <a:rPr lang="en-US" altLang="zh-CN" sz="2000" i="1" dirty="0">
                <a:sym typeface="Symbol" panose="05050102010706020507" pitchFamily="18" charset="2"/>
              </a:rPr>
              <a:t> = 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code</a:t>
            </a:r>
            <a:r>
              <a:rPr lang="en-US" altLang="zh-CN" sz="2000" dirty="0">
                <a:sym typeface="Symbol" panose="05050102010706020507" pitchFamily="18" charset="2"/>
              </a:rPr>
              <a:t> || </a:t>
            </a:r>
            <a:r>
              <a:rPr lang="en-US" altLang="zh-CN" sz="2000" i="1" dirty="0">
                <a:sym typeface="Symbol" panose="05050102010706020507" pitchFamily="18" charset="2"/>
              </a:rPr>
              <a:t>gen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dirty="0" err="1">
                <a:sym typeface="Symbol" panose="05050102010706020507" pitchFamily="18" charset="2"/>
              </a:rPr>
              <a:t>id</a:t>
            </a:r>
            <a:r>
              <a:rPr lang="en-US" altLang="zh-CN" sz="2000" i="1" dirty="0" err="1">
                <a:sym typeface="Symbol" panose="05050102010706020507" pitchFamily="18" charset="2"/>
              </a:rPr>
              <a:t>.place</a:t>
            </a:r>
            <a:r>
              <a:rPr lang="en-US" altLang="zh-CN" sz="2000" dirty="0">
                <a:sym typeface="Symbol" panose="05050102010706020507" pitchFamily="18" charset="2"/>
              </a:rPr>
              <a:t> ‘:=’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place</a:t>
            </a:r>
            <a:r>
              <a:rPr lang="en-US" altLang="zh-CN" sz="2000" dirty="0">
                <a:sym typeface="Symbol" panose="05050102010706020507" pitchFamily="18" charset="2"/>
              </a:rPr>
              <a:t>) }</a:t>
            </a:r>
            <a:endParaRPr lang="en-US" altLang="zh-CN" sz="2000" i="1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E  E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+ </a:t>
            </a:r>
            <a:r>
              <a:rPr lang="en-US" altLang="zh-CN" sz="2000" dirty="0">
                <a:sym typeface="Symbol" panose="05050102010706020507" pitchFamily="18" charset="2"/>
              </a:rPr>
              <a:t>E</a:t>
            </a:r>
            <a:r>
              <a:rPr lang="en-US" altLang="zh-CN" sz="2000" baseline="-25000" dirty="0"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 	</a:t>
            </a:r>
            <a:r>
              <a:rPr lang="en-US" altLang="zh-CN" sz="2000" dirty="0">
                <a:sym typeface="Symbol" panose="05050102010706020507" pitchFamily="18" charset="2"/>
              </a:rPr>
              <a:t>{ 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place</a:t>
            </a:r>
            <a:r>
              <a:rPr lang="en-US" altLang="zh-CN" sz="2000" dirty="0">
                <a:sym typeface="Symbol" panose="05050102010706020507" pitchFamily="18" charset="2"/>
              </a:rPr>
              <a:t>= </a:t>
            </a:r>
            <a:r>
              <a:rPr lang="en-US" altLang="zh-CN" sz="2000" i="1" dirty="0" err="1">
                <a:sym typeface="Symbol" panose="05050102010706020507" pitchFamily="18" charset="2"/>
              </a:rPr>
              <a:t>newtemp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;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		 </a:t>
            </a:r>
            <a:r>
              <a:rPr lang="en-US" altLang="zh-CN" sz="2000" dirty="0" err="1">
                <a:sym typeface="Symbol" panose="05050102010706020507" pitchFamily="18" charset="2"/>
              </a:rPr>
              <a:t>E</a:t>
            </a:r>
            <a:r>
              <a:rPr lang="en-US" altLang="zh-CN" sz="2000" i="1" dirty="0" err="1">
                <a:sym typeface="Symbol" panose="05050102010706020507" pitchFamily="18" charset="2"/>
              </a:rPr>
              <a:t>.code</a:t>
            </a:r>
            <a:r>
              <a:rPr lang="en-US" altLang="zh-CN" sz="2000" dirty="0">
                <a:sym typeface="Symbol" panose="05050102010706020507" pitchFamily="18" charset="2"/>
              </a:rPr>
              <a:t> = E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code </a:t>
            </a:r>
            <a:r>
              <a:rPr lang="en-US" altLang="zh-CN" sz="2000" dirty="0">
                <a:sym typeface="Symbol" panose="05050102010706020507" pitchFamily="18" charset="2"/>
              </a:rPr>
              <a:t>|| E</a:t>
            </a:r>
            <a:r>
              <a:rPr lang="en-US" altLang="zh-CN" sz="2000" baseline="-25000" dirty="0"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code </a:t>
            </a:r>
            <a:r>
              <a:rPr lang="en-US" altLang="zh-CN" sz="2000" dirty="0">
                <a:sym typeface="Symbol" panose="05050102010706020507" pitchFamily="18" charset="2"/>
              </a:rPr>
              <a:t>|| 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		          || </a:t>
            </a:r>
            <a:r>
              <a:rPr lang="en-US" altLang="zh-CN" sz="2000" i="1" dirty="0">
                <a:sym typeface="Symbol" panose="05050102010706020507" pitchFamily="18" charset="2"/>
              </a:rPr>
              <a:t>gen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place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‘:=’ E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place </a:t>
            </a:r>
            <a:r>
              <a:rPr lang="en-US" altLang="zh-CN" sz="2000" dirty="0">
                <a:sym typeface="Symbol" panose="05050102010706020507" pitchFamily="18" charset="2"/>
              </a:rPr>
              <a:t>‘+’ E</a:t>
            </a:r>
            <a:r>
              <a:rPr lang="en-US" altLang="zh-CN" sz="2000" baseline="-25000" dirty="0"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place</a:t>
            </a:r>
            <a:r>
              <a:rPr lang="en-US" altLang="zh-CN" sz="2000" dirty="0">
                <a:sym typeface="Symbol" panose="05050102010706020507" pitchFamily="18" charset="2"/>
              </a:rPr>
              <a:t>) }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E  E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* </a:t>
            </a:r>
            <a:r>
              <a:rPr lang="en-US" altLang="zh-CN" sz="2000" dirty="0">
                <a:sym typeface="Symbol" panose="05050102010706020507" pitchFamily="18" charset="2"/>
              </a:rPr>
              <a:t>E</a:t>
            </a:r>
            <a:r>
              <a:rPr lang="en-US" altLang="zh-CN" sz="2000" baseline="-25000" dirty="0"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 	</a:t>
            </a:r>
            <a:r>
              <a:rPr lang="en-US" altLang="zh-CN" sz="2000" dirty="0">
                <a:sym typeface="Symbol" panose="05050102010706020507" pitchFamily="18" charset="2"/>
              </a:rPr>
              <a:t>{ 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place</a:t>
            </a:r>
            <a:r>
              <a:rPr lang="en-US" altLang="zh-CN" sz="2000" dirty="0">
                <a:sym typeface="Symbol" panose="05050102010706020507" pitchFamily="18" charset="2"/>
              </a:rPr>
              <a:t>= </a:t>
            </a:r>
            <a:r>
              <a:rPr lang="en-US" altLang="zh-CN" sz="2000" i="1" dirty="0" err="1">
                <a:sym typeface="Symbol" panose="05050102010706020507" pitchFamily="18" charset="2"/>
              </a:rPr>
              <a:t>newtemp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;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		 </a:t>
            </a:r>
            <a:r>
              <a:rPr lang="en-US" altLang="zh-CN" sz="2000" dirty="0" err="1">
                <a:sym typeface="Symbol" panose="05050102010706020507" pitchFamily="18" charset="2"/>
              </a:rPr>
              <a:t>E</a:t>
            </a:r>
            <a:r>
              <a:rPr lang="en-US" altLang="zh-CN" sz="2000" i="1" dirty="0" err="1">
                <a:sym typeface="Symbol" panose="05050102010706020507" pitchFamily="18" charset="2"/>
              </a:rPr>
              <a:t>.code</a:t>
            </a:r>
            <a:r>
              <a:rPr lang="en-US" altLang="zh-CN" sz="2000" dirty="0">
                <a:sym typeface="Symbol" panose="05050102010706020507" pitchFamily="18" charset="2"/>
              </a:rPr>
              <a:t> = E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code </a:t>
            </a:r>
            <a:r>
              <a:rPr lang="en-US" altLang="zh-CN" sz="2000" dirty="0">
                <a:sym typeface="Symbol" panose="05050102010706020507" pitchFamily="18" charset="2"/>
              </a:rPr>
              <a:t>|| E</a:t>
            </a:r>
            <a:r>
              <a:rPr lang="en-US" altLang="zh-CN" sz="2000" baseline="-25000" dirty="0"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code </a:t>
            </a:r>
            <a:r>
              <a:rPr lang="en-US" altLang="zh-CN" sz="2000" dirty="0">
                <a:sym typeface="Symbol" panose="05050102010706020507" pitchFamily="18" charset="2"/>
              </a:rPr>
              <a:t>|| 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		          || </a:t>
            </a:r>
            <a:r>
              <a:rPr lang="en-US" altLang="zh-CN" sz="2000" i="1" dirty="0">
                <a:sym typeface="Symbol" panose="05050102010706020507" pitchFamily="18" charset="2"/>
              </a:rPr>
              <a:t>gen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place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‘:=’ E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place </a:t>
            </a:r>
            <a:r>
              <a:rPr lang="en-US" altLang="zh-CN" sz="2000" dirty="0">
                <a:sym typeface="Symbol" panose="05050102010706020507" pitchFamily="18" charset="2"/>
              </a:rPr>
              <a:t>‘*’ E</a:t>
            </a:r>
            <a:r>
              <a:rPr lang="en-US" altLang="zh-CN" sz="2000" baseline="-25000" dirty="0"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place</a:t>
            </a:r>
            <a:r>
              <a:rPr lang="en-US" altLang="zh-CN" sz="2000" dirty="0">
                <a:sym typeface="Symbol" panose="05050102010706020507" pitchFamily="18" charset="2"/>
              </a:rPr>
              <a:t>) }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E 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- </a:t>
            </a:r>
            <a:r>
              <a:rPr lang="en-US" altLang="zh-CN" sz="2000" dirty="0">
                <a:sym typeface="Symbol" panose="05050102010706020507" pitchFamily="18" charset="2"/>
              </a:rPr>
              <a:t>E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 	</a:t>
            </a:r>
            <a:r>
              <a:rPr lang="en-US" altLang="zh-CN" sz="2000" dirty="0">
                <a:sym typeface="Symbol" panose="05050102010706020507" pitchFamily="18" charset="2"/>
              </a:rPr>
              <a:t>{ 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place</a:t>
            </a:r>
            <a:r>
              <a:rPr lang="en-US" altLang="zh-CN" sz="2000" dirty="0">
                <a:sym typeface="Symbol" panose="05050102010706020507" pitchFamily="18" charset="2"/>
              </a:rPr>
              <a:t>= </a:t>
            </a:r>
            <a:r>
              <a:rPr lang="en-US" altLang="zh-CN" sz="2000" i="1" dirty="0" err="1">
                <a:sym typeface="Symbol" panose="05050102010706020507" pitchFamily="18" charset="2"/>
              </a:rPr>
              <a:t>newtemp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;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		 </a:t>
            </a:r>
            <a:r>
              <a:rPr lang="en-US" altLang="zh-CN" sz="2000" dirty="0" err="1">
                <a:sym typeface="Symbol" panose="05050102010706020507" pitchFamily="18" charset="2"/>
              </a:rPr>
              <a:t>E</a:t>
            </a:r>
            <a:r>
              <a:rPr lang="en-US" altLang="zh-CN" sz="2000" i="1" dirty="0" err="1">
                <a:sym typeface="Symbol" panose="05050102010706020507" pitchFamily="18" charset="2"/>
              </a:rPr>
              <a:t>.code</a:t>
            </a:r>
            <a:r>
              <a:rPr lang="en-US" altLang="zh-CN" sz="2000" dirty="0">
                <a:sym typeface="Symbol" panose="05050102010706020507" pitchFamily="18" charset="2"/>
              </a:rPr>
              <a:t> = E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code ||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			|| </a:t>
            </a:r>
            <a:r>
              <a:rPr lang="en-US" altLang="zh-CN" sz="2000" i="1" dirty="0">
                <a:sym typeface="Symbol" panose="05050102010706020507" pitchFamily="18" charset="2"/>
              </a:rPr>
              <a:t>gen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place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‘:=’ ‘</a:t>
            </a:r>
            <a:r>
              <a:rPr lang="en-US" altLang="zh-CN" sz="2000" dirty="0" err="1">
                <a:sym typeface="Symbol" panose="05050102010706020507" pitchFamily="18" charset="2"/>
              </a:rPr>
              <a:t>uminus</a:t>
            </a:r>
            <a:r>
              <a:rPr lang="en-US" altLang="zh-CN" sz="2000" dirty="0">
                <a:sym typeface="Symbol" panose="05050102010706020507" pitchFamily="18" charset="2"/>
              </a:rPr>
              <a:t>’ E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place</a:t>
            </a:r>
            <a:r>
              <a:rPr lang="en-US" altLang="zh-CN" sz="2000" dirty="0">
                <a:sym typeface="Symbol" panose="05050102010706020507" pitchFamily="18" charset="2"/>
              </a:rPr>
              <a:t>) }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E 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lang="en-US" altLang="zh-CN" sz="2000" dirty="0">
                <a:sym typeface="Symbol" panose="05050102010706020507" pitchFamily="18" charset="2"/>
              </a:rPr>
              <a:t>E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 ) 	</a:t>
            </a:r>
            <a:r>
              <a:rPr lang="en-US" altLang="zh-CN" sz="2000" dirty="0">
                <a:sym typeface="Symbol" panose="05050102010706020507" pitchFamily="18" charset="2"/>
              </a:rPr>
              <a:t>{ 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place</a:t>
            </a:r>
            <a:r>
              <a:rPr lang="en-US" altLang="zh-CN" sz="2000" dirty="0">
                <a:sym typeface="Symbol" panose="05050102010706020507" pitchFamily="18" charset="2"/>
              </a:rPr>
              <a:t>= E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place</a:t>
            </a:r>
            <a:r>
              <a:rPr lang="en-US" altLang="zh-CN" sz="2000" dirty="0">
                <a:sym typeface="Symbol" panose="05050102010706020507" pitchFamily="18" charset="2"/>
              </a:rPr>
              <a:t> ; 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code</a:t>
            </a:r>
            <a:r>
              <a:rPr lang="en-US" altLang="zh-CN" sz="2000" i="1" dirty="0">
                <a:sym typeface="Symbol" panose="05050102010706020507" pitchFamily="18" charset="2"/>
              </a:rPr>
              <a:t> = </a:t>
            </a:r>
            <a:r>
              <a:rPr lang="en-US" altLang="zh-CN" sz="2000" dirty="0">
                <a:sym typeface="Symbol" panose="05050102010706020507" pitchFamily="18" charset="2"/>
              </a:rPr>
              <a:t>E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code</a:t>
            </a:r>
            <a:r>
              <a:rPr lang="en-US" altLang="zh-CN" sz="2000" dirty="0">
                <a:sym typeface="Symbol" panose="05050102010706020507" pitchFamily="18" charset="2"/>
              </a:rPr>
              <a:t>}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E 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id 	</a:t>
            </a:r>
            <a:r>
              <a:rPr lang="en-US" altLang="zh-CN" sz="2000" dirty="0">
                <a:sym typeface="Symbol" panose="05050102010706020507" pitchFamily="18" charset="2"/>
              </a:rPr>
              <a:t>{ 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place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= </a:t>
            </a:r>
            <a:r>
              <a:rPr lang="en-US" altLang="zh-CN" sz="2000" dirty="0" err="1">
                <a:sym typeface="Symbol" panose="05050102010706020507" pitchFamily="18" charset="2"/>
              </a:rPr>
              <a:t>id</a:t>
            </a:r>
            <a:r>
              <a:rPr lang="en-US" altLang="zh-CN" sz="2000" i="1" dirty="0" err="1">
                <a:sym typeface="Symbol" panose="05050102010706020507" pitchFamily="18" charset="2"/>
              </a:rPr>
              <a:t>.entry</a:t>
            </a:r>
            <a:r>
              <a:rPr lang="en-US" altLang="zh-CN" sz="2000" dirty="0">
                <a:sym typeface="Symbol" panose="05050102010706020507" pitchFamily="18" charset="2"/>
              </a:rPr>
              <a:t> ; 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code</a:t>
            </a:r>
            <a:r>
              <a:rPr lang="en-US" altLang="zh-CN" sz="2000" dirty="0">
                <a:sym typeface="Symbol" panose="05050102010706020507" pitchFamily="18" charset="2"/>
              </a:rPr>
              <a:t> = ‘’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}</a:t>
            </a:r>
            <a:endParaRPr lang="en-US" altLang="zh-CN" sz="2000" dirty="0">
              <a:sym typeface="Symbol" panose="05050102010706020507" pitchFamily="18" charset="2"/>
            </a:endParaRPr>
          </a:p>
        </p:txBody>
      </p:sp>
      <p:sp>
        <p:nvSpPr>
          <p:cNvPr id="4" name="Text Box 11"/>
          <p:cNvSpPr txBox="1">
            <a:spLocks noChangeArrowheads="1"/>
          </p:cNvSpPr>
          <p:nvPr/>
        </p:nvSpPr>
        <p:spPr bwMode="auto">
          <a:xfrm>
            <a:off x="6516216" y="2060848"/>
            <a:ext cx="273630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1600" b="1" dirty="0">
                <a:solidFill>
                  <a:srgbClr val="FF0000"/>
                </a:solidFill>
                <a:sym typeface="Wingdings" panose="05000000000000000000" pitchFamily="2" charset="2"/>
              </a:rPr>
              <a:t>加法表达式代码：</a:t>
            </a:r>
            <a:br>
              <a:rPr kumimoji="0" lang="en-US" altLang="zh-CN" sz="1600" b="1" dirty="0">
                <a:solidFill>
                  <a:srgbClr val="FF0000"/>
                </a:solidFill>
                <a:sym typeface="Wingdings" panose="05000000000000000000" pitchFamily="2" charset="2"/>
              </a:rPr>
            </a:br>
            <a:r>
              <a:rPr kumimoji="0" lang="zh-CN" altLang="en-US" sz="1600" b="1" dirty="0">
                <a:solidFill>
                  <a:srgbClr val="FF0000"/>
                </a:solidFill>
                <a:sym typeface="Wingdings" panose="05000000000000000000" pitchFamily="2" charset="2"/>
              </a:rPr>
              <a:t>先计算两个子表达式</a:t>
            </a:r>
            <a:br>
              <a:rPr kumimoji="0" lang="en-US" altLang="zh-CN" sz="1600" b="1" dirty="0">
                <a:solidFill>
                  <a:srgbClr val="FF0000"/>
                </a:solidFill>
                <a:sym typeface="Wingdings" panose="05000000000000000000" pitchFamily="2" charset="2"/>
              </a:rPr>
            </a:br>
            <a:r>
              <a:rPr kumimoji="0" lang="zh-CN" altLang="en-US" sz="1600" b="1" dirty="0">
                <a:solidFill>
                  <a:srgbClr val="FF0000"/>
                </a:solidFill>
                <a:sym typeface="Wingdings" panose="05000000000000000000" pitchFamily="2" charset="2"/>
              </a:rPr>
              <a:t>再执行它们结果的加法指令</a:t>
            </a:r>
            <a:endParaRPr kumimoji="0" lang="en-US" altLang="zh-CN" sz="1600" b="1" dirty="0">
              <a:solidFill>
                <a:srgbClr val="FF0000"/>
              </a:solidFill>
            </a:endParaRPr>
          </a:p>
        </p:txBody>
      </p:sp>
      <p:cxnSp>
        <p:nvCxnSpPr>
          <p:cNvPr id="3" name="直接箭头连接符 2"/>
          <p:cNvCxnSpPr>
            <a:stCxn id="4" idx="1"/>
          </p:cNvCxnSpPr>
          <p:nvPr/>
        </p:nvCxnSpPr>
        <p:spPr bwMode="auto">
          <a:xfrm flipH="1">
            <a:off x="5940152" y="2476347"/>
            <a:ext cx="576064" cy="232573"/>
          </a:xfrm>
          <a:prstGeom prst="straightConnector1">
            <a:avLst/>
          </a:prstGeom>
          <a:solidFill>
            <a:srgbClr val="FFCF0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5940152" y="803701"/>
            <a:ext cx="2736304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1600" b="1" dirty="0">
                <a:solidFill>
                  <a:srgbClr val="FF0000"/>
                </a:solidFill>
                <a:sym typeface="Wingdings" panose="05000000000000000000" pitchFamily="2" charset="2"/>
              </a:rPr>
              <a:t>赋值语句代码：</a:t>
            </a:r>
            <a:br>
              <a:rPr kumimoji="0" lang="en-US" altLang="zh-CN" sz="1600" b="1" dirty="0">
                <a:solidFill>
                  <a:srgbClr val="FF0000"/>
                </a:solidFill>
                <a:sym typeface="Wingdings" panose="05000000000000000000" pitchFamily="2" charset="2"/>
              </a:rPr>
            </a:br>
            <a:r>
              <a:rPr kumimoji="0" lang="zh-CN" altLang="en-US" sz="1600" b="1" dirty="0">
                <a:solidFill>
                  <a:srgbClr val="FF0000"/>
                </a:solidFill>
                <a:sym typeface="Wingdings" panose="05000000000000000000" pitchFamily="2" charset="2"/>
              </a:rPr>
              <a:t>先计算右侧表达式</a:t>
            </a:r>
            <a:br>
              <a:rPr kumimoji="0" lang="en-US" altLang="zh-CN" sz="1600" b="1" dirty="0">
                <a:solidFill>
                  <a:srgbClr val="FF0000"/>
                </a:solidFill>
                <a:sym typeface="Wingdings" panose="05000000000000000000" pitchFamily="2" charset="2"/>
              </a:rPr>
            </a:br>
            <a:r>
              <a:rPr kumimoji="0" lang="zh-CN" altLang="en-US" sz="1600" b="1" dirty="0">
                <a:solidFill>
                  <a:srgbClr val="FF0000"/>
                </a:solidFill>
                <a:sym typeface="Wingdings" panose="05000000000000000000" pitchFamily="2" charset="2"/>
              </a:rPr>
              <a:t>再执行它的结果到左侧变量的赋值指令</a:t>
            </a:r>
            <a:endParaRPr kumimoji="0" lang="en-US" altLang="zh-CN" sz="1600" b="1" dirty="0">
              <a:solidFill>
                <a:srgbClr val="FF0000"/>
              </a:solidFill>
            </a:endParaRPr>
          </a:p>
        </p:txBody>
      </p:sp>
      <p:cxnSp>
        <p:nvCxnSpPr>
          <p:cNvPr id="10" name="直接箭头连接符 9"/>
          <p:cNvCxnSpPr>
            <a:stCxn id="9" idx="1"/>
          </p:cNvCxnSpPr>
          <p:nvPr/>
        </p:nvCxnSpPr>
        <p:spPr bwMode="auto">
          <a:xfrm flipH="1">
            <a:off x="5220072" y="1342310"/>
            <a:ext cx="720080" cy="430506"/>
          </a:xfrm>
          <a:prstGeom prst="straightConnector1">
            <a:avLst/>
          </a:prstGeom>
          <a:solidFill>
            <a:srgbClr val="FFCF0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中间代码生成示例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2437656" y="2654807"/>
            <a:ext cx="838200" cy="457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id1</a:t>
            </a:r>
            <a:endParaRPr kumimoji="0" lang="en-US" altLang="zh-CN" sz="2400" b="1" dirty="0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3601616" y="1551341"/>
            <a:ext cx="784225" cy="457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:=</a:t>
            </a:r>
            <a:endParaRPr kumimoji="0" lang="en-US" altLang="zh-CN" sz="2400" b="1" dirty="0"/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3533298" y="3957754"/>
            <a:ext cx="1473200" cy="456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id2</a:t>
            </a:r>
            <a:endParaRPr kumimoji="0" lang="en-US" altLang="zh-CN" sz="2400" b="1" dirty="0"/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4716016" y="5201368"/>
            <a:ext cx="1473200" cy="457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id3</a:t>
            </a:r>
            <a:endParaRPr kumimoji="0" lang="en-US" altLang="zh-CN" sz="2400" b="1" dirty="0"/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4808910" y="2654807"/>
            <a:ext cx="785812" cy="457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+</a:t>
            </a:r>
            <a:endParaRPr kumimoji="0" lang="en-US" altLang="zh-CN" sz="2400" b="1" dirty="0"/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5891796" y="3958337"/>
            <a:ext cx="785812" cy="457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*</a:t>
            </a:r>
            <a:endParaRPr kumimoji="0" lang="en-US" altLang="zh-CN" sz="2400" b="1" dirty="0"/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6882532" y="5201368"/>
            <a:ext cx="785812" cy="456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60</a:t>
            </a:r>
            <a:endParaRPr kumimoji="0" lang="en-US" altLang="zh-CN" sz="2400" b="1" dirty="0"/>
          </a:p>
        </p:txBody>
      </p:sp>
      <p:sp>
        <p:nvSpPr>
          <p:cNvPr id="11" name="Line 12"/>
          <p:cNvSpPr>
            <a:spLocks noChangeShapeType="1"/>
          </p:cNvSpPr>
          <p:nvPr/>
        </p:nvSpPr>
        <p:spPr bwMode="auto">
          <a:xfrm>
            <a:off x="4596978" y="3573016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13"/>
          <p:cNvSpPr>
            <a:spLocks noChangeShapeType="1"/>
          </p:cNvSpPr>
          <p:nvPr/>
        </p:nvSpPr>
        <p:spPr bwMode="auto">
          <a:xfrm flipH="1">
            <a:off x="2817392" y="1867573"/>
            <a:ext cx="838200" cy="84866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14"/>
          <p:cNvSpPr>
            <a:spLocks noChangeShapeType="1"/>
          </p:cNvSpPr>
          <p:nvPr/>
        </p:nvSpPr>
        <p:spPr bwMode="auto">
          <a:xfrm>
            <a:off x="4108823" y="1867573"/>
            <a:ext cx="1025847" cy="978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15"/>
          <p:cNvSpPr>
            <a:spLocks noChangeShapeType="1"/>
          </p:cNvSpPr>
          <p:nvPr/>
        </p:nvSpPr>
        <p:spPr bwMode="auto">
          <a:xfrm>
            <a:off x="5303894" y="3036278"/>
            <a:ext cx="885322" cy="103822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16"/>
          <p:cNvSpPr>
            <a:spLocks noChangeShapeType="1"/>
          </p:cNvSpPr>
          <p:nvPr/>
        </p:nvSpPr>
        <p:spPr bwMode="auto">
          <a:xfrm>
            <a:off x="6372200" y="4218475"/>
            <a:ext cx="910828" cy="9997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17"/>
          <p:cNvSpPr>
            <a:spLocks noChangeShapeType="1"/>
          </p:cNvSpPr>
          <p:nvPr/>
        </p:nvSpPr>
        <p:spPr bwMode="auto">
          <a:xfrm flipH="1">
            <a:off x="5430416" y="4218475"/>
            <a:ext cx="758800" cy="9997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8"/>
          <p:cNvSpPr>
            <a:spLocks noChangeShapeType="1"/>
          </p:cNvSpPr>
          <p:nvPr/>
        </p:nvSpPr>
        <p:spPr bwMode="auto">
          <a:xfrm flipH="1">
            <a:off x="4301703" y="2997984"/>
            <a:ext cx="838200" cy="103822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3819475" y="5243868"/>
            <a:ext cx="1505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.place=rate</a:t>
            </a:r>
            <a:endParaRPr kumimoji="0" lang="en-US" altLang="zh-CN" sz="2000" b="1" dirty="0">
              <a:solidFill>
                <a:srgbClr val="FF0000"/>
              </a:solidFill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7435992" y="5218239"/>
            <a:ext cx="170208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.place=“60.0”</a:t>
            </a:r>
            <a:endParaRPr kumimoji="0" lang="en-US" altLang="zh-CN" sz="2000" b="1" dirty="0">
              <a:solidFill>
                <a:srgbClr val="FF0000"/>
              </a:solidFill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6372200" y="3636097"/>
            <a:ext cx="287235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.place=t0</a:t>
            </a:r>
            <a:endParaRPr kumimoji="0" lang="en-US" altLang="zh-CN" sz="2000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olidFill>
                  <a:srgbClr val="FF0000"/>
                </a:solidFill>
              </a:rPr>
              <a:t>.code=“t0=rate * 60.0;”</a:t>
            </a:r>
            <a:endParaRPr kumimoji="0" lang="en-US" altLang="zh-CN" sz="2000" b="1" dirty="0">
              <a:solidFill>
                <a:srgbClr val="FF0000"/>
              </a:solidFill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2333254" y="4021514"/>
            <a:ext cx="17156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.place= initial</a:t>
            </a:r>
            <a:endParaRPr kumimoji="0" lang="en-US" altLang="zh-CN" sz="2000" b="1" dirty="0">
              <a:solidFill>
                <a:srgbClr val="FF0000"/>
              </a:solidFill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5285307" y="2338966"/>
            <a:ext cx="287235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.place=t1</a:t>
            </a:r>
            <a:endParaRPr kumimoji="0" lang="en-US" altLang="zh-CN" sz="2000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olidFill>
                  <a:srgbClr val="FF0000"/>
                </a:solidFill>
              </a:rPr>
              <a:t>.code=“t0=rate * 60.0;</a:t>
            </a:r>
            <a:endParaRPr kumimoji="0" lang="en-US" altLang="zh-CN" sz="2000" b="1" dirty="0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olidFill>
                  <a:srgbClr val="FF0000"/>
                </a:solidFill>
              </a:rPr>
              <a:t>	t1=initial + t0;”</a:t>
            </a:r>
            <a:endParaRPr kumimoji="0" lang="en-US" altLang="zh-CN" sz="2000" b="1" dirty="0">
              <a:solidFill>
                <a:srgbClr val="FF0000"/>
              </a:solidFill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4151066" y="1251682"/>
            <a:ext cx="287235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olidFill>
                  <a:srgbClr val="FF0000"/>
                </a:solidFill>
              </a:rPr>
              <a:t>.code=“t0=rate * 60.0;</a:t>
            </a:r>
            <a:endParaRPr kumimoji="0" lang="en-US" altLang="zh-CN" sz="2000" b="1" dirty="0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olidFill>
                  <a:srgbClr val="FF0000"/>
                </a:solidFill>
              </a:rPr>
              <a:t>	t1=initial + t0;</a:t>
            </a:r>
            <a:endParaRPr kumimoji="0" lang="en-US" altLang="zh-CN" sz="2000" b="1" dirty="0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olidFill>
                  <a:srgbClr val="FF0000"/>
                </a:solidFill>
              </a:rPr>
              <a:t>	position=t1;”</a:t>
            </a:r>
            <a:endParaRPr kumimoji="0" lang="en-US" altLang="zh-CN" sz="2000" b="1" dirty="0">
              <a:solidFill>
                <a:srgbClr val="FF0000"/>
              </a:solidFill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868727" y="2683268"/>
            <a:ext cx="183275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.place=position</a:t>
            </a:r>
            <a:endParaRPr kumimoji="0" lang="en-US" altLang="zh-CN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1" grpId="0"/>
      <p:bldP spid="22" grpId="0"/>
      <p:bldP spid="23" grpId="0"/>
      <p:bldP spid="26" grpId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控制流语句的翻译</a:t>
            </a:r>
            <a:endParaRPr lang="zh-CN" alt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eaLnBrk="1" hangingPunct="1"/>
            <a:r>
              <a:rPr lang="en-US" altLang="zh-CN" sz="2800" dirty="0"/>
              <a:t>while</a:t>
            </a:r>
            <a:r>
              <a:rPr lang="zh-CN" altLang="en-US" sz="2800" dirty="0"/>
              <a:t>语句：</a:t>
            </a:r>
            <a:r>
              <a:rPr lang="en-US" altLang="zh-CN" sz="2800" b="1" dirty="0">
                <a:sym typeface="Symbol" panose="05050102010706020507" pitchFamily="18" charset="2"/>
              </a:rPr>
              <a:t>S  </a:t>
            </a:r>
            <a:r>
              <a:rPr lang="en-US" altLang="zh-CN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while </a:t>
            </a:r>
            <a:r>
              <a:rPr lang="en-US" altLang="zh-CN" sz="2800" b="1" dirty="0">
                <a:sym typeface="Symbol" panose="05050102010706020507" pitchFamily="18" charset="2"/>
              </a:rPr>
              <a:t>E </a:t>
            </a:r>
            <a:r>
              <a:rPr lang="en-US" altLang="zh-CN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do </a:t>
            </a:r>
            <a:r>
              <a:rPr lang="en-US" altLang="zh-CN" sz="2800" b="1" dirty="0">
                <a:sym typeface="Symbol" panose="05050102010706020507" pitchFamily="18" charset="2"/>
              </a:rPr>
              <a:t>S</a:t>
            </a:r>
            <a:r>
              <a:rPr lang="en-US" altLang="zh-CN" sz="2800" b="1" baseline="-25000" dirty="0">
                <a:sym typeface="Symbol" panose="05050102010706020507" pitchFamily="18" charset="2"/>
              </a:rPr>
              <a:t>1</a:t>
            </a:r>
            <a:endParaRPr lang="en-US" altLang="zh-CN" sz="2800" b="1" baseline="-25000" dirty="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 dirty="0">
                <a:sym typeface="Symbol" panose="05050102010706020507" pitchFamily="18" charset="2"/>
              </a:rPr>
              <a:t>翻译为	</a:t>
            </a:r>
            <a:r>
              <a:rPr lang="en-US" altLang="zh-CN" sz="2400" dirty="0" err="1">
                <a:sym typeface="Symbol" panose="05050102010706020507" pitchFamily="18" charset="2"/>
              </a:rPr>
              <a:t>S.begin</a:t>
            </a:r>
            <a:r>
              <a:rPr lang="en-US" altLang="zh-CN" sz="2400" dirty="0">
                <a:sym typeface="Symbol" panose="05050102010706020507" pitchFamily="18" charset="2"/>
              </a:rPr>
              <a:t>:	</a:t>
            </a:r>
            <a:r>
              <a:rPr lang="en-US" altLang="zh-CN" sz="2400" dirty="0" err="1">
                <a:sym typeface="Symbol" panose="05050102010706020507" pitchFamily="18" charset="2"/>
              </a:rPr>
              <a:t>E.code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					if </a:t>
            </a:r>
            <a:r>
              <a:rPr lang="en-US" altLang="zh-CN" sz="2400" dirty="0" err="1">
                <a:sym typeface="Symbol" panose="05050102010706020507" pitchFamily="18" charset="2"/>
              </a:rPr>
              <a:t>E.place</a:t>
            </a:r>
            <a:r>
              <a:rPr lang="en-US" altLang="zh-CN" sz="2400" dirty="0">
                <a:sym typeface="Symbol" panose="05050102010706020507" pitchFamily="18" charset="2"/>
              </a:rPr>
              <a:t> = 0 </a:t>
            </a:r>
            <a:r>
              <a:rPr lang="en-US" altLang="zh-CN" sz="2400" dirty="0" err="1">
                <a:sym typeface="Symbol" panose="05050102010706020507" pitchFamily="18" charset="2"/>
              </a:rPr>
              <a:t>goto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en-US" altLang="zh-CN" sz="2400" dirty="0" err="1">
                <a:sym typeface="Symbol" panose="05050102010706020507" pitchFamily="18" charset="2"/>
              </a:rPr>
              <a:t>S.after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					S</a:t>
            </a:r>
            <a:r>
              <a:rPr lang="en-US" altLang="zh-CN" sz="2400" baseline="-25000" dirty="0"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ym typeface="Symbol" panose="05050102010706020507" pitchFamily="18" charset="2"/>
              </a:rPr>
              <a:t>.code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					</a:t>
            </a:r>
            <a:r>
              <a:rPr lang="en-US" altLang="zh-CN" sz="2400" dirty="0" err="1">
                <a:sym typeface="Symbol" panose="05050102010706020507" pitchFamily="18" charset="2"/>
              </a:rPr>
              <a:t>goto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en-US" altLang="zh-CN" sz="2400" dirty="0" err="1">
                <a:sym typeface="Symbol" panose="05050102010706020507" pitchFamily="18" charset="2"/>
              </a:rPr>
              <a:t>S.begin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			</a:t>
            </a:r>
            <a:r>
              <a:rPr lang="en-US" altLang="zh-CN" sz="2400" dirty="0" err="1">
                <a:sym typeface="Symbol" panose="05050102010706020507" pitchFamily="18" charset="2"/>
              </a:rPr>
              <a:t>S.after</a:t>
            </a:r>
            <a:r>
              <a:rPr lang="en-US" altLang="zh-CN" sz="2400" dirty="0">
                <a:sym typeface="Symbol" panose="05050102010706020507" pitchFamily="18" charset="2"/>
              </a:rPr>
              <a:t>: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</a:pPr>
            <a:r>
              <a:rPr lang="zh-CN" altLang="en-US" sz="2800" dirty="0">
                <a:sym typeface="Symbol" panose="05050102010706020507" pitchFamily="18" charset="2"/>
              </a:rPr>
              <a:t>语法制导定义：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err="1"/>
              <a:t>S.</a:t>
            </a:r>
            <a:r>
              <a:rPr lang="en-US" altLang="zh-CN" sz="2000" i="1" dirty="0" err="1"/>
              <a:t>begin</a:t>
            </a:r>
            <a:r>
              <a:rPr lang="en-US" altLang="zh-CN" sz="2000" dirty="0"/>
              <a:t> = </a:t>
            </a:r>
            <a:r>
              <a:rPr lang="en-US" altLang="zh-CN" sz="2000" i="1" dirty="0" err="1"/>
              <a:t>newlabel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err="1"/>
              <a:t>S.</a:t>
            </a:r>
            <a:r>
              <a:rPr lang="en-US" altLang="zh-CN" sz="2000" i="1" dirty="0" err="1"/>
              <a:t>after</a:t>
            </a:r>
            <a:r>
              <a:rPr lang="en-US" altLang="zh-CN" sz="2000" i="1" dirty="0"/>
              <a:t> = </a:t>
            </a:r>
            <a:r>
              <a:rPr lang="en-US" altLang="zh-CN" sz="2000" i="1" dirty="0" err="1"/>
              <a:t>newlabel</a:t>
            </a:r>
            <a:r>
              <a:rPr lang="en-US" altLang="zh-CN" sz="2000" i="1" dirty="0"/>
              <a:t> 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err="1"/>
              <a:t>S.</a:t>
            </a:r>
            <a:r>
              <a:rPr lang="en-US" altLang="zh-CN" sz="2000" i="1" dirty="0" err="1"/>
              <a:t>code</a:t>
            </a:r>
            <a:r>
              <a:rPr lang="en-US" altLang="zh-CN" sz="2000" dirty="0"/>
              <a:t> = </a:t>
            </a:r>
            <a:r>
              <a:rPr lang="en-US" altLang="zh-CN" sz="2000" i="1" dirty="0"/>
              <a:t>gen</a:t>
            </a:r>
            <a:r>
              <a:rPr lang="en-US" altLang="zh-CN" sz="2000" dirty="0"/>
              <a:t>(</a:t>
            </a:r>
            <a:r>
              <a:rPr lang="en-US" altLang="zh-CN" sz="2000" dirty="0" err="1"/>
              <a:t>S.</a:t>
            </a:r>
            <a:r>
              <a:rPr lang="en-US" altLang="zh-CN" sz="2000" i="1" dirty="0" err="1"/>
              <a:t>begin</a:t>
            </a:r>
            <a:r>
              <a:rPr lang="en-US" altLang="zh-CN" sz="2000" i="1" dirty="0"/>
              <a:t> </a:t>
            </a:r>
            <a:r>
              <a:rPr lang="en-US" altLang="zh-CN" sz="2000" dirty="0"/>
              <a:t>‘:’) || </a:t>
            </a:r>
            <a:r>
              <a:rPr lang="en-US" altLang="zh-CN" sz="2000" dirty="0" err="1"/>
              <a:t>E.</a:t>
            </a:r>
            <a:r>
              <a:rPr lang="en-US" altLang="zh-CN" sz="2000" i="1" dirty="0" err="1"/>
              <a:t>code</a:t>
            </a:r>
            <a:r>
              <a:rPr lang="en-US" altLang="zh-CN" sz="2000" i="1" dirty="0"/>
              <a:t> </a:t>
            </a:r>
            <a:r>
              <a:rPr lang="en-US" altLang="zh-CN" sz="2000" dirty="0"/>
              <a:t>|| </a:t>
            </a:r>
            <a:r>
              <a:rPr lang="en-US" altLang="zh-CN" sz="2000" i="1" dirty="0"/>
              <a:t>gen</a:t>
            </a:r>
            <a:r>
              <a:rPr lang="en-US" altLang="zh-CN" sz="2000" dirty="0"/>
              <a:t>(‘if’ </a:t>
            </a:r>
            <a:r>
              <a:rPr lang="en-US" altLang="zh-CN" sz="2000" i="1" dirty="0" err="1"/>
              <a:t>E.</a:t>
            </a:r>
            <a:r>
              <a:rPr lang="en-US" altLang="zh-CN" sz="2000" dirty="0" err="1"/>
              <a:t>place</a:t>
            </a:r>
            <a:r>
              <a:rPr lang="en-US" altLang="zh-CN" sz="2000" dirty="0"/>
              <a:t> ‘=’ ‘0’ ‘</a:t>
            </a:r>
            <a:r>
              <a:rPr lang="en-US" altLang="zh-CN" sz="2000" dirty="0" err="1"/>
              <a:t>goto</a:t>
            </a:r>
            <a:r>
              <a:rPr lang="en-US" altLang="zh-CN" sz="2000" dirty="0"/>
              <a:t>’ 	</a:t>
            </a:r>
            <a:r>
              <a:rPr lang="en-US" altLang="zh-CN" sz="2000" dirty="0" err="1"/>
              <a:t>S.</a:t>
            </a:r>
            <a:r>
              <a:rPr lang="en-US" altLang="zh-CN" sz="2000" i="1" dirty="0" err="1"/>
              <a:t>after</a:t>
            </a:r>
            <a:r>
              <a:rPr lang="en-US" altLang="zh-CN" sz="2000" dirty="0"/>
              <a:t>) || S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</a:t>
            </a:r>
            <a:r>
              <a:rPr lang="en-US" altLang="zh-CN" sz="2000" i="1" dirty="0"/>
              <a:t>code </a:t>
            </a:r>
            <a:r>
              <a:rPr lang="en-US" altLang="zh-CN" sz="2000" dirty="0"/>
              <a:t>|| gen(‘</a:t>
            </a:r>
            <a:r>
              <a:rPr lang="en-US" altLang="zh-CN" sz="2000" dirty="0" err="1"/>
              <a:t>goto</a:t>
            </a:r>
            <a:r>
              <a:rPr lang="en-US" altLang="zh-CN" sz="2000" dirty="0"/>
              <a:t>’ </a:t>
            </a:r>
            <a:r>
              <a:rPr lang="en-US" altLang="zh-CN" sz="2000" dirty="0" err="1"/>
              <a:t>S.</a:t>
            </a:r>
            <a:r>
              <a:rPr lang="en-US" altLang="zh-CN" sz="2000" i="1" dirty="0" err="1"/>
              <a:t>begin</a:t>
            </a:r>
            <a:r>
              <a:rPr lang="en-US" altLang="zh-CN" sz="2000" dirty="0"/>
              <a:t>) || gen(</a:t>
            </a:r>
            <a:r>
              <a:rPr lang="en-US" altLang="zh-CN" sz="2000" dirty="0" err="1"/>
              <a:t>S.</a:t>
            </a:r>
            <a:r>
              <a:rPr lang="en-US" altLang="zh-CN" sz="2000" i="1" dirty="0" err="1"/>
              <a:t>after</a:t>
            </a:r>
            <a:r>
              <a:rPr lang="en-US" altLang="zh-CN" sz="2000" dirty="0"/>
              <a:t> ‘:’)</a:t>
            </a:r>
            <a:endParaRPr lang="en-US" altLang="zh-CN" sz="2000" dirty="0"/>
          </a:p>
        </p:txBody>
      </p:sp>
      <p:sp>
        <p:nvSpPr>
          <p:cNvPr id="4" name="Text Box 11"/>
          <p:cNvSpPr txBox="1">
            <a:spLocks noChangeArrowheads="1"/>
          </p:cNvSpPr>
          <p:nvPr/>
        </p:nvSpPr>
        <p:spPr bwMode="auto">
          <a:xfrm>
            <a:off x="4355976" y="3647016"/>
            <a:ext cx="33123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创建一个标号（跳转地址）</a:t>
            </a:r>
            <a:endParaRPr kumimoji="0" lang="en-US" altLang="zh-CN" sz="2000" b="1" dirty="0">
              <a:solidFill>
                <a:srgbClr val="FF0000"/>
              </a:solidFill>
            </a:endParaRPr>
          </a:p>
        </p:txBody>
      </p:sp>
      <p:cxnSp>
        <p:nvCxnSpPr>
          <p:cNvPr id="5" name="直接箭头连接符 4"/>
          <p:cNvCxnSpPr>
            <a:stCxn id="4" idx="1"/>
          </p:cNvCxnSpPr>
          <p:nvPr/>
        </p:nvCxnSpPr>
        <p:spPr bwMode="auto">
          <a:xfrm flipH="1">
            <a:off x="3059832" y="3847071"/>
            <a:ext cx="1296144" cy="304245"/>
          </a:xfrm>
          <a:prstGeom prst="straightConnector1">
            <a:avLst/>
          </a:prstGeom>
          <a:solidFill>
            <a:srgbClr val="FFCF0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8.1.5  </a:t>
            </a:r>
            <a:r>
              <a:rPr lang="zh-CN" altLang="en-US"/>
              <a:t>三地址码的实现</a:t>
            </a:r>
            <a:endParaRPr lang="zh-CN" alt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四元组，三元组</a:t>
            </a:r>
            <a:endParaRPr lang="zh-CN" altLang="en-US"/>
          </a:p>
        </p:txBody>
      </p:sp>
      <p:pic>
        <p:nvPicPr>
          <p:cNvPr id="15364" name="Picture 4" descr="3add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133600"/>
            <a:ext cx="8712200" cy="314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三元运算的实现</a:t>
            </a:r>
            <a:r>
              <a:rPr lang="en-US" altLang="zh-CN"/>
              <a:t>——</a:t>
            </a:r>
            <a:r>
              <a:rPr lang="zh-CN" altLang="en-US"/>
              <a:t>拆分</a:t>
            </a:r>
            <a:endParaRPr lang="zh-CN" alt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x[i] := y</a:t>
            </a:r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r>
              <a:rPr lang="en-US" altLang="zh-CN"/>
              <a:t>x := y[i]</a:t>
            </a:r>
            <a:endParaRPr lang="en-US" altLang="zh-CN"/>
          </a:p>
        </p:txBody>
      </p:sp>
      <p:pic>
        <p:nvPicPr>
          <p:cNvPr id="16388" name="Picture 4" descr="tenary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524000"/>
            <a:ext cx="3144838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5" descr="tenary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505200"/>
            <a:ext cx="3144838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间接三元组实现方式</a:t>
            </a:r>
            <a:endParaRPr lang="zh-CN" altLang="en-US"/>
          </a:p>
        </p:txBody>
      </p:sp>
      <p:pic>
        <p:nvPicPr>
          <p:cNvPr id="17411" name="Picture 4" descr="indirec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24000"/>
            <a:ext cx="5953125" cy="337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8.2  </a:t>
            </a:r>
            <a:r>
              <a:rPr lang="zh-CN" altLang="en-US"/>
              <a:t>声明语句的翻译</a:t>
            </a:r>
            <a:endParaRPr lang="zh-CN" alt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10150"/>
          </a:xfrm>
        </p:spPr>
        <p:txBody>
          <a:bodyPr/>
          <a:lstStyle/>
          <a:p>
            <a:pPr eaLnBrk="1" hangingPunct="1"/>
            <a:r>
              <a:rPr lang="en-US" altLang="zh-CN" sz="2800" dirty="0"/>
              <a:t>8.2.1  </a:t>
            </a:r>
            <a:r>
              <a:rPr lang="zh-CN" altLang="en-US" sz="2800" dirty="0"/>
              <a:t>过程内部的声明</a:t>
            </a:r>
            <a:endParaRPr lang="zh-CN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u="sng" dirty="0"/>
              <a:t>PRODUCTION	Semantic Rule</a:t>
            </a:r>
            <a:endParaRPr lang="en-US" altLang="zh-CN" sz="2000" u="sng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P </a:t>
            </a:r>
            <a:r>
              <a:rPr lang="en-US" altLang="zh-CN" sz="2000" dirty="0">
                <a:sym typeface="Symbol" panose="05050102010706020507" pitchFamily="18" charset="2"/>
              </a:rPr>
              <a:t> M D 		{ }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M  			{</a:t>
            </a:r>
            <a:r>
              <a:rPr lang="en-US" altLang="zh-CN" sz="2000" i="1" dirty="0">
                <a:sym typeface="Symbol" panose="05050102010706020507" pitchFamily="18" charset="2"/>
              </a:rPr>
              <a:t>offset</a:t>
            </a:r>
            <a:r>
              <a:rPr lang="en-US" altLang="zh-CN" sz="2000" dirty="0">
                <a:sym typeface="Symbol" panose="05050102010706020507" pitchFamily="18" charset="2"/>
              </a:rPr>
              <a:t>:=0; }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D 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id : </a:t>
            </a:r>
            <a:r>
              <a:rPr lang="en-US" altLang="zh-CN" sz="2000" dirty="0">
                <a:sym typeface="Symbol" panose="05050102010706020507" pitchFamily="18" charset="2"/>
              </a:rPr>
              <a:t>T		{ </a:t>
            </a:r>
            <a:r>
              <a:rPr lang="en-US" altLang="zh-CN" sz="2000" i="1" dirty="0" err="1">
                <a:sym typeface="Symbol" panose="05050102010706020507" pitchFamily="18" charset="2"/>
              </a:rPr>
              <a:t>addtype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dirty="0" err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lang="en-US" altLang="zh-CN" sz="2000" i="1" dirty="0" err="1">
                <a:sym typeface="Symbol" panose="05050102010706020507" pitchFamily="18" charset="2"/>
              </a:rPr>
              <a:t>.entry</a:t>
            </a:r>
            <a:r>
              <a:rPr lang="en-US" altLang="zh-CN" sz="2000" i="1" dirty="0">
                <a:sym typeface="Symbol" panose="05050102010706020507" pitchFamily="18" charset="2"/>
              </a:rPr>
              <a:t>, 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type</a:t>
            </a:r>
            <a:r>
              <a:rPr lang="en-US" altLang="zh-CN" sz="2000" dirty="0">
                <a:sym typeface="Symbol" panose="05050102010706020507" pitchFamily="18" charset="2"/>
              </a:rPr>
              <a:t>, </a:t>
            </a:r>
            <a:r>
              <a:rPr lang="en-US" altLang="zh-CN" sz="2000" i="1" dirty="0">
                <a:sym typeface="Symbol" panose="05050102010706020507" pitchFamily="18" charset="2"/>
              </a:rPr>
              <a:t>offset</a:t>
            </a:r>
            <a:r>
              <a:rPr lang="en-US" altLang="zh-CN" sz="2000" dirty="0">
                <a:sym typeface="Symbol" panose="05050102010706020507" pitchFamily="18" charset="2"/>
              </a:rPr>
              <a:t>);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			  </a:t>
            </a:r>
            <a:r>
              <a:rPr lang="en-US" altLang="zh-CN" sz="2000" i="1" dirty="0">
                <a:sym typeface="Symbol" panose="05050102010706020507" pitchFamily="18" charset="2"/>
              </a:rPr>
              <a:t>offset</a:t>
            </a:r>
            <a:r>
              <a:rPr lang="en-US" altLang="zh-CN" sz="2000" dirty="0">
                <a:sym typeface="Symbol" panose="05050102010706020507" pitchFamily="18" charset="2"/>
              </a:rPr>
              <a:t>:=</a:t>
            </a:r>
            <a:r>
              <a:rPr lang="en-US" altLang="zh-CN" sz="2000" i="1" dirty="0">
                <a:sym typeface="Symbol" panose="05050102010706020507" pitchFamily="18" charset="2"/>
              </a:rPr>
              <a:t>offset + </a:t>
            </a:r>
            <a:r>
              <a:rPr lang="en-US" altLang="zh-CN" sz="2000" dirty="0" err="1">
                <a:sym typeface="Symbol" panose="05050102010706020507" pitchFamily="18" charset="2"/>
              </a:rPr>
              <a:t>T</a:t>
            </a:r>
            <a:r>
              <a:rPr lang="en-US" altLang="zh-CN" sz="2000" i="1" dirty="0" err="1">
                <a:sym typeface="Symbol" panose="05050102010706020507" pitchFamily="18" charset="2"/>
              </a:rPr>
              <a:t>.width</a:t>
            </a:r>
            <a:r>
              <a:rPr lang="en-US" altLang="zh-CN" sz="2000" dirty="0">
                <a:sym typeface="Symbol" panose="05050102010706020507" pitchFamily="18" charset="2"/>
              </a:rPr>
              <a:t>; }</a:t>
            </a:r>
            <a:endParaRPr lang="en-US" altLang="zh-CN" sz="2000" i="1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T 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char		</a:t>
            </a:r>
            <a:r>
              <a:rPr lang="en-US" altLang="zh-CN" sz="2000" dirty="0">
                <a:sym typeface="Symbol" panose="05050102010706020507" pitchFamily="18" charset="2"/>
              </a:rPr>
              <a:t>{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type</a:t>
            </a:r>
            <a:r>
              <a:rPr lang="en-US" altLang="zh-CN" sz="2000" dirty="0">
                <a:sym typeface="Symbol" panose="05050102010706020507" pitchFamily="18" charset="2"/>
              </a:rPr>
              <a:t> = </a:t>
            </a:r>
            <a:r>
              <a:rPr lang="en-US" altLang="zh-CN" sz="2000" i="1" dirty="0">
                <a:sym typeface="Symbol" panose="05050102010706020507" pitchFamily="18" charset="2"/>
              </a:rPr>
              <a:t>char</a:t>
            </a:r>
            <a:r>
              <a:rPr lang="en-US" altLang="zh-CN" sz="2000" dirty="0">
                <a:sym typeface="Symbol" panose="05050102010706020507" pitchFamily="18" charset="2"/>
              </a:rPr>
              <a:t>; 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width</a:t>
            </a:r>
            <a:r>
              <a:rPr lang="en-US" altLang="zh-CN" sz="2000" i="1" dirty="0">
                <a:sym typeface="Symbol" panose="05050102010706020507" pitchFamily="18" charset="2"/>
              </a:rPr>
              <a:t> = </a:t>
            </a:r>
            <a:r>
              <a:rPr lang="en-US" altLang="zh-CN" sz="2000" dirty="0">
                <a:sym typeface="Symbol" panose="05050102010706020507" pitchFamily="18" charset="2"/>
              </a:rPr>
              <a:t>1; }</a:t>
            </a:r>
            <a:endParaRPr lang="en-US" altLang="zh-CN" sz="2000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T 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integer 		</a:t>
            </a:r>
            <a:r>
              <a:rPr lang="en-US" altLang="zh-CN" sz="2000" dirty="0">
                <a:sym typeface="Symbol" panose="05050102010706020507" pitchFamily="18" charset="2"/>
              </a:rPr>
              <a:t>{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type</a:t>
            </a:r>
            <a:r>
              <a:rPr lang="en-US" altLang="zh-CN" sz="2000" dirty="0">
                <a:sym typeface="Symbol" panose="05050102010706020507" pitchFamily="18" charset="2"/>
              </a:rPr>
              <a:t> = </a:t>
            </a:r>
            <a:r>
              <a:rPr lang="en-US" altLang="zh-CN" sz="2000" i="1" dirty="0">
                <a:sym typeface="Symbol" panose="05050102010706020507" pitchFamily="18" charset="2"/>
              </a:rPr>
              <a:t>integer</a:t>
            </a:r>
            <a:r>
              <a:rPr lang="en-US" altLang="zh-CN" sz="2000" dirty="0">
                <a:sym typeface="Symbol" panose="05050102010706020507" pitchFamily="18" charset="2"/>
              </a:rPr>
              <a:t>;  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width</a:t>
            </a:r>
            <a:r>
              <a:rPr lang="en-US" altLang="zh-CN" sz="2000" i="1" dirty="0">
                <a:sym typeface="Symbol" panose="05050102010706020507" pitchFamily="18" charset="2"/>
              </a:rPr>
              <a:t> = </a:t>
            </a:r>
            <a:r>
              <a:rPr lang="en-US" altLang="zh-CN" sz="2000" dirty="0">
                <a:sym typeface="Symbol" panose="05050102010706020507" pitchFamily="18" charset="2"/>
              </a:rPr>
              <a:t>4; }</a:t>
            </a:r>
            <a:endParaRPr lang="en-US" altLang="zh-CN" sz="2000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T 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array [ num ] of </a:t>
            </a:r>
            <a:r>
              <a:rPr lang="en-US" altLang="zh-CN" sz="2000" dirty="0">
                <a:sym typeface="Symbol" panose="05050102010706020507" pitchFamily="18" charset="2"/>
              </a:rPr>
              <a:t>T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			{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type</a:t>
            </a:r>
            <a:r>
              <a:rPr lang="en-US" altLang="zh-CN" sz="2000" dirty="0">
                <a:sym typeface="Symbol" panose="05050102010706020507" pitchFamily="18" charset="2"/>
              </a:rPr>
              <a:t>=</a:t>
            </a:r>
            <a:r>
              <a:rPr lang="en-US" altLang="zh-CN" sz="2000" i="1" dirty="0">
                <a:sym typeface="Symbol" panose="05050102010706020507" pitchFamily="18" charset="2"/>
              </a:rPr>
              <a:t>array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sym typeface="Symbol" panose="05050102010706020507" pitchFamily="18" charset="2"/>
              </a:rPr>
              <a:t>,T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type</a:t>
            </a:r>
            <a:r>
              <a:rPr lang="en-US" altLang="zh-CN" sz="2000" dirty="0">
                <a:sym typeface="Symbol" panose="05050102010706020507" pitchFamily="18" charset="2"/>
              </a:rPr>
              <a:t>);</a:t>
            </a:r>
            <a:br>
              <a:rPr lang="en-US" altLang="zh-CN" sz="2000" dirty="0">
                <a:sym typeface="Symbol" panose="05050102010706020507" pitchFamily="18" charset="2"/>
              </a:rPr>
            </a:br>
            <a:r>
              <a:rPr lang="en-US" altLang="zh-CN" sz="2000" dirty="0">
                <a:sym typeface="Symbol" panose="05050102010706020507" pitchFamily="18" charset="2"/>
              </a:rPr>
              <a:t>			  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width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= </a:t>
            </a:r>
            <a:r>
              <a:rPr lang="en-US" altLang="zh-CN" sz="2000" dirty="0" err="1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lang="en-US" altLang="zh-CN" sz="2000" dirty="0" err="1">
                <a:sym typeface="Symbol" panose="05050102010706020507" pitchFamily="18" charset="2"/>
              </a:rPr>
              <a:t>.val</a:t>
            </a:r>
            <a:r>
              <a:rPr lang="en-US" altLang="zh-CN" sz="2000" dirty="0">
                <a:sym typeface="Symbol" panose="05050102010706020507" pitchFamily="18" charset="2"/>
              </a:rPr>
              <a:t> * T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width</a:t>
            </a:r>
            <a:r>
              <a:rPr lang="en-US" altLang="zh-CN" sz="2000" dirty="0">
                <a:sym typeface="Symbol" panose="05050102010706020507" pitchFamily="18" charset="2"/>
              </a:rPr>
              <a:t>;}</a:t>
            </a:r>
            <a:endParaRPr lang="en-US" altLang="zh-CN" sz="2000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T 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^</a:t>
            </a:r>
            <a:r>
              <a:rPr lang="en-US" altLang="zh-CN" sz="2000" dirty="0">
                <a:sym typeface="Symbol" panose="05050102010706020507" pitchFamily="18" charset="2"/>
              </a:rPr>
              <a:t>T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		{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type</a:t>
            </a:r>
            <a:r>
              <a:rPr lang="en-US" altLang="zh-CN" sz="2000" dirty="0">
                <a:sym typeface="Symbol" panose="05050102010706020507" pitchFamily="18" charset="2"/>
              </a:rPr>
              <a:t> = </a:t>
            </a:r>
            <a:r>
              <a:rPr lang="en-US" altLang="zh-CN" sz="2000" i="1" dirty="0">
                <a:sym typeface="Symbol" panose="05050102010706020507" pitchFamily="18" charset="2"/>
              </a:rPr>
              <a:t>pointer</a:t>
            </a:r>
            <a:r>
              <a:rPr lang="en-US" altLang="zh-CN" sz="2000" dirty="0">
                <a:sym typeface="Symbol" panose="05050102010706020507" pitchFamily="18" charset="2"/>
              </a:rPr>
              <a:t>(T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type</a:t>
            </a:r>
            <a:r>
              <a:rPr lang="en-US" altLang="zh-CN" sz="2000" dirty="0">
                <a:sym typeface="Symbol" panose="05050102010706020507" pitchFamily="18" charset="2"/>
              </a:rPr>
              <a:t>);				  	  	T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width</a:t>
            </a:r>
            <a:r>
              <a:rPr lang="en-US" altLang="zh-CN" sz="2000" dirty="0">
                <a:sym typeface="Symbol" panose="05050102010706020507" pitchFamily="18" charset="2"/>
              </a:rPr>
              <a:t> = 4;}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8.2.2  </a:t>
            </a:r>
            <a:r>
              <a:rPr lang="zh-CN" altLang="en-US"/>
              <a:t>作用域的处理</a:t>
            </a:r>
            <a:endParaRPr lang="zh-CN" altLang="en-US"/>
          </a:p>
        </p:txBody>
      </p:sp>
      <p:grpSp>
        <p:nvGrpSpPr>
          <p:cNvPr id="19459" name="Group 14"/>
          <p:cNvGrpSpPr/>
          <p:nvPr/>
        </p:nvGrpSpPr>
        <p:grpSpPr bwMode="auto">
          <a:xfrm>
            <a:off x="1905000" y="1143000"/>
            <a:ext cx="5486400" cy="4641850"/>
            <a:chOff x="1344" y="664"/>
            <a:chExt cx="3456" cy="3656"/>
          </a:xfrm>
        </p:grpSpPr>
        <p:pic>
          <p:nvPicPr>
            <p:cNvPr id="19460" name="Picture 4" descr="scope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4" y="816"/>
              <a:ext cx="3456" cy="35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61" name="Freeform 6"/>
            <p:cNvSpPr/>
            <p:nvPr/>
          </p:nvSpPr>
          <p:spPr bwMode="ltGray">
            <a:xfrm>
              <a:off x="1440" y="2088"/>
              <a:ext cx="1152" cy="456"/>
            </a:xfrm>
            <a:custGeom>
              <a:avLst/>
              <a:gdLst>
                <a:gd name="T0" fmla="*/ 0 w 1152"/>
                <a:gd name="T1" fmla="*/ 456 h 456"/>
                <a:gd name="T2" fmla="*/ 192 w 1152"/>
                <a:gd name="T3" fmla="*/ 72 h 456"/>
                <a:gd name="T4" fmla="*/ 1152 w 1152"/>
                <a:gd name="T5" fmla="*/ 24 h 456"/>
                <a:gd name="T6" fmla="*/ 0 60000 65536"/>
                <a:gd name="T7" fmla="*/ 0 60000 65536"/>
                <a:gd name="T8" fmla="*/ 0 60000 65536"/>
                <a:gd name="T9" fmla="*/ 0 w 1152"/>
                <a:gd name="T10" fmla="*/ 0 h 456"/>
                <a:gd name="T11" fmla="*/ 1152 w 1152"/>
                <a:gd name="T12" fmla="*/ 456 h 4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52" h="456">
                  <a:moveTo>
                    <a:pt x="0" y="456"/>
                  </a:moveTo>
                  <a:cubicBezTo>
                    <a:pt x="0" y="300"/>
                    <a:pt x="0" y="144"/>
                    <a:pt x="192" y="72"/>
                  </a:cubicBezTo>
                  <a:cubicBezTo>
                    <a:pt x="384" y="0"/>
                    <a:pt x="768" y="12"/>
                    <a:pt x="1152" y="24"/>
                  </a:cubicBezTo>
                </a:path>
              </a:pathLst>
            </a:custGeom>
            <a:noFill/>
            <a:ln w="25400" cap="flat" cmpd="sng">
              <a:solidFill>
                <a:srgbClr val="FF3300"/>
              </a:solidFill>
              <a:prstDash val="solid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2" name="Line 7"/>
            <p:cNvSpPr>
              <a:spLocks noChangeShapeType="1"/>
            </p:cNvSpPr>
            <p:nvPr/>
          </p:nvSpPr>
          <p:spPr bwMode="ltGray">
            <a:xfrm flipV="1">
              <a:off x="2688" y="2112"/>
              <a:ext cx="0" cy="384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3" name="Freeform 8"/>
            <p:cNvSpPr/>
            <p:nvPr/>
          </p:nvSpPr>
          <p:spPr bwMode="ltGray">
            <a:xfrm>
              <a:off x="3518" y="2084"/>
              <a:ext cx="483" cy="477"/>
            </a:xfrm>
            <a:custGeom>
              <a:avLst/>
              <a:gdLst>
                <a:gd name="T0" fmla="*/ 452 w 483"/>
                <a:gd name="T1" fmla="*/ 477 h 477"/>
                <a:gd name="T2" fmla="*/ 408 w 483"/>
                <a:gd name="T3" fmla="*/ 69 h 477"/>
                <a:gd name="T4" fmla="*/ 0 w 483"/>
                <a:gd name="T5" fmla="*/ 60 h 477"/>
                <a:gd name="T6" fmla="*/ 0 60000 65536"/>
                <a:gd name="T7" fmla="*/ 0 60000 65536"/>
                <a:gd name="T8" fmla="*/ 0 60000 65536"/>
                <a:gd name="T9" fmla="*/ 0 w 483"/>
                <a:gd name="T10" fmla="*/ 0 h 477"/>
                <a:gd name="T11" fmla="*/ 483 w 483"/>
                <a:gd name="T12" fmla="*/ 477 h 4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3" h="477">
                  <a:moveTo>
                    <a:pt x="452" y="477"/>
                  </a:moveTo>
                  <a:cubicBezTo>
                    <a:pt x="445" y="409"/>
                    <a:pt x="483" y="138"/>
                    <a:pt x="408" y="69"/>
                  </a:cubicBezTo>
                  <a:cubicBezTo>
                    <a:pt x="333" y="0"/>
                    <a:pt x="85" y="62"/>
                    <a:pt x="0" y="60"/>
                  </a:cubicBezTo>
                </a:path>
              </a:pathLst>
            </a:custGeom>
            <a:noFill/>
            <a:ln w="25400" cap="flat" cmpd="sng">
              <a:solidFill>
                <a:srgbClr val="FF3300"/>
              </a:solidFill>
              <a:prstDash val="solid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4" name="Freeform 9"/>
            <p:cNvSpPr/>
            <p:nvPr/>
          </p:nvSpPr>
          <p:spPr bwMode="ltGray">
            <a:xfrm>
              <a:off x="3456" y="1997"/>
              <a:ext cx="1262" cy="280"/>
            </a:xfrm>
            <a:custGeom>
              <a:avLst/>
              <a:gdLst>
                <a:gd name="T0" fmla="*/ 0 w 1262"/>
                <a:gd name="T1" fmla="*/ 32 h 280"/>
                <a:gd name="T2" fmla="*/ 1063 w 1262"/>
                <a:gd name="T3" fmla="*/ 41 h 280"/>
                <a:gd name="T4" fmla="*/ 1196 w 1262"/>
                <a:gd name="T5" fmla="*/ 280 h 280"/>
                <a:gd name="T6" fmla="*/ 0 60000 65536"/>
                <a:gd name="T7" fmla="*/ 0 60000 65536"/>
                <a:gd name="T8" fmla="*/ 0 60000 65536"/>
                <a:gd name="T9" fmla="*/ 0 w 1262"/>
                <a:gd name="T10" fmla="*/ 0 h 280"/>
                <a:gd name="T11" fmla="*/ 1262 w 1262"/>
                <a:gd name="T12" fmla="*/ 280 h 2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62" h="280">
                  <a:moveTo>
                    <a:pt x="0" y="32"/>
                  </a:moveTo>
                  <a:cubicBezTo>
                    <a:pt x="177" y="33"/>
                    <a:pt x="864" y="0"/>
                    <a:pt x="1063" y="41"/>
                  </a:cubicBezTo>
                  <a:cubicBezTo>
                    <a:pt x="1262" y="82"/>
                    <a:pt x="1168" y="230"/>
                    <a:pt x="1196" y="280"/>
                  </a:cubicBezTo>
                </a:path>
              </a:pathLst>
            </a:custGeom>
            <a:noFill/>
            <a:ln w="25400" cap="flat" cmpd="sng">
              <a:solidFill>
                <a:srgbClr val="FF3300"/>
              </a:solidFill>
              <a:prstDash val="solid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5" name="Freeform 10"/>
            <p:cNvSpPr/>
            <p:nvPr/>
          </p:nvSpPr>
          <p:spPr bwMode="ltGray">
            <a:xfrm>
              <a:off x="3408" y="1781"/>
              <a:ext cx="405" cy="605"/>
            </a:xfrm>
            <a:custGeom>
              <a:avLst/>
              <a:gdLst>
                <a:gd name="T0" fmla="*/ 0 w 405"/>
                <a:gd name="T1" fmla="*/ 43 h 605"/>
                <a:gd name="T2" fmla="*/ 349 w 405"/>
                <a:gd name="T3" fmla="*/ 80 h 605"/>
                <a:gd name="T4" fmla="*/ 336 w 405"/>
                <a:gd name="T5" fmla="*/ 523 h 605"/>
                <a:gd name="T6" fmla="*/ 48 w 405"/>
                <a:gd name="T7" fmla="*/ 571 h 6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5"/>
                <a:gd name="T13" fmla="*/ 0 h 605"/>
                <a:gd name="T14" fmla="*/ 405 w 405"/>
                <a:gd name="T15" fmla="*/ 605 h 6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5" h="605">
                  <a:moveTo>
                    <a:pt x="0" y="43"/>
                  </a:moveTo>
                  <a:cubicBezTo>
                    <a:pt x="58" y="49"/>
                    <a:pt x="293" y="0"/>
                    <a:pt x="349" y="80"/>
                  </a:cubicBezTo>
                  <a:cubicBezTo>
                    <a:pt x="405" y="160"/>
                    <a:pt x="386" y="441"/>
                    <a:pt x="336" y="523"/>
                  </a:cubicBezTo>
                  <a:cubicBezTo>
                    <a:pt x="286" y="605"/>
                    <a:pt x="168" y="591"/>
                    <a:pt x="48" y="571"/>
                  </a:cubicBezTo>
                </a:path>
              </a:pathLst>
            </a:custGeom>
            <a:noFill/>
            <a:ln w="25400" cap="flat" cmpd="sng">
              <a:solidFill>
                <a:srgbClr val="FF3300"/>
              </a:solidFill>
              <a:prstDash val="solid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6" name="Freeform 11"/>
            <p:cNvSpPr/>
            <p:nvPr/>
          </p:nvSpPr>
          <p:spPr bwMode="ltGray">
            <a:xfrm>
              <a:off x="1829" y="664"/>
              <a:ext cx="2211" cy="1592"/>
            </a:xfrm>
            <a:custGeom>
              <a:avLst/>
              <a:gdLst>
                <a:gd name="T0" fmla="*/ 1579 w 2211"/>
                <a:gd name="T1" fmla="*/ 920 h 1592"/>
                <a:gd name="T2" fmla="*/ 2043 w 2211"/>
                <a:gd name="T3" fmla="*/ 807 h 1592"/>
                <a:gd name="T4" fmla="*/ 1919 w 2211"/>
                <a:gd name="T5" fmla="*/ 151 h 1592"/>
                <a:gd name="T6" fmla="*/ 289 w 2211"/>
                <a:gd name="T7" fmla="*/ 240 h 1592"/>
                <a:gd name="T8" fmla="*/ 187 w 2211"/>
                <a:gd name="T9" fmla="*/ 1592 h 15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1"/>
                <a:gd name="T16" fmla="*/ 0 h 1592"/>
                <a:gd name="T17" fmla="*/ 2211 w 2211"/>
                <a:gd name="T18" fmla="*/ 1592 h 15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1" h="1592">
                  <a:moveTo>
                    <a:pt x="1579" y="920"/>
                  </a:moveTo>
                  <a:cubicBezTo>
                    <a:pt x="1656" y="901"/>
                    <a:pt x="1986" y="935"/>
                    <a:pt x="2043" y="807"/>
                  </a:cubicBezTo>
                  <a:cubicBezTo>
                    <a:pt x="2100" y="679"/>
                    <a:pt x="2211" y="245"/>
                    <a:pt x="1919" y="151"/>
                  </a:cubicBezTo>
                  <a:cubicBezTo>
                    <a:pt x="1627" y="57"/>
                    <a:pt x="578" y="0"/>
                    <a:pt x="289" y="240"/>
                  </a:cubicBezTo>
                  <a:cubicBezTo>
                    <a:pt x="0" y="480"/>
                    <a:pt x="208" y="1310"/>
                    <a:pt x="187" y="1592"/>
                  </a:cubicBezTo>
                </a:path>
              </a:pathLst>
            </a:custGeom>
            <a:noFill/>
            <a:ln w="25400" cap="flat" cmpd="sng">
              <a:solidFill>
                <a:srgbClr val="FF3300"/>
              </a:solidFill>
              <a:prstDash val="solid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7" name="Line 12"/>
            <p:cNvSpPr>
              <a:spLocks noChangeShapeType="1"/>
            </p:cNvSpPr>
            <p:nvPr/>
          </p:nvSpPr>
          <p:spPr bwMode="ltGray">
            <a:xfrm flipV="1">
              <a:off x="3984" y="3312"/>
              <a:ext cx="0" cy="43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8" name="Freeform 13"/>
            <p:cNvSpPr/>
            <p:nvPr/>
          </p:nvSpPr>
          <p:spPr bwMode="ltGray">
            <a:xfrm>
              <a:off x="4679" y="3217"/>
              <a:ext cx="1" cy="301"/>
            </a:xfrm>
            <a:custGeom>
              <a:avLst/>
              <a:gdLst>
                <a:gd name="T0" fmla="*/ 0 w 1"/>
                <a:gd name="T1" fmla="*/ 0 h 301"/>
                <a:gd name="T2" fmla="*/ 0 w 1"/>
                <a:gd name="T3" fmla="*/ 301 h 301"/>
                <a:gd name="T4" fmla="*/ 0 60000 65536"/>
                <a:gd name="T5" fmla="*/ 0 60000 65536"/>
                <a:gd name="T6" fmla="*/ 0 w 1"/>
                <a:gd name="T7" fmla="*/ 0 h 301"/>
                <a:gd name="T8" fmla="*/ 1 w 1"/>
                <a:gd name="T9" fmla="*/ 301 h 30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01">
                  <a:moveTo>
                    <a:pt x="0" y="0"/>
                  </a:moveTo>
                  <a:lnTo>
                    <a:pt x="0" y="301"/>
                  </a:lnTo>
                </a:path>
              </a:pathLst>
            </a:custGeom>
            <a:noFill/>
            <a:ln w="254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1182688" y="13716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endParaRPr lang="en-US" altLang="zh-CN" kern="0" dirty="0"/>
          </a:p>
          <a:p>
            <a:pPr eaLnBrk="1" hangingPunct="1"/>
            <a:endParaRPr lang="en-US" altLang="zh-CN" kern="0" dirty="0"/>
          </a:p>
          <a:p>
            <a:pPr eaLnBrk="1" hangingPunct="1"/>
            <a:endParaRPr lang="en-US" altLang="zh-CN" kern="0" dirty="0"/>
          </a:p>
          <a:p>
            <a:pPr eaLnBrk="1" hangingPunct="1"/>
            <a:endParaRPr lang="en-US" altLang="zh-CN" kern="0" dirty="0"/>
          </a:p>
          <a:p>
            <a:pPr eaLnBrk="1" hangingPunct="1"/>
            <a:endParaRPr lang="en-US" altLang="zh-CN" kern="0" dirty="0"/>
          </a:p>
          <a:p>
            <a:pPr eaLnBrk="1" hangingPunct="1"/>
            <a:r>
              <a:rPr lang="zh-CN" altLang="en-US" sz="2800" kern="0" dirty="0"/>
              <a:t>每个作用域一个符号表</a:t>
            </a:r>
            <a:endParaRPr lang="zh-CN" altLang="en-US" sz="2800" kern="0" dirty="0"/>
          </a:p>
          <a:p>
            <a:pPr eaLnBrk="1" hangingPunct="1"/>
            <a:r>
              <a:rPr lang="zh-CN" altLang="en-US" sz="2800" kern="0" dirty="0"/>
              <a:t>子作用域的符号表指向</a:t>
            </a:r>
            <a:br>
              <a:rPr lang="en-US" altLang="zh-CN" sz="2800" kern="0" dirty="0"/>
            </a:br>
            <a:r>
              <a:rPr lang="zh-CN" altLang="en-US" sz="2800" kern="0" dirty="0"/>
              <a:t>父作用域的符号表</a:t>
            </a:r>
            <a:endParaRPr lang="zh-CN" altLang="en-US" sz="2800" kern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处理作用域的翻译模式</a:t>
            </a:r>
            <a:endParaRPr lang="zh-CN" alt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P </a:t>
            </a:r>
            <a:r>
              <a:rPr lang="en-US" altLang="zh-CN" sz="2000" dirty="0">
                <a:sym typeface="Symbol" panose="05050102010706020507" pitchFamily="18" charset="2"/>
              </a:rPr>
              <a:t> M D	{ </a:t>
            </a:r>
            <a:r>
              <a:rPr lang="en-US" altLang="zh-CN" sz="2000" i="1" dirty="0" err="1">
                <a:sym typeface="Symbol" panose="05050102010706020507" pitchFamily="18" charset="2"/>
              </a:rPr>
              <a:t>addwidth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i="1" dirty="0">
                <a:sym typeface="Symbol" panose="05050102010706020507" pitchFamily="18" charset="2"/>
              </a:rPr>
              <a:t>top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dirty="0" err="1">
                <a:sym typeface="Symbol" panose="05050102010706020507" pitchFamily="18" charset="2"/>
              </a:rPr>
              <a:t>tblptr</a:t>
            </a:r>
            <a:r>
              <a:rPr lang="en-US" altLang="zh-CN" sz="2000" dirty="0">
                <a:sym typeface="Symbol" panose="05050102010706020507" pitchFamily="18" charset="2"/>
              </a:rPr>
              <a:t>), </a:t>
            </a:r>
            <a:r>
              <a:rPr lang="en-US" altLang="zh-CN" sz="2000" i="1" dirty="0">
                <a:sym typeface="Symbol" panose="05050102010706020507" pitchFamily="18" charset="2"/>
              </a:rPr>
              <a:t>top</a:t>
            </a:r>
            <a:r>
              <a:rPr lang="en-US" altLang="zh-CN" sz="2000" dirty="0">
                <a:sym typeface="Symbol" panose="05050102010706020507" pitchFamily="18" charset="2"/>
              </a:rPr>
              <a:t>(offset));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		 	</a:t>
            </a:r>
            <a:r>
              <a:rPr lang="en-US" altLang="zh-CN" sz="2000" i="1" dirty="0">
                <a:sym typeface="Symbol" panose="05050102010706020507" pitchFamily="18" charset="2"/>
              </a:rPr>
              <a:t>pop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dirty="0" err="1">
                <a:sym typeface="Symbol" panose="05050102010706020507" pitchFamily="18" charset="2"/>
              </a:rPr>
              <a:t>tblptr</a:t>
            </a:r>
            <a:r>
              <a:rPr lang="en-US" altLang="zh-CN" sz="2000" dirty="0">
                <a:sym typeface="Symbol" panose="05050102010706020507" pitchFamily="18" charset="2"/>
              </a:rPr>
              <a:t>); </a:t>
            </a:r>
            <a:r>
              <a:rPr lang="en-US" altLang="zh-CN" sz="2000" i="1" dirty="0">
                <a:sym typeface="Symbol" panose="05050102010706020507" pitchFamily="18" charset="2"/>
              </a:rPr>
              <a:t>pop</a:t>
            </a:r>
            <a:r>
              <a:rPr lang="en-US" altLang="zh-CN" sz="2000" dirty="0">
                <a:sym typeface="Symbol" panose="05050102010706020507" pitchFamily="18" charset="2"/>
              </a:rPr>
              <a:t>(offset); }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M  		{ t:=</a:t>
            </a:r>
            <a:r>
              <a:rPr lang="en-US" altLang="zh-CN" sz="2000" i="1" dirty="0">
                <a:sym typeface="Symbol" panose="05050102010706020507" pitchFamily="18" charset="2"/>
              </a:rPr>
              <a:t>mktable</a:t>
            </a:r>
            <a:r>
              <a:rPr lang="en-US" altLang="zh-CN" sz="2000" dirty="0">
                <a:sym typeface="Symbol" panose="05050102010706020507" pitchFamily="18" charset="2"/>
              </a:rPr>
              <a:t>(null);  </a:t>
            </a:r>
            <a:r>
              <a:rPr lang="en-US" altLang="zh-CN" sz="2000" i="1" dirty="0">
                <a:sym typeface="Symbol" panose="05050102010706020507" pitchFamily="18" charset="2"/>
              </a:rPr>
              <a:t>push</a:t>
            </a:r>
            <a:r>
              <a:rPr lang="en-US" altLang="zh-CN" sz="2000" dirty="0">
                <a:sym typeface="Symbol" panose="05050102010706020507" pitchFamily="18" charset="2"/>
              </a:rPr>
              <a:t>(t, </a:t>
            </a:r>
            <a:r>
              <a:rPr lang="en-US" altLang="zh-CN" sz="2000" dirty="0" err="1">
                <a:sym typeface="Symbol" panose="05050102010706020507" pitchFamily="18" charset="2"/>
              </a:rPr>
              <a:t>tblptr</a:t>
            </a:r>
            <a:r>
              <a:rPr lang="en-US" altLang="zh-CN" sz="2000" dirty="0">
                <a:sym typeface="Symbol" panose="05050102010706020507" pitchFamily="18" charset="2"/>
              </a:rPr>
              <a:t>); 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			</a:t>
            </a:r>
            <a:r>
              <a:rPr lang="en-US" altLang="zh-CN" sz="2000" i="1" dirty="0">
                <a:sym typeface="Symbol" panose="05050102010706020507" pitchFamily="18" charset="2"/>
              </a:rPr>
              <a:t>push</a:t>
            </a:r>
            <a:r>
              <a:rPr lang="en-US" altLang="zh-CN" sz="2000" dirty="0">
                <a:sym typeface="Symbol" panose="05050102010706020507" pitchFamily="18" charset="2"/>
              </a:rPr>
              <a:t>(0, offset);}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D  D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; </a:t>
            </a:r>
            <a:r>
              <a:rPr lang="en-US" altLang="zh-CN" sz="2000" dirty="0">
                <a:sym typeface="Symbol" panose="05050102010706020507" pitchFamily="18" charset="2"/>
              </a:rPr>
              <a:t>D</a:t>
            </a:r>
            <a:r>
              <a:rPr lang="en-US" altLang="zh-CN" sz="2000" baseline="-25000" dirty="0"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sym typeface="Symbol" panose="05050102010706020507" pitchFamily="18" charset="2"/>
              </a:rPr>
              <a:t> 	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D 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proc id ; </a:t>
            </a:r>
            <a:r>
              <a:rPr lang="en-US" altLang="zh-CN" sz="2000" dirty="0">
                <a:sym typeface="Symbol" panose="05050102010706020507" pitchFamily="18" charset="2"/>
              </a:rPr>
              <a:t>N D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;</a:t>
            </a:r>
            <a:r>
              <a:rPr lang="en-US" altLang="zh-CN" sz="2000" dirty="0">
                <a:sym typeface="Symbol" panose="05050102010706020507" pitchFamily="18" charset="2"/>
              </a:rPr>
              <a:t> S	{ t:=</a:t>
            </a:r>
            <a:r>
              <a:rPr lang="en-US" altLang="zh-CN" sz="2000" i="1" dirty="0">
                <a:sym typeface="Symbol" panose="05050102010706020507" pitchFamily="18" charset="2"/>
              </a:rPr>
              <a:t>top</a:t>
            </a:r>
            <a:r>
              <a:rPr lang="en-US" altLang="zh-CN" sz="2000" dirty="0">
                <a:sym typeface="Symbol" panose="05050102010706020507" pitchFamily="18" charset="2"/>
              </a:rPr>
              <a:t>(tblpr);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			</a:t>
            </a:r>
            <a:r>
              <a:rPr lang="en-US" altLang="zh-CN" sz="2000" i="1" dirty="0" err="1">
                <a:sym typeface="Symbol" panose="05050102010706020507" pitchFamily="18" charset="2"/>
              </a:rPr>
              <a:t>addwidth</a:t>
            </a:r>
            <a:r>
              <a:rPr lang="en-US" altLang="zh-CN" sz="2000" dirty="0">
                <a:sym typeface="Symbol" panose="05050102010706020507" pitchFamily="18" charset="2"/>
              </a:rPr>
              <a:t>(t, </a:t>
            </a:r>
            <a:r>
              <a:rPr lang="en-US" altLang="zh-CN" sz="2000" i="1" dirty="0">
                <a:sym typeface="Symbol" panose="05050102010706020507" pitchFamily="18" charset="2"/>
              </a:rPr>
              <a:t>top</a:t>
            </a:r>
            <a:r>
              <a:rPr lang="en-US" altLang="zh-CN" sz="2000" dirty="0">
                <a:sym typeface="Symbol" panose="05050102010706020507" pitchFamily="18" charset="2"/>
              </a:rPr>
              <a:t>(offset));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			</a:t>
            </a:r>
            <a:r>
              <a:rPr lang="en-US" altLang="zh-CN" sz="2000" i="1" dirty="0">
                <a:sym typeface="Symbol" panose="05050102010706020507" pitchFamily="18" charset="2"/>
              </a:rPr>
              <a:t>pop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dirty="0" err="1">
                <a:sym typeface="Symbol" panose="05050102010706020507" pitchFamily="18" charset="2"/>
              </a:rPr>
              <a:t>tblptr</a:t>
            </a:r>
            <a:r>
              <a:rPr lang="en-US" altLang="zh-CN" sz="2000" dirty="0">
                <a:sym typeface="Symbol" panose="05050102010706020507" pitchFamily="18" charset="2"/>
              </a:rPr>
              <a:t>); </a:t>
            </a:r>
            <a:r>
              <a:rPr lang="en-US" altLang="zh-CN" sz="2000" i="1" dirty="0">
                <a:sym typeface="Symbol" panose="05050102010706020507" pitchFamily="18" charset="2"/>
              </a:rPr>
              <a:t>pop</a:t>
            </a:r>
            <a:r>
              <a:rPr lang="en-US" altLang="zh-CN" sz="2000" dirty="0">
                <a:sym typeface="Symbol" panose="05050102010706020507" pitchFamily="18" charset="2"/>
              </a:rPr>
              <a:t>(offset);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			</a:t>
            </a:r>
            <a:r>
              <a:rPr lang="en-US" altLang="zh-CN" sz="2000" i="1" dirty="0" err="1">
                <a:sym typeface="Symbol" panose="05050102010706020507" pitchFamily="18" charset="2"/>
              </a:rPr>
              <a:t>enterproc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i="1" dirty="0">
                <a:sym typeface="Symbol" panose="05050102010706020507" pitchFamily="18" charset="2"/>
              </a:rPr>
              <a:t>top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dirty="0" err="1">
                <a:sym typeface="Symbol" panose="05050102010706020507" pitchFamily="18" charset="2"/>
              </a:rPr>
              <a:t>tblptr</a:t>
            </a:r>
            <a:r>
              <a:rPr lang="en-US" altLang="zh-CN" sz="2000" dirty="0">
                <a:sym typeface="Symbol" panose="05050102010706020507" pitchFamily="18" charset="2"/>
              </a:rPr>
              <a:t>),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lang="en-US" altLang="zh-CN" sz="2000" dirty="0">
                <a:sym typeface="Symbol" panose="05050102010706020507" pitchFamily="18" charset="2"/>
              </a:rPr>
              <a:t>.name, t);}	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N   		{ t:=</a:t>
            </a:r>
            <a:r>
              <a:rPr lang="en-US" altLang="zh-CN" sz="2000" i="1" dirty="0">
                <a:sym typeface="Symbol" panose="05050102010706020507" pitchFamily="18" charset="2"/>
              </a:rPr>
              <a:t>mktable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i="1" dirty="0">
                <a:sym typeface="Symbol" panose="05050102010706020507" pitchFamily="18" charset="2"/>
              </a:rPr>
              <a:t>top</a:t>
            </a:r>
            <a:r>
              <a:rPr lang="en-US" altLang="zh-CN" sz="2000" dirty="0">
                <a:sym typeface="Symbol" panose="05050102010706020507" pitchFamily="18" charset="2"/>
              </a:rPr>
              <a:t>(tblptr)); </a:t>
            </a:r>
            <a:r>
              <a:rPr lang="en-US" altLang="zh-CN" sz="2000" i="1" dirty="0">
                <a:sym typeface="Symbol" panose="05050102010706020507" pitchFamily="18" charset="2"/>
              </a:rPr>
              <a:t>push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dirty="0" err="1">
                <a:sym typeface="Symbol" panose="05050102010706020507" pitchFamily="18" charset="2"/>
              </a:rPr>
              <a:t>t,tblptr</a:t>
            </a:r>
            <a:r>
              <a:rPr lang="en-US" altLang="zh-CN" sz="2000" dirty="0">
                <a:sym typeface="Symbol" panose="05050102010706020507" pitchFamily="18" charset="2"/>
              </a:rPr>
              <a:t>);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			</a:t>
            </a:r>
            <a:r>
              <a:rPr lang="en-US" altLang="zh-CN" sz="2000" i="1" dirty="0">
                <a:sym typeface="Symbol" panose="05050102010706020507" pitchFamily="18" charset="2"/>
              </a:rPr>
              <a:t>push</a:t>
            </a:r>
            <a:r>
              <a:rPr lang="en-US" altLang="zh-CN" sz="2000" dirty="0">
                <a:sym typeface="Symbol" panose="05050102010706020507" pitchFamily="18" charset="2"/>
              </a:rPr>
              <a:t>(0,offset);}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D 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id : </a:t>
            </a:r>
            <a:r>
              <a:rPr lang="en-US" altLang="zh-CN" sz="2000" dirty="0">
                <a:sym typeface="Symbol" panose="05050102010706020507" pitchFamily="18" charset="2"/>
              </a:rPr>
              <a:t>T    { </a:t>
            </a:r>
            <a:r>
              <a:rPr lang="en-US" altLang="zh-CN" sz="2000" i="1" dirty="0">
                <a:sym typeface="Symbol" panose="05050102010706020507" pitchFamily="18" charset="2"/>
              </a:rPr>
              <a:t>enter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i="1" dirty="0">
                <a:sym typeface="Symbol" panose="05050102010706020507" pitchFamily="18" charset="2"/>
              </a:rPr>
              <a:t>top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dirty="0" err="1">
                <a:sym typeface="Symbol" panose="05050102010706020507" pitchFamily="18" charset="2"/>
              </a:rPr>
              <a:t>tblptr</a:t>
            </a:r>
            <a:r>
              <a:rPr lang="en-US" altLang="zh-CN" sz="2000" dirty="0">
                <a:sym typeface="Symbol" panose="05050102010706020507" pitchFamily="18" charset="2"/>
              </a:rPr>
              <a:t>),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lang="en-US" altLang="zh-CN" sz="2000" dirty="0">
                <a:sym typeface="Symbol" panose="05050102010706020507" pitchFamily="18" charset="2"/>
              </a:rPr>
              <a:t>.name, 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type</a:t>
            </a:r>
            <a:r>
              <a:rPr lang="en-US" altLang="zh-CN" sz="2000" dirty="0">
                <a:sym typeface="Symbol" panose="05050102010706020507" pitchFamily="18" charset="2"/>
              </a:rPr>
              <a:t>, </a:t>
            </a:r>
            <a:r>
              <a:rPr lang="en-US" altLang="zh-CN" sz="2000" i="1" dirty="0">
                <a:sym typeface="Symbol" panose="05050102010706020507" pitchFamily="18" charset="2"/>
              </a:rPr>
              <a:t>top</a:t>
            </a:r>
            <a:r>
              <a:rPr lang="en-US" altLang="zh-CN" sz="2000" dirty="0">
                <a:sym typeface="Symbol" panose="05050102010706020507" pitchFamily="18" charset="2"/>
              </a:rPr>
              <a:t>(offset));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		</a:t>
            </a:r>
            <a:r>
              <a:rPr lang="en-US" altLang="zh-CN" sz="2000" i="1" dirty="0">
                <a:sym typeface="Symbol" panose="05050102010706020507" pitchFamily="18" charset="2"/>
              </a:rPr>
              <a:t>top</a:t>
            </a:r>
            <a:r>
              <a:rPr lang="en-US" altLang="zh-CN" sz="2000" dirty="0">
                <a:sym typeface="Symbol" panose="05050102010706020507" pitchFamily="18" charset="2"/>
              </a:rPr>
              <a:t>(offset):=</a:t>
            </a:r>
            <a:r>
              <a:rPr lang="en-US" altLang="zh-CN" sz="2000" i="1" dirty="0">
                <a:sym typeface="Symbol" panose="05050102010706020507" pitchFamily="18" charset="2"/>
              </a:rPr>
              <a:t>top</a:t>
            </a:r>
            <a:r>
              <a:rPr lang="en-US" altLang="zh-CN" sz="2000" dirty="0">
                <a:sym typeface="Symbol" panose="05050102010706020507" pitchFamily="18" charset="2"/>
              </a:rPr>
              <a:t>(offset) + 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width</a:t>
            </a:r>
            <a:r>
              <a:rPr lang="en-US" altLang="zh-CN" sz="2000" dirty="0">
                <a:sym typeface="Symbol" panose="05050102010706020507" pitchFamily="18" charset="2"/>
              </a:rPr>
              <a:t>;</a:t>
            </a:r>
            <a:endParaRPr lang="en-US" altLang="zh-CN" sz="2000" i="1" dirty="0">
              <a:sym typeface="Symbol" panose="05050102010706020507" pitchFamily="18" charset="2"/>
            </a:endParaRP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ltGray">
          <a:xfrm>
            <a:off x="7391400" y="457200"/>
            <a:ext cx="152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fol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符号表栈</a:t>
            </a:r>
            <a:endParaRPr lang="zh-CN" altLang="en-US" sz="1800" dirty="0">
              <a:solidFill>
                <a:schemeClr val="folHlink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20485" name="Line 5"/>
          <p:cNvSpPr>
            <a:spLocks noChangeShapeType="1"/>
          </p:cNvSpPr>
          <p:nvPr/>
        </p:nvSpPr>
        <p:spPr bwMode="ltGray">
          <a:xfrm flipH="1">
            <a:off x="4800600" y="838200"/>
            <a:ext cx="2743200" cy="6096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6" name="Text Box 6"/>
          <p:cNvSpPr txBox="1">
            <a:spLocks noChangeArrowheads="1"/>
          </p:cNvSpPr>
          <p:nvPr/>
        </p:nvSpPr>
        <p:spPr bwMode="ltGray">
          <a:xfrm>
            <a:off x="7598250" y="886167"/>
            <a:ext cx="157594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fol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内存占用量栈记入符号表</a:t>
            </a:r>
            <a:endParaRPr lang="en-US" altLang="zh-CN" sz="1800" dirty="0">
              <a:solidFill>
                <a:schemeClr val="folHlink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20487" name="Freeform 7"/>
          <p:cNvSpPr/>
          <p:nvPr/>
        </p:nvSpPr>
        <p:spPr bwMode="ltGray">
          <a:xfrm flipV="1">
            <a:off x="6156176" y="1078468"/>
            <a:ext cx="1442074" cy="369332"/>
          </a:xfrm>
          <a:custGeom>
            <a:avLst/>
            <a:gdLst>
              <a:gd name="T0" fmla="*/ 2147483646 w 470"/>
              <a:gd name="T1" fmla="*/ 2147483646 h 433"/>
              <a:gd name="T2" fmla="*/ 0 w 470"/>
              <a:gd name="T3" fmla="*/ 0 h 433"/>
              <a:gd name="T4" fmla="*/ 0 60000 65536"/>
              <a:gd name="T5" fmla="*/ 0 60000 65536"/>
              <a:gd name="T6" fmla="*/ 0 w 470"/>
              <a:gd name="T7" fmla="*/ 0 h 433"/>
              <a:gd name="T8" fmla="*/ 470 w 470"/>
              <a:gd name="T9" fmla="*/ 433 h 4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70" h="433">
                <a:moveTo>
                  <a:pt x="470" y="433"/>
                </a:moveTo>
                <a:lnTo>
                  <a:pt x="0" y="0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ltGray">
          <a:xfrm>
            <a:off x="0" y="2362200"/>
            <a:ext cx="132670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fol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创建新符号表，其父为空或为栈顶符号表</a:t>
            </a:r>
            <a:endParaRPr lang="zh-CN" altLang="en-US" sz="1800" dirty="0">
              <a:solidFill>
                <a:schemeClr val="folHlink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12" name="Freeform 7"/>
          <p:cNvSpPr/>
          <p:nvPr/>
        </p:nvSpPr>
        <p:spPr bwMode="ltGray">
          <a:xfrm flipH="1">
            <a:off x="1150938" y="2420888"/>
            <a:ext cx="3421062" cy="216024"/>
          </a:xfrm>
          <a:custGeom>
            <a:avLst/>
            <a:gdLst>
              <a:gd name="T0" fmla="*/ 2147483646 w 470"/>
              <a:gd name="T1" fmla="*/ 2147483646 h 433"/>
              <a:gd name="T2" fmla="*/ 0 w 470"/>
              <a:gd name="T3" fmla="*/ 0 h 433"/>
              <a:gd name="T4" fmla="*/ 0 60000 65536"/>
              <a:gd name="T5" fmla="*/ 0 60000 65536"/>
              <a:gd name="T6" fmla="*/ 0 w 470"/>
              <a:gd name="T7" fmla="*/ 0 h 433"/>
              <a:gd name="T8" fmla="*/ 470 w 470"/>
              <a:gd name="T9" fmla="*/ 433 h 4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70" h="433">
                <a:moveTo>
                  <a:pt x="470" y="433"/>
                </a:moveTo>
                <a:lnTo>
                  <a:pt x="0" y="0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Freeform 7"/>
          <p:cNvSpPr/>
          <p:nvPr/>
        </p:nvSpPr>
        <p:spPr bwMode="ltGray">
          <a:xfrm flipH="1" flipV="1">
            <a:off x="963585" y="3429000"/>
            <a:ext cx="3680423" cy="1368152"/>
          </a:xfrm>
          <a:custGeom>
            <a:avLst/>
            <a:gdLst>
              <a:gd name="T0" fmla="*/ 2147483646 w 470"/>
              <a:gd name="T1" fmla="*/ 2147483646 h 433"/>
              <a:gd name="T2" fmla="*/ 0 w 470"/>
              <a:gd name="T3" fmla="*/ 0 h 433"/>
              <a:gd name="T4" fmla="*/ 0 60000 65536"/>
              <a:gd name="T5" fmla="*/ 0 60000 65536"/>
              <a:gd name="T6" fmla="*/ 0 w 470"/>
              <a:gd name="T7" fmla="*/ 0 h 433"/>
              <a:gd name="T8" fmla="*/ 470 w 470"/>
              <a:gd name="T9" fmla="*/ 433 h 4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70" h="433">
                <a:moveTo>
                  <a:pt x="470" y="433"/>
                </a:moveTo>
                <a:lnTo>
                  <a:pt x="0" y="0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ltGray">
          <a:xfrm>
            <a:off x="70818" y="5689007"/>
            <a:ext cx="216024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fol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声明的变量加入当前（栈顶）符号表</a:t>
            </a:r>
            <a:endParaRPr lang="zh-CN" altLang="en-US" sz="1800" dirty="0">
              <a:solidFill>
                <a:schemeClr val="folHlink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16" name="Freeform 7"/>
          <p:cNvSpPr/>
          <p:nvPr/>
        </p:nvSpPr>
        <p:spPr bwMode="ltGray">
          <a:xfrm flipH="1">
            <a:off x="2051720" y="5812548"/>
            <a:ext cx="936104" cy="396830"/>
          </a:xfrm>
          <a:custGeom>
            <a:avLst/>
            <a:gdLst>
              <a:gd name="T0" fmla="*/ 2147483646 w 470"/>
              <a:gd name="T1" fmla="*/ 2147483646 h 433"/>
              <a:gd name="T2" fmla="*/ 0 w 470"/>
              <a:gd name="T3" fmla="*/ 0 h 433"/>
              <a:gd name="T4" fmla="*/ 0 60000 65536"/>
              <a:gd name="T5" fmla="*/ 0 60000 65536"/>
              <a:gd name="T6" fmla="*/ 0 w 470"/>
              <a:gd name="T7" fmla="*/ 0 h 433"/>
              <a:gd name="T8" fmla="*/ 470 w 470"/>
              <a:gd name="T9" fmla="*/ 433 h 4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70" h="433">
                <a:moveTo>
                  <a:pt x="470" y="433"/>
                </a:moveTo>
                <a:lnTo>
                  <a:pt x="0" y="0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ltGray">
          <a:xfrm>
            <a:off x="6905351" y="3013501"/>
            <a:ext cx="19151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fol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函数的内存大小</a:t>
            </a:r>
            <a:br>
              <a:rPr lang="en-US" altLang="zh-CN" sz="1800" dirty="0">
                <a:solidFill>
                  <a:schemeClr val="fol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</a:br>
            <a:r>
              <a:rPr lang="zh-CN" altLang="en-US" sz="1800" dirty="0">
                <a:solidFill>
                  <a:schemeClr val="fol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记入符号表中</a:t>
            </a:r>
            <a:endParaRPr lang="zh-CN" altLang="en-US" sz="1800" dirty="0">
              <a:solidFill>
                <a:schemeClr val="folHlink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18" name="Freeform 7"/>
          <p:cNvSpPr/>
          <p:nvPr/>
        </p:nvSpPr>
        <p:spPr bwMode="ltGray">
          <a:xfrm flipV="1">
            <a:off x="6300193" y="3429000"/>
            <a:ext cx="720080" cy="288032"/>
          </a:xfrm>
          <a:custGeom>
            <a:avLst/>
            <a:gdLst>
              <a:gd name="T0" fmla="*/ 2147483646 w 470"/>
              <a:gd name="T1" fmla="*/ 2147483646 h 433"/>
              <a:gd name="T2" fmla="*/ 0 w 470"/>
              <a:gd name="T3" fmla="*/ 0 h 433"/>
              <a:gd name="T4" fmla="*/ 0 60000 65536"/>
              <a:gd name="T5" fmla="*/ 0 60000 65536"/>
              <a:gd name="T6" fmla="*/ 0 w 470"/>
              <a:gd name="T7" fmla="*/ 0 h 433"/>
              <a:gd name="T8" fmla="*/ 470 w 470"/>
              <a:gd name="T9" fmla="*/ 433 h 4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70" h="433">
                <a:moveTo>
                  <a:pt x="470" y="433"/>
                </a:moveTo>
                <a:lnTo>
                  <a:pt x="0" y="0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6"/>
          <p:cNvSpPr txBox="1">
            <a:spLocks noChangeArrowheads="1"/>
          </p:cNvSpPr>
          <p:nvPr/>
        </p:nvSpPr>
        <p:spPr bwMode="ltGray">
          <a:xfrm>
            <a:off x="7164288" y="4935750"/>
            <a:ext cx="216024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fol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函数记入原符号表</a:t>
            </a:r>
            <a:endParaRPr lang="zh-CN" altLang="en-US" sz="1800" dirty="0">
              <a:solidFill>
                <a:schemeClr val="folHlink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20" name="Freeform 7"/>
          <p:cNvSpPr/>
          <p:nvPr/>
        </p:nvSpPr>
        <p:spPr bwMode="ltGray">
          <a:xfrm>
            <a:off x="7164288" y="4558352"/>
            <a:ext cx="949424" cy="436348"/>
          </a:xfrm>
          <a:custGeom>
            <a:avLst/>
            <a:gdLst>
              <a:gd name="T0" fmla="*/ 2147483646 w 470"/>
              <a:gd name="T1" fmla="*/ 2147483646 h 433"/>
              <a:gd name="T2" fmla="*/ 0 w 470"/>
              <a:gd name="T3" fmla="*/ 0 h 433"/>
              <a:gd name="T4" fmla="*/ 0 60000 65536"/>
              <a:gd name="T5" fmla="*/ 0 60000 65536"/>
              <a:gd name="T6" fmla="*/ 0 w 470"/>
              <a:gd name="T7" fmla="*/ 0 h 433"/>
              <a:gd name="T8" fmla="*/ 470 w 470"/>
              <a:gd name="T9" fmla="*/ 433 h 4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70" h="433">
                <a:moveTo>
                  <a:pt x="470" y="433"/>
                </a:moveTo>
                <a:lnTo>
                  <a:pt x="0" y="0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/>
      <p:bldP spid="20485" grpId="0" animBg="1"/>
      <p:bldP spid="20486" grpId="0"/>
      <p:bldP spid="20487" grpId="0" animBg="1"/>
      <p:bldP spid="11" grpId="0"/>
      <p:bldP spid="12" grpId="0" animBg="1"/>
      <p:bldP spid="13" grpId="0" animBg="1"/>
      <p:bldP spid="15" grpId="0"/>
      <p:bldP spid="16" grpId="0" animBg="1"/>
      <p:bldP spid="17" grpId="0"/>
      <p:bldP spid="18" grpId="0" animBg="1"/>
      <p:bldP spid="19" grpId="0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8.2.3  </a:t>
            </a:r>
            <a:r>
              <a:rPr lang="zh-CN" altLang="en-US"/>
              <a:t>记录类型的处理</a:t>
            </a: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创建独立的符号表</a:t>
            </a:r>
            <a:endParaRPr lang="zh-CN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T→ </a:t>
            </a:r>
            <a:r>
              <a:rPr lang="en-US" altLang="zh-CN" sz="2400" b="1"/>
              <a:t>record</a:t>
            </a:r>
            <a:r>
              <a:rPr lang="en-US" altLang="zh-CN" sz="2400"/>
              <a:t> L D </a:t>
            </a:r>
            <a:r>
              <a:rPr lang="en-US" altLang="zh-CN" sz="2400" b="1"/>
              <a:t>end</a:t>
            </a:r>
            <a:r>
              <a:rPr lang="en-US" altLang="zh-CN" sz="2400"/>
              <a:t>	{ T.type = record(top(tblptr));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	   T.width = top(offset);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	   pop(tblptr); pop(offset); }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L→</a:t>
            </a:r>
            <a:r>
              <a:rPr lang="en-US" altLang="zh-CN" sz="2400">
                <a:latin typeface="Symbol" panose="05050102010706020507" pitchFamily="18" charset="2"/>
              </a:rPr>
              <a:t>e</a:t>
            </a:r>
            <a:r>
              <a:rPr lang="en-US" altLang="zh-CN" sz="2400"/>
              <a:t>			{ t = mktable(null);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	   push(t, tblptr); push(0, offset); }</a:t>
            </a:r>
            <a:endParaRPr lang="en-US" altLang="zh-CN"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8.3  </a:t>
            </a:r>
            <a:r>
              <a:rPr lang="zh-CN" altLang="en-US"/>
              <a:t>赋值语句</a:t>
            </a:r>
            <a:endParaRPr lang="zh-CN" alt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10150"/>
          </a:xfrm>
        </p:spPr>
        <p:txBody>
          <a:bodyPr/>
          <a:lstStyle/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 dirty="0"/>
              <a:t>8.3.1  </a:t>
            </a:r>
            <a:r>
              <a:rPr lang="zh-CN" altLang="en-US" sz="2800" dirty="0"/>
              <a:t>符号表中的名字</a:t>
            </a:r>
            <a:endParaRPr lang="zh-CN" altLang="en-US" sz="2800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S→ </a:t>
            </a:r>
            <a:r>
              <a:rPr lang="en-US" altLang="zh-CN" sz="2000" b="1" dirty="0"/>
              <a:t>id</a:t>
            </a:r>
            <a:r>
              <a:rPr lang="en-US" altLang="zh-CN" sz="2000" dirty="0"/>
              <a:t> := E	{ p = lookup(</a:t>
            </a:r>
            <a:r>
              <a:rPr lang="en-US" altLang="zh-CN" sz="2000" b="1" dirty="0"/>
              <a:t>id</a:t>
            </a:r>
            <a:r>
              <a:rPr lang="en-US" altLang="zh-CN" sz="2000" dirty="0"/>
              <a:t>.name);</a:t>
            </a:r>
            <a:endParaRPr lang="en-US" altLang="zh-CN" sz="2000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		   </a:t>
            </a:r>
            <a:r>
              <a:rPr lang="en-US" altLang="zh-CN" sz="2000" b="1" dirty="0"/>
              <a:t>if</a:t>
            </a:r>
            <a:r>
              <a:rPr lang="en-US" altLang="zh-CN" sz="2000" dirty="0"/>
              <a:t> (p != null) emit(p ‘:=’ </a:t>
            </a:r>
            <a:r>
              <a:rPr lang="en-US" altLang="zh-CN" sz="2000" dirty="0" err="1"/>
              <a:t>E.place</a:t>
            </a:r>
            <a:r>
              <a:rPr lang="en-US" altLang="zh-CN" sz="2000" dirty="0"/>
              <a:t>);</a:t>
            </a:r>
            <a:endParaRPr lang="en-US" altLang="zh-CN" sz="2000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		   </a:t>
            </a:r>
            <a:r>
              <a:rPr lang="en-US" altLang="zh-CN" sz="2000" b="1" dirty="0"/>
              <a:t>else</a:t>
            </a:r>
            <a:r>
              <a:rPr lang="en-US" altLang="zh-CN" sz="2000" dirty="0"/>
              <a:t> error; }</a:t>
            </a:r>
            <a:endParaRPr lang="en-US" altLang="zh-CN" sz="2000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E→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+ 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	{ </a:t>
            </a:r>
            <a:r>
              <a:rPr lang="en-US" altLang="zh-CN" sz="2000" dirty="0" err="1"/>
              <a:t>E.place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newtemp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		   emit(</a:t>
            </a:r>
            <a:r>
              <a:rPr lang="en-US" altLang="zh-CN" sz="2000" dirty="0" err="1"/>
              <a:t>E.place</a:t>
            </a:r>
            <a:r>
              <a:rPr lang="en-US" altLang="zh-CN" sz="2000" dirty="0"/>
              <a:t> ‘:=’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.place ‘+’ 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.place; }</a:t>
            </a:r>
            <a:endParaRPr lang="en-US" altLang="zh-CN" sz="2000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E→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* 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	{ </a:t>
            </a:r>
            <a:r>
              <a:rPr lang="en-US" altLang="zh-CN" sz="2000" dirty="0" err="1"/>
              <a:t>E.place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newtemp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		   emit(</a:t>
            </a:r>
            <a:r>
              <a:rPr lang="en-US" altLang="zh-CN" sz="2000" dirty="0" err="1"/>
              <a:t>E.place</a:t>
            </a:r>
            <a:r>
              <a:rPr lang="en-US" altLang="zh-CN" sz="2000" dirty="0"/>
              <a:t> ‘:=’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.place ‘*’ 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.place; }</a:t>
            </a:r>
            <a:endParaRPr lang="en-US" altLang="zh-CN" sz="2000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E→ -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		{ </a:t>
            </a:r>
            <a:r>
              <a:rPr lang="en-US" altLang="zh-CN" sz="2000" dirty="0" err="1"/>
              <a:t>E.place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newtemp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		   emit(</a:t>
            </a:r>
            <a:r>
              <a:rPr lang="en-US" altLang="zh-CN" sz="2000" dirty="0" err="1"/>
              <a:t>E.place</a:t>
            </a:r>
            <a:r>
              <a:rPr lang="en-US" altLang="zh-CN" sz="2000" dirty="0"/>
              <a:t> ‘:=’ ‘</a:t>
            </a:r>
            <a:r>
              <a:rPr lang="en-US" altLang="zh-CN" sz="2000" dirty="0" err="1"/>
              <a:t>uminus</a:t>
            </a:r>
            <a:r>
              <a:rPr lang="en-US" altLang="zh-CN" sz="2000" dirty="0"/>
              <a:t>’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.place; }</a:t>
            </a:r>
            <a:endParaRPr lang="en-US" altLang="zh-CN" sz="2000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E→ ( E</a:t>
            </a:r>
            <a:r>
              <a:rPr lang="en-US" altLang="zh-CN" sz="2000" baseline="-25000" dirty="0"/>
              <a:t>1 </a:t>
            </a:r>
            <a:r>
              <a:rPr lang="en-US" altLang="zh-CN" sz="2000" dirty="0"/>
              <a:t>)	{ </a:t>
            </a:r>
            <a:r>
              <a:rPr lang="en-US" altLang="zh-CN" sz="2000" dirty="0" err="1"/>
              <a:t>E.place</a:t>
            </a:r>
            <a:r>
              <a:rPr lang="en-US" altLang="zh-CN" sz="2000" dirty="0"/>
              <a:t> =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.place }</a:t>
            </a:r>
            <a:endParaRPr lang="en-US" altLang="zh-CN" sz="2000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E→ </a:t>
            </a:r>
            <a:r>
              <a:rPr lang="en-US" altLang="zh-CN" sz="2000" b="1" dirty="0"/>
              <a:t>id</a:t>
            </a:r>
            <a:r>
              <a:rPr lang="en-US" altLang="zh-CN" sz="2000" dirty="0"/>
              <a:t>		{ p = lookup(</a:t>
            </a:r>
            <a:r>
              <a:rPr lang="en-US" altLang="zh-CN" sz="2000" b="1" dirty="0"/>
              <a:t>id</a:t>
            </a:r>
            <a:r>
              <a:rPr lang="en-US" altLang="zh-CN" sz="2000" dirty="0"/>
              <a:t>.name);</a:t>
            </a:r>
            <a:endParaRPr lang="en-US" altLang="zh-CN" sz="2000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		   </a:t>
            </a:r>
            <a:r>
              <a:rPr lang="en-US" altLang="zh-CN" sz="2000" b="1" dirty="0"/>
              <a:t>if</a:t>
            </a:r>
            <a:r>
              <a:rPr lang="en-US" altLang="zh-CN" sz="2000" dirty="0"/>
              <a:t> (p != null) </a:t>
            </a:r>
            <a:r>
              <a:rPr lang="en-US" altLang="zh-CN" sz="2000" dirty="0" err="1"/>
              <a:t>E.place</a:t>
            </a:r>
            <a:r>
              <a:rPr lang="en-US" altLang="zh-CN" sz="2000" dirty="0"/>
              <a:t> = p;</a:t>
            </a:r>
            <a:endParaRPr lang="en-US" altLang="zh-CN" sz="2000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		   </a:t>
            </a:r>
            <a:r>
              <a:rPr lang="en-US" altLang="zh-CN" sz="2000" b="1" dirty="0"/>
              <a:t>else</a:t>
            </a:r>
            <a:r>
              <a:rPr lang="en-US" altLang="zh-CN" sz="2000" dirty="0"/>
              <a:t> error; }</a:t>
            </a:r>
            <a:endParaRPr lang="en-US" altLang="zh-CN" sz="2000" dirty="0"/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ltGray">
          <a:xfrm>
            <a:off x="6906184" y="1219200"/>
            <a:ext cx="1828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fol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在符号表中查找标识符</a:t>
            </a:r>
            <a:endParaRPr lang="zh-CN" altLang="en-US" sz="1800" dirty="0">
              <a:solidFill>
                <a:schemeClr val="folHlink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22533" name="Freeform 5"/>
          <p:cNvSpPr/>
          <p:nvPr/>
        </p:nvSpPr>
        <p:spPr bwMode="ltGray">
          <a:xfrm>
            <a:off x="4191000" y="1390650"/>
            <a:ext cx="2730500" cy="514350"/>
          </a:xfrm>
          <a:custGeom>
            <a:avLst/>
            <a:gdLst>
              <a:gd name="T0" fmla="*/ 2147483646 w 1595"/>
              <a:gd name="T1" fmla="*/ 0 h 372"/>
              <a:gd name="T2" fmla="*/ 0 w 1595"/>
              <a:gd name="T3" fmla="*/ 2147483646 h 372"/>
              <a:gd name="T4" fmla="*/ 0 60000 65536"/>
              <a:gd name="T5" fmla="*/ 0 60000 65536"/>
              <a:gd name="T6" fmla="*/ 0 w 1595"/>
              <a:gd name="T7" fmla="*/ 0 h 372"/>
              <a:gd name="T8" fmla="*/ 1595 w 1595"/>
              <a:gd name="T9" fmla="*/ 372 h 37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95" h="372">
                <a:moveTo>
                  <a:pt x="1595" y="0"/>
                </a:moveTo>
                <a:lnTo>
                  <a:pt x="0" y="372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ltGray">
          <a:xfrm>
            <a:off x="6606870" y="2440982"/>
            <a:ext cx="216739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fol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直接打印语句，</a:t>
            </a:r>
            <a:br>
              <a:rPr lang="en-US" altLang="zh-CN" sz="1800" dirty="0">
                <a:solidFill>
                  <a:schemeClr val="fol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</a:br>
            <a:r>
              <a:rPr lang="zh-CN" altLang="en-US" sz="1800" dirty="0">
                <a:solidFill>
                  <a:schemeClr val="fol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而非保存属性中</a:t>
            </a:r>
            <a:endParaRPr lang="zh-CN" altLang="en-US" sz="1800" dirty="0">
              <a:solidFill>
                <a:schemeClr val="folHlink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7" name="Freeform 5"/>
          <p:cNvSpPr/>
          <p:nvPr/>
        </p:nvSpPr>
        <p:spPr bwMode="ltGray">
          <a:xfrm>
            <a:off x="3563888" y="2777505"/>
            <a:ext cx="3236044" cy="514350"/>
          </a:xfrm>
          <a:custGeom>
            <a:avLst/>
            <a:gdLst>
              <a:gd name="T0" fmla="*/ 2147483646 w 1595"/>
              <a:gd name="T1" fmla="*/ 0 h 372"/>
              <a:gd name="T2" fmla="*/ 0 w 1595"/>
              <a:gd name="T3" fmla="*/ 2147483646 h 372"/>
              <a:gd name="T4" fmla="*/ 0 60000 65536"/>
              <a:gd name="T5" fmla="*/ 0 60000 65536"/>
              <a:gd name="T6" fmla="*/ 0 w 1595"/>
              <a:gd name="T7" fmla="*/ 0 h 372"/>
              <a:gd name="T8" fmla="*/ 1595 w 1595"/>
              <a:gd name="T9" fmla="*/ 372 h 37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95" h="372">
                <a:moveTo>
                  <a:pt x="1595" y="0"/>
                </a:moveTo>
                <a:lnTo>
                  <a:pt x="0" y="372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8.3.2  </a:t>
            </a:r>
            <a:r>
              <a:rPr lang="zh-CN" altLang="en-US"/>
              <a:t>临时名字的重用</a:t>
            </a:r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lang="en-US" altLang="zh-CN" sz="2800" dirty="0" err="1"/>
              <a:t>newtemp</a:t>
            </a:r>
            <a:r>
              <a:rPr lang="zh-CN" altLang="en-US" sz="2800" dirty="0"/>
              <a:t>每次产生不同名字</a:t>
            </a:r>
            <a:r>
              <a:rPr lang="en-US" altLang="zh-CN" sz="2800" dirty="0">
                <a:sym typeface="Wingdings" panose="05000000000000000000" pitchFamily="2" charset="2"/>
              </a:rPr>
              <a:t></a:t>
            </a:r>
            <a:br>
              <a:rPr lang="en-US" altLang="zh-CN" sz="2800" dirty="0">
                <a:sym typeface="Wingdings" panose="05000000000000000000" pitchFamily="2" charset="2"/>
              </a:rPr>
            </a:br>
            <a:r>
              <a:rPr lang="zh-CN" altLang="en-US" sz="2800" dirty="0"/>
              <a:t>临时变量数</a:t>
            </a:r>
            <a:r>
              <a:rPr lang="en-US" altLang="zh-CN" sz="2800" dirty="0"/>
              <a:t>=</a:t>
            </a:r>
            <a:r>
              <a:rPr lang="zh-CN" altLang="en-US" sz="2800" dirty="0"/>
              <a:t>表达式中运算符数，中间（目标）代码空间占用巨大！</a:t>
            </a:r>
            <a:endParaRPr lang="en-US" altLang="zh-CN" sz="2800" dirty="0"/>
          </a:p>
          <a:p>
            <a:pPr eaLnBrk="1" hangingPunct="1"/>
            <a:r>
              <a:rPr lang="zh-CN" altLang="en-US" sz="2800" dirty="0"/>
              <a:t>临时变量保存的中间计算结果，后续不会继续使用，继续保留浪费空间！</a:t>
            </a:r>
            <a:endParaRPr lang="en-US" altLang="zh-CN" sz="2800" dirty="0"/>
          </a:p>
          <a:p>
            <a:pPr eaLnBrk="1" hangingPunct="1"/>
            <a:r>
              <a:rPr lang="zh-CN" altLang="en-US" sz="2800" dirty="0"/>
              <a:t>能否重用临时变量保存不同中间结果？</a:t>
            </a:r>
            <a:br>
              <a:rPr lang="en-US" altLang="zh-CN" sz="2800" dirty="0"/>
            </a:br>
            <a:r>
              <a:rPr lang="en-US" altLang="zh-CN" sz="2800" dirty="0">
                <a:sym typeface="Wingdings" panose="05000000000000000000" pitchFamily="2" charset="2"/>
              </a:rPr>
              <a:t></a:t>
            </a:r>
            <a:r>
              <a:rPr lang="zh-CN" altLang="en-US" sz="2800" dirty="0">
                <a:sym typeface="Wingdings" panose="05000000000000000000" pitchFamily="2" charset="2"/>
              </a:rPr>
              <a:t>分析变量生存周期：语法制导翻译方法、在生成中间代码时进行优化</a:t>
            </a:r>
            <a:endParaRPr lang="zh-CN" altLang="en-US" sz="2800" dirty="0"/>
          </a:p>
          <a:p>
            <a:pPr eaLnBrk="1" hangingPunct="1"/>
            <a:r>
              <a:rPr lang="en-US" altLang="zh-CN" sz="2800" dirty="0"/>
              <a:t>E→E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+ E</a:t>
            </a:r>
            <a:r>
              <a:rPr lang="en-US" altLang="zh-CN" sz="2800" baseline="-25000" dirty="0"/>
              <a:t>2</a:t>
            </a:r>
            <a:r>
              <a:rPr lang="en-US" altLang="zh-CN" sz="2800" dirty="0">
                <a:sym typeface="Wingdings" panose="05000000000000000000" pitchFamily="2" charset="2"/>
              </a:rPr>
              <a:t></a:t>
            </a:r>
            <a:endParaRPr lang="en-US" altLang="zh-CN" sz="28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计算</a:t>
            </a:r>
            <a:r>
              <a:rPr lang="en-US" altLang="zh-CN" sz="2400" dirty="0"/>
              <a:t>E</a:t>
            </a:r>
            <a:r>
              <a:rPr lang="en-US" altLang="zh-CN" sz="2400" baseline="-25000" dirty="0"/>
              <a:t>1</a:t>
            </a:r>
            <a:r>
              <a:rPr lang="en-US" altLang="zh-CN" sz="2400" dirty="0">
                <a:sym typeface="Wingdings" panose="05000000000000000000" pitchFamily="2" charset="2"/>
              </a:rPr>
              <a:t>t</a:t>
            </a:r>
            <a:r>
              <a:rPr lang="en-US" altLang="zh-CN" sz="2400" baseline="-25000" dirty="0">
                <a:sym typeface="Wingdings" panose="05000000000000000000" pitchFamily="2" charset="2"/>
              </a:rPr>
              <a:t>1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计算</a:t>
            </a:r>
            <a:r>
              <a:rPr lang="en-US" altLang="zh-CN" sz="2400" dirty="0"/>
              <a:t>E</a:t>
            </a:r>
            <a:r>
              <a:rPr lang="en-US" altLang="zh-CN" sz="2400" baseline="-25000" dirty="0"/>
              <a:t>2</a:t>
            </a:r>
            <a:r>
              <a:rPr lang="en-US" altLang="zh-CN" sz="2400" dirty="0">
                <a:sym typeface="Wingdings" panose="05000000000000000000" pitchFamily="2" charset="2"/>
              </a:rPr>
              <a:t>t</a:t>
            </a:r>
            <a:r>
              <a:rPr lang="en-US" altLang="zh-CN" sz="2400" baseline="-25000" dirty="0">
                <a:sym typeface="Wingdings" panose="05000000000000000000" pitchFamily="2" charset="2"/>
              </a:rPr>
              <a:t>2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ym typeface="Wingdings" panose="05000000000000000000" pitchFamily="2" charset="2"/>
              </a:rPr>
              <a:t>t</a:t>
            </a:r>
            <a:r>
              <a:rPr lang="en-US" altLang="zh-CN" sz="2400" baseline="-25000" dirty="0">
                <a:sym typeface="Wingdings" panose="05000000000000000000" pitchFamily="2" charset="2"/>
              </a:rPr>
              <a:t>3</a:t>
            </a:r>
            <a:r>
              <a:rPr lang="en-US" altLang="zh-CN" sz="2400" dirty="0">
                <a:sym typeface="Wingdings" panose="05000000000000000000" pitchFamily="2" charset="2"/>
              </a:rPr>
              <a:t> = t</a:t>
            </a:r>
            <a:r>
              <a:rPr lang="en-US" altLang="zh-CN" sz="2400" baseline="-25000" dirty="0">
                <a:sym typeface="Wingdings" panose="05000000000000000000" pitchFamily="2" charset="2"/>
              </a:rPr>
              <a:t>1</a:t>
            </a:r>
            <a:r>
              <a:rPr lang="en-US" altLang="zh-CN" sz="2400" dirty="0">
                <a:sym typeface="Wingdings" panose="05000000000000000000" pitchFamily="2" charset="2"/>
              </a:rPr>
              <a:t> + t</a:t>
            </a:r>
            <a:r>
              <a:rPr lang="en-US" altLang="zh-CN" sz="2400" baseline="-25000" dirty="0">
                <a:sym typeface="Wingdings" panose="05000000000000000000" pitchFamily="2" charset="2"/>
              </a:rPr>
              <a:t>2</a:t>
            </a:r>
            <a:endParaRPr lang="en-US" altLang="zh-CN" sz="2400" dirty="0">
              <a:sym typeface="Wingdings" panose="05000000000000000000" pitchFamily="2" charset="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51920" y="5537537"/>
            <a:ext cx="52360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0000"/>
                </a:solidFill>
                <a:sym typeface="Wingdings" panose="05000000000000000000" pitchFamily="2" charset="2"/>
              </a:rPr>
              <a:t>t</a:t>
            </a:r>
            <a:r>
              <a:rPr lang="en-US" altLang="zh-CN" sz="2000" baseline="-25000" dirty="0">
                <a:solidFill>
                  <a:srgbClr val="FF0000"/>
                </a:solidFill>
                <a:sym typeface="Wingdings" panose="05000000000000000000" pitchFamily="2" charset="2"/>
              </a:rPr>
              <a:t>1 </a:t>
            </a:r>
            <a:r>
              <a:rPr lang="zh-CN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sym typeface="Wingdings" panose="05000000000000000000" pitchFamily="2" charset="2"/>
              </a:rPr>
              <a:t>t</a:t>
            </a:r>
            <a:r>
              <a:rPr lang="en-US" altLang="zh-CN" sz="2000" baseline="-25000" dirty="0">
                <a:solidFill>
                  <a:srgbClr val="FF0000"/>
                </a:solidFill>
                <a:sym typeface="Wingdings" panose="05000000000000000000" pitchFamily="2" charset="2"/>
              </a:rPr>
              <a:t>2</a:t>
            </a:r>
            <a:r>
              <a:rPr lang="zh-CN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生存周期结束！</a:t>
            </a:r>
            <a:r>
              <a:rPr lang="en-US" altLang="zh-CN" sz="2000" dirty="0">
                <a:solidFill>
                  <a:srgbClr val="FF0000"/>
                </a:solidFill>
                <a:sym typeface="Wingdings" panose="05000000000000000000" pitchFamily="2" charset="2"/>
              </a:rPr>
              <a:t>——</a:t>
            </a:r>
            <a:r>
              <a:rPr lang="zh-CN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孩子节点、子表达式、运算对象</a:t>
            </a:r>
            <a:endParaRPr lang="en-US" altLang="zh-CN" sz="20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0" lvl="1"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0000"/>
                </a:solidFill>
                <a:sym typeface="Wingdings" panose="05000000000000000000" pitchFamily="2" charset="2"/>
              </a:rPr>
              <a:t>t</a:t>
            </a:r>
            <a:r>
              <a:rPr lang="en-US" altLang="zh-CN" sz="2000" baseline="-25000" dirty="0">
                <a:solidFill>
                  <a:srgbClr val="FF0000"/>
                </a:solidFill>
                <a:sym typeface="Wingdings" panose="05000000000000000000" pitchFamily="2" charset="2"/>
              </a:rPr>
              <a:t>3</a:t>
            </a:r>
            <a:r>
              <a:rPr lang="zh-CN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生存周期开始！</a:t>
            </a:r>
            <a:r>
              <a:rPr lang="en-US" altLang="zh-CN" sz="2000" dirty="0">
                <a:solidFill>
                  <a:srgbClr val="FF0000"/>
                </a:solidFill>
                <a:sym typeface="Wingdings" panose="05000000000000000000" pitchFamily="2" charset="2"/>
              </a:rPr>
              <a:t>——</a:t>
            </a:r>
            <a:r>
              <a:rPr lang="zh-CN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父节点、运算结果</a:t>
            </a:r>
            <a:endParaRPr lang="en-US" altLang="zh-CN" sz="2000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重用算法</a:t>
            </a:r>
            <a:endParaRPr lang="zh-CN" altLang="en-US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观察不同临时名字生存周期间的关系</a:t>
            </a:r>
            <a:endParaRPr lang="zh-CN" altLang="en-US" sz="2800" dirty="0"/>
          </a:p>
          <a:p>
            <a:pPr eaLnBrk="1" hangingPunct="1"/>
            <a:r>
              <a:rPr lang="zh-CN" altLang="en-US" sz="2800" dirty="0">
                <a:solidFill>
                  <a:srgbClr val="FF0000"/>
                </a:solidFill>
                <a:sym typeface="Wingdings" panose="05000000000000000000" pitchFamily="2" charset="2"/>
              </a:rPr>
              <a:t>嵌套、前后，但不会交叉！</a:t>
            </a:r>
            <a:endParaRPr lang="en-US" altLang="zh-CN" sz="28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eaLnBrk="1" hangingPunct="1"/>
            <a:r>
              <a:rPr lang="en-US" altLang="zh-CN" sz="2800" dirty="0">
                <a:solidFill>
                  <a:srgbClr val="FF0000"/>
                </a:solidFill>
                <a:sym typeface="Wingdings" panose="05000000000000000000" pitchFamily="2" charset="2"/>
              </a:rPr>
              <a:t></a:t>
            </a:r>
            <a:r>
              <a:rPr lang="zh-CN" altLang="en-US" sz="2800" dirty="0">
                <a:solidFill>
                  <a:srgbClr val="FF0000"/>
                </a:solidFill>
                <a:sym typeface="Wingdings" panose="05000000000000000000" pitchFamily="2" charset="2"/>
              </a:rPr>
              <a:t>栈！</a:t>
            </a:r>
            <a:endParaRPr lang="en-US" altLang="zh-CN" sz="28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sz="2800" dirty="0">
                <a:sym typeface="Wingdings" panose="05000000000000000000" pitchFamily="2" charset="2"/>
              </a:rPr>
              <a:t>产生式翻译：</a:t>
            </a:r>
            <a:br>
              <a:rPr lang="en-US" altLang="zh-CN" sz="2800" dirty="0">
                <a:sym typeface="Wingdings" panose="05000000000000000000" pitchFamily="2" charset="2"/>
              </a:rPr>
            </a:br>
            <a:r>
              <a:rPr lang="zh-CN" altLang="en-US" sz="2800" dirty="0">
                <a:sym typeface="Wingdings" panose="05000000000000000000" pitchFamily="2" charset="2"/>
              </a:rPr>
              <a:t>孩子节点临时变量弹出栈、归还临时名字池</a:t>
            </a:r>
            <a:br>
              <a:rPr lang="en-US" altLang="zh-CN" sz="2800" dirty="0">
                <a:sym typeface="Wingdings" panose="05000000000000000000" pitchFamily="2" charset="2"/>
              </a:rPr>
            </a:br>
            <a:r>
              <a:rPr lang="zh-CN" altLang="en-US" sz="2800" dirty="0">
                <a:sym typeface="Wingdings" panose="05000000000000000000" pitchFamily="2" charset="2"/>
              </a:rPr>
              <a:t>父节点从池中分配临时名字、压栈</a:t>
            </a:r>
            <a:endParaRPr lang="zh-CN" altLang="en-US" sz="2800" dirty="0"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sz="2800" dirty="0">
                <a:sym typeface="Wingdings" panose="05000000000000000000" pitchFamily="2" charset="2"/>
              </a:rPr>
              <a:t>不显式使用栈</a:t>
            </a:r>
            <a:r>
              <a:rPr lang="en-US" altLang="zh-CN" sz="2800" dirty="0">
                <a:sym typeface="Wingdings" panose="05000000000000000000" pitchFamily="2" charset="2"/>
              </a:rPr>
              <a:t>——</a:t>
            </a:r>
            <a:r>
              <a:rPr lang="zh-CN" altLang="en-US" sz="2800" dirty="0">
                <a:sym typeface="Wingdings" panose="05000000000000000000" pitchFamily="2" charset="2"/>
              </a:rPr>
              <a:t>计数器</a:t>
            </a:r>
            <a:r>
              <a:rPr lang="en-US" altLang="zh-CN" sz="2800" dirty="0">
                <a:sym typeface="Wingdings" panose="05000000000000000000" pitchFamily="2" charset="2"/>
              </a:rPr>
              <a:t>c</a:t>
            </a:r>
            <a:r>
              <a:rPr lang="zh-CN" altLang="en-US" sz="2800" dirty="0">
                <a:sym typeface="Wingdings" panose="05000000000000000000" pitchFamily="2" charset="2"/>
              </a:rPr>
              <a:t>，初始为</a:t>
            </a:r>
            <a:r>
              <a:rPr lang="en-US" altLang="zh-CN" sz="2800" dirty="0">
                <a:sym typeface="Wingdings" panose="05000000000000000000" pitchFamily="2" charset="2"/>
              </a:rPr>
              <a:t>0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sz="2400" dirty="0">
                <a:sym typeface="Wingdings" panose="05000000000000000000" pitchFamily="2" charset="2"/>
              </a:rPr>
              <a:t>临时名字作为运算对象使用：</a:t>
            </a:r>
            <a:r>
              <a:rPr lang="en-US" altLang="zh-CN" sz="2400" dirty="0">
                <a:sym typeface="Wingdings" panose="05000000000000000000" pitchFamily="2" charset="2"/>
              </a:rPr>
              <a:t>c--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sz="2400" dirty="0">
                <a:sym typeface="Wingdings" panose="05000000000000000000" pitchFamily="2" charset="2"/>
              </a:rPr>
              <a:t>生成新的临时名字：</a:t>
            </a:r>
            <a:r>
              <a:rPr lang="en-US" altLang="zh-CN" sz="2400" dirty="0">
                <a:sym typeface="Wingdings" panose="05000000000000000000" pitchFamily="2" charset="2"/>
              </a:rPr>
              <a:t>$c</a:t>
            </a:r>
            <a:r>
              <a:rPr lang="zh-CN" altLang="en-US" sz="2400" dirty="0">
                <a:sym typeface="Wingdings" panose="05000000000000000000" pitchFamily="2" charset="2"/>
              </a:rPr>
              <a:t>，</a:t>
            </a:r>
            <a:r>
              <a:rPr lang="en-US" altLang="zh-CN" sz="2400" dirty="0" err="1">
                <a:sym typeface="Wingdings" panose="05000000000000000000" pitchFamily="2" charset="2"/>
              </a:rPr>
              <a:t>c++</a:t>
            </a:r>
            <a:endParaRPr lang="en-US" altLang="zh-CN" sz="2400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8.1</a:t>
            </a:r>
            <a:endParaRPr lang="en-US" altLang="zh-CN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x = a * b + c * d – e * f</a:t>
            </a:r>
            <a:endParaRPr lang="en-US" altLang="zh-CN"/>
          </a:p>
          <a:p>
            <a:pPr eaLnBrk="1" hangingPunct="1"/>
            <a:endParaRPr lang="en-US" altLang="zh-CN"/>
          </a:p>
        </p:txBody>
      </p:sp>
      <p:pic>
        <p:nvPicPr>
          <p:cNvPr id="24580" name="Picture 4" descr="reus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981200"/>
            <a:ext cx="3048000" cy="353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Text Box 5"/>
          <p:cNvSpPr txBox="1">
            <a:spLocks noChangeArrowheads="1"/>
          </p:cNvSpPr>
          <p:nvPr/>
        </p:nvSpPr>
        <p:spPr bwMode="ltGray">
          <a:xfrm>
            <a:off x="228600" y="2819400"/>
            <a:ext cx="2895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3300"/>
                </a:solidFill>
              </a:rPr>
              <a:t>$0, $1</a:t>
            </a:r>
            <a:r>
              <a:rPr lang="zh-CN" altLang="en-US" sz="2000">
                <a:solidFill>
                  <a:srgbClr val="FF3300"/>
                </a:solidFill>
              </a:rPr>
              <a:t>为运算对象，</a:t>
            </a:r>
            <a:r>
              <a:rPr lang="en-US" altLang="zh-CN" sz="2000">
                <a:solidFill>
                  <a:srgbClr val="FF3300"/>
                </a:solidFill>
              </a:rPr>
              <a:t>c</a:t>
            </a:r>
            <a:r>
              <a:rPr lang="zh-CN" altLang="en-US" sz="2000">
                <a:solidFill>
                  <a:srgbClr val="FF3300"/>
                </a:solidFill>
              </a:rPr>
              <a:t>减</a:t>
            </a:r>
            <a:r>
              <a:rPr lang="en-US" altLang="zh-CN" sz="2000">
                <a:solidFill>
                  <a:srgbClr val="FF3300"/>
                </a:solidFill>
              </a:rPr>
              <a:t>2</a:t>
            </a:r>
            <a:r>
              <a:rPr lang="zh-CN" altLang="en-US" sz="2000">
                <a:solidFill>
                  <a:srgbClr val="FF3300"/>
                </a:solidFill>
              </a:rPr>
              <a:t>，变为</a:t>
            </a:r>
            <a:r>
              <a:rPr lang="en-US" altLang="zh-CN" sz="2000">
                <a:solidFill>
                  <a:srgbClr val="FF3300"/>
                </a:solidFill>
              </a:rPr>
              <a:t>0</a:t>
            </a:r>
            <a:r>
              <a:rPr lang="en-US" altLang="zh-CN" sz="2000">
                <a:solidFill>
                  <a:srgbClr val="FF3300"/>
                </a:solidFill>
                <a:sym typeface="Wingdings" panose="05000000000000000000" pitchFamily="2" charset="2"/>
              </a:rPr>
              <a:t></a:t>
            </a:r>
            <a:r>
              <a:rPr lang="zh-CN" altLang="en-US" sz="2000">
                <a:solidFill>
                  <a:srgbClr val="FF3300"/>
                </a:solidFill>
                <a:sym typeface="Wingdings" panose="05000000000000000000" pitchFamily="2" charset="2"/>
              </a:rPr>
              <a:t>结果又保存在</a:t>
            </a:r>
            <a:r>
              <a:rPr lang="en-US" altLang="zh-CN" sz="2000">
                <a:solidFill>
                  <a:srgbClr val="FF3300"/>
                </a:solidFill>
                <a:sym typeface="Wingdings" panose="05000000000000000000" pitchFamily="2" charset="2"/>
              </a:rPr>
              <a:t>$0</a:t>
            </a:r>
            <a:endParaRPr lang="en-US" altLang="zh-CN" sz="2000">
              <a:solidFill>
                <a:srgbClr val="FF3300"/>
              </a:solidFill>
            </a:endParaRPr>
          </a:p>
        </p:txBody>
      </p:sp>
      <p:sp>
        <p:nvSpPr>
          <p:cNvPr id="24582" name="Line 6"/>
          <p:cNvSpPr>
            <a:spLocks noChangeShapeType="1"/>
          </p:cNvSpPr>
          <p:nvPr/>
        </p:nvSpPr>
        <p:spPr bwMode="ltGray">
          <a:xfrm>
            <a:off x="1981200" y="3429000"/>
            <a:ext cx="137160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8.3.3  </a:t>
            </a:r>
            <a:r>
              <a:rPr lang="zh-CN" altLang="en-US"/>
              <a:t>数组元素寻址</a:t>
            </a:r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7964488" cy="4724400"/>
          </a:xfrm>
        </p:spPr>
        <p:txBody>
          <a:bodyPr/>
          <a:lstStyle/>
          <a:p>
            <a:pPr eaLnBrk="1" hangingPunct="1"/>
            <a:r>
              <a:rPr lang="zh-CN" altLang="en-US" sz="2800"/>
              <a:t>一维数组</a:t>
            </a:r>
            <a:endParaRPr lang="zh-CN" altLang="en-US" sz="2800"/>
          </a:p>
          <a:p>
            <a:pPr lvl="1" eaLnBrk="1" hangingPunct="1"/>
            <a:r>
              <a:rPr lang="en-US" altLang="zh-CN" sz="2400"/>
              <a:t>type A[low..high];</a:t>
            </a:r>
            <a:endParaRPr lang="en-US" altLang="zh-CN" sz="2400"/>
          </a:p>
          <a:p>
            <a:pPr lvl="1" eaLnBrk="1" hangingPunct="1"/>
            <a:r>
              <a:rPr lang="zh-CN" altLang="en-US" sz="2400"/>
              <a:t>计算</a:t>
            </a:r>
            <a:r>
              <a:rPr lang="en-US" altLang="zh-CN" sz="2400"/>
              <a:t>A[i]</a:t>
            </a:r>
            <a:r>
              <a:rPr lang="zh-CN" altLang="en-US" sz="2400"/>
              <a:t>的地址</a:t>
            </a:r>
            <a:endParaRPr lang="zh-CN" altLang="en-US" sz="2400"/>
          </a:p>
          <a:p>
            <a:pPr lvl="2" eaLnBrk="1" hangingPunct="1"/>
            <a:r>
              <a:rPr lang="en-US" altLang="zh-CN" sz="2000"/>
              <a:t>A</a:t>
            </a:r>
            <a:r>
              <a:rPr lang="zh-CN" altLang="en-US" sz="2000"/>
              <a:t>的起始地址</a:t>
            </a:r>
            <a:r>
              <a:rPr lang="en-US" altLang="zh-CN" sz="2000"/>
              <a:t>——base</a:t>
            </a:r>
            <a:endParaRPr lang="en-US" altLang="zh-CN" sz="2000"/>
          </a:p>
          <a:p>
            <a:pPr lvl="2" eaLnBrk="1" hangingPunct="1"/>
            <a:r>
              <a:rPr lang="zh-CN" altLang="en-US" sz="2000"/>
              <a:t>数组元素大小</a:t>
            </a:r>
            <a:r>
              <a:rPr lang="en-US" altLang="zh-CN" sz="2000"/>
              <a:t>——w</a:t>
            </a:r>
            <a:endParaRPr lang="en-US" altLang="zh-CN" sz="2000"/>
          </a:p>
          <a:p>
            <a:pPr lvl="2" eaLnBrk="1" hangingPunct="1"/>
            <a:r>
              <a:rPr lang="en-US" altLang="zh-CN" sz="2000"/>
              <a:t>A[i]</a:t>
            </a:r>
            <a:r>
              <a:rPr lang="zh-CN" altLang="en-US" sz="2000"/>
              <a:t>与</a:t>
            </a:r>
            <a:r>
              <a:rPr lang="en-US" altLang="zh-CN" sz="2000"/>
              <a:t>A</a:t>
            </a:r>
            <a:r>
              <a:rPr lang="zh-CN" altLang="en-US" sz="2000"/>
              <a:t>起始位置的“距离”</a:t>
            </a:r>
            <a:r>
              <a:rPr lang="en-US" altLang="zh-CN" sz="2000"/>
              <a:t>——(i – low) * w</a:t>
            </a:r>
            <a:endParaRPr lang="en-US" altLang="zh-CN" sz="2000"/>
          </a:p>
          <a:p>
            <a:pPr lvl="2" eaLnBrk="1" hangingPunct="1"/>
            <a:r>
              <a:rPr lang="zh-CN" altLang="en-US" sz="2000"/>
              <a:t>最终结果：</a:t>
            </a:r>
            <a:r>
              <a:rPr lang="en-US" altLang="zh-CN" sz="2000"/>
              <a:t>base + (i – low) * w</a:t>
            </a:r>
            <a:br>
              <a:rPr lang="en-US" altLang="zh-CN" sz="2000"/>
            </a:br>
            <a:r>
              <a:rPr lang="en-US" altLang="zh-CN" sz="2000">
                <a:sym typeface="Wingdings" panose="05000000000000000000" pitchFamily="2" charset="2"/>
              </a:rPr>
              <a:t> i * w + (base – low * w)</a:t>
            </a:r>
            <a:endParaRPr lang="en-US" altLang="zh-CN" sz="2000">
              <a:sym typeface="Wingdings" panose="05000000000000000000" pitchFamily="2" charset="2"/>
            </a:endParaRPr>
          </a:p>
          <a:p>
            <a:pPr lvl="2" eaLnBrk="1" hangingPunct="1"/>
            <a:r>
              <a:rPr lang="en-US" altLang="zh-CN" sz="2000">
                <a:sym typeface="Wingdings" panose="05000000000000000000" pitchFamily="2" charset="2"/>
              </a:rPr>
              <a:t>(base – low * w)</a:t>
            </a:r>
            <a:r>
              <a:rPr lang="zh-CN" altLang="en-US" sz="2000">
                <a:sym typeface="Wingdings" panose="05000000000000000000" pitchFamily="2" charset="2"/>
              </a:rPr>
              <a:t>为常量，可在编译时计算</a:t>
            </a:r>
            <a:endParaRPr lang="zh-CN" altLang="en-US" sz="2000">
              <a:sym typeface="Wingdings" panose="05000000000000000000" pitchFamily="2" charset="2"/>
            </a:endParaRPr>
          </a:p>
        </p:txBody>
      </p:sp>
      <p:graphicFrame>
        <p:nvGraphicFramePr>
          <p:cNvPr id="536620" name="Group 44"/>
          <p:cNvGraphicFramePr>
            <a:graphicFrameLocks noGrp="1"/>
          </p:cNvGraphicFramePr>
          <p:nvPr/>
        </p:nvGraphicFramePr>
        <p:xfrm>
          <a:off x="7162800" y="1371600"/>
          <a:ext cx="1600200" cy="2362200"/>
        </p:xfrm>
        <a:graphic>
          <a:graphicData uri="http://schemas.openxmlformats.org/drawingml/2006/table">
            <a:tbl>
              <a:tblPr/>
              <a:tblGrid>
                <a:gridCol w="1600200"/>
              </a:tblGrid>
              <a:tr h="12271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A[i]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5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5614" name="Text Box 38"/>
          <p:cNvSpPr txBox="1">
            <a:spLocks noChangeArrowheads="1"/>
          </p:cNvSpPr>
          <p:nvPr/>
        </p:nvSpPr>
        <p:spPr bwMode="ltGray">
          <a:xfrm>
            <a:off x="5791200" y="12192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base</a:t>
            </a:r>
            <a:endParaRPr lang="en-US" altLang="zh-CN" sz="2000"/>
          </a:p>
        </p:txBody>
      </p:sp>
      <p:sp>
        <p:nvSpPr>
          <p:cNvPr id="25615" name="Line 39"/>
          <p:cNvSpPr>
            <a:spLocks noChangeShapeType="1"/>
          </p:cNvSpPr>
          <p:nvPr/>
        </p:nvSpPr>
        <p:spPr bwMode="ltGray">
          <a:xfrm>
            <a:off x="6477000" y="1371600"/>
            <a:ext cx="6096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16" name="AutoShape 40"/>
          <p:cNvSpPr/>
          <p:nvPr/>
        </p:nvSpPr>
        <p:spPr bwMode="ltGray">
          <a:xfrm>
            <a:off x="6705600" y="1371600"/>
            <a:ext cx="381000" cy="1219200"/>
          </a:xfrm>
          <a:prstGeom prst="leftBrace">
            <a:avLst>
              <a:gd name="adj1" fmla="val 26667"/>
              <a:gd name="adj2" fmla="val 51282"/>
            </a:avLst>
          </a:prstGeom>
          <a:noFill/>
          <a:ln w="254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25617" name="Text Box 41"/>
          <p:cNvSpPr txBox="1">
            <a:spLocks noChangeArrowheads="1"/>
          </p:cNvSpPr>
          <p:nvPr/>
        </p:nvSpPr>
        <p:spPr bwMode="ltGray">
          <a:xfrm>
            <a:off x="5257800" y="1752600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(i – low) * w</a:t>
            </a:r>
            <a:endParaRPr lang="en-US" altLang="zh-CN"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数组元素寻址（续）</a:t>
            </a:r>
            <a:endParaRPr lang="zh-CN" alt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371600"/>
            <a:ext cx="7010400" cy="5486400"/>
          </a:xfrm>
        </p:spPr>
        <p:txBody>
          <a:bodyPr/>
          <a:lstStyle/>
          <a:p>
            <a:pPr eaLnBrk="1" hangingPunct="1"/>
            <a:r>
              <a:rPr lang="zh-CN" altLang="en-US" sz="2800"/>
              <a:t>二维数组：</a:t>
            </a:r>
            <a:endParaRPr lang="zh-CN" altLang="en-US" sz="2800"/>
          </a:p>
          <a:p>
            <a:pPr lvl="1" eaLnBrk="1" hangingPunct="1"/>
            <a:r>
              <a:rPr lang="en-US" altLang="zh-CN" sz="2400"/>
              <a:t>type A[low</a:t>
            </a:r>
            <a:r>
              <a:rPr lang="en-US" altLang="zh-CN" sz="2400" baseline="-25000"/>
              <a:t>1</a:t>
            </a:r>
            <a:r>
              <a:rPr lang="en-US" altLang="zh-CN" sz="2400"/>
              <a:t>..high</a:t>
            </a:r>
            <a:r>
              <a:rPr lang="en-US" altLang="zh-CN" sz="2400" baseline="-25000"/>
              <a:t>1</a:t>
            </a:r>
            <a:r>
              <a:rPr lang="en-US" altLang="zh-CN" sz="2400"/>
              <a:t>, low</a:t>
            </a:r>
            <a:r>
              <a:rPr lang="en-US" altLang="zh-CN" sz="2400" baseline="-25000"/>
              <a:t>2</a:t>
            </a:r>
            <a:r>
              <a:rPr lang="en-US" altLang="zh-CN" sz="2400"/>
              <a:t>..high</a:t>
            </a:r>
            <a:r>
              <a:rPr lang="en-US" altLang="zh-CN" sz="2400" baseline="-25000"/>
              <a:t>2</a:t>
            </a:r>
            <a:r>
              <a:rPr lang="en-US" altLang="zh-CN" sz="2400"/>
              <a:t>]</a:t>
            </a:r>
            <a:endParaRPr lang="en-US" altLang="zh-CN" sz="2400"/>
          </a:p>
          <a:p>
            <a:pPr lvl="1" eaLnBrk="1" hangingPunct="1"/>
            <a:r>
              <a:rPr lang="zh-CN" altLang="en-US" sz="2400"/>
              <a:t>计算</a:t>
            </a:r>
            <a:r>
              <a:rPr lang="en-US" altLang="zh-CN" sz="2400"/>
              <a:t>A[i</a:t>
            </a:r>
            <a:r>
              <a:rPr lang="en-US" altLang="zh-CN" sz="2400" baseline="-25000"/>
              <a:t>1</a:t>
            </a:r>
            <a:r>
              <a:rPr lang="en-US" altLang="zh-CN" sz="2400"/>
              <a:t>, i</a:t>
            </a:r>
            <a:r>
              <a:rPr lang="en-US" altLang="zh-CN" sz="2400" baseline="-25000"/>
              <a:t>2</a:t>
            </a:r>
            <a:r>
              <a:rPr lang="en-US" altLang="zh-CN" sz="2400"/>
              <a:t>]</a:t>
            </a:r>
            <a:r>
              <a:rPr lang="zh-CN" altLang="en-US" sz="2400"/>
              <a:t>地址</a:t>
            </a:r>
            <a:endParaRPr lang="zh-CN" altLang="en-US" sz="2400"/>
          </a:p>
          <a:p>
            <a:pPr lvl="2" eaLnBrk="1" hangingPunct="1"/>
            <a:r>
              <a:rPr lang="zh-CN" altLang="en-US" sz="2000"/>
              <a:t>数组的数组，两次利用一维数组计算方法</a:t>
            </a:r>
            <a:endParaRPr lang="zh-CN" altLang="en-US" sz="2000"/>
          </a:p>
          <a:p>
            <a:pPr lvl="2" eaLnBrk="1" hangingPunct="1"/>
            <a:r>
              <a:rPr lang="zh-CN" altLang="en-US" sz="2000"/>
              <a:t>行：</a:t>
            </a:r>
            <a:r>
              <a:rPr lang="en-US" altLang="zh-CN" sz="2000"/>
              <a:t>n</a:t>
            </a:r>
            <a:r>
              <a:rPr lang="en-US" altLang="zh-CN" sz="2000" baseline="-25000"/>
              <a:t>2</a:t>
            </a:r>
            <a:r>
              <a:rPr lang="en-US" altLang="zh-CN" sz="2000"/>
              <a:t>=high</a:t>
            </a:r>
            <a:r>
              <a:rPr lang="en-US" altLang="zh-CN" sz="2000" baseline="-25000"/>
              <a:t>2</a:t>
            </a:r>
            <a:r>
              <a:rPr lang="en-US" altLang="zh-CN" sz="2000"/>
              <a:t>–low</a:t>
            </a:r>
            <a:r>
              <a:rPr lang="en-US" altLang="zh-CN" sz="2000" baseline="-25000"/>
              <a:t>2</a:t>
            </a:r>
            <a:r>
              <a:rPr lang="en-US" altLang="zh-CN" sz="2000"/>
              <a:t>+1</a:t>
            </a:r>
            <a:r>
              <a:rPr lang="zh-CN" altLang="en-US" sz="2000"/>
              <a:t>个元素的一维数组</a:t>
            </a:r>
            <a:r>
              <a:rPr lang="zh-CN" altLang="en-US" sz="2000">
                <a:sym typeface="Wingdings" panose="05000000000000000000" pitchFamily="2" charset="2"/>
              </a:rPr>
              <a:t>元素</a:t>
            </a:r>
            <a:br>
              <a:rPr lang="zh-CN" altLang="en-US" sz="2000">
                <a:sym typeface="Wingdings" panose="05000000000000000000" pitchFamily="2" charset="2"/>
              </a:rPr>
            </a:br>
            <a:r>
              <a:rPr lang="zh-CN" altLang="en-US" sz="2000">
                <a:sym typeface="Wingdings" panose="05000000000000000000" pitchFamily="2" charset="2"/>
              </a:rPr>
              <a:t>二维数组：</a:t>
            </a:r>
            <a:r>
              <a:rPr lang="en-US" altLang="zh-CN" sz="2000">
                <a:sym typeface="Wingdings" panose="05000000000000000000" pitchFamily="2" charset="2"/>
              </a:rPr>
              <a:t>n</a:t>
            </a:r>
            <a:r>
              <a:rPr lang="en-US" altLang="zh-CN" sz="2000" baseline="-25000">
                <a:sym typeface="Wingdings" panose="05000000000000000000" pitchFamily="2" charset="2"/>
              </a:rPr>
              <a:t>1</a:t>
            </a:r>
            <a:r>
              <a:rPr lang="en-US" altLang="zh-CN" sz="2000">
                <a:sym typeface="Wingdings" panose="05000000000000000000" pitchFamily="2" charset="2"/>
              </a:rPr>
              <a:t>=high</a:t>
            </a:r>
            <a:r>
              <a:rPr lang="en-US" altLang="zh-CN" sz="2000" baseline="-25000">
                <a:sym typeface="Wingdings" panose="05000000000000000000" pitchFamily="2" charset="2"/>
              </a:rPr>
              <a:t>1</a:t>
            </a:r>
            <a:r>
              <a:rPr lang="en-US" altLang="zh-CN" sz="2000">
                <a:sym typeface="Wingdings" panose="05000000000000000000" pitchFamily="2" charset="2"/>
              </a:rPr>
              <a:t>-low</a:t>
            </a:r>
            <a:r>
              <a:rPr lang="en-US" altLang="zh-CN" sz="2000" baseline="-25000">
                <a:sym typeface="Wingdings" panose="05000000000000000000" pitchFamily="2" charset="2"/>
              </a:rPr>
              <a:t>1</a:t>
            </a:r>
            <a:r>
              <a:rPr lang="en-US" altLang="zh-CN" sz="2000">
                <a:sym typeface="Wingdings" panose="05000000000000000000" pitchFamily="2" charset="2"/>
              </a:rPr>
              <a:t>+1</a:t>
            </a:r>
            <a:r>
              <a:rPr lang="zh-CN" altLang="en-US" sz="2000">
                <a:sym typeface="Wingdings" panose="05000000000000000000" pitchFamily="2" charset="2"/>
              </a:rPr>
              <a:t>个“行”的一维数组</a:t>
            </a:r>
            <a:endParaRPr lang="zh-CN" altLang="en-US" sz="2000"/>
          </a:p>
          <a:p>
            <a:pPr lvl="2" eaLnBrk="1" hangingPunct="1"/>
            <a:r>
              <a:rPr lang="en-US" altLang="zh-CN" sz="2000"/>
              <a:t>i</a:t>
            </a:r>
            <a:r>
              <a:rPr lang="en-US" altLang="zh-CN" sz="2000" baseline="-25000"/>
              <a:t>1</a:t>
            </a:r>
            <a:r>
              <a:rPr lang="zh-CN" altLang="en-US" sz="2000"/>
              <a:t>行的位置 </a:t>
            </a:r>
            <a:r>
              <a:rPr lang="en-US" altLang="zh-CN" sz="2000"/>
              <a:t>(i</a:t>
            </a:r>
            <a:r>
              <a:rPr lang="en-US" altLang="zh-CN" sz="2000" baseline="-25000"/>
              <a:t>1 </a:t>
            </a:r>
            <a:r>
              <a:rPr lang="en-US" altLang="zh-CN" sz="2000"/>
              <a:t>- low</a:t>
            </a:r>
            <a:r>
              <a:rPr lang="en-US" altLang="zh-CN" sz="2000" baseline="-25000"/>
              <a:t>1</a:t>
            </a:r>
            <a:r>
              <a:rPr lang="en-US" altLang="zh-CN" sz="2000"/>
              <a:t>) * n</a:t>
            </a:r>
            <a:r>
              <a:rPr lang="en-US" altLang="zh-CN" sz="2000" baseline="-25000"/>
              <a:t>2</a:t>
            </a:r>
            <a:endParaRPr lang="en-US" altLang="zh-CN" sz="2000"/>
          </a:p>
          <a:p>
            <a:pPr lvl="2" eaLnBrk="1" hangingPunct="1"/>
            <a:r>
              <a:rPr lang="en-US" altLang="zh-CN" sz="2000"/>
              <a:t>A[i</a:t>
            </a:r>
            <a:r>
              <a:rPr lang="en-US" altLang="zh-CN" sz="2000" baseline="-25000"/>
              <a:t>1</a:t>
            </a:r>
            <a:r>
              <a:rPr lang="en-US" altLang="zh-CN" sz="2000"/>
              <a:t>, i</a:t>
            </a:r>
            <a:r>
              <a:rPr lang="en-US" altLang="zh-CN" sz="2000" baseline="-25000"/>
              <a:t>2</a:t>
            </a:r>
            <a:r>
              <a:rPr lang="en-US" altLang="zh-CN" sz="2000"/>
              <a:t>]</a:t>
            </a:r>
            <a:r>
              <a:rPr lang="zh-CN" altLang="en-US" sz="2000"/>
              <a:t>距行开始位置的距离：</a:t>
            </a:r>
            <a:r>
              <a:rPr lang="en-US" altLang="zh-CN" sz="2000"/>
              <a:t>i</a:t>
            </a:r>
            <a:r>
              <a:rPr lang="en-US" altLang="zh-CN" sz="2000" baseline="-25000"/>
              <a:t>2</a:t>
            </a:r>
            <a:r>
              <a:rPr lang="en-US" altLang="zh-CN" sz="2000"/>
              <a:t> – low</a:t>
            </a:r>
            <a:r>
              <a:rPr lang="en-US" altLang="zh-CN" sz="2000" baseline="-25000"/>
              <a:t>2</a:t>
            </a:r>
            <a:endParaRPr lang="en-US" altLang="zh-CN" sz="2000"/>
          </a:p>
          <a:p>
            <a:pPr lvl="2" eaLnBrk="1" hangingPunct="1"/>
            <a:r>
              <a:rPr lang="zh-CN" altLang="en-US" sz="2000"/>
              <a:t>最终结果</a:t>
            </a:r>
            <a:r>
              <a:rPr lang="en-US" altLang="zh-CN" sz="2000"/>
              <a:t>base + ((i</a:t>
            </a:r>
            <a:r>
              <a:rPr lang="en-US" altLang="zh-CN" sz="2000" baseline="-25000"/>
              <a:t>1 </a:t>
            </a:r>
            <a:r>
              <a:rPr lang="en-US" altLang="zh-CN" sz="2000"/>
              <a:t>- low</a:t>
            </a:r>
            <a:r>
              <a:rPr lang="en-US" altLang="zh-CN" sz="2000" baseline="-25000"/>
              <a:t>1</a:t>
            </a:r>
            <a:r>
              <a:rPr lang="en-US" altLang="zh-CN" sz="2000"/>
              <a:t>) * n</a:t>
            </a:r>
            <a:r>
              <a:rPr lang="en-US" altLang="zh-CN" sz="2000" baseline="-25000"/>
              <a:t>2</a:t>
            </a:r>
            <a:r>
              <a:rPr lang="en-US" altLang="zh-CN" sz="2000"/>
              <a:t> + i</a:t>
            </a:r>
            <a:r>
              <a:rPr lang="en-US" altLang="zh-CN" sz="2000" baseline="-25000"/>
              <a:t>2</a:t>
            </a:r>
            <a:r>
              <a:rPr lang="en-US" altLang="zh-CN" sz="2000"/>
              <a:t> - low</a:t>
            </a:r>
            <a:r>
              <a:rPr lang="en-US" altLang="zh-CN" sz="2000" baseline="-25000"/>
              <a:t>2</a:t>
            </a:r>
            <a:r>
              <a:rPr lang="en-US" altLang="zh-CN" sz="2000"/>
              <a:t>) * w</a:t>
            </a:r>
            <a:br>
              <a:rPr lang="en-US" altLang="zh-CN" sz="2000"/>
            </a:br>
            <a:r>
              <a:rPr lang="en-US" altLang="zh-CN" sz="2000">
                <a:sym typeface="Wingdings" panose="05000000000000000000" pitchFamily="2" charset="2"/>
              </a:rPr>
              <a:t>((i</a:t>
            </a:r>
            <a:r>
              <a:rPr lang="en-US" altLang="zh-CN" sz="2000" baseline="-25000">
                <a:sym typeface="Wingdings" panose="05000000000000000000" pitchFamily="2" charset="2"/>
              </a:rPr>
              <a:t>1</a:t>
            </a:r>
            <a:r>
              <a:rPr lang="en-US" altLang="zh-CN" sz="2000">
                <a:sym typeface="Wingdings" panose="05000000000000000000" pitchFamily="2" charset="2"/>
              </a:rPr>
              <a:t>*n</a:t>
            </a:r>
            <a:r>
              <a:rPr lang="en-US" altLang="zh-CN" sz="2000" baseline="-25000">
                <a:sym typeface="Wingdings" panose="05000000000000000000" pitchFamily="2" charset="2"/>
              </a:rPr>
              <a:t>2</a:t>
            </a:r>
            <a:r>
              <a:rPr lang="en-US" altLang="zh-CN" sz="2000">
                <a:sym typeface="Wingdings" panose="05000000000000000000" pitchFamily="2" charset="2"/>
              </a:rPr>
              <a:t>) + i</a:t>
            </a:r>
            <a:r>
              <a:rPr lang="en-US" altLang="zh-CN" sz="2000" baseline="-25000">
                <a:sym typeface="Wingdings" panose="05000000000000000000" pitchFamily="2" charset="2"/>
              </a:rPr>
              <a:t>2</a:t>
            </a:r>
            <a:r>
              <a:rPr lang="en-US" altLang="zh-CN" sz="2000">
                <a:sym typeface="Wingdings" panose="05000000000000000000" pitchFamily="2" charset="2"/>
              </a:rPr>
              <a:t>)*w + (base – ((low</a:t>
            </a:r>
            <a:r>
              <a:rPr lang="en-US" altLang="zh-CN" sz="2000" baseline="-25000">
                <a:sym typeface="Wingdings" panose="05000000000000000000" pitchFamily="2" charset="2"/>
              </a:rPr>
              <a:t>1</a:t>
            </a:r>
            <a:r>
              <a:rPr lang="en-US" altLang="zh-CN" sz="2000">
                <a:sym typeface="Wingdings" panose="05000000000000000000" pitchFamily="2" charset="2"/>
              </a:rPr>
              <a:t>*n</a:t>
            </a:r>
            <a:r>
              <a:rPr lang="en-US" altLang="zh-CN" sz="2000" baseline="-25000">
                <a:sym typeface="Wingdings" panose="05000000000000000000" pitchFamily="2" charset="2"/>
              </a:rPr>
              <a:t>2</a:t>
            </a:r>
            <a:r>
              <a:rPr lang="en-US" altLang="zh-CN" sz="2000">
                <a:sym typeface="Wingdings" panose="05000000000000000000" pitchFamily="2" charset="2"/>
              </a:rPr>
              <a:t>) + low</a:t>
            </a:r>
            <a:r>
              <a:rPr lang="en-US" altLang="zh-CN" sz="2000" baseline="-25000">
                <a:sym typeface="Wingdings" panose="05000000000000000000" pitchFamily="2" charset="2"/>
              </a:rPr>
              <a:t>2</a:t>
            </a:r>
            <a:r>
              <a:rPr lang="en-US" altLang="zh-CN" sz="2000">
                <a:sym typeface="Wingdings" panose="05000000000000000000" pitchFamily="2" charset="2"/>
              </a:rPr>
              <a:t>)*w)</a:t>
            </a:r>
            <a:endParaRPr lang="en-US" altLang="zh-CN" sz="2000">
              <a:sym typeface="Wingdings" panose="05000000000000000000" pitchFamily="2" charset="2"/>
            </a:endParaRPr>
          </a:p>
          <a:p>
            <a:pPr lvl="2" eaLnBrk="1" hangingPunct="1"/>
            <a:r>
              <a:rPr lang="en-US" altLang="zh-CN" sz="2000">
                <a:sym typeface="Wingdings" panose="05000000000000000000" pitchFamily="2" charset="2"/>
              </a:rPr>
              <a:t>(base – ((low</a:t>
            </a:r>
            <a:r>
              <a:rPr lang="en-US" altLang="zh-CN" sz="2000" baseline="-25000">
                <a:sym typeface="Wingdings" panose="05000000000000000000" pitchFamily="2" charset="2"/>
              </a:rPr>
              <a:t>1</a:t>
            </a:r>
            <a:r>
              <a:rPr lang="en-US" altLang="zh-CN" sz="2000">
                <a:sym typeface="Wingdings" panose="05000000000000000000" pitchFamily="2" charset="2"/>
              </a:rPr>
              <a:t>*n</a:t>
            </a:r>
            <a:r>
              <a:rPr lang="en-US" altLang="zh-CN" sz="2000" baseline="-25000">
                <a:sym typeface="Wingdings" panose="05000000000000000000" pitchFamily="2" charset="2"/>
              </a:rPr>
              <a:t>2</a:t>
            </a:r>
            <a:r>
              <a:rPr lang="en-US" altLang="zh-CN" sz="2000">
                <a:sym typeface="Wingdings" panose="05000000000000000000" pitchFamily="2" charset="2"/>
              </a:rPr>
              <a:t>) + low</a:t>
            </a:r>
            <a:r>
              <a:rPr lang="en-US" altLang="zh-CN" sz="2000" baseline="-25000">
                <a:sym typeface="Wingdings" panose="05000000000000000000" pitchFamily="2" charset="2"/>
              </a:rPr>
              <a:t>2</a:t>
            </a:r>
            <a:r>
              <a:rPr lang="en-US" altLang="zh-CN" sz="2000">
                <a:sym typeface="Wingdings" panose="05000000000000000000" pitchFamily="2" charset="2"/>
              </a:rPr>
              <a:t>)*w)</a:t>
            </a:r>
            <a:r>
              <a:rPr lang="zh-CN" altLang="en-US" sz="2000">
                <a:sym typeface="Wingdings" panose="05000000000000000000" pitchFamily="2" charset="2"/>
              </a:rPr>
              <a:t>为常量</a:t>
            </a:r>
            <a:endParaRPr lang="zh-CN" altLang="en-US" sz="2000">
              <a:sym typeface="Wingdings" panose="05000000000000000000" pitchFamily="2" charset="2"/>
            </a:endParaRPr>
          </a:p>
        </p:txBody>
      </p:sp>
      <p:graphicFrame>
        <p:nvGraphicFramePr>
          <p:cNvPr id="574512" name="Group 48"/>
          <p:cNvGraphicFramePr>
            <a:graphicFrameLocks noGrp="1"/>
          </p:cNvGraphicFramePr>
          <p:nvPr/>
        </p:nvGraphicFramePr>
        <p:xfrm>
          <a:off x="7543800" y="990600"/>
          <a:ext cx="1447800" cy="3314702"/>
        </p:xfrm>
        <a:graphic>
          <a:graphicData uri="http://schemas.openxmlformats.org/drawingml/2006/table">
            <a:tbl>
              <a:tblPr/>
              <a:tblGrid>
                <a:gridCol w="1447800"/>
              </a:tblGrid>
              <a:tr h="382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A[low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, low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]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7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A[low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, high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]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A[i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, low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]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7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A[i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, i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]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648" name="Text Box 43"/>
          <p:cNvSpPr txBox="1">
            <a:spLocks noChangeArrowheads="1"/>
          </p:cNvSpPr>
          <p:nvPr/>
        </p:nvSpPr>
        <p:spPr bwMode="ltGray">
          <a:xfrm>
            <a:off x="6248400" y="8382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base</a:t>
            </a:r>
            <a:endParaRPr lang="en-US" altLang="zh-CN" sz="2000"/>
          </a:p>
        </p:txBody>
      </p:sp>
      <p:sp>
        <p:nvSpPr>
          <p:cNvPr id="26649" name="Line 44"/>
          <p:cNvSpPr>
            <a:spLocks noChangeShapeType="1"/>
          </p:cNvSpPr>
          <p:nvPr/>
        </p:nvSpPr>
        <p:spPr bwMode="ltGray">
          <a:xfrm>
            <a:off x="6934200" y="990600"/>
            <a:ext cx="6096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50" name="AutoShape 45"/>
          <p:cNvSpPr/>
          <p:nvPr/>
        </p:nvSpPr>
        <p:spPr bwMode="ltGray">
          <a:xfrm>
            <a:off x="7086600" y="990600"/>
            <a:ext cx="381000" cy="1219200"/>
          </a:xfrm>
          <a:prstGeom prst="leftBrace">
            <a:avLst>
              <a:gd name="adj1" fmla="val 26667"/>
              <a:gd name="adj2" fmla="val 51282"/>
            </a:avLst>
          </a:prstGeom>
          <a:noFill/>
          <a:ln w="254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26651" name="Text Box 46"/>
          <p:cNvSpPr txBox="1">
            <a:spLocks noChangeArrowheads="1"/>
          </p:cNvSpPr>
          <p:nvPr/>
        </p:nvSpPr>
        <p:spPr bwMode="ltGray">
          <a:xfrm>
            <a:off x="6324600" y="1371600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n</a:t>
            </a:r>
            <a:r>
              <a:rPr lang="en-US" altLang="zh-CN" sz="2000" baseline="-25000"/>
              <a:t>2</a:t>
            </a:r>
            <a:r>
              <a:rPr lang="en-US" altLang="zh-CN" sz="2000"/>
              <a:t> * w</a:t>
            </a:r>
            <a:endParaRPr lang="en-US" altLang="zh-CN"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数组元素寻址（续）</a:t>
            </a: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7964488" cy="4724400"/>
          </a:xfrm>
        </p:spPr>
        <p:txBody>
          <a:bodyPr/>
          <a:lstStyle/>
          <a:p>
            <a:pPr eaLnBrk="1" hangingPunct="1"/>
            <a:r>
              <a:rPr lang="zh-CN" altLang="en-US"/>
              <a:t>扩展到多维情况</a:t>
            </a:r>
            <a:endParaRPr lang="zh-CN" altLang="en-US"/>
          </a:p>
          <a:p>
            <a:pPr lvl="1" eaLnBrk="1" hangingPunct="1"/>
            <a:r>
              <a:rPr lang="en-US" altLang="zh-CN"/>
              <a:t>type A[low</a:t>
            </a:r>
            <a:r>
              <a:rPr lang="en-US" altLang="zh-CN" baseline="-25000"/>
              <a:t>1</a:t>
            </a:r>
            <a:r>
              <a:rPr lang="en-US" altLang="zh-CN"/>
              <a:t>..high</a:t>
            </a:r>
            <a:r>
              <a:rPr lang="en-US" altLang="zh-CN" baseline="-25000"/>
              <a:t>1</a:t>
            </a:r>
            <a:r>
              <a:rPr lang="en-US" altLang="zh-CN"/>
              <a:t>, …, low</a:t>
            </a:r>
            <a:r>
              <a:rPr lang="en-US" altLang="zh-CN" baseline="-25000"/>
              <a:t>k</a:t>
            </a:r>
            <a:r>
              <a:rPr lang="en-US" altLang="zh-CN"/>
              <a:t>..high</a:t>
            </a:r>
            <a:r>
              <a:rPr lang="en-US" altLang="zh-CN" baseline="-25000"/>
              <a:t>k</a:t>
            </a:r>
            <a:r>
              <a:rPr lang="en-US" altLang="zh-CN"/>
              <a:t>]</a:t>
            </a:r>
            <a:endParaRPr lang="en-US" altLang="zh-CN"/>
          </a:p>
          <a:p>
            <a:pPr lvl="1" eaLnBrk="1" hangingPunct="1"/>
            <a:r>
              <a:rPr lang="zh-CN" altLang="en-US"/>
              <a:t>计算</a:t>
            </a:r>
            <a:r>
              <a:rPr lang="en-US" altLang="zh-CN"/>
              <a:t>A[i</a:t>
            </a:r>
            <a:r>
              <a:rPr lang="en-US" altLang="zh-CN" baseline="-25000"/>
              <a:t>1</a:t>
            </a:r>
            <a:r>
              <a:rPr lang="en-US" altLang="zh-CN"/>
              <a:t>, i</a:t>
            </a:r>
            <a:r>
              <a:rPr lang="en-US" altLang="zh-CN" baseline="-25000"/>
              <a:t>2</a:t>
            </a:r>
            <a:r>
              <a:rPr lang="en-US" altLang="zh-CN"/>
              <a:t>, …, i</a:t>
            </a:r>
            <a:r>
              <a:rPr lang="en-US" altLang="zh-CN" baseline="-25000"/>
              <a:t>k</a:t>
            </a:r>
            <a:r>
              <a:rPr lang="en-US" altLang="zh-CN"/>
              <a:t>]</a:t>
            </a:r>
            <a:r>
              <a:rPr lang="zh-CN" altLang="en-US"/>
              <a:t>的地址</a:t>
            </a:r>
            <a:endParaRPr lang="zh-CN" altLang="en-US"/>
          </a:p>
          <a:p>
            <a:pPr lvl="1" eaLnBrk="1" hangingPunct="1"/>
            <a:r>
              <a:rPr lang="zh-CN" altLang="en-US"/>
              <a:t>最终结果</a:t>
            </a:r>
            <a:endParaRPr lang="zh-CN" altLang="en-US"/>
          </a:p>
          <a:p>
            <a:pPr lvl="2" eaLnBrk="1" hangingPunct="1"/>
            <a:r>
              <a:rPr lang="en-US" altLang="zh-CN">
                <a:solidFill>
                  <a:schemeClr val="folHlink"/>
                </a:solidFill>
              </a:rPr>
              <a:t>((…((i</a:t>
            </a:r>
            <a:r>
              <a:rPr lang="en-US" altLang="zh-CN" baseline="-25000">
                <a:solidFill>
                  <a:schemeClr val="folHlink"/>
                </a:solidFill>
              </a:rPr>
              <a:t>1</a:t>
            </a:r>
            <a:r>
              <a:rPr lang="en-US" altLang="zh-CN">
                <a:solidFill>
                  <a:schemeClr val="folHlink"/>
                </a:solidFill>
              </a:rPr>
              <a:t>n</a:t>
            </a:r>
            <a:r>
              <a:rPr lang="en-US" altLang="zh-CN" baseline="-25000">
                <a:solidFill>
                  <a:schemeClr val="folHlink"/>
                </a:solidFill>
              </a:rPr>
              <a:t>2 </a:t>
            </a:r>
            <a:r>
              <a:rPr lang="en-US" altLang="zh-CN">
                <a:solidFill>
                  <a:schemeClr val="folHlink"/>
                </a:solidFill>
              </a:rPr>
              <a:t>+ i</a:t>
            </a:r>
            <a:r>
              <a:rPr lang="en-US" altLang="zh-CN" baseline="-25000">
                <a:solidFill>
                  <a:schemeClr val="folHlink"/>
                </a:solidFill>
              </a:rPr>
              <a:t>2</a:t>
            </a:r>
            <a:r>
              <a:rPr lang="en-US" altLang="zh-CN">
                <a:solidFill>
                  <a:schemeClr val="folHlink"/>
                </a:solidFill>
              </a:rPr>
              <a:t>)n</a:t>
            </a:r>
            <a:r>
              <a:rPr lang="en-US" altLang="zh-CN" baseline="-25000">
                <a:solidFill>
                  <a:schemeClr val="folHlink"/>
                </a:solidFill>
              </a:rPr>
              <a:t>3 </a:t>
            </a:r>
            <a:r>
              <a:rPr lang="en-US" altLang="zh-CN">
                <a:solidFill>
                  <a:schemeClr val="folHlink"/>
                </a:solidFill>
              </a:rPr>
              <a:t>+ i</a:t>
            </a:r>
            <a:r>
              <a:rPr lang="en-US" altLang="zh-CN" baseline="-25000">
                <a:solidFill>
                  <a:schemeClr val="folHlink"/>
                </a:solidFill>
              </a:rPr>
              <a:t>3</a:t>
            </a:r>
            <a:r>
              <a:rPr lang="en-US" altLang="zh-CN">
                <a:solidFill>
                  <a:schemeClr val="folHlink"/>
                </a:solidFill>
              </a:rPr>
              <a:t>)…)n</a:t>
            </a:r>
            <a:r>
              <a:rPr lang="en-US" altLang="zh-CN" baseline="-25000">
                <a:solidFill>
                  <a:schemeClr val="folHlink"/>
                </a:solidFill>
              </a:rPr>
              <a:t>k </a:t>
            </a:r>
            <a:r>
              <a:rPr lang="en-US" altLang="zh-CN">
                <a:solidFill>
                  <a:schemeClr val="folHlink"/>
                </a:solidFill>
              </a:rPr>
              <a:t>+ i</a:t>
            </a:r>
            <a:r>
              <a:rPr lang="en-US" altLang="zh-CN" baseline="-25000">
                <a:solidFill>
                  <a:schemeClr val="folHlink"/>
                </a:solidFill>
              </a:rPr>
              <a:t>k</a:t>
            </a:r>
            <a:r>
              <a:rPr lang="en-US" altLang="zh-CN">
                <a:solidFill>
                  <a:schemeClr val="folHlink"/>
                </a:solidFill>
              </a:rPr>
              <a:t>) * w</a:t>
            </a:r>
            <a:r>
              <a:rPr lang="en-US" altLang="zh-CN"/>
              <a:t> + </a:t>
            </a:r>
            <a:br>
              <a:rPr lang="en-US" altLang="zh-CN"/>
            </a:br>
            <a:r>
              <a:rPr lang="en-US" altLang="zh-CN"/>
              <a:t>base– ((…((low</a:t>
            </a:r>
            <a:r>
              <a:rPr lang="en-US" altLang="zh-CN" baseline="-25000"/>
              <a:t>1</a:t>
            </a:r>
            <a:r>
              <a:rPr lang="en-US" altLang="zh-CN"/>
              <a:t>n</a:t>
            </a:r>
            <a:r>
              <a:rPr lang="en-US" altLang="zh-CN" baseline="-25000"/>
              <a:t>2</a:t>
            </a:r>
            <a:r>
              <a:rPr lang="en-US" altLang="zh-CN"/>
              <a:t>+low</a:t>
            </a:r>
            <a:r>
              <a:rPr lang="en-US" altLang="zh-CN" baseline="-25000"/>
              <a:t>2</a:t>
            </a:r>
            <a:r>
              <a:rPr lang="en-US" altLang="zh-CN"/>
              <a:t>)n</a:t>
            </a:r>
            <a:r>
              <a:rPr lang="en-US" altLang="zh-CN" baseline="-25000"/>
              <a:t>3</a:t>
            </a:r>
            <a:r>
              <a:rPr lang="en-US" altLang="zh-CN"/>
              <a:t> + low</a:t>
            </a:r>
            <a:r>
              <a:rPr lang="en-US" altLang="zh-CN" baseline="-25000"/>
              <a:t>3</a:t>
            </a:r>
            <a:r>
              <a:rPr lang="en-US" altLang="zh-CN"/>
              <a:t>)…)n</a:t>
            </a:r>
            <a:r>
              <a:rPr lang="en-US" altLang="zh-CN" baseline="-25000"/>
              <a:t>k</a:t>
            </a:r>
            <a:r>
              <a:rPr lang="en-US" altLang="zh-CN"/>
              <a:t> + low</a:t>
            </a:r>
            <a:r>
              <a:rPr lang="en-US" altLang="zh-CN" baseline="-25000"/>
              <a:t>k</a:t>
            </a:r>
            <a:r>
              <a:rPr lang="en-US" altLang="zh-CN"/>
              <a:t>) * w</a:t>
            </a:r>
            <a:endParaRPr lang="en-US" alt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实现方法</a:t>
            </a:r>
            <a:endParaRPr lang="zh-CN" alt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err="1"/>
              <a:t>L→</a:t>
            </a:r>
            <a:r>
              <a:rPr lang="en-US" altLang="zh-CN" sz="2800" b="1" dirty="0" err="1"/>
              <a:t>id</a:t>
            </a:r>
            <a:r>
              <a:rPr lang="en-US" altLang="zh-CN" sz="2800" dirty="0"/>
              <a:t> [ </a:t>
            </a:r>
            <a:r>
              <a:rPr lang="en-US" altLang="zh-CN" sz="2800" dirty="0" err="1"/>
              <a:t>Elist</a:t>
            </a:r>
            <a:r>
              <a:rPr lang="en-US" altLang="zh-CN" sz="2800" dirty="0"/>
              <a:t> ] | </a:t>
            </a:r>
            <a:r>
              <a:rPr lang="en-US" altLang="zh-CN" sz="2800" b="1" dirty="0"/>
              <a:t>id</a:t>
            </a:r>
            <a:r>
              <a:rPr lang="en-US" altLang="zh-CN" sz="2800" dirty="0"/>
              <a:t>  </a:t>
            </a:r>
            <a:r>
              <a:rPr lang="en-US" altLang="zh-CN" sz="2800" dirty="0">
                <a:sym typeface="Wingdings" panose="05000000000000000000" pitchFamily="2" charset="2"/>
              </a:rPr>
              <a:t>	L→ </a:t>
            </a:r>
            <a:r>
              <a:rPr lang="en-US" altLang="zh-CN" sz="2800" dirty="0" err="1"/>
              <a:t>Elist</a:t>
            </a:r>
            <a:r>
              <a:rPr lang="en-US" altLang="zh-CN" sz="2800" dirty="0"/>
              <a:t> ] | </a:t>
            </a:r>
            <a:r>
              <a:rPr lang="en-US" altLang="zh-CN" sz="2800" b="1" dirty="0"/>
              <a:t>id</a:t>
            </a:r>
            <a:r>
              <a:rPr lang="en-US" altLang="zh-CN" sz="2800" dirty="0"/>
              <a:t> </a:t>
            </a:r>
            <a:endParaRPr lang="en-US" altLang="zh-CN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err="1"/>
              <a:t>Elist→Elist</a:t>
            </a:r>
            <a:r>
              <a:rPr lang="en-US" altLang="zh-CN" sz="2800" dirty="0"/>
              <a:t> , E | E  	</a:t>
            </a:r>
            <a:r>
              <a:rPr lang="en-US" altLang="zh-CN" sz="2800" dirty="0" err="1">
                <a:sym typeface="Wingdings" panose="05000000000000000000" pitchFamily="2" charset="2"/>
              </a:rPr>
              <a:t>Elist→Elist</a:t>
            </a:r>
            <a:r>
              <a:rPr lang="en-US" altLang="zh-CN" sz="2800" dirty="0">
                <a:sym typeface="Wingdings" panose="05000000000000000000" pitchFamily="2" charset="2"/>
              </a:rPr>
              <a:t> , E | </a:t>
            </a:r>
            <a:r>
              <a:rPr lang="en-US" altLang="zh-CN" sz="2800" b="1" dirty="0">
                <a:sym typeface="Wingdings" panose="05000000000000000000" pitchFamily="2" charset="2"/>
              </a:rPr>
              <a:t>id</a:t>
            </a:r>
            <a:r>
              <a:rPr lang="en-US" altLang="zh-CN" sz="2800" dirty="0">
                <a:sym typeface="Wingdings" panose="05000000000000000000" pitchFamily="2" charset="2"/>
              </a:rPr>
              <a:t> [ E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(…((i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n</a:t>
            </a:r>
            <a:r>
              <a:rPr lang="en-US" altLang="zh-CN" sz="2800" baseline="-25000" dirty="0"/>
              <a:t>2 </a:t>
            </a:r>
            <a:r>
              <a:rPr lang="en-US" altLang="zh-CN" sz="2800" dirty="0"/>
              <a:t>+ i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)n</a:t>
            </a:r>
            <a:r>
              <a:rPr lang="en-US" altLang="zh-CN" sz="2800" baseline="-25000" dirty="0"/>
              <a:t>3 </a:t>
            </a:r>
            <a:r>
              <a:rPr lang="en-US" altLang="zh-CN" sz="2800" dirty="0"/>
              <a:t>+ i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)…)</a:t>
            </a:r>
            <a:r>
              <a:rPr lang="en-US" altLang="zh-CN" sz="2800" dirty="0" err="1"/>
              <a:t>n</a:t>
            </a:r>
            <a:r>
              <a:rPr lang="en-US" altLang="zh-CN" sz="2800" baseline="-25000" dirty="0" err="1"/>
              <a:t>k</a:t>
            </a:r>
            <a:r>
              <a:rPr lang="en-US" altLang="zh-CN" sz="2800" baseline="-25000" dirty="0"/>
              <a:t> </a:t>
            </a:r>
            <a:r>
              <a:rPr lang="en-US" altLang="zh-CN" sz="2800" dirty="0"/>
              <a:t>+ </a:t>
            </a:r>
            <a:r>
              <a:rPr lang="en-US" altLang="zh-CN" sz="2800" dirty="0" err="1"/>
              <a:t>i</a:t>
            </a:r>
            <a:r>
              <a:rPr lang="en-US" altLang="zh-CN" sz="2800" baseline="-25000" dirty="0" err="1"/>
              <a:t>k</a:t>
            </a:r>
            <a:r>
              <a:rPr lang="zh-CN" altLang="en-US" sz="2800" dirty="0"/>
              <a:t>的计算</a:t>
            </a:r>
            <a:endParaRPr lang="zh-CN" altLang="en-US" sz="28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e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=i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e</a:t>
            </a:r>
            <a:r>
              <a:rPr lang="en-US" altLang="zh-CN" sz="2400" baseline="-25000" dirty="0" err="1"/>
              <a:t>m</a:t>
            </a:r>
            <a:r>
              <a:rPr lang="en-US" altLang="zh-CN" sz="2400" dirty="0"/>
              <a:t>=e</a:t>
            </a:r>
            <a:r>
              <a:rPr lang="en-US" altLang="zh-CN" sz="2400" baseline="-25000" dirty="0"/>
              <a:t>m-1</a:t>
            </a:r>
            <a:r>
              <a:rPr lang="en-US" altLang="zh-CN" sz="2400" dirty="0"/>
              <a:t>*n</a:t>
            </a:r>
            <a:r>
              <a:rPr lang="en-US" altLang="zh-CN" sz="2400" baseline="-25000" dirty="0"/>
              <a:t>m</a:t>
            </a:r>
            <a:r>
              <a:rPr lang="en-US" altLang="zh-CN" sz="2400" dirty="0"/>
              <a:t> + </a:t>
            </a:r>
            <a:r>
              <a:rPr lang="en-US" altLang="zh-CN" sz="2400" dirty="0" err="1"/>
              <a:t>i</a:t>
            </a:r>
            <a:r>
              <a:rPr lang="en-US" altLang="zh-CN" sz="2400" baseline="-25000" dirty="0" err="1"/>
              <a:t>m</a:t>
            </a:r>
            <a:endParaRPr lang="en-US" altLang="zh-CN" sz="2400" dirty="0"/>
          </a:p>
          <a:p>
            <a:pPr eaLnBrk="1" hangingPunct="1"/>
            <a:r>
              <a:rPr lang="en-US" altLang="zh-CN" sz="2800" dirty="0" err="1"/>
              <a:t>Elist.ndim</a:t>
            </a:r>
            <a:r>
              <a:rPr lang="zh-CN" altLang="en-US" sz="2800" dirty="0"/>
              <a:t>：数组维数</a:t>
            </a:r>
            <a:endParaRPr lang="zh-CN" altLang="en-US" sz="2800" dirty="0"/>
          </a:p>
          <a:p>
            <a:pPr eaLnBrk="1" hangingPunct="1"/>
            <a:r>
              <a:rPr lang="en-US" altLang="zh-CN" sz="2800" dirty="0" err="1"/>
              <a:t>Elist.place</a:t>
            </a:r>
            <a:r>
              <a:rPr lang="zh-CN" altLang="en-US" sz="2800" dirty="0"/>
              <a:t>：保存地址计算结果</a:t>
            </a:r>
            <a:r>
              <a:rPr lang="en-US" altLang="zh-CN" sz="2800" dirty="0" err="1"/>
              <a:t>e</a:t>
            </a:r>
            <a:r>
              <a:rPr lang="en-US" altLang="zh-CN" sz="2800" baseline="-25000" dirty="0" err="1"/>
              <a:t>m</a:t>
            </a:r>
            <a:r>
              <a:rPr lang="zh-CN" altLang="en-US" sz="2800" dirty="0"/>
              <a:t>的临时变量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limit(array, m)</a:t>
            </a:r>
            <a:r>
              <a:rPr lang="zh-CN" altLang="en-US" sz="2800" dirty="0"/>
              <a:t>：第</a:t>
            </a:r>
            <a:r>
              <a:rPr lang="en-US" altLang="zh-CN" sz="2800" dirty="0"/>
              <a:t>m</a:t>
            </a:r>
            <a:r>
              <a:rPr lang="zh-CN" altLang="en-US" sz="2800" dirty="0"/>
              <a:t>维的大小，</a:t>
            </a:r>
            <a:r>
              <a:rPr lang="en-US" altLang="zh-CN" sz="2800" dirty="0"/>
              <a:t>n</a:t>
            </a:r>
            <a:r>
              <a:rPr lang="en-US" altLang="zh-CN" sz="2800" baseline="-25000" dirty="0"/>
              <a:t>m</a:t>
            </a:r>
            <a:endParaRPr lang="en-US" altLang="zh-CN" sz="2800" dirty="0"/>
          </a:p>
          <a:p>
            <a:pPr eaLnBrk="1" hangingPunct="1"/>
            <a:r>
              <a:rPr lang="en-US" altLang="zh-CN" sz="2800" dirty="0" err="1"/>
              <a:t>L.place</a:t>
            </a:r>
            <a:r>
              <a:rPr lang="zh-CN" altLang="en-US" sz="2800" dirty="0"/>
              <a:t>：基地址（地址计算常量部分）</a:t>
            </a:r>
            <a:endParaRPr lang="zh-CN" altLang="en-US" sz="2800" dirty="0"/>
          </a:p>
          <a:p>
            <a:pPr eaLnBrk="1" hangingPunct="1"/>
            <a:r>
              <a:rPr lang="en-US" altLang="zh-CN" sz="2800" dirty="0" err="1"/>
              <a:t>L.offset</a:t>
            </a:r>
            <a:r>
              <a:rPr lang="zh-CN" altLang="en-US" sz="2800" dirty="0"/>
              <a:t>：偏移，普通变量为</a:t>
            </a:r>
            <a:r>
              <a:rPr lang="en-US" altLang="zh-CN" sz="2800" dirty="0"/>
              <a:t>null</a:t>
            </a: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8.3.4  </a:t>
            </a:r>
            <a:r>
              <a:rPr lang="zh-CN" altLang="en-US"/>
              <a:t>数组元素寻址的翻译模式</a:t>
            </a:r>
            <a:endParaRPr lang="zh-CN" alt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marL="609600" indent="-609600" eaLnBrk="1" hangingPunct="1"/>
            <a:r>
              <a:rPr lang="zh-CN" altLang="en-US" sz="2800"/>
              <a:t>文法</a:t>
            </a:r>
            <a:endParaRPr lang="zh-CN" altLang="en-US" sz="2800"/>
          </a:p>
          <a:p>
            <a:pPr marL="609600" indent="-609600" eaLnBrk="1" hangingPunct="1">
              <a:buFont typeface="Wingdings" panose="05000000000000000000" pitchFamily="2" charset="2"/>
              <a:buAutoNum type="arabicParenBoth"/>
            </a:pPr>
            <a:r>
              <a:rPr lang="en-US" altLang="zh-CN" sz="2400"/>
              <a:t>S→ L := E</a:t>
            </a:r>
            <a:endParaRPr lang="en-US" altLang="zh-CN" sz="2400"/>
          </a:p>
          <a:p>
            <a:pPr marL="609600" indent="-609600" eaLnBrk="1" hangingPunct="1">
              <a:buFont typeface="Wingdings" panose="05000000000000000000" pitchFamily="2" charset="2"/>
              <a:buAutoNum type="arabicParenBoth"/>
            </a:pPr>
            <a:r>
              <a:rPr lang="en-US" altLang="zh-CN" sz="2400"/>
              <a:t>E→ E + E</a:t>
            </a:r>
            <a:endParaRPr lang="en-US" altLang="zh-CN" sz="2400"/>
          </a:p>
          <a:p>
            <a:pPr marL="609600" indent="-609600" eaLnBrk="1" hangingPunct="1">
              <a:buFont typeface="Wingdings" panose="05000000000000000000" pitchFamily="2" charset="2"/>
              <a:buAutoNum type="arabicParenBoth"/>
            </a:pPr>
            <a:r>
              <a:rPr lang="en-US" altLang="zh-CN" sz="2400"/>
              <a:t>E→ ( E )</a:t>
            </a:r>
            <a:endParaRPr lang="en-US" altLang="zh-CN" sz="2400"/>
          </a:p>
          <a:p>
            <a:pPr marL="609600" indent="-609600" eaLnBrk="1" hangingPunct="1">
              <a:buFont typeface="Wingdings" panose="05000000000000000000" pitchFamily="2" charset="2"/>
              <a:buAutoNum type="arabicParenBoth"/>
            </a:pPr>
            <a:r>
              <a:rPr lang="en-US" altLang="zh-CN" sz="2400"/>
              <a:t>E→ L</a:t>
            </a:r>
            <a:endParaRPr lang="en-US" altLang="zh-CN" sz="2400"/>
          </a:p>
          <a:p>
            <a:pPr marL="609600" indent="-609600" eaLnBrk="1" hangingPunct="1">
              <a:buFont typeface="Wingdings" panose="05000000000000000000" pitchFamily="2" charset="2"/>
              <a:buAutoNum type="arabicParenBoth"/>
            </a:pPr>
            <a:r>
              <a:rPr lang="en-US" altLang="zh-CN" sz="2400"/>
              <a:t>L→ Elist ]</a:t>
            </a:r>
            <a:endParaRPr lang="en-US" altLang="zh-CN" sz="2400"/>
          </a:p>
          <a:p>
            <a:pPr marL="609600" indent="-609600" eaLnBrk="1" hangingPunct="1">
              <a:buFont typeface="Wingdings" panose="05000000000000000000" pitchFamily="2" charset="2"/>
              <a:buAutoNum type="arabicParenBoth"/>
            </a:pPr>
            <a:r>
              <a:rPr lang="en-US" altLang="zh-CN" sz="2400"/>
              <a:t>L→ </a:t>
            </a:r>
            <a:r>
              <a:rPr lang="en-US" altLang="zh-CN" sz="2400" b="1"/>
              <a:t>id</a:t>
            </a:r>
            <a:endParaRPr lang="en-US" altLang="zh-CN" sz="2400" b="1"/>
          </a:p>
          <a:p>
            <a:pPr marL="609600" indent="-609600" eaLnBrk="1" hangingPunct="1">
              <a:buFont typeface="Wingdings" panose="05000000000000000000" pitchFamily="2" charset="2"/>
              <a:buAutoNum type="arabicParenBoth"/>
            </a:pPr>
            <a:r>
              <a:rPr lang="en-US" altLang="zh-CN" sz="2400"/>
              <a:t>Elist→ Elist , E</a:t>
            </a:r>
            <a:endParaRPr lang="en-US" altLang="zh-CN" sz="2400"/>
          </a:p>
          <a:p>
            <a:pPr marL="609600" indent="-609600" eaLnBrk="1" hangingPunct="1">
              <a:buFont typeface="Wingdings" panose="05000000000000000000" pitchFamily="2" charset="2"/>
              <a:buAutoNum type="arabicParenBoth"/>
            </a:pPr>
            <a:r>
              <a:rPr lang="en-US" altLang="zh-CN" sz="2400"/>
              <a:t>Elist→ </a:t>
            </a:r>
            <a:r>
              <a:rPr lang="en-US" altLang="zh-CN" sz="2400" b="1"/>
              <a:t>id</a:t>
            </a:r>
            <a:r>
              <a:rPr lang="en-US" altLang="zh-CN" sz="2400"/>
              <a:t> [ E</a:t>
            </a:r>
            <a:endParaRPr lang="en-US" altLang="zh-CN" sz="2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数组元素寻址的翻译模式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marL="389255" indent="-389255" eaLnBrk="1" hangingPunct="1">
              <a:buFont typeface="Wingdings" panose="05000000000000000000" pitchFamily="2" charset="2"/>
              <a:buAutoNum type="arabicParenBoth"/>
              <a:tabLst>
                <a:tab pos="388620" algn="l"/>
              </a:tabLst>
            </a:pPr>
            <a:r>
              <a:rPr lang="en-US" altLang="zh-CN" sz="2400"/>
              <a:t>S→ L := E    { </a:t>
            </a:r>
            <a:r>
              <a:rPr lang="en-US" altLang="zh-CN" sz="2400" b="1"/>
              <a:t>if</a:t>
            </a:r>
            <a:r>
              <a:rPr lang="en-US" altLang="zh-CN" sz="2400"/>
              <a:t> (L.offset == </a:t>
            </a:r>
            <a:r>
              <a:rPr lang="en-US" altLang="zh-CN" sz="2400" b="1"/>
              <a:t>null</a:t>
            </a:r>
            <a:r>
              <a:rPr lang="en-US" altLang="zh-CN" sz="2400"/>
              <a:t>)</a:t>
            </a:r>
            <a:endParaRPr lang="en-US" altLang="zh-CN" sz="2400"/>
          </a:p>
          <a:p>
            <a:pPr marL="389255" indent="-389255" eaLnBrk="1" hangingPunct="1">
              <a:buFont typeface="Wingdings" panose="05000000000000000000" pitchFamily="2" charset="2"/>
              <a:buNone/>
              <a:tabLst>
                <a:tab pos="388620" algn="l"/>
              </a:tabLst>
            </a:pPr>
            <a:r>
              <a:rPr lang="en-US" altLang="zh-CN" sz="2400"/>
              <a:t>			      emit(L.place ‘:=’ E.place);</a:t>
            </a:r>
            <a:endParaRPr lang="en-US" altLang="zh-CN" sz="2400"/>
          </a:p>
          <a:p>
            <a:pPr marL="389255" indent="-389255" eaLnBrk="1" hangingPunct="1">
              <a:buFont typeface="Wingdings" panose="05000000000000000000" pitchFamily="2" charset="2"/>
              <a:buNone/>
              <a:tabLst>
                <a:tab pos="388620" algn="l"/>
              </a:tabLst>
            </a:pPr>
            <a:r>
              <a:rPr lang="en-US" altLang="zh-CN" sz="2400"/>
              <a:t>			     </a:t>
            </a:r>
            <a:r>
              <a:rPr lang="en-US" altLang="zh-CN" sz="2400" b="1"/>
              <a:t>else</a:t>
            </a:r>
            <a:endParaRPr lang="en-US" altLang="zh-CN" sz="2400" b="1"/>
          </a:p>
          <a:p>
            <a:pPr marL="389255" indent="-389255" eaLnBrk="1" hangingPunct="1">
              <a:buFont typeface="Wingdings" panose="05000000000000000000" pitchFamily="2" charset="2"/>
              <a:buNone/>
              <a:tabLst>
                <a:tab pos="388620" algn="l"/>
              </a:tabLst>
            </a:pPr>
            <a:r>
              <a:rPr lang="en-US" altLang="zh-CN" sz="2400"/>
              <a:t>			        emit(L.place ‘[’ L.offset ‘]’ ‘:=’ E.place); }</a:t>
            </a:r>
            <a:endParaRPr lang="en-US" altLang="zh-CN" sz="2400"/>
          </a:p>
          <a:p>
            <a:pPr marL="389255" indent="-389255" eaLnBrk="1" hangingPunct="1">
              <a:buFont typeface="Wingdings" panose="05000000000000000000" pitchFamily="2" charset="2"/>
              <a:buAutoNum type="arabicParenBoth" startAt="2"/>
              <a:tabLst>
                <a:tab pos="388620" algn="l"/>
              </a:tabLst>
            </a:pPr>
            <a:r>
              <a:rPr lang="en-US" altLang="zh-CN" sz="2400"/>
              <a:t>E→ E</a:t>
            </a:r>
            <a:r>
              <a:rPr lang="en-US" altLang="zh-CN" sz="2400" baseline="-25000"/>
              <a:t>1</a:t>
            </a:r>
            <a:r>
              <a:rPr lang="en-US" altLang="zh-CN" sz="2400"/>
              <a:t> + E</a:t>
            </a:r>
            <a:r>
              <a:rPr lang="en-US" altLang="zh-CN" sz="2400" baseline="-25000"/>
              <a:t>2</a:t>
            </a:r>
            <a:r>
              <a:rPr lang="en-US" altLang="zh-CN" sz="2400"/>
              <a:t>   { E.place = newtemp;</a:t>
            </a:r>
            <a:endParaRPr lang="en-US" altLang="zh-CN" sz="2400"/>
          </a:p>
          <a:p>
            <a:pPr marL="389255" indent="-389255" eaLnBrk="1" hangingPunct="1">
              <a:buFont typeface="Wingdings" panose="05000000000000000000" pitchFamily="2" charset="2"/>
              <a:buNone/>
              <a:tabLst>
                <a:tab pos="388620" algn="l"/>
              </a:tabLst>
            </a:pPr>
            <a:r>
              <a:rPr lang="en-US" altLang="zh-CN" sz="2400"/>
              <a:t>			      emit(E.place ‘:=’ E</a:t>
            </a:r>
            <a:r>
              <a:rPr lang="en-US" altLang="zh-CN" sz="2400" baseline="-25000"/>
              <a:t>1</a:t>
            </a:r>
            <a:r>
              <a:rPr lang="en-US" altLang="zh-CN" sz="2400"/>
              <a:t>.place ‘+’ E</a:t>
            </a:r>
            <a:r>
              <a:rPr lang="en-US" altLang="zh-CN" sz="2400" baseline="-25000"/>
              <a:t>2</a:t>
            </a:r>
            <a:r>
              <a:rPr lang="en-US" altLang="zh-CN" sz="2400"/>
              <a:t>.place); }</a:t>
            </a:r>
            <a:endParaRPr lang="en-US" altLang="zh-CN" sz="2400"/>
          </a:p>
          <a:p>
            <a:pPr marL="389255" indent="-389255" eaLnBrk="1" hangingPunct="1">
              <a:buFont typeface="Wingdings" panose="05000000000000000000" pitchFamily="2" charset="2"/>
              <a:buAutoNum type="arabicParenBoth" startAt="3"/>
              <a:tabLst>
                <a:tab pos="388620" algn="l"/>
              </a:tabLst>
            </a:pPr>
            <a:r>
              <a:rPr lang="en-US" altLang="zh-CN" sz="2400"/>
              <a:t>E→ ( E</a:t>
            </a:r>
            <a:r>
              <a:rPr lang="en-US" altLang="zh-CN" sz="2400" baseline="-25000"/>
              <a:t>1</a:t>
            </a:r>
            <a:r>
              <a:rPr lang="en-US" altLang="zh-CN" sz="2400"/>
              <a:t> )       { E.place = E</a:t>
            </a:r>
            <a:r>
              <a:rPr lang="en-US" altLang="zh-CN" sz="2400" baseline="-25000"/>
              <a:t>1</a:t>
            </a:r>
            <a:r>
              <a:rPr lang="en-US" altLang="zh-CN" sz="2400"/>
              <a:t>.place; }</a:t>
            </a:r>
            <a:endParaRPr lang="en-US" altLang="zh-CN" sz="2400"/>
          </a:p>
        </p:txBody>
      </p:sp>
      <p:sp>
        <p:nvSpPr>
          <p:cNvPr id="30724" name="Text Box 4"/>
          <p:cNvSpPr txBox="1">
            <a:spLocks noChangeArrowheads="1"/>
          </p:cNvSpPr>
          <p:nvPr/>
        </p:nvSpPr>
        <p:spPr bwMode="ltGray">
          <a:xfrm>
            <a:off x="6948264" y="1484784"/>
            <a:ext cx="152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fol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普通变量？数组？</a:t>
            </a:r>
            <a:endParaRPr lang="zh-CN" altLang="en-US" sz="1800" dirty="0">
              <a:solidFill>
                <a:schemeClr val="folHlink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30725" name="Line 5"/>
          <p:cNvSpPr>
            <a:spLocks noChangeShapeType="1"/>
          </p:cNvSpPr>
          <p:nvPr/>
        </p:nvSpPr>
        <p:spPr bwMode="ltGray">
          <a:xfrm flipH="1" flipV="1">
            <a:off x="5943600" y="1600200"/>
            <a:ext cx="1066800" cy="152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数组元素寻址的翻译模式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10200"/>
          </a:xfrm>
        </p:spPr>
        <p:txBody>
          <a:bodyPr/>
          <a:lstStyle/>
          <a:p>
            <a:pPr marL="389255" indent="-389255" eaLnBrk="1" hangingPunct="1">
              <a:buFont typeface="Wingdings" panose="05000000000000000000" pitchFamily="2" charset="2"/>
              <a:buAutoNum type="arabicParenBoth" startAt="5"/>
              <a:tabLst>
                <a:tab pos="388620" algn="l"/>
              </a:tabLst>
            </a:pPr>
            <a:r>
              <a:rPr lang="en-US" altLang="zh-CN" sz="2400" dirty="0"/>
              <a:t>L→ </a:t>
            </a:r>
            <a:r>
              <a:rPr lang="en-US" altLang="zh-CN" sz="2400" b="1" dirty="0"/>
              <a:t>id</a:t>
            </a:r>
            <a:r>
              <a:rPr lang="en-US" altLang="zh-CN" sz="2400" dirty="0"/>
              <a:t>   { </a:t>
            </a:r>
            <a:r>
              <a:rPr lang="en-US" altLang="zh-CN" sz="2400" dirty="0" err="1"/>
              <a:t>L.place</a:t>
            </a:r>
            <a:r>
              <a:rPr lang="en-US" altLang="zh-CN" sz="2400" dirty="0"/>
              <a:t> = </a:t>
            </a:r>
            <a:r>
              <a:rPr lang="en-US" altLang="zh-CN" sz="2400" b="1" dirty="0" err="1"/>
              <a:t>id</a:t>
            </a:r>
            <a:r>
              <a:rPr lang="en-US" altLang="zh-CN" sz="2400" dirty="0" err="1"/>
              <a:t>.place</a:t>
            </a:r>
            <a:r>
              <a:rPr lang="en-US" altLang="zh-CN" sz="2400" dirty="0"/>
              <a:t>; </a:t>
            </a:r>
            <a:r>
              <a:rPr lang="en-US" altLang="zh-CN" sz="2400" dirty="0" err="1"/>
              <a:t>L.offset</a:t>
            </a:r>
            <a:r>
              <a:rPr lang="en-US" altLang="zh-CN" sz="2400" dirty="0"/>
              <a:t> = </a:t>
            </a:r>
            <a:r>
              <a:rPr lang="en-US" altLang="zh-CN" sz="2400" b="1" dirty="0"/>
              <a:t>null</a:t>
            </a:r>
            <a:r>
              <a:rPr lang="en-US" altLang="zh-CN" sz="2400" dirty="0"/>
              <a:t>; }</a:t>
            </a:r>
            <a:endParaRPr lang="en-US" altLang="zh-CN" sz="2400" dirty="0"/>
          </a:p>
          <a:p>
            <a:pPr marL="389255" indent="-389255" eaLnBrk="1" hangingPunct="1">
              <a:buFont typeface="Wingdings" panose="05000000000000000000" pitchFamily="2" charset="2"/>
              <a:buAutoNum type="arabicParenBoth" startAt="5"/>
              <a:tabLst>
                <a:tab pos="388620" algn="l"/>
              </a:tabLst>
            </a:pPr>
            <a:r>
              <a:rPr lang="en-US" altLang="zh-CN" sz="2400" dirty="0" err="1"/>
              <a:t>Elist</a:t>
            </a:r>
            <a:r>
              <a:rPr lang="en-US" altLang="zh-CN" sz="2400" dirty="0"/>
              <a:t>→ Elist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, E   { </a:t>
            </a:r>
            <a:br>
              <a:rPr lang="en-US" altLang="zh-CN" sz="2400" dirty="0"/>
            </a:br>
            <a:r>
              <a:rPr lang="en-US" altLang="zh-CN" sz="2400" dirty="0"/>
              <a:t>		t = </a:t>
            </a:r>
            <a:r>
              <a:rPr lang="en-US" altLang="zh-CN" sz="2400" dirty="0" err="1"/>
              <a:t>newtemp</a:t>
            </a:r>
            <a:r>
              <a:rPr lang="en-US" altLang="zh-CN" sz="2400" dirty="0"/>
              <a:t>; m = Elist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.ndim + 1;</a:t>
            </a:r>
            <a:endParaRPr lang="en-US" altLang="zh-CN" sz="2400" dirty="0"/>
          </a:p>
          <a:p>
            <a:pPr marL="389255" indent="-389255" eaLnBrk="1" hangingPunct="1">
              <a:buFont typeface="Wingdings" panose="05000000000000000000" pitchFamily="2" charset="2"/>
              <a:buNone/>
              <a:tabLst>
                <a:tab pos="388620" algn="l"/>
              </a:tabLst>
            </a:pPr>
            <a:r>
              <a:rPr lang="en-US" altLang="zh-CN" sz="2400" dirty="0"/>
              <a:t>		          emit(t ‘:=’ Elist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.place ‘*’ limit(Elist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.array, m));</a:t>
            </a:r>
            <a:endParaRPr lang="en-US" altLang="zh-CN" sz="2400" dirty="0"/>
          </a:p>
          <a:p>
            <a:pPr marL="389255" indent="-389255" eaLnBrk="1" hangingPunct="1">
              <a:buFont typeface="Wingdings" panose="05000000000000000000" pitchFamily="2" charset="2"/>
              <a:buNone/>
              <a:tabLst>
                <a:tab pos="388620" algn="l"/>
              </a:tabLst>
            </a:pPr>
            <a:r>
              <a:rPr lang="en-US" altLang="zh-CN" sz="2400" dirty="0"/>
              <a:t>			emit(t ‘:=’ t ‘+’ </a:t>
            </a:r>
            <a:r>
              <a:rPr lang="en-US" altLang="zh-CN" sz="2400" dirty="0" err="1"/>
              <a:t>E.place</a:t>
            </a:r>
            <a:r>
              <a:rPr lang="en-US" altLang="zh-CN" sz="2400" dirty="0"/>
              <a:t>);</a:t>
            </a:r>
            <a:endParaRPr lang="en-US" altLang="zh-CN" sz="2400" dirty="0"/>
          </a:p>
          <a:p>
            <a:pPr marL="389255" indent="-389255" eaLnBrk="1" hangingPunct="1">
              <a:buFont typeface="Wingdings" panose="05000000000000000000" pitchFamily="2" charset="2"/>
              <a:buNone/>
              <a:tabLst>
                <a:tab pos="388620" algn="l"/>
              </a:tabLst>
            </a:pPr>
            <a:r>
              <a:rPr lang="en-US" altLang="zh-CN" sz="2400" dirty="0"/>
              <a:t>			</a:t>
            </a:r>
            <a:r>
              <a:rPr lang="en-US" altLang="zh-CN" sz="2400" dirty="0" err="1"/>
              <a:t>Elist.array</a:t>
            </a:r>
            <a:r>
              <a:rPr lang="en-US" altLang="zh-CN" sz="2400" dirty="0"/>
              <a:t> = Elist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.array;</a:t>
            </a:r>
            <a:endParaRPr lang="en-US" altLang="zh-CN" sz="2400" dirty="0"/>
          </a:p>
          <a:p>
            <a:pPr marL="389255" indent="-389255" eaLnBrk="1" hangingPunct="1">
              <a:buFont typeface="Wingdings" panose="05000000000000000000" pitchFamily="2" charset="2"/>
              <a:buNone/>
              <a:tabLst>
                <a:tab pos="388620" algn="l"/>
              </a:tabLst>
            </a:pPr>
            <a:r>
              <a:rPr lang="en-US" altLang="zh-CN" sz="2400" dirty="0"/>
              <a:t>			</a:t>
            </a:r>
            <a:r>
              <a:rPr lang="en-US" altLang="zh-CN" sz="2400" dirty="0" err="1"/>
              <a:t>Elist.place</a:t>
            </a:r>
            <a:r>
              <a:rPr lang="en-US" altLang="zh-CN" sz="2400" dirty="0"/>
              <a:t> = t; </a:t>
            </a:r>
            <a:r>
              <a:rPr lang="en-US" altLang="zh-CN" sz="2400" dirty="0" err="1"/>
              <a:t>Elist.ndim</a:t>
            </a:r>
            <a:r>
              <a:rPr lang="en-US" altLang="zh-CN" sz="2400" dirty="0"/>
              <a:t> = m; }</a:t>
            </a:r>
            <a:endParaRPr lang="en-US" altLang="zh-CN" sz="2400" dirty="0"/>
          </a:p>
          <a:p>
            <a:pPr marL="389255" indent="-389255" eaLnBrk="1" hangingPunct="1">
              <a:buFont typeface="Wingdings" panose="05000000000000000000" pitchFamily="2" charset="2"/>
              <a:buAutoNum type="arabicParenBoth" startAt="5"/>
              <a:tabLst>
                <a:tab pos="388620" algn="l"/>
              </a:tabLst>
            </a:pPr>
            <a:r>
              <a:rPr lang="en-US" altLang="zh-CN" sz="2400" dirty="0" err="1"/>
              <a:t>Elist</a:t>
            </a:r>
            <a:r>
              <a:rPr lang="en-US" altLang="zh-CN" sz="2400" dirty="0"/>
              <a:t>→ </a:t>
            </a:r>
            <a:r>
              <a:rPr lang="en-US" altLang="zh-CN" sz="2400" b="1" dirty="0"/>
              <a:t>id</a:t>
            </a:r>
            <a:r>
              <a:rPr lang="en-US" altLang="zh-CN" sz="2400" dirty="0"/>
              <a:t> [ E   { </a:t>
            </a:r>
            <a:r>
              <a:rPr lang="en-US" altLang="zh-CN" sz="2400" dirty="0" err="1"/>
              <a:t>Elist.array</a:t>
            </a:r>
            <a:r>
              <a:rPr lang="en-US" altLang="zh-CN" sz="2400" dirty="0"/>
              <a:t> = </a:t>
            </a:r>
            <a:r>
              <a:rPr lang="en-US" altLang="zh-CN" sz="2400" b="1" dirty="0" err="1"/>
              <a:t>id</a:t>
            </a:r>
            <a:r>
              <a:rPr lang="en-US" altLang="zh-CN" sz="2400" dirty="0" err="1"/>
              <a:t>.place</a:t>
            </a:r>
            <a:r>
              <a:rPr lang="en-US" altLang="zh-CN" sz="2400" dirty="0"/>
              <a:t>;</a:t>
            </a:r>
            <a:endParaRPr lang="en-US" altLang="zh-CN" sz="2400" dirty="0"/>
          </a:p>
          <a:p>
            <a:pPr marL="389255" indent="-389255" eaLnBrk="1" hangingPunct="1">
              <a:buFont typeface="Wingdings" panose="05000000000000000000" pitchFamily="2" charset="2"/>
              <a:buNone/>
              <a:tabLst>
                <a:tab pos="388620" algn="l"/>
              </a:tabLst>
            </a:pPr>
            <a:r>
              <a:rPr lang="en-US" altLang="zh-CN" sz="2400" dirty="0"/>
              <a:t>			         </a:t>
            </a:r>
            <a:r>
              <a:rPr lang="en-US" altLang="zh-CN" sz="2400" dirty="0" err="1"/>
              <a:t>Elist.place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E.place</a:t>
            </a:r>
            <a:r>
              <a:rPr lang="en-US" altLang="zh-CN" sz="2400" dirty="0"/>
              <a:t>; </a:t>
            </a:r>
            <a:r>
              <a:rPr lang="en-US" altLang="zh-CN" sz="2400" dirty="0" err="1"/>
              <a:t>Elist.ndim</a:t>
            </a:r>
            <a:r>
              <a:rPr lang="en-US" altLang="zh-CN" sz="2400" dirty="0"/>
              <a:t> = 1; }</a:t>
            </a:r>
            <a:endParaRPr lang="en-US" altLang="zh-CN" sz="2400" dirty="0"/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ltGray">
          <a:xfrm>
            <a:off x="1828800" y="29718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</a:rPr>
              <a:t>e</a:t>
            </a:r>
            <a:r>
              <a:rPr lang="en-US" altLang="zh-CN" sz="2400" baseline="-25000" dirty="0">
                <a:solidFill>
                  <a:srgbClr val="FF3300"/>
                </a:solidFill>
              </a:rPr>
              <a:t>m-1</a:t>
            </a:r>
            <a:endParaRPr lang="en-US" altLang="zh-CN" sz="2400" dirty="0">
              <a:solidFill>
                <a:srgbClr val="FF3300"/>
              </a:solidFill>
            </a:endParaRPr>
          </a:p>
        </p:txBody>
      </p:sp>
      <p:sp>
        <p:nvSpPr>
          <p:cNvPr id="31749" name="Line 5"/>
          <p:cNvSpPr>
            <a:spLocks noChangeShapeType="1"/>
          </p:cNvSpPr>
          <p:nvPr/>
        </p:nvSpPr>
        <p:spPr bwMode="ltGray">
          <a:xfrm flipV="1">
            <a:off x="2514600" y="2971800"/>
            <a:ext cx="2209800" cy="304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50" name="Text Box 6"/>
          <p:cNvSpPr txBox="1">
            <a:spLocks noChangeArrowheads="1"/>
          </p:cNvSpPr>
          <p:nvPr/>
        </p:nvSpPr>
        <p:spPr bwMode="ltGray">
          <a:xfrm>
            <a:off x="1981200" y="35814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 err="1">
                <a:solidFill>
                  <a:srgbClr val="FF3300"/>
                </a:solidFill>
              </a:rPr>
              <a:t>e</a:t>
            </a:r>
            <a:r>
              <a:rPr lang="en-US" altLang="zh-CN" sz="2400" baseline="-25000" dirty="0" err="1">
                <a:solidFill>
                  <a:srgbClr val="FF3300"/>
                </a:solidFill>
              </a:rPr>
              <a:t>m</a:t>
            </a:r>
            <a:endParaRPr lang="en-US" altLang="zh-CN" sz="2400" dirty="0">
              <a:solidFill>
                <a:srgbClr val="FF3300"/>
              </a:solidFill>
            </a:endParaRPr>
          </a:p>
        </p:txBody>
      </p:sp>
      <p:sp>
        <p:nvSpPr>
          <p:cNvPr id="31751" name="Line 7"/>
          <p:cNvSpPr>
            <a:spLocks noChangeShapeType="1"/>
          </p:cNvSpPr>
          <p:nvPr/>
        </p:nvSpPr>
        <p:spPr bwMode="ltGray">
          <a:xfrm flipV="1">
            <a:off x="2362200" y="3429000"/>
            <a:ext cx="1371600" cy="3810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52" name="矩形 7"/>
          <p:cNvSpPr>
            <a:spLocks noChangeArrowheads="1"/>
          </p:cNvSpPr>
          <p:nvPr/>
        </p:nvSpPr>
        <p:spPr bwMode="auto">
          <a:xfrm>
            <a:off x="369888" y="2492375"/>
            <a:ext cx="20589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 err="1">
                <a:solidFill>
                  <a:srgbClr val="FF0000"/>
                </a:solidFill>
                <a:latin typeface="Tahoma" panose="020B0604030504040204" pitchFamily="34" charset="0"/>
              </a:rPr>
              <a:t>e</a:t>
            </a:r>
            <a:r>
              <a:rPr lang="en-US" altLang="zh-CN" sz="2000" baseline="-25000" dirty="0" err="1">
                <a:solidFill>
                  <a:srgbClr val="FF0000"/>
                </a:solidFill>
                <a:latin typeface="Tahoma" panose="020B0604030504040204" pitchFamily="34" charset="0"/>
              </a:rPr>
              <a:t>m</a:t>
            </a:r>
            <a:r>
              <a:rPr lang="en-US" altLang="zh-CN" sz="2000" dirty="0">
                <a:solidFill>
                  <a:srgbClr val="FF0000"/>
                </a:solidFill>
                <a:latin typeface="Tahoma" panose="020B0604030504040204" pitchFamily="34" charset="0"/>
              </a:rPr>
              <a:t>=e</a:t>
            </a:r>
            <a:r>
              <a:rPr lang="en-US" altLang="zh-CN" sz="2000" baseline="-25000" dirty="0">
                <a:solidFill>
                  <a:srgbClr val="FF0000"/>
                </a:solidFill>
                <a:latin typeface="Tahoma" panose="020B0604030504040204" pitchFamily="34" charset="0"/>
              </a:rPr>
              <a:t>m-1</a:t>
            </a:r>
            <a:r>
              <a:rPr lang="en-US" altLang="zh-CN" sz="2000" dirty="0">
                <a:solidFill>
                  <a:srgbClr val="FF0000"/>
                </a:solidFill>
                <a:latin typeface="Tahoma" panose="020B0604030504040204" pitchFamily="34" charset="0"/>
              </a:rPr>
              <a:t>*n</a:t>
            </a:r>
            <a:r>
              <a:rPr lang="en-US" altLang="zh-CN" sz="2000" baseline="-25000" dirty="0">
                <a:solidFill>
                  <a:srgbClr val="FF0000"/>
                </a:solidFill>
                <a:latin typeface="Tahoma" panose="020B0604030504040204" pitchFamily="34" charset="0"/>
              </a:rPr>
              <a:t>m</a:t>
            </a:r>
            <a:r>
              <a:rPr lang="en-US" altLang="zh-CN" sz="2000" dirty="0">
                <a:solidFill>
                  <a:srgbClr val="FF0000"/>
                </a:solidFill>
                <a:latin typeface="Tahoma" panose="020B0604030504040204" pitchFamily="34" charset="0"/>
              </a:rPr>
              <a:t> + </a:t>
            </a:r>
            <a:r>
              <a:rPr lang="en-US" altLang="zh-CN" sz="2000" dirty="0" err="1">
                <a:solidFill>
                  <a:srgbClr val="FF0000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baseline="-25000" dirty="0" err="1">
                <a:solidFill>
                  <a:srgbClr val="FF0000"/>
                </a:solidFill>
                <a:latin typeface="Tahoma" panose="020B0604030504040204" pitchFamily="34" charset="0"/>
              </a:rPr>
              <a:t>m</a:t>
            </a:r>
            <a:endParaRPr lang="zh-CN" altLang="en-US" sz="20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1753" name="Text Box 6"/>
          <p:cNvSpPr txBox="1">
            <a:spLocks noChangeArrowheads="1"/>
          </p:cNvSpPr>
          <p:nvPr/>
        </p:nvSpPr>
        <p:spPr bwMode="ltGray">
          <a:xfrm>
            <a:off x="6854825" y="3652838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</a:rPr>
              <a:t>i</a:t>
            </a:r>
            <a:r>
              <a:rPr lang="en-US" altLang="zh-CN" sz="2400" baseline="-25000">
                <a:solidFill>
                  <a:srgbClr val="FF3300"/>
                </a:solidFill>
              </a:rPr>
              <a:t>m</a:t>
            </a:r>
            <a:endParaRPr lang="en-US" altLang="zh-CN" sz="2400">
              <a:solidFill>
                <a:srgbClr val="FF3300"/>
              </a:solidFill>
            </a:endParaRPr>
          </a:p>
        </p:txBody>
      </p:sp>
      <p:sp>
        <p:nvSpPr>
          <p:cNvPr id="31754" name="Line 7"/>
          <p:cNvSpPr>
            <a:spLocks noChangeShapeType="1"/>
          </p:cNvSpPr>
          <p:nvPr/>
        </p:nvSpPr>
        <p:spPr bwMode="ltGray">
          <a:xfrm flipH="1" flipV="1">
            <a:off x="5724525" y="3429000"/>
            <a:ext cx="1223963" cy="431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ltGray">
          <a:xfrm>
            <a:off x="7553325" y="3230051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</a:rPr>
              <a:t>n</a:t>
            </a:r>
            <a:r>
              <a:rPr lang="en-US" altLang="zh-CN" sz="2400" baseline="-25000" dirty="0">
                <a:solidFill>
                  <a:srgbClr val="FF3300"/>
                </a:solidFill>
              </a:rPr>
              <a:t>m</a:t>
            </a:r>
            <a:endParaRPr lang="en-US" altLang="zh-CN" sz="2400" dirty="0">
              <a:solidFill>
                <a:srgbClr val="FF3300"/>
              </a:solidFill>
            </a:endParaRPr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ltGray">
          <a:xfrm flipH="1" flipV="1">
            <a:off x="6423025" y="3006213"/>
            <a:ext cx="1223963" cy="431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/>
      <p:bldP spid="31749" grpId="0" animBg="1"/>
      <p:bldP spid="31750" grpId="0"/>
      <p:bldP spid="31751" grpId="0" animBg="1"/>
      <p:bldP spid="31752" grpId="0"/>
      <p:bldP spid="31753" grpId="0"/>
      <p:bldP spid="31754" grpId="0" animBg="1"/>
      <p:bldP spid="11" grpId="0"/>
      <p:bldP spid="1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数组元素寻址的翻译模式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721225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arenBoth" startAt="4"/>
              <a:tabLst>
                <a:tab pos="388620" algn="l"/>
              </a:tabLst>
            </a:pPr>
            <a:r>
              <a:rPr lang="en-US" altLang="zh-CN" sz="2400"/>
              <a:t>E→ L       { </a:t>
            </a:r>
            <a:r>
              <a:rPr lang="en-US" altLang="zh-CN" sz="2400" b="1"/>
              <a:t>if</a:t>
            </a:r>
            <a:r>
              <a:rPr lang="en-US" altLang="zh-CN" sz="2400"/>
              <a:t> (L.offset == </a:t>
            </a:r>
            <a:r>
              <a:rPr lang="en-US" altLang="zh-CN" sz="2400" b="1"/>
              <a:t>null</a:t>
            </a:r>
            <a:r>
              <a:rPr lang="en-US" altLang="zh-CN" sz="2400"/>
              <a:t>)</a:t>
            </a:r>
            <a:endParaRPr lang="en-US" altLang="zh-CN" sz="2400"/>
          </a:p>
          <a:p>
            <a:pPr marL="609600" indent="-609600" eaLnBrk="1" hangingPunct="1">
              <a:buFont typeface="Wingdings" panose="05000000000000000000" pitchFamily="2" charset="2"/>
              <a:buNone/>
              <a:tabLst>
                <a:tab pos="388620" algn="l"/>
              </a:tabLst>
            </a:pPr>
            <a:r>
              <a:rPr lang="en-US" altLang="zh-CN" sz="2400"/>
              <a:t>			    	E.place = L.place;</a:t>
            </a:r>
            <a:endParaRPr lang="en-US" altLang="zh-CN" sz="2400"/>
          </a:p>
          <a:p>
            <a:pPr marL="609600" indent="-609600" eaLnBrk="1" hangingPunct="1">
              <a:buFont typeface="Wingdings" panose="05000000000000000000" pitchFamily="2" charset="2"/>
              <a:buNone/>
              <a:tabLst>
                <a:tab pos="388620" algn="l"/>
              </a:tabLst>
            </a:pPr>
            <a:r>
              <a:rPr lang="en-US" altLang="zh-CN" sz="2400"/>
              <a:t>				 </a:t>
            </a:r>
            <a:r>
              <a:rPr lang="en-US" altLang="zh-CN" sz="2400" b="1"/>
              <a:t>else</a:t>
            </a:r>
            <a:r>
              <a:rPr lang="en-US" altLang="zh-CN" sz="2400"/>
              <a:t> {</a:t>
            </a:r>
            <a:endParaRPr lang="en-US" altLang="zh-CN" sz="2400"/>
          </a:p>
          <a:p>
            <a:pPr marL="609600" indent="-609600" eaLnBrk="1" hangingPunct="1">
              <a:buFont typeface="Wingdings" panose="05000000000000000000" pitchFamily="2" charset="2"/>
              <a:buNone/>
              <a:tabLst>
                <a:tab pos="388620" algn="l"/>
              </a:tabLst>
            </a:pPr>
            <a:r>
              <a:rPr lang="en-US" altLang="zh-CN" sz="2400"/>
              <a:t>			    	E.place = newtemp;</a:t>
            </a:r>
            <a:endParaRPr lang="en-US" altLang="zh-CN" sz="2400"/>
          </a:p>
          <a:p>
            <a:pPr marL="609600" indent="-609600" eaLnBrk="1" hangingPunct="1">
              <a:buFont typeface="Wingdings" panose="05000000000000000000" pitchFamily="2" charset="2"/>
              <a:buNone/>
              <a:tabLst>
                <a:tab pos="388620" algn="l"/>
              </a:tabLst>
            </a:pPr>
            <a:r>
              <a:rPr lang="en-US" altLang="zh-CN" sz="2400"/>
              <a:t>		                 emit(E.place ‘:=’ L.place ‘[’ L.offset ‘]’); }}</a:t>
            </a:r>
            <a:endParaRPr lang="en-US" altLang="zh-CN" sz="2400"/>
          </a:p>
          <a:p>
            <a:pPr marL="609600" indent="-609600" eaLnBrk="1" hangingPunct="1">
              <a:buFont typeface="Wingdings" panose="05000000000000000000" pitchFamily="2" charset="2"/>
              <a:buAutoNum type="arabicParenBoth" startAt="5"/>
              <a:tabLst>
                <a:tab pos="388620" algn="l"/>
              </a:tabLst>
            </a:pPr>
            <a:r>
              <a:rPr lang="en-US" altLang="zh-CN" sz="2400"/>
              <a:t>L→ Elist ]   { L.place = newtemp; L.offset = newtemp;</a:t>
            </a:r>
            <a:endParaRPr lang="en-US" altLang="zh-CN" sz="2400"/>
          </a:p>
          <a:p>
            <a:pPr marL="609600" indent="-609600" eaLnBrk="1" hangingPunct="1">
              <a:buFont typeface="Wingdings" panose="05000000000000000000" pitchFamily="2" charset="2"/>
              <a:buNone/>
              <a:tabLst>
                <a:tab pos="388620" algn="l"/>
              </a:tabLst>
            </a:pPr>
            <a:r>
              <a:rPr lang="en-US" altLang="zh-CN" sz="2400"/>
              <a:t>		emit(L.place ‘:=’ c(Elist.array));</a:t>
            </a:r>
            <a:endParaRPr lang="en-US" altLang="zh-CN" sz="2400"/>
          </a:p>
          <a:p>
            <a:pPr marL="609600" indent="-609600" eaLnBrk="1" hangingPunct="1">
              <a:buFont typeface="Wingdings" panose="05000000000000000000" pitchFamily="2" charset="2"/>
              <a:buNone/>
              <a:tabLst>
                <a:tab pos="388620" algn="l"/>
              </a:tabLst>
            </a:pPr>
            <a:r>
              <a:rPr lang="en-US" altLang="zh-CN" sz="2400"/>
              <a:t>		emit(L.offset ‘:=’ Elist.place ‘*’ width(Elist.array)); }</a:t>
            </a:r>
            <a:endParaRPr lang="en-US" altLang="zh-CN" sz="2400"/>
          </a:p>
          <a:p>
            <a:pPr marL="609600" indent="-609600" eaLnBrk="1" hangingPunct="1">
              <a:buFont typeface="Wingdings" panose="05000000000000000000" pitchFamily="2" charset="2"/>
              <a:buNone/>
              <a:tabLst>
                <a:tab pos="388620" algn="l"/>
              </a:tabLst>
            </a:pPr>
            <a:endParaRPr lang="en-US" altLang="zh-CN" sz="2000"/>
          </a:p>
        </p:txBody>
      </p:sp>
      <p:sp>
        <p:nvSpPr>
          <p:cNvPr id="32772" name="Text Box 6"/>
          <p:cNvSpPr txBox="1">
            <a:spLocks noChangeArrowheads="1"/>
          </p:cNvSpPr>
          <p:nvPr/>
        </p:nvSpPr>
        <p:spPr bwMode="ltGray">
          <a:xfrm>
            <a:off x="6477000" y="3962400"/>
            <a:ext cx="2286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FF3300"/>
                </a:solidFill>
              </a:rPr>
              <a:t>地址计算常量部分</a:t>
            </a:r>
            <a:endParaRPr lang="zh-CN" altLang="en-US" sz="1800" dirty="0">
              <a:solidFill>
                <a:srgbClr val="FF3300"/>
              </a:solidFill>
            </a:endParaRPr>
          </a:p>
        </p:txBody>
      </p:sp>
      <p:sp>
        <p:nvSpPr>
          <p:cNvPr id="32773" name="Freeform 7"/>
          <p:cNvSpPr/>
          <p:nvPr/>
        </p:nvSpPr>
        <p:spPr bwMode="ltGray">
          <a:xfrm>
            <a:off x="4543425" y="3989388"/>
            <a:ext cx="2085975" cy="161925"/>
          </a:xfrm>
          <a:custGeom>
            <a:avLst/>
            <a:gdLst>
              <a:gd name="T0" fmla="*/ 2147483646 w 1314"/>
              <a:gd name="T1" fmla="*/ 2147483646 h 102"/>
              <a:gd name="T2" fmla="*/ 2147483646 w 1314"/>
              <a:gd name="T3" fmla="*/ 2147483646 h 102"/>
              <a:gd name="T4" fmla="*/ 0 w 1314"/>
              <a:gd name="T5" fmla="*/ 2147483646 h 102"/>
              <a:gd name="T6" fmla="*/ 0 60000 65536"/>
              <a:gd name="T7" fmla="*/ 0 60000 65536"/>
              <a:gd name="T8" fmla="*/ 0 60000 65536"/>
              <a:gd name="T9" fmla="*/ 0 w 1314"/>
              <a:gd name="T10" fmla="*/ 0 h 102"/>
              <a:gd name="T11" fmla="*/ 1314 w 1314"/>
              <a:gd name="T12" fmla="*/ 102 h 10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14" h="102">
                <a:moveTo>
                  <a:pt x="1314" y="79"/>
                </a:moveTo>
                <a:cubicBezTo>
                  <a:pt x="1216" y="67"/>
                  <a:pt x="946" y="0"/>
                  <a:pt x="727" y="4"/>
                </a:cubicBezTo>
                <a:cubicBezTo>
                  <a:pt x="508" y="8"/>
                  <a:pt x="151" y="82"/>
                  <a:pt x="0" y="102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2" grpId="0"/>
      <p:bldP spid="3277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16" descr="arra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068513"/>
            <a:ext cx="3871913" cy="471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8.2</a:t>
            </a:r>
            <a:endParaRPr lang="en-US" altLang="zh-CN"/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7964488" cy="4724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10×20</a:t>
            </a:r>
            <a:r>
              <a:rPr lang="zh-CN" altLang="en-US" sz="2800" dirty="0"/>
              <a:t>的数组，</a:t>
            </a:r>
            <a:r>
              <a:rPr lang="en-US" altLang="zh-CN" sz="2800" dirty="0"/>
              <a:t>low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=low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=1</a:t>
            </a:r>
            <a:r>
              <a:rPr lang="en-US" altLang="zh-CN" sz="2800" dirty="0">
                <a:sym typeface="Wingdings" panose="05000000000000000000" pitchFamily="2" charset="2"/>
              </a:rPr>
              <a:t>, n</a:t>
            </a:r>
            <a:r>
              <a:rPr lang="en-US" altLang="zh-CN" sz="2800" baseline="-25000" dirty="0">
                <a:sym typeface="Wingdings" panose="05000000000000000000" pitchFamily="2" charset="2"/>
              </a:rPr>
              <a:t>1</a:t>
            </a:r>
            <a:r>
              <a:rPr lang="en-US" altLang="zh-CN" sz="2800" dirty="0">
                <a:sym typeface="Wingdings" panose="05000000000000000000" pitchFamily="2" charset="2"/>
              </a:rPr>
              <a:t>=10, n</a:t>
            </a:r>
            <a:r>
              <a:rPr lang="en-US" altLang="zh-CN" sz="2800" baseline="-25000" dirty="0">
                <a:sym typeface="Wingdings" panose="05000000000000000000" pitchFamily="2" charset="2"/>
              </a:rPr>
              <a:t>2</a:t>
            </a:r>
            <a:r>
              <a:rPr lang="en-US" altLang="zh-CN" sz="2800" dirty="0">
                <a:sym typeface="Wingdings" panose="05000000000000000000" pitchFamily="2" charset="2"/>
              </a:rPr>
              <a:t>=20, w=4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sym typeface="Wingdings" panose="05000000000000000000" pitchFamily="2" charset="2"/>
              </a:rPr>
              <a:t>翻译</a:t>
            </a:r>
            <a:r>
              <a:rPr lang="en-US" altLang="zh-CN" sz="2800" dirty="0">
                <a:sym typeface="Wingdings" panose="05000000000000000000" pitchFamily="2" charset="2"/>
              </a:rPr>
              <a:t>x := A[y, z]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生成的三地址码：</a:t>
            </a:r>
            <a:endParaRPr lang="zh-CN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t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:= y * 20</a:t>
            </a:r>
            <a:endParaRPr lang="en-US" altLang="zh-CN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t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:= t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+ z</a:t>
            </a:r>
            <a:endParaRPr lang="en-US" altLang="zh-CN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t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:= c</a:t>
            </a:r>
            <a:endParaRPr lang="en-US" altLang="zh-CN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t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:= 4 * t</a:t>
            </a:r>
            <a:r>
              <a:rPr lang="en-US" altLang="zh-CN" sz="2800" baseline="-25000" dirty="0"/>
              <a:t>1</a:t>
            </a:r>
            <a:endParaRPr lang="en-US" altLang="zh-CN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t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 := t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[t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]</a:t>
            </a:r>
            <a:endParaRPr lang="en-US" altLang="zh-CN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x := t</a:t>
            </a:r>
            <a:r>
              <a:rPr lang="en-US" altLang="zh-CN" sz="2800" baseline="-25000" dirty="0"/>
              <a:t>4</a:t>
            </a:r>
            <a:endParaRPr lang="en-US" altLang="zh-CN" sz="2800" dirty="0"/>
          </a:p>
        </p:txBody>
      </p:sp>
      <p:sp>
        <p:nvSpPr>
          <p:cNvPr id="12" name="Freeform 13"/>
          <p:cNvSpPr/>
          <p:nvPr/>
        </p:nvSpPr>
        <p:spPr bwMode="ltGray">
          <a:xfrm>
            <a:off x="2699793" y="3140968"/>
            <a:ext cx="3871914" cy="1368151"/>
          </a:xfrm>
          <a:custGeom>
            <a:avLst/>
            <a:gdLst>
              <a:gd name="T0" fmla="*/ 0 w 2269"/>
              <a:gd name="T1" fmla="*/ 0 h 239"/>
              <a:gd name="T2" fmla="*/ 2147483646 w 2269"/>
              <a:gd name="T3" fmla="*/ 2147483646 h 239"/>
              <a:gd name="T4" fmla="*/ 0 60000 65536"/>
              <a:gd name="T5" fmla="*/ 0 60000 65536"/>
              <a:gd name="T6" fmla="*/ 0 w 2269"/>
              <a:gd name="T7" fmla="*/ 0 h 239"/>
              <a:gd name="T8" fmla="*/ 2269 w 2269"/>
              <a:gd name="T9" fmla="*/ 239 h 23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269" h="239">
                <a:moveTo>
                  <a:pt x="0" y="0"/>
                </a:moveTo>
                <a:lnTo>
                  <a:pt x="2269" y="239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Freeform 13"/>
          <p:cNvSpPr/>
          <p:nvPr/>
        </p:nvSpPr>
        <p:spPr bwMode="ltGray">
          <a:xfrm>
            <a:off x="2627784" y="3717033"/>
            <a:ext cx="5112568" cy="864096"/>
          </a:xfrm>
          <a:custGeom>
            <a:avLst/>
            <a:gdLst>
              <a:gd name="T0" fmla="*/ 0 w 2269"/>
              <a:gd name="T1" fmla="*/ 0 h 239"/>
              <a:gd name="T2" fmla="*/ 2147483646 w 2269"/>
              <a:gd name="T3" fmla="*/ 2147483646 h 239"/>
              <a:gd name="T4" fmla="*/ 0 60000 65536"/>
              <a:gd name="T5" fmla="*/ 0 60000 65536"/>
              <a:gd name="T6" fmla="*/ 0 w 2269"/>
              <a:gd name="T7" fmla="*/ 0 h 239"/>
              <a:gd name="T8" fmla="*/ 2269 w 2269"/>
              <a:gd name="T9" fmla="*/ 239 h 23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269" h="239">
                <a:moveTo>
                  <a:pt x="0" y="0"/>
                </a:moveTo>
                <a:lnTo>
                  <a:pt x="2269" y="239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Freeform 13"/>
          <p:cNvSpPr/>
          <p:nvPr/>
        </p:nvSpPr>
        <p:spPr bwMode="ltGray">
          <a:xfrm flipV="1">
            <a:off x="2483768" y="3645024"/>
            <a:ext cx="4087939" cy="1088505"/>
          </a:xfrm>
          <a:custGeom>
            <a:avLst/>
            <a:gdLst>
              <a:gd name="T0" fmla="*/ 0 w 2269"/>
              <a:gd name="T1" fmla="*/ 0 h 239"/>
              <a:gd name="T2" fmla="*/ 2147483646 w 2269"/>
              <a:gd name="T3" fmla="*/ 2147483646 h 239"/>
              <a:gd name="T4" fmla="*/ 0 60000 65536"/>
              <a:gd name="T5" fmla="*/ 0 60000 65536"/>
              <a:gd name="T6" fmla="*/ 0 w 2269"/>
              <a:gd name="T7" fmla="*/ 0 h 239"/>
              <a:gd name="T8" fmla="*/ 2269 w 2269"/>
              <a:gd name="T9" fmla="*/ 239 h 23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269" h="239">
                <a:moveTo>
                  <a:pt x="0" y="0"/>
                </a:moveTo>
                <a:lnTo>
                  <a:pt x="2269" y="239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Freeform 13"/>
          <p:cNvSpPr/>
          <p:nvPr/>
        </p:nvSpPr>
        <p:spPr bwMode="ltGray">
          <a:xfrm flipV="1">
            <a:off x="2464995" y="2636912"/>
            <a:ext cx="5275357" cy="2625380"/>
          </a:xfrm>
          <a:custGeom>
            <a:avLst/>
            <a:gdLst>
              <a:gd name="T0" fmla="*/ 0 w 2269"/>
              <a:gd name="T1" fmla="*/ 0 h 239"/>
              <a:gd name="T2" fmla="*/ 2147483646 w 2269"/>
              <a:gd name="T3" fmla="*/ 2147483646 h 239"/>
              <a:gd name="T4" fmla="*/ 0 60000 65536"/>
              <a:gd name="T5" fmla="*/ 0 60000 65536"/>
              <a:gd name="T6" fmla="*/ 0 w 2269"/>
              <a:gd name="T7" fmla="*/ 0 h 239"/>
              <a:gd name="T8" fmla="*/ 2269 w 2269"/>
              <a:gd name="T9" fmla="*/ 239 h 23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269" h="239">
                <a:moveTo>
                  <a:pt x="0" y="0"/>
                </a:moveTo>
                <a:lnTo>
                  <a:pt x="2269" y="239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8.3.5  </a:t>
            </a:r>
            <a:r>
              <a:rPr lang="zh-CN" altLang="en-US"/>
              <a:t>类型转换</a:t>
            </a:r>
            <a:endParaRPr lang="zh-CN" alt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8116888" cy="5410200"/>
          </a:xfrm>
        </p:spPr>
        <p:txBody>
          <a:bodyPr/>
          <a:lstStyle/>
          <a:p>
            <a:pPr eaLnBrk="1" hangingPunct="1"/>
            <a:r>
              <a:rPr lang="en-US" altLang="zh-CN" sz="2800"/>
              <a:t>E→E</a:t>
            </a:r>
            <a:r>
              <a:rPr lang="en-US" altLang="zh-CN" sz="2800" baseline="-25000"/>
              <a:t>1 </a:t>
            </a:r>
            <a:r>
              <a:rPr lang="en-US" altLang="zh-CN" sz="2800"/>
              <a:t>+ E</a:t>
            </a:r>
            <a:r>
              <a:rPr lang="en-US" altLang="zh-CN" sz="2800" baseline="-25000"/>
              <a:t>2</a:t>
            </a:r>
            <a:r>
              <a:rPr lang="zh-CN" altLang="en-US" sz="2800"/>
              <a:t>的语义动作</a:t>
            </a:r>
            <a:endParaRPr lang="zh-CN" altLang="en-US" sz="28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E.place = newtemp;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if</a:t>
            </a:r>
            <a:r>
              <a:rPr lang="en-US" altLang="zh-CN" sz="2000"/>
              <a:t> (E</a:t>
            </a:r>
            <a:r>
              <a:rPr lang="en-US" altLang="zh-CN" sz="2000" baseline="-25000"/>
              <a:t>1</a:t>
            </a:r>
            <a:r>
              <a:rPr lang="en-US" altLang="zh-CN" sz="2000"/>
              <a:t>.type == integer &amp;&amp; E</a:t>
            </a:r>
            <a:r>
              <a:rPr lang="en-US" altLang="zh-CN" sz="2000" baseline="-25000"/>
              <a:t>2</a:t>
            </a:r>
            <a:r>
              <a:rPr lang="en-US" altLang="zh-CN" sz="2000"/>
              <a:t>.type == integer) {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emit(E.place ‘:=’ E</a:t>
            </a:r>
            <a:r>
              <a:rPr lang="en-US" altLang="zh-CN" sz="2000" baseline="-25000"/>
              <a:t>1</a:t>
            </a:r>
            <a:r>
              <a:rPr lang="en-US" altLang="zh-CN" sz="2000"/>
              <a:t>.place ‘int+’ E</a:t>
            </a:r>
            <a:r>
              <a:rPr lang="en-US" altLang="zh-CN" sz="2000" baseline="-25000"/>
              <a:t>2</a:t>
            </a:r>
            <a:r>
              <a:rPr lang="en-US" altLang="zh-CN" sz="2000"/>
              <a:t>.place</a:t>
            </a:r>
            <a:r>
              <a:rPr lang="en-US" altLang="zh-CN" sz="2000">
                <a:sym typeface="+mn-ea"/>
              </a:rPr>
              <a:t>)</a:t>
            </a:r>
            <a:r>
              <a:rPr lang="en-US" altLang="zh-CN" sz="2000"/>
              <a:t>; E.type = integer; }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else</a:t>
            </a:r>
            <a:r>
              <a:rPr lang="en-US" altLang="zh-CN" sz="2000"/>
              <a:t> </a:t>
            </a:r>
            <a:r>
              <a:rPr lang="en-US" altLang="zh-CN" sz="2000" b="1"/>
              <a:t>if</a:t>
            </a:r>
            <a:r>
              <a:rPr lang="en-US" altLang="zh-CN" sz="2000"/>
              <a:t> (E</a:t>
            </a:r>
            <a:r>
              <a:rPr lang="en-US" altLang="zh-CN" sz="2000" baseline="-25000"/>
              <a:t>1</a:t>
            </a:r>
            <a:r>
              <a:rPr lang="en-US" altLang="zh-CN" sz="2000"/>
              <a:t>.type == real &amp;&amp; E</a:t>
            </a:r>
            <a:r>
              <a:rPr lang="en-US" altLang="zh-CN" sz="2000" baseline="-25000"/>
              <a:t>2</a:t>
            </a:r>
            <a:r>
              <a:rPr lang="en-US" altLang="zh-CN" sz="2000"/>
              <a:t>.type == real) {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emit(E.place ‘:=’ E</a:t>
            </a:r>
            <a:r>
              <a:rPr lang="en-US" altLang="zh-CN" sz="2000" baseline="-25000"/>
              <a:t>1</a:t>
            </a:r>
            <a:r>
              <a:rPr lang="en-US" altLang="zh-CN" sz="2000"/>
              <a:t>.place ‘real+’ E</a:t>
            </a:r>
            <a:r>
              <a:rPr lang="en-US" altLang="zh-CN" sz="2000" baseline="-25000"/>
              <a:t>2</a:t>
            </a:r>
            <a:r>
              <a:rPr lang="en-US" altLang="zh-CN" sz="2000"/>
              <a:t>.place</a:t>
            </a:r>
            <a:r>
              <a:rPr lang="en-US" altLang="zh-CN" sz="2000">
                <a:sym typeface="+mn-ea"/>
              </a:rPr>
              <a:t>)</a:t>
            </a:r>
            <a:r>
              <a:rPr lang="en-US" altLang="zh-CN" sz="2000"/>
              <a:t>; E.type = real; }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else if</a:t>
            </a:r>
            <a:r>
              <a:rPr lang="en-US" altLang="zh-CN" sz="2000"/>
              <a:t> (E</a:t>
            </a:r>
            <a:r>
              <a:rPr lang="en-US" altLang="zh-CN" sz="2000" baseline="-25000"/>
              <a:t>1</a:t>
            </a:r>
            <a:r>
              <a:rPr lang="en-US" altLang="zh-CN" sz="2000"/>
              <a:t>.type == integer &amp;&amp; E</a:t>
            </a:r>
            <a:r>
              <a:rPr lang="en-US" altLang="zh-CN" sz="2000" baseline="-25000"/>
              <a:t>2</a:t>
            </a:r>
            <a:r>
              <a:rPr lang="en-US" altLang="zh-CN" sz="2000"/>
              <a:t>.type == real) {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u = newtemp; 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emit(u ‘:=’ ‘inttoreal’ E</a:t>
            </a:r>
            <a:r>
              <a:rPr lang="en-US" altLang="zh-CN" sz="2000" baseline="-25000"/>
              <a:t>1</a:t>
            </a:r>
            <a:r>
              <a:rPr lang="en-US" altLang="zh-CN" sz="2000"/>
              <a:t>.place);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emit(E.place ‘:=’ u ‘real+’ E</a:t>
            </a:r>
            <a:r>
              <a:rPr lang="en-US" altLang="zh-CN" sz="2000" baseline="-25000"/>
              <a:t>2</a:t>
            </a:r>
            <a:r>
              <a:rPr lang="en-US" altLang="zh-CN" sz="2000"/>
              <a:t>.place; E.type = integer; }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else if</a:t>
            </a:r>
            <a:r>
              <a:rPr lang="en-US" altLang="zh-CN" sz="2000"/>
              <a:t> (E</a:t>
            </a:r>
            <a:r>
              <a:rPr lang="en-US" altLang="zh-CN" sz="2000" baseline="-25000"/>
              <a:t>1</a:t>
            </a:r>
            <a:r>
              <a:rPr lang="en-US" altLang="zh-CN" sz="2000"/>
              <a:t>.type == real &amp;&amp; E</a:t>
            </a:r>
            <a:r>
              <a:rPr lang="en-US" altLang="zh-CN" sz="2000" baseline="-25000"/>
              <a:t>2</a:t>
            </a:r>
            <a:r>
              <a:rPr lang="en-US" altLang="zh-CN" sz="2000"/>
              <a:t>.type == integer) …</a:t>
            </a:r>
            <a:endParaRPr lang="en-US" altLang="zh-CN" sz="2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类型转换例子</a:t>
            </a:r>
            <a:endParaRPr lang="zh-CN" altLang="en-US"/>
          </a:p>
        </p:txBody>
      </p:sp>
      <p:sp>
        <p:nvSpPr>
          <p:cNvPr id="3584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10200"/>
          </a:xfrm>
        </p:spPr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en-US" altLang="zh-CN" sz="2800"/>
              <a:t>x := y + i * j</a:t>
            </a:r>
            <a:br>
              <a:rPr lang="en-US" altLang="zh-CN" sz="2800"/>
            </a:br>
            <a:r>
              <a:rPr lang="en-US" altLang="zh-CN" sz="2800"/>
              <a:t>x</a:t>
            </a:r>
            <a:r>
              <a:rPr lang="zh-CN" altLang="en-US" sz="2800"/>
              <a:t>、</a:t>
            </a:r>
            <a:r>
              <a:rPr lang="en-US" altLang="zh-CN" sz="2800"/>
              <a:t>y——</a:t>
            </a:r>
            <a:r>
              <a:rPr lang="zh-CN" altLang="en-US" sz="2800"/>
              <a:t>实数</a:t>
            </a:r>
            <a:br>
              <a:rPr lang="zh-CN" altLang="en-US" sz="2800"/>
            </a:br>
            <a:r>
              <a:rPr lang="en-US" altLang="zh-CN" sz="2800"/>
              <a:t>i</a:t>
            </a:r>
            <a:r>
              <a:rPr lang="zh-CN" altLang="en-US" sz="2800"/>
              <a:t>、</a:t>
            </a:r>
            <a:r>
              <a:rPr lang="en-US" altLang="zh-CN" sz="2800"/>
              <a:t>j——</a:t>
            </a:r>
            <a:r>
              <a:rPr lang="zh-CN" altLang="en-US" sz="2800"/>
              <a:t>整数</a:t>
            </a:r>
            <a:endParaRPr lang="zh-CN" altLang="en-US" sz="28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endParaRPr lang="zh-CN" altLang="en-US" sz="28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800"/>
              <a:t>	</a:t>
            </a:r>
            <a:r>
              <a:rPr lang="en-US" altLang="zh-CN" sz="2800"/>
              <a:t>t</a:t>
            </a:r>
            <a:r>
              <a:rPr lang="en-US" altLang="zh-CN" sz="2800" baseline="-25000"/>
              <a:t>1</a:t>
            </a:r>
            <a:r>
              <a:rPr lang="en-US" altLang="zh-CN" sz="2800"/>
              <a:t> := i  int*  j</a:t>
            </a:r>
            <a:endParaRPr lang="en-US" altLang="zh-CN" sz="28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/>
              <a:t>	t</a:t>
            </a:r>
            <a:r>
              <a:rPr lang="en-US" altLang="zh-CN" sz="2800" baseline="-25000"/>
              <a:t>3</a:t>
            </a:r>
            <a:r>
              <a:rPr lang="en-US" altLang="zh-CN" sz="2800"/>
              <a:t> := inttoreal  t</a:t>
            </a:r>
            <a:r>
              <a:rPr lang="en-US" altLang="zh-CN" sz="2800" baseline="-25000"/>
              <a:t>1</a:t>
            </a:r>
            <a:endParaRPr lang="en-US" altLang="zh-CN" sz="28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/>
              <a:t>	t</a:t>
            </a:r>
            <a:r>
              <a:rPr lang="en-US" altLang="zh-CN" sz="2800" baseline="-25000"/>
              <a:t>2</a:t>
            </a:r>
            <a:r>
              <a:rPr lang="en-US" altLang="zh-CN" sz="2800"/>
              <a:t> := y real+ t</a:t>
            </a:r>
            <a:r>
              <a:rPr lang="en-US" altLang="zh-CN" sz="2800" baseline="-25000"/>
              <a:t>3</a:t>
            </a:r>
            <a:endParaRPr lang="en-US" altLang="zh-CN" sz="2800" baseline="-25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/>
              <a:t>	x := t</a:t>
            </a:r>
            <a:r>
              <a:rPr lang="en-US" altLang="zh-CN" sz="2800" baseline="-25000"/>
              <a:t>2</a:t>
            </a:r>
            <a:endParaRPr lang="en-US" altLang="zh-CN" sz="2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8.3.6  </a:t>
            </a:r>
            <a:r>
              <a:rPr lang="zh-CN" altLang="en-US"/>
              <a:t>记录（结构）域的访问</a:t>
            </a:r>
            <a:endParaRPr lang="zh-CN" alt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保存每个域的类型和相对地址</a:t>
            </a:r>
            <a:r>
              <a:rPr lang="zh-CN" altLang="en-US" sz="2800" dirty="0">
                <a:sym typeface="Wingdings" panose="05000000000000000000" pitchFamily="2" charset="2"/>
              </a:rPr>
              <a:t>符号表</a:t>
            </a:r>
            <a:endParaRPr lang="zh-CN" altLang="en-US" sz="2800" dirty="0">
              <a:sym typeface="Wingdings" panose="05000000000000000000" pitchFamily="2" charset="2"/>
            </a:endParaRPr>
          </a:p>
          <a:p>
            <a:pPr eaLnBrk="1" hangingPunct="1"/>
            <a:r>
              <a:rPr lang="en-US" altLang="zh-CN" sz="2800" dirty="0">
                <a:sym typeface="Wingdings" panose="05000000000000000000" pitchFamily="2" charset="2"/>
              </a:rPr>
              <a:t>lookup</a:t>
            </a:r>
            <a:r>
              <a:rPr lang="zh-CN" altLang="en-US" sz="2800" dirty="0">
                <a:sym typeface="Wingdings" panose="05000000000000000000" pitchFamily="2" charset="2"/>
              </a:rPr>
              <a:t>可用于域名字</a:t>
            </a:r>
            <a:endParaRPr lang="zh-CN" altLang="en-US" sz="2800" dirty="0"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sz="2800" dirty="0">
                <a:sym typeface="Wingdings" panose="05000000000000000000" pitchFamily="2" charset="2"/>
              </a:rPr>
              <a:t>独立符号表</a:t>
            </a:r>
            <a:endParaRPr lang="zh-CN" altLang="en-US" sz="2800" dirty="0">
              <a:sym typeface="Wingdings" panose="05000000000000000000" pitchFamily="2" charset="2"/>
            </a:endParaRPr>
          </a:p>
          <a:p>
            <a:pPr eaLnBrk="1" hangingPunct="1"/>
            <a:r>
              <a:rPr lang="en-US" altLang="zh-CN" sz="2800" dirty="0">
                <a:sym typeface="Wingdings" panose="05000000000000000000" pitchFamily="2" charset="2"/>
              </a:rPr>
              <a:t>t</a:t>
            </a:r>
            <a:r>
              <a:rPr lang="zh-CN" altLang="en-US" sz="2800" dirty="0">
                <a:sym typeface="Wingdings" panose="05000000000000000000" pitchFamily="2" charset="2"/>
              </a:rPr>
              <a:t>：符号表指针，</a:t>
            </a:r>
            <a:r>
              <a:rPr lang="en-US" altLang="zh-CN" sz="2800" dirty="0">
                <a:sym typeface="Wingdings" panose="05000000000000000000" pitchFamily="2" charset="2"/>
              </a:rPr>
              <a:t>record(t)</a:t>
            </a:r>
            <a:r>
              <a:rPr lang="en-US" altLang="zh-CN" sz="2800" dirty="0" err="1">
                <a:sym typeface="Wingdings" panose="05000000000000000000" pitchFamily="2" charset="2"/>
              </a:rPr>
              <a:t>T.type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sz="2800" dirty="0">
                <a:sym typeface="Wingdings" panose="05000000000000000000" pitchFamily="2" charset="2"/>
              </a:rPr>
              <a:t>翻译</a:t>
            </a:r>
            <a:r>
              <a:rPr lang="en-US" altLang="zh-CN" sz="2800" dirty="0">
                <a:sym typeface="Wingdings" panose="05000000000000000000" pitchFamily="2" charset="2"/>
              </a:rPr>
              <a:t>p^.info + 1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pPr lvl="1" eaLnBrk="1" hangingPunct="1"/>
            <a:r>
              <a:rPr lang="en-US" altLang="zh-CN" sz="2400" dirty="0"/>
              <a:t>p</a:t>
            </a:r>
            <a:r>
              <a:rPr lang="zh-CN" altLang="en-US" sz="2400" dirty="0"/>
              <a:t>的类型</a:t>
            </a:r>
            <a:r>
              <a:rPr lang="en-US" altLang="zh-CN" sz="2400" dirty="0"/>
              <a:t>pointer(record(t))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p^</a:t>
            </a:r>
            <a:r>
              <a:rPr lang="zh-CN" altLang="en-US" sz="2400" dirty="0"/>
              <a:t>的类型</a:t>
            </a:r>
            <a:r>
              <a:rPr lang="en-US" altLang="zh-CN" sz="2400" dirty="0"/>
              <a:t>record(t)</a:t>
            </a:r>
            <a:endParaRPr lang="en-US" altLang="zh-CN" sz="2400" dirty="0"/>
          </a:p>
          <a:p>
            <a:pPr lvl="1" eaLnBrk="1" hangingPunct="1"/>
            <a:r>
              <a:rPr lang="zh-CN" altLang="en-US" sz="2400" dirty="0"/>
              <a:t>得到</a:t>
            </a:r>
            <a:r>
              <a:rPr lang="en-US" altLang="zh-CN" sz="2400" dirty="0"/>
              <a:t>t</a:t>
            </a:r>
            <a:r>
              <a:rPr lang="en-US" altLang="zh-CN" sz="2400" dirty="0"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ym typeface="Wingdings" panose="05000000000000000000" pitchFamily="2" charset="2"/>
              </a:rPr>
              <a:t>查找</a:t>
            </a:r>
            <a:r>
              <a:rPr lang="en-US" altLang="zh-CN" sz="2400" dirty="0">
                <a:sym typeface="Wingdings" panose="05000000000000000000" pitchFamily="2" charset="2"/>
              </a:rPr>
              <a:t>info</a:t>
            </a:r>
            <a:r>
              <a:rPr lang="zh-CN" altLang="en-US" sz="2400" dirty="0">
                <a:sym typeface="Wingdings" panose="05000000000000000000" pitchFamily="2" charset="2"/>
              </a:rPr>
              <a:t>域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8.4  </a:t>
            </a:r>
            <a:r>
              <a:rPr lang="zh-CN" altLang="en-US"/>
              <a:t>布尔表达式的翻译</a:t>
            </a:r>
            <a:endParaRPr lang="zh-CN" alt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</p:spPr>
        <p:txBody>
          <a:bodyPr/>
          <a:lstStyle/>
          <a:p>
            <a:pPr eaLnBrk="1" hangingPunct="1"/>
            <a:r>
              <a:rPr lang="en-US" altLang="zh-CN" sz="2000" dirty="0"/>
              <a:t>E→E </a:t>
            </a:r>
            <a:r>
              <a:rPr lang="en-US" altLang="zh-CN" sz="2000" b="1" dirty="0"/>
              <a:t>or</a:t>
            </a:r>
            <a:r>
              <a:rPr lang="en-US" altLang="zh-CN" sz="2000" dirty="0"/>
              <a:t> E | E </a:t>
            </a:r>
            <a:r>
              <a:rPr lang="en-US" altLang="zh-CN" sz="2000" b="1" dirty="0"/>
              <a:t>and</a:t>
            </a:r>
            <a:r>
              <a:rPr lang="en-US" altLang="zh-CN" sz="2000" dirty="0"/>
              <a:t> E | </a:t>
            </a:r>
            <a:r>
              <a:rPr lang="en-US" altLang="zh-CN" sz="2000" b="1" dirty="0"/>
              <a:t>not</a:t>
            </a:r>
            <a:r>
              <a:rPr lang="en-US" altLang="zh-CN" sz="2000" dirty="0"/>
              <a:t> E | (E) | </a:t>
            </a:r>
            <a:r>
              <a:rPr lang="en-US" altLang="zh-CN" sz="2000" b="1" dirty="0"/>
              <a:t>id</a:t>
            </a:r>
            <a:r>
              <a:rPr lang="en-US" altLang="zh-CN" sz="2000" dirty="0"/>
              <a:t> </a:t>
            </a:r>
            <a:r>
              <a:rPr lang="en-US" altLang="zh-CN" sz="2000" b="1" dirty="0" err="1"/>
              <a:t>relop</a:t>
            </a:r>
            <a:r>
              <a:rPr lang="en-US" altLang="zh-CN" sz="2000" dirty="0"/>
              <a:t> </a:t>
            </a:r>
            <a:r>
              <a:rPr lang="en-US" altLang="zh-CN" sz="2000" b="1" dirty="0"/>
              <a:t>id</a:t>
            </a:r>
            <a:r>
              <a:rPr lang="en-US" altLang="zh-CN" sz="2000" dirty="0"/>
              <a:t> | </a:t>
            </a:r>
            <a:r>
              <a:rPr lang="en-US" altLang="zh-CN" sz="2000" b="1" dirty="0"/>
              <a:t>true</a:t>
            </a:r>
            <a:r>
              <a:rPr lang="en-US" altLang="zh-CN" sz="2000" dirty="0"/>
              <a:t> | </a:t>
            </a:r>
            <a:r>
              <a:rPr lang="en-US" altLang="zh-CN" sz="2000" b="1" dirty="0"/>
              <a:t>false</a:t>
            </a:r>
            <a:endParaRPr lang="en-US" altLang="zh-CN" sz="2000" b="1" dirty="0"/>
          </a:p>
          <a:p>
            <a:pPr eaLnBrk="1" hangingPunct="1"/>
            <a:r>
              <a:rPr lang="en-US" altLang="zh-CN" sz="2800" dirty="0"/>
              <a:t>8.4.1  </a:t>
            </a:r>
            <a:r>
              <a:rPr lang="zh-CN" altLang="en-US" sz="2800" dirty="0"/>
              <a:t>两种翻译方式</a:t>
            </a:r>
            <a:endParaRPr lang="zh-CN" altLang="en-US" sz="2800" dirty="0"/>
          </a:p>
          <a:p>
            <a:pPr lvl="1" eaLnBrk="1" hangingPunct="1"/>
            <a:r>
              <a:rPr lang="zh-CN" altLang="en-US" sz="2400" dirty="0"/>
              <a:t>数值编码：</a:t>
            </a:r>
            <a:r>
              <a:rPr lang="en-US" altLang="zh-CN" sz="2400" dirty="0"/>
              <a:t>0</a:t>
            </a:r>
            <a:r>
              <a:rPr lang="zh-CN" altLang="en-US" sz="2400" dirty="0"/>
              <a:t>－</a:t>
            </a:r>
            <a:r>
              <a:rPr lang="en-US" altLang="zh-CN" sz="2400" dirty="0"/>
              <a:t>false</a:t>
            </a:r>
            <a:r>
              <a:rPr lang="zh-CN" altLang="en-US" sz="2400" dirty="0"/>
              <a:t>，非</a:t>
            </a:r>
            <a:r>
              <a:rPr lang="en-US" altLang="zh-CN" sz="2400" dirty="0"/>
              <a:t>0</a:t>
            </a:r>
            <a:r>
              <a:rPr lang="zh-CN" altLang="en-US" sz="2400" dirty="0"/>
              <a:t>－</a:t>
            </a:r>
            <a:r>
              <a:rPr lang="en-US" altLang="zh-CN" sz="2400" dirty="0" err="1"/>
              <a:t>ture</a:t>
            </a:r>
            <a:endParaRPr lang="en-US" altLang="zh-CN" sz="2400" dirty="0"/>
          </a:p>
          <a:p>
            <a:pPr lvl="1" eaLnBrk="1" hangingPunct="1"/>
            <a:r>
              <a:rPr lang="zh-CN" altLang="en-US" sz="2400" dirty="0"/>
              <a:t>结合控制流语句</a:t>
            </a:r>
            <a:br>
              <a:rPr lang="zh-CN" altLang="en-US" sz="2400" dirty="0"/>
            </a:br>
            <a:r>
              <a:rPr lang="zh-CN" altLang="en-US" sz="2400" dirty="0"/>
              <a:t>属性</a:t>
            </a:r>
            <a:r>
              <a:rPr lang="en-US" altLang="zh-CN" sz="2400" dirty="0"/>
              <a:t>true——</a:t>
            </a:r>
            <a:r>
              <a:rPr lang="zh-CN" altLang="en-US" sz="2400" dirty="0"/>
              <a:t>布尔表达式为真时跳转到的程序位置</a:t>
            </a:r>
            <a:br>
              <a:rPr lang="zh-CN" altLang="en-US" sz="2400" dirty="0"/>
            </a:br>
            <a:r>
              <a:rPr lang="zh-CN" altLang="en-US" sz="2400" dirty="0"/>
              <a:t>属性</a:t>
            </a:r>
            <a:r>
              <a:rPr lang="en-US" altLang="zh-CN" sz="2400" dirty="0"/>
              <a:t>false——</a:t>
            </a:r>
            <a:r>
              <a:rPr lang="zh-CN" altLang="en-US" sz="2400" dirty="0"/>
              <a:t>布尔表达式为假时跳转到的程序位置</a:t>
            </a:r>
            <a:endParaRPr lang="zh-CN" altLang="en-US" sz="2400" dirty="0"/>
          </a:p>
          <a:p>
            <a:pPr eaLnBrk="1" hangingPunct="1"/>
            <a:r>
              <a:rPr lang="zh-CN" altLang="en-US" sz="2800" dirty="0"/>
              <a:t>短路求值</a:t>
            </a:r>
            <a:endParaRPr lang="zh-CN" altLang="en-US" sz="2800" dirty="0"/>
          </a:p>
          <a:p>
            <a:pPr lvl="1" eaLnBrk="1" hangingPunct="1"/>
            <a:r>
              <a:rPr lang="en-US" altLang="zh-CN" sz="2400" dirty="0"/>
              <a:t>E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or E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，</a:t>
            </a:r>
            <a:r>
              <a:rPr lang="en-US" altLang="zh-CN" sz="2400" dirty="0"/>
              <a:t>E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=false</a:t>
            </a:r>
            <a:r>
              <a:rPr lang="zh-CN" altLang="en-US" sz="2400" dirty="0"/>
              <a:t>才对</a:t>
            </a:r>
            <a:r>
              <a:rPr lang="en-US" altLang="zh-CN" sz="2400" dirty="0"/>
              <a:t>E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求值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注意副作用问题：函数调用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8.4.2  </a:t>
            </a:r>
            <a:r>
              <a:rPr lang="zh-CN" altLang="en-US"/>
              <a:t>用数值表示布尔值</a:t>
            </a:r>
            <a:endParaRPr lang="zh-CN" alt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布尔表达式的翻译类似算术表达式的翻译</a:t>
            </a:r>
            <a:endParaRPr lang="en-US" altLang="zh-CN" sz="2400" dirty="0"/>
          </a:p>
          <a:p>
            <a:pPr lvl="1" eaLnBrk="1" hangingPunct="1"/>
            <a:r>
              <a:rPr lang="zh-CN" altLang="en-US" sz="2400" dirty="0"/>
              <a:t>或</a:t>
            </a:r>
            <a:r>
              <a:rPr lang="en-US" altLang="zh-CN" sz="2400" dirty="0"/>
              <a:t>—</a:t>
            </a:r>
            <a:r>
              <a:rPr lang="zh-CN" altLang="en-US" sz="2400" dirty="0"/>
              <a:t>加、与</a:t>
            </a:r>
            <a:r>
              <a:rPr lang="en-US" altLang="zh-CN" sz="2400" dirty="0"/>
              <a:t>—</a:t>
            </a:r>
            <a:r>
              <a:rPr lang="zh-CN" altLang="en-US" sz="2400" dirty="0"/>
              <a:t>乘、非</a:t>
            </a:r>
            <a:r>
              <a:rPr lang="en-US" altLang="zh-CN" sz="2400" dirty="0"/>
              <a:t>—</a:t>
            </a:r>
            <a:r>
              <a:rPr lang="zh-CN" altLang="en-US" sz="2400" dirty="0"/>
              <a:t>取负</a:t>
            </a:r>
            <a:br>
              <a:rPr lang="en-US" altLang="zh-CN" sz="2400" dirty="0"/>
            </a:br>
            <a:r>
              <a:rPr lang="en-US" altLang="zh-CN" sz="2400" dirty="0"/>
              <a:t>a or b and not c </a:t>
            </a:r>
            <a:r>
              <a:rPr lang="en-US" altLang="zh-CN" sz="2400" dirty="0">
                <a:sym typeface="Wingdings" panose="05000000000000000000" pitchFamily="2" charset="2"/>
              </a:rPr>
              <a:t>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	t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:= not c</a:t>
            </a:r>
            <a:endParaRPr lang="en-US" altLang="zh-CN" sz="24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	t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:= b and t</a:t>
            </a:r>
            <a:r>
              <a:rPr lang="en-US" altLang="zh-CN" sz="2400" baseline="-25000" dirty="0"/>
              <a:t>1</a:t>
            </a:r>
            <a:endParaRPr lang="en-US" altLang="zh-CN" sz="24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	t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 := a or t</a:t>
            </a:r>
            <a:r>
              <a:rPr lang="en-US" altLang="zh-CN" sz="2400" baseline="-25000" dirty="0"/>
              <a:t>2</a:t>
            </a:r>
            <a:endParaRPr lang="en-US" altLang="zh-CN" sz="2400" baseline="-25000" dirty="0"/>
          </a:p>
          <a:p>
            <a:pPr lvl="1" eaLnBrk="1" hangingPunct="1"/>
            <a:r>
              <a:rPr lang="zh-CN" altLang="en-US" sz="2400" dirty="0"/>
              <a:t>比较运算</a:t>
            </a:r>
            <a:r>
              <a:rPr lang="en-US" altLang="zh-CN" sz="2400" dirty="0"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ym typeface="Wingdings" panose="05000000000000000000" pitchFamily="2" charset="2"/>
              </a:rPr>
              <a:t>（无）条件转移语句赋布尔值</a:t>
            </a:r>
            <a:br>
              <a:rPr lang="en-US" altLang="zh-CN" sz="2400" dirty="0">
                <a:sym typeface="Wingdings" panose="05000000000000000000" pitchFamily="2" charset="2"/>
              </a:rPr>
            </a:br>
            <a:r>
              <a:rPr lang="en-US" altLang="zh-CN" sz="2400" dirty="0"/>
              <a:t>a &lt; b </a:t>
            </a:r>
            <a:r>
              <a:rPr lang="en-US" altLang="zh-CN" sz="2400" dirty="0">
                <a:sym typeface="Wingdings" panose="05000000000000000000" pitchFamily="2" charset="2"/>
              </a:rPr>
              <a:t> if a &lt; b then 1 else 0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	100:	if a &lt; b </a:t>
            </a:r>
            <a:r>
              <a:rPr lang="en-US" altLang="zh-CN" sz="2400" dirty="0" err="1"/>
              <a:t>goto</a:t>
            </a:r>
            <a:r>
              <a:rPr lang="en-US" altLang="zh-CN" sz="2400" dirty="0"/>
              <a:t> 103</a:t>
            </a:r>
            <a:endParaRPr lang="en-US" altLang="zh-CN" sz="24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	101:	t := 0</a:t>
            </a:r>
            <a:endParaRPr lang="en-US" altLang="zh-CN" sz="24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	102:	</a:t>
            </a:r>
            <a:r>
              <a:rPr lang="en-US" altLang="zh-CN" sz="2400" dirty="0" err="1"/>
              <a:t>goto</a:t>
            </a:r>
            <a:r>
              <a:rPr lang="en-US" altLang="zh-CN" sz="2400" dirty="0"/>
              <a:t> 104</a:t>
            </a:r>
            <a:endParaRPr lang="en-US" altLang="zh-CN" sz="24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	103:	t := 1</a:t>
            </a:r>
            <a:endParaRPr lang="en-US" altLang="zh-CN" sz="24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	104: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翻译模式</a:t>
            </a:r>
            <a:endParaRPr lang="zh-CN" alt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E→E</a:t>
            </a:r>
            <a:r>
              <a:rPr lang="en-US" altLang="zh-CN" sz="2000" baseline="-25000"/>
              <a:t>1</a:t>
            </a:r>
            <a:r>
              <a:rPr lang="en-US" altLang="zh-CN" sz="2000"/>
              <a:t> </a:t>
            </a:r>
            <a:r>
              <a:rPr lang="en-US" altLang="zh-CN" sz="2000" b="1"/>
              <a:t>or</a:t>
            </a:r>
            <a:r>
              <a:rPr lang="en-US" altLang="zh-CN" sz="2000"/>
              <a:t> E</a:t>
            </a:r>
            <a:r>
              <a:rPr lang="en-US" altLang="zh-CN" sz="2000" baseline="-25000"/>
              <a:t>2</a:t>
            </a:r>
            <a:r>
              <a:rPr lang="en-US" altLang="zh-CN" sz="2000"/>
              <a:t>	{ E.place = newtemp;</a:t>
            </a:r>
            <a:endParaRPr lang="en-US" altLang="zh-CN" sz="20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		emit(E.place ‘:=’ E</a:t>
            </a:r>
            <a:r>
              <a:rPr lang="en-US" altLang="zh-CN" sz="2000" baseline="-25000"/>
              <a:t>1</a:t>
            </a:r>
            <a:r>
              <a:rPr lang="en-US" altLang="zh-CN" sz="2000"/>
              <a:t>.place ‘or’ E</a:t>
            </a:r>
            <a:r>
              <a:rPr lang="en-US" altLang="zh-CN" sz="2000" baseline="-25000"/>
              <a:t>2</a:t>
            </a:r>
            <a:r>
              <a:rPr lang="en-US" altLang="zh-CN" sz="2000"/>
              <a:t>.place); }</a:t>
            </a:r>
            <a:endParaRPr lang="en-US" altLang="zh-CN" sz="20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E→E</a:t>
            </a:r>
            <a:r>
              <a:rPr lang="en-US" altLang="zh-CN" sz="2000" baseline="-25000"/>
              <a:t>1</a:t>
            </a:r>
            <a:r>
              <a:rPr lang="en-US" altLang="zh-CN" sz="2000"/>
              <a:t> </a:t>
            </a:r>
            <a:r>
              <a:rPr lang="en-US" altLang="zh-CN" sz="2000" b="1"/>
              <a:t>and</a:t>
            </a:r>
            <a:r>
              <a:rPr lang="en-US" altLang="zh-CN" sz="2000"/>
              <a:t> E</a:t>
            </a:r>
            <a:r>
              <a:rPr lang="en-US" altLang="zh-CN" sz="2000" baseline="-25000"/>
              <a:t>2</a:t>
            </a:r>
            <a:r>
              <a:rPr lang="en-US" altLang="zh-CN" sz="2000"/>
              <a:t>	{ E.place = newtemp;</a:t>
            </a:r>
            <a:endParaRPr lang="en-US" altLang="zh-CN" sz="20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		emit(E.place ‘:=’ E</a:t>
            </a:r>
            <a:r>
              <a:rPr lang="en-US" altLang="zh-CN" sz="2000" baseline="-25000"/>
              <a:t>1</a:t>
            </a:r>
            <a:r>
              <a:rPr lang="en-US" altLang="zh-CN" sz="2000"/>
              <a:t>.place ‘and’ E</a:t>
            </a:r>
            <a:r>
              <a:rPr lang="en-US" altLang="zh-CN" sz="2000" baseline="-25000"/>
              <a:t>2</a:t>
            </a:r>
            <a:r>
              <a:rPr lang="en-US" altLang="zh-CN" sz="2000"/>
              <a:t>.place); }</a:t>
            </a:r>
            <a:endParaRPr lang="en-US" altLang="zh-CN" sz="20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E→</a:t>
            </a:r>
            <a:r>
              <a:rPr lang="en-US" altLang="zh-CN" sz="2000" b="1"/>
              <a:t>not</a:t>
            </a:r>
            <a:r>
              <a:rPr lang="en-US" altLang="zh-CN" sz="2000"/>
              <a:t> E</a:t>
            </a:r>
            <a:r>
              <a:rPr lang="en-US" altLang="zh-CN" sz="2000" baseline="-25000"/>
              <a:t>1</a:t>
            </a:r>
            <a:r>
              <a:rPr lang="en-US" altLang="zh-CN" sz="2000"/>
              <a:t>	{ E.place = newtemp;</a:t>
            </a:r>
            <a:endParaRPr lang="en-US" altLang="zh-CN" sz="20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		emit(E.place ‘:=’ ‘not’ E</a:t>
            </a:r>
            <a:r>
              <a:rPr lang="en-US" altLang="zh-CN" sz="2000" baseline="-25000"/>
              <a:t>1</a:t>
            </a:r>
            <a:r>
              <a:rPr lang="en-US" altLang="zh-CN" sz="2000"/>
              <a:t>.place); }</a:t>
            </a:r>
            <a:endParaRPr lang="en-US" altLang="zh-CN" sz="20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E→( E</a:t>
            </a:r>
            <a:r>
              <a:rPr lang="en-US" altLang="zh-CN" sz="2000" baseline="-25000"/>
              <a:t>1</a:t>
            </a:r>
            <a:r>
              <a:rPr lang="en-US" altLang="zh-CN" sz="2000"/>
              <a:t> )	{ E.place = E</a:t>
            </a:r>
            <a:r>
              <a:rPr lang="en-US" altLang="zh-CN" sz="2000" baseline="-25000"/>
              <a:t>1</a:t>
            </a:r>
            <a:r>
              <a:rPr lang="en-US" altLang="zh-CN" sz="2000"/>
              <a:t>.place; }</a:t>
            </a:r>
            <a:endParaRPr lang="en-US" altLang="zh-CN" sz="20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E→</a:t>
            </a:r>
            <a:r>
              <a:rPr lang="en-US" altLang="zh-CN" sz="2000" b="1"/>
              <a:t>id</a:t>
            </a:r>
            <a:r>
              <a:rPr lang="en-US" altLang="zh-CN" sz="2000" b="1" baseline="-25000"/>
              <a:t>1</a:t>
            </a:r>
            <a:r>
              <a:rPr lang="en-US" altLang="zh-CN" sz="2000" b="1"/>
              <a:t> relop id</a:t>
            </a:r>
            <a:r>
              <a:rPr lang="en-US" altLang="zh-CN" sz="2000" b="1" baseline="-25000"/>
              <a:t>2</a:t>
            </a:r>
            <a:r>
              <a:rPr lang="en-US" altLang="zh-CN" sz="2000"/>
              <a:t>	{ E.place = newtemp;</a:t>
            </a:r>
            <a:endParaRPr lang="en-US" altLang="zh-CN" sz="20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		emit(‘if’ </a:t>
            </a:r>
            <a:r>
              <a:rPr lang="en-US" altLang="zh-CN" sz="2000" b="1"/>
              <a:t>id</a:t>
            </a:r>
            <a:r>
              <a:rPr lang="en-US" altLang="zh-CN" sz="2000" baseline="-25000"/>
              <a:t>1</a:t>
            </a:r>
            <a:r>
              <a:rPr lang="en-US" altLang="zh-CN" sz="2000"/>
              <a:t>.place </a:t>
            </a:r>
            <a:r>
              <a:rPr lang="en-US" altLang="zh-CN" sz="2000" b="1"/>
              <a:t>relop</a:t>
            </a:r>
            <a:r>
              <a:rPr lang="en-US" altLang="zh-CN" sz="2000"/>
              <a:t>.op </a:t>
            </a:r>
            <a:r>
              <a:rPr lang="en-US" altLang="zh-CN" sz="2000" b="1"/>
              <a:t>id</a:t>
            </a:r>
            <a:r>
              <a:rPr lang="en-US" altLang="zh-CN" sz="2000" b="1" baseline="-25000"/>
              <a:t>2</a:t>
            </a:r>
            <a:r>
              <a:rPr lang="en-US" altLang="zh-CN" sz="2000"/>
              <a:t>.place ‘goto’ nextstat + 3);</a:t>
            </a:r>
            <a:endParaRPr lang="en-US" altLang="zh-CN" sz="20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		emit(E.place ‘:=’ ‘0’);</a:t>
            </a:r>
            <a:endParaRPr lang="en-US" altLang="zh-CN" sz="20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		emit(‘goto’ nextstat + 2);</a:t>
            </a:r>
            <a:endParaRPr lang="en-US" altLang="zh-CN" sz="20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		emit(E.place ‘:=’ ‘1’); }</a:t>
            </a:r>
            <a:endParaRPr lang="en-US" altLang="zh-CN" sz="20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E→</a:t>
            </a:r>
            <a:r>
              <a:rPr lang="en-US" altLang="zh-CN" sz="2000" b="1"/>
              <a:t>true</a:t>
            </a:r>
            <a:r>
              <a:rPr lang="en-US" altLang="zh-CN" sz="2000"/>
              <a:t>		{ E.place = newtemp; emit(E.place ‘:=’ ‘1’); }</a:t>
            </a:r>
            <a:endParaRPr lang="en-US" altLang="zh-CN" sz="20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E→</a:t>
            </a:r>
            <a:r>
              <a:rPr lang="en-US" altLang="zh-CN" sz="2000" b="1"/>
              <a:t>false</a:t>
            </a:r>
            <a:r>
              <a:rPr lang="en-US" altLang="zh-CN" sz="2000"/>
              <a:t>		{ E.place = newtemp; emit(E.place ‘:=’ ‘0’); }</a:t>
            </a:r>
            <a:endParaRPr lang="en-US" altLang="zh-CN" sz="2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8.3</a:t>
            </a:r>
            <a:endParaRPr lang="en-US" altLang="zh-CN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400"/>
              <a:t>翻译</a:t>
            </a:r>
            <a:r>
              <a:rPr lang="en-US" altLang="zh-CN" sz="2400"/>
              <a:t>a &lt; b or c &lt; d and e &lt; f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100: if a &lt; b goto 103     	107: t</a:t>
            </a:r>
            <a:r>
              <a:rPr lang="en-US" altLang="zh-CN" sz="2400" baseline="-25000"/>
              <a:t>2</a:t>
            </a:r>
            <a:r>
              <a:rPr lang="en-US" altLang="zh-CN" sz="2400"/>
              <a:t> := 1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101: t</a:t>
            </a:r>
            <a:r>
              <a:rPr lang="en-US" altLang="zh-CN" sz="2400" baseline="-25000"/>
              <a:t>1 </a:t>
            </a:r>
            <a:r>
              <a:rPr lang="en-US" altLang="zh-CN" sz="2400"/>
              <a:t>:= 0			108: if e &lt; f goto 111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102: goto 104		    	109: t</a:t>
            </a:r>
            <a:r>
              <a:rPr lang="en-US" altLang="zh-CN" sz="2400" baseline="-25000"/>
              <a:t>3</a:t>
            </a:r>
            <a:r>
              <a:rPr lang="en-US" altLang="zh-CN" sz="2400"/>
              <a:t> := 0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103: t</a:t>
            </a:r>
            <a:r>
              <a:rPr lang="en-US" altLang="zh-CN" sz="2400" baseline="-25000"/>
              <a:t>1</a:t>
            </a:r>
            <a:r>
              <a:rPr lang="en-US" altLang="zh-CN" sz="2400"/>
              <a:t> := 1			110: goto 112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104: if c &lt; d goto 107	    	111: t</a:t>
            </a:r>
            <a:r>
              <a:rPr lang="en-US" altLang="zh-CN" sz="2400" baseline="-25000"/>
              <a:t>3</a:t>
            </a:r>
            <a:r>
              <a:rPr lang="en-US" altLang="zh-CN" sz="2400"/>
              <a:t> := 1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105: t</a:t>
            </a:r>
            <a:r>
              <a:rPr lang="en-US" altLang="zh-CN" sz="2400" baseline="-25000"/>
              <a:t>2</a:t>
            </a:r>
            <a:r>
              <a:rPr lang="en-US" altLang="zh-CN" sz="2400"/>
              <a:t> := 0			112: t</a:t>
            </a:r>
            <a:r>
              <a:rPr lang="en-US" altLang="zh-CN" sz="2400" baseline="-25000"/>
              <a:t>4</a:t>
            </a:r>
            <a:r>
              <a:rPr lang="en-US" altLang="zh-CN" sz="2400"/>
              <a:t> := t</a:t>
            </a:r>
            <a:r>
              <a:rPr lang="en-US" altLang="zh-CN" sz="2400" baseline="-25000"/>
              <a:t>2</a:t>
            </a:r>
            <a:r>
              <a:rPr lang="en-US" altLang="zh-CN" sz="2400"/>
              <a:t> and t</a:t>
            </a:r>
            <a:r>
              <a:rPr lang="en-US" altLang="zh-CN" sz="2400" baseline="-25000"/>
              <a:t>3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106: goto 108		    	113: t</a:t>
            </a:r>
            <a:r>
              <a:rPr lang="en-US" altLang="zh-CN" sz="2400" baseline="-25000"/>
              <a:t>5</a:t>
            </a:r>
            <a:r>
              <a:rPr lang="en-US" altLang="zh-CN" sz="2400"/>
              <a:t> := t</a:t>
            </a:r>
            <a:r>
              <a:rPr lang="en-US" altLang="zh-CN" sz="2400" baseline="-25000"/>
              <a:t>1</a:t>
            </a:r>
            <a:r>
              <a:rPr lang="en-US" altLang="zh-CN" sz="2400"/>
              <a:t> or t</a:t>
            </a:r>
            <a:r>
              <a:rPr lang="en-US" altLang="zh-CN" sz="2400" baseline="-25000"/>
              <a:t>4</a:t>
            </a:r>
            <a:endParaRPr lang="en-US" altLang="zh-CN" sz="24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8.4.3  </a:t>
            </a:r>
            <a:r>
              <a:rPr lang="zh-CN" altLang="en-US"/>
              <a:t>控制流语句的翻译</a:t>
            </a:r>
            <a:endParaRPr lang="zh-CN" alt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布尔表达式翻译回归其本质用途：程序控制流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9000"/>
              <a:buFont typeface="Wingdings" panose="05000000000000000000" pitchFamily="2" charset="2"/>
              <a:buChar char="q"/>
              <a:defRPr/>
            </a:pPr>
            <a:r>
              <a:rPr lang="zh-CN" altLang="en-US" sz="2400" dirty="0">
                <a:sym typeface="Wingdings" panose="05000000000000000000" pitchFamily="2" charset="2"/>
              </a:rPr>
              <a:t>与控制流语句协同翻译：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9000"/>
              <a:buFont typeface="Wingdings" panose="05000000000000000000" pitchFamily="2" charset="2"/>
              <a:buChar char="q"/>
              <a:defRPr/>
            </a:pPr>
            <a:r>
              <a:rPr lang="zh-CN" altLang="en-US" sz="2400" dirty="0">
                <a:sym typeface="Wingdings" panose="05000000000000000000" pitchFamily="2" charset="2"/>
              </a:rPr>
              <a:t>控制流语句确定布尔表达式为真</a:t>
            </a:r>
            <a:r>
              <a:rPr lang="en-US" altLang="zh-CN" sz="2400" dirty="0">
                <a:sym typeface="Wingdings" panose="05000000000000000000" pitchFamily="2" charset="2"/>
              </a:rPr>
              <a:t>/</a:t>
            </a:r>
            <a:r>
              <a:rPr lang="zh-CN" altLang="en-US" sz="2400" dirty="0">
                <a:sym typeface="Wingdings" panose="05000000000000000000" pitchFamily="2" charset="2"/>
              </a:rPr>
              <a:t>假时跳转的地址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9000"/>
              <a:buFont typeface="Wingdings" panose="05000000000000000000" pitchFamily="2" charset="2"/>
              <a:buChar char="q"/>
              <a:defRPr/>
            </a:pPr>
            <a:r>
              <a:rPr lang="zh-CN" altLang="en-US" sz="2400" dirty="0">
                <a:sym typeface="Wingdings" panose="05000000000000000000" pitchFamily="2" charset="2"/>
              </a:rPr>
              <a:t>作为继承属性传递给布尔表达式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9000"/>
              <a:buFont typeface="Wingdings" panose="05000000000000000000" pitchFamily="2" charset="2"/>
              <a:buChar char="q"/>
              <a:defRPr/>
            </a:pPr>
            <a:r>
              <a:rPr lang="zh-CN" altLang="en-US" sz="2400" dirty="0">
                <a:sym typeface="Wingdings" panose="05000000000000000000" pitchFamily="2" charset="2"/>
              </a:rPr>
              <a:t>布尔表达式（比较运算）用其生成跳转语句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err="1"/>
              <a:t>S→</a:t>
            </a:r>
            <a:r>
              <a:rPr lang="en-US" altLang="zh-CN" sz="2400" b="1" dirty="0" err="1"/>
              <a:t>if</a:t>
            </a:r>
            <a:r>
              <a:rPr lang="en-US" altLang="zh-CN" sz="2400" dirty="0"/>
              <a:t> E </a:t>
            </a:r>
            <a:r>
              <a:rPr lang="en-US" altLang="zh-CN" sz="2400" b="1" dirty="0"/>
              <a:t>then</a:t>
            </a:r>
            <a:r>
              <a:rPr lang="en-US" altLang="zh-CN" sz="2400" dirty="0"/>
              <a:t> S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| </a:t>
            </a:r>
            <a:r>
              <a:rPr lang="en-US" altLang="zh-CN" sz="2400" b="1" dirty="0"/>
              <a:t>if</a:t>
            </a:r>
            <a:r>
              <a:rPr lang="en-US" altLang="zh-CN" sz="2400" dirty="0"/>
              <a:t> E </a:t>
            </a:r>
            <a:r>
              <a:rPr lang="en-US" altLang="zh-CN" sz="2400" b="1" dirty="0"/>
              <a:t>then</a:t>
            </a:r>
            <a:r>
              <a:rPr lang="en-US" altLang="zh-CN" sz="2400" dirty="0"/>
              <a:t> S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</a:t>
            </a:r>
            <a:r>
              <a:rPr lang="en-US" altLang="zh-CN" sz="2400" b="1" dirty="0"/>
              <a:t>else</a:t>
            </a:r>
            <a:r>
              <a:rPr lang="en-US" altLang="zh-CN" sz="2400" dirty="0"/>
              <a:t> S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| </a:t>
            </a:r>
            <a:r>
              <a:rPr lang="en-US" altLang="zh-CN" sz="2400" b="1" dirty="0"/>
              <a:t>while</a:t>
            </a:r>
            <a:r>
              <a:rPr lang="en-US" altLang="zh-CN" sz="2400" dirty="0"/>
              <a:t> E </a:t>
            </a:r>
            <a:r>
              <a:rPr lang="en-US" altLang="zh-CN" sz="2400" b="1" dirty="0"/>
              <a:t>do</a:t>
            </a:r>
            <a:r>
              <a:rPr lang="en-US" altLang="zh-CN" sz="2400" dirty="0"/>
              <a:t> S</a:t>
            </a:r>
            <a:r>
              <a:rPr lang="en-US" altLang="zh-CN" sz="2400" baseline="-25000" dirty="0"/>
              <a:t>1</a:t>
            </a:r>
            <a:endParaRPr lang="en-US" altLang="zh-CN" sz="2400" dirty="0"/>
          </a:p>
        </p:txBody>
      </p:sp>
      <p:pic>
        <p:nvPicPr>
          <p:cNvPr id="41988" name="Picture 5" descr="ctrl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63" y="4138439"/>
            <a:ext cx="8618537" cy="267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语法制导定义－</a:t>
            </a:r>
            <a:r>
              <a:rPr lang="en-US" altLang="zh-CN"/>
              <a:t>if</a:t>
            </a:r>
            <a:endParaRPr lang="en-US" altLang="zh-CN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3581400"/>
            <a:ext cx="7772400" cy="2971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S→ </a:t>
            </a:r>
            <a:r>
              <a:rPr lang="en-US" altLang="zh-CN" sz="2000" b="1"/>
              <a:t>if</a:t>
            </a:r>
            <a:r>
              <a:rPr lang="en-US" altLang="zh-CN" sz="2000"/>
              <a:t> E </a:t>
            </a:r>
            <a:r>
              <a:rPr lang="en-US" altLang="zh-CN" sz="2000" b="1"/>
              <a:t>then</a:t>
            </a:r>
            <a:r>
              <a:rPr lang="en-US" altLang="zh-CN" sz="2000"/>
              <a:t> S</a:t>
            </a:r>
            <a:r>
              <a:rPr lang="en-US" altLang="zh-CN" sz="2000" baseline="-25000"/>
              <a:t>1</a:t>
            </a:r>
            <a:r>
              <a:rPr lang="en-US" altLang="zh-CN" sz="2000"/>
              <a:t>	E.true = newlabel;  E.false = S.next;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S</a:t>
            </a:r>
            <a:r>
              <a:rPr lang="en-US" altLang="zh-CN" sz="2000" baseline="-25000"/>
              <a:t>1</a:t>
            </a:r>
            <a:r>
              <a:rPr lang="en-US" altLang="zh-CN" sz="2000"/>
              <a:t>.next = S.next;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S.code = E.code || gen(E.true ‘:’) || S</a:t>
            </a:r>
            <a:r>
              <a:rPr lang="en-US" altLang="zh-CN" sz="2000" baseline="-25000"/>
              <a:t>1</a:t>
            </a:r>
            <a:r>
              <a:rPr lang="en-US" altLang="zh-CN" sz="2000"/>
              <a:t>.code</a:t>
            </a:r>
            <a:endParaRPr lang="en-US" altLang="zh-CN" sz="2000"/>
          </a:p>
        </p:txBody>
      </p:sp>
      <p:pic>
        <p:nvPicPr>
          <p:cNvPr id="43012" name="Picture 4" descr="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371600"/>
            <a:ext cx="2746375" cy="213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语法制导定义－</a:t>
            </a:r>
            <a:r>
              <a:rPr lang="en-US" altLang="zh-CN" dirty="0"/>
              <a:t>if-else</a:t>
            </a:r>
            <a:endParaRPr lang="en-US" altLang="zh-CN" dirty="0"/>
          </a:p>
        </p:txBody>
      </p:sp>
      <p:sp>
        <p:nvSpPr>
          <p:cNvPr id="578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3429000"/>
            <a:ext cx="7772400" cy="2667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S→</a:t>
            </a:r>
            <a:r>
              <a:rPr lang="en-US" altLang="zh-CN" sz="2000" b="1"/>
              <a:t>if</a:t>
            </a:r>
            <a:r>
              <a:rPr lang="en-US" altLang="zh-CN" sz="2000"/>
              <a:t> E </a:t>
            </a:r>
            <a:r>
              <a:rPr lang="en-US" altLang="zh-CN" sz="2000" b="1"/>
              <a:t>then</a:t>
            </a:r>
            <a:r>
              <a:rPr lang="en-US" altLang="zh-CN" sz="2000"/>
              <a:t> S</a:t>
            </a:r>
            <a:r>
              <a:rPr lang="en-US" altLang="zh-CN" sz="2000" baseline="-25000"/>
              <a:t>1 </a:t>
            </a:r>
            <a:r>
              <a:rPr lang="en-US" altLang="zh-CN" sz="2000" b="1"/>
              <a:t>else</a:t>
            </a:r>
            <a:r>
              <a:rPr lang="en-US" altLang="zh-CN" sz="2000"/>
              <a:t> S</a:t>
            </a:r>
            <a:r>
              <a:rPr lang="en-US" altLang="zh-CN" sz="2000" baseline="-25000"/>
              <a:t>2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E.true = newlabel;  E.false = newlabel;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S</a:t>
            </a:r>
            <a:r>
              <a:rPr lang="en-US" altLang="zh-CN" sz="2000" baseline="-25000"/>
              <a:t>1</a:t>
            </a:r>
            <a:r>
              <a:rPr lang="en-US" altLang="zh-CN" sz="2000"/>
              <a:t>.next = S.next;  S</a:t>
            </a:r>
            <a:r>
              <a:rPr lang="en-US" altLang="zh-CN" sz="2000" baseline="-25000"/>
              <a:t>2</a:t>
            </a:r>
            <a:r>
              <a:rPr lang="en-US" altLang="zh-CN" sz="2000"/>
              <a:t>.next = S.next;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S.code = E.code || gen(E.true ‘:’) || S</a:t>
            </a:r>
            <a:r>
              <a:rPr lang="en-US" altLang="zh-CN" sz="2000" baseline="-25000"/>
              <a:t>1</a:t>
            </a:r>
            <a:r>
              <a:rPr lang="en-US" altLang="zh-CN" sz="2000"/>
              <a:t>.code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   || gen(‘goto’ S.next) || gen(E.false ‘:’) ||S</a:t>
            </a:r>
            <a:r>
              <a:rPr lang="en-US" altLang="zh-CN" sz="2000" baseline="-25000"/>
              <a:t>2</a:t>
            </a:r>
            <a:r>
              <a:rPr lang="en-US" altLang="zh-CN" sz="2000"/>
              <a:t>.code</a:t>
            </a:r>
            <a:endParaRPr lang="en-US" altLang="zh-CN" sz="2000"/>
          </a:p>
        </p:txBody>
      </p:sp>
      <p:pic>
        <p:nvPicPr>
          <p:cNvPr id="44036" name="Picture 4" descr="els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295400"/>
            <a:ext cx="2516188" cy="239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8563" grpId="0" autoUpdateAnimBg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语法制导定义－</a:t>
            </a:r>
            <a:r>
              <a:rPr lang="en-US" altLang="zh-CN" dirty="0"/>
              <a:t>While</a:t>
            </a:r>
            <a:endParaRPr lang="zh-CN" altLang="en-US" dirty="0"/>
          </a:p>
        </p:txBody>
      </p:sp>
      <p:sp>
        <p:nvSpPr>
          <p:cNvPr id="579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3352800"/>
            <a:ext cx="7772400" cy="3200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S→</a:t>
            </a:r>
            <a:r>
              <a:rPr lang="en-US" altLang="zh-CN" sz="2000" b="1"/>
              <a:t>while</a:t>
            </a:r>
            <a:r>
              <a:rPr lang="en-US" altLang="zh-CN" sz="2000"/>
              <a:t> E </a:t>
            </a:r>
            <a:r>
              <a:rPr lang="en-US" altLang="zh-CN" sz="2000" b="1"/>
              <a:t>do</a:t>
            </a:r>
            <a:r>
              <a:rPr lang="en-US" altLang="zh-CN" sz="2000"/>
              <a:t> S</a:t>
            </a:r>
            <a:r>
              <a:rPr lang="en-US" altLang="zh-CN" sz="2000" baseline="-25000"/>
              <a:t>1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S.begin = newlabel;  E.true = newlabel;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E.false = S.next;  S</a:t>
            </a:r>
            <a:r>
              <a:rPr lang="en-US" altLang="zh-CN" sz="2000" baseline="-25000"/>
              <a:t>1</a:t>
            </a:r>
            <a:r>
              <a:rPr lang="en-US" altLang="zh-CN" sz="2000"/>
              <a:t>.next = S.begin;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S.code = gen(S.being ‘:’) || E.code || gen(E.true ‘:’) ||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		S</a:t>
            </a:r>
            <a:r>
              <a:rPr lang="en-US" altLang="zh-CN" sz="2000" baseline="-25000"/>
              <a:t>1</a:t>
            </a:r>
            <a:r>
              <a:rPr lang="en-US" altLang="zh-CN" sz="2000"/>
              <a:t>.code || gen(‘goto’ S.begin)</a:t>
            </a:r>
            <a:endParaRPr lang="en-US" altLang="zh-CN" sz="2000"/>
          </a:p>
        </p:txBody>
      </p:sp>
      <p:pic>
        <p:nvPicPr>
          <p:cNvPr id="45060" name="Picture 4" descr="whil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295400"/>
            <a:ext cx="3340100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9587" grpId="0" autoUpdateAnimBg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/>
              <a:t>8.4.5  </a:t>
            </a:r>
            <a:r>
              <a:rPr lang="zh-CN" altLang="en-US" sz="3600" dirty="0"/>
              <a:t>布尔表达式结合控制流语句翻译</a:t>
            </a:r>
            <a:endParaRPr lang="zh-CN" altLang="en-US" sz="3600" dirty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0" eaLnBrk="1" hangingPunct="1"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布尔运算：将“真”、“假”跳转地址继续向下传递</a:t>
            </a:r>
            <a:b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</a:b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比较</a:t>
            </a:r>
            <a:r>
              <a:rPr lang="zh-CN" altLang="en-US" sz="2400" dirty="0">
                <a:solidFill>
                  <a:srgbClr val="000000"/>
                </a:solidFill>
              </a:rPr>
              <a:t>运算：利用“真”、“假”地址生成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跳转语句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E→E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</a:t>
            </a:r>
            <a:r>
              <a:rPr lang="en-US" altLang="zh-CN" sz="2000" b="1" dirty="0"/>
              <a:t>or</a:t>
            </a:r>
            <a:r>
              <a:rPr lang="en-US" altLang="zh-CN" sz="2000" dirty="0"/>
              <a:t> 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	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.true = </a:t>
            </a:r>
            <a:r>
              <a:rPr lang="en-US" altLang="zh-CN" sz="2000" dirty="0" err="1"/>
              <a:t>E.true</a:t>
            </a:r>
            <a:r>
              <a:rPr lang="en-US" altLang="zh-CN" sz="2000" dirty="0"/>
              <a:t>;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.false = </a:t>
            </a:r>
            <a:r>
              <a:rPr lang="en-US" altLang="zh-CN" sz="2000" dirty="0" err="1"/>
              <a:t>newlabel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	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.true = </a:t>
            </a:r>
            <a:r>
              <a:rPr lang="en-US" altLang="zh-CN" sz="2000" dirty="0" err="1"/>
              <a:t>E.true</a:t>
            </a:r>
            <a:r>
              <a:rPr lang="en-US" altLang="zh-CN" sz="2000" dirty="0"/>
              <a:t>; 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.false = </a:t>
            </a:r>
            <a:r>
              <a:rPr lang="en-US" altLang="zh-CN" sz="2000" dirty="0" err="1"/>
              <a:t>E.false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	</a:t>
            </a:r>
            <a:r>
              <a:rPr lang="en-US" altLang="zh-CN" sz="2000" dirty="0" err="1"/>
              <a:t>E.code</a:t>
            </a:r>
            <a:r>
              <a:rPr lang="en-US" altLang="zh-CN" sz="2000" dirty="0"/>
              <a:t> =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.code || gen(E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.false ‘:’) || 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.code 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E→E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</a:t>
            </a:r>
            <a:r>
              <a:rPr lang="en-US" altLang="zh-CN" sz="2000" b="1" dirty="0"/>
              <a:t>and</a:t>
            </a:r>
            <a:r>
              <a:rPr lang="en-US" altLang="zh-CN" sz="2000" dirty="0"/>
              <a:t> 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	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.true = </a:t>
            </a:r>
            <a:r>
              <a:rPr lang="en-US" altLang="zh-CN" sz="2000" dirty="0" err="1"/>
              <a:t>newlabel</a:t>
            </a:r>
            <a:r>
              <a:rPr lang="en-US" altLang="zh-CN" sz="2000" dirty="0"/>
              <a:t>;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.false = </a:t>
            </a:r>
            <a:r>
              <a:rPr lang="en-US" altLang="zh-CN" sz="2000" dirty="0" err="1"/>
              <a:t>E.false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	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.true = </a:t>
            </a:r>
            <a:r>
              <a:rPr lang="en-US" altLang="zh-CN" sz="2000" dirty="0" err="1"/>
              <a:t>E.true</a:t>
            </a:r>
            <a:r>
              <a:rPr lang="en-US" altLang="zh-CN" sz="2000" dirty="0"/>
              <a:t>; 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.false = </a:t>
            </a:r>
            <a:r>
              <a:rPr lang="en-US" altLang="zh-CN" sz="2000" dirty="0" err="1"/>
              <a:t>E.false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	</a:t>
            </a:r>
            <a:r>
              <a:rPr lang="en-US" altLang="zh-CN" sz="2000" dirty="0" err="1"/>
              <a:t>E.code</a:t>
            </a:r>
            <a:r>
              <a:rPr lang="en-US" altLang="zh-CN" sz="2000" dirty="0"/>
              <a:t> =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.code || gen(E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.true ‘:’) || 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.code 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err="1"/>
              <a:t>E→</a:t>
            </a:r>
            <a:r>
              <a:rPr lang="en-US" altLang="zh-CN" sz="2000" b="1" dirty="0" err="1"/>
              <a:t>not</a:t>
            </a:r>
            <a:r>
              <a:rPr lang="en-US" altLang="zh-CN" sz="2000" dirty="0"/>
              <a:t>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	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.true = </a:t>
            </a:r>
            <a:r>
              <a:rPr lang="en-US" altLang="zh-CN" sz="2000" dirty="0" err="1"/>
              <a:t>E.false</a:t>
            </a:r>
            <a:r>
              <a:rPr lang="en-US" altLang="zh-CN" sz="2000" dirty="0"/>
              <a:t>;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.false = </a:t>
            </a:r>
            <a:r>
              <a:rPr lang="en-US" altLang="zh-CN" sz="2000" dirty="0" err="1"/>
              <a:t>E.true</a:t>
            </a:r>
            <a:r>
              <a:rPr lang="en-US" altLang="zh-CN" sz="2000" dirty="0"/>
              <a:t>; </a:t>
            </a:r>
            <a:r>
              <a:rPr lang="en-US" altLang="zh-CN" sz="2000" dirty="0" err="1"/>
              <a:t>E.code</a:t>
            </a:r>
            <a:r>
              <a:rPr lang="en-US" altLang="zh-CN" sz="2000" dirty="0"/>
              <a:t> =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.code; 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E→(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)	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.true = </a:t>
            </a:r>
            <a:r>
              <a:rPr lang="en-US" altLang="zh-CN" sz="2000" dirty="0" err="1"/>
              <a:t>E.true</a:t>
            </a:r>
            <a:r>
              <a:rPr lang="en-US" altLang="zh-CN" sz="2000" dirty="0"/>
              <a:t>;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.false = </a:t>
            </a:r>
            <a:r>
              <a:rPr lang="en-US" altLang="zh-CN" sz="2000" dirty="0" err="1"/>
              <a:t>E.false</a:t>
            </a:r>
            <a:r>
              <a:rPr lang="en-US" altLang="zh-CN" sz="2000" dirty="0"/>
              <a:t>; </a:t>
            </a:r>
            <a:r>
              <a:rPr lang="en-US" altLang="zh-CN" sz="2000" dirty="0" err="1"/>
              <a:t>E.code</a:t>
            </a:r>
            <a:r>
              <a:rPr lang="en-US" altLang="zh-CN" sz="2000" dirty="0"/>
              <a:t> =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.code; 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E→</a:t>
            </a:r>
            <a:r>
              <a:rPr lang="en-US" altLang="zh-CN" sz="2000" b="1" dirty="0"/>
              <a:t>id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relop</a:t>
            </a:r>
            <a:r>
              <a:rPr lang="en-US" altLang="zh-CN" sz="2000" b="1" dirty="0"/>
              <a:t> id</a:t>
            </a:r>
            <a:r>
              <a:rPr lang="en-US" altLang="zh-CN" sz="2000" b="1" baseline="-25000" dirty="0"/>
              <a:t>2</a:t>
            </a:r>
            <a:r>
              <a:rPr lang="en-US" altLang="zh-CN" sz="2000" dirty="0"/>
              <a:t>	</a:t>
            </a:r>
            <a:r>
              <a:rPr lang="en-US" altLang="zh-CN" sz="2000" dirty="0" err="1"/>
              <a:t>E.code</a:t>
            </a:r>
            <a:r>
              <a:rPr lang="en-US" altLang="zh-CN" sz="2000" dirty="0"/>
              <a:t> = gen(‘if’ id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.place </a:t>
            </a:r>
            <a:r>
              <a:rPr lang="en-US" altLang="zh-CN" sz="2000" dirty="0" err="1"/>
              <a:t>relop.op</a:t>
            </a:r>
            <a:r>
              <a:rPr lang="en-US" altLang="zh-CN" sz="2000" dirty="0"/>
              <a:t> id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.place 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		‘</a:t>
            </a:r>
            <a:r>
              <a:rPr lang="en-US" altLang="zh-CN" sz="2000" dirty="0" err="1"/>
              <a:t>goto</a:t>
            </a:r>
            <a:r>
              <a:rPr lang="en-US" altLang="zh-CN" sz="2000" dirty="0"/>
              <a:t>’ </a:t>
            </a:r>
            <a:r>
              <a:rPr lang="en-US" altLang="zh-CN" sz="2000" dirty="0" err="1"/>
              <a:t>E.true</a:t>
            </a:r>
            <a:r>
              <a:rPr lang="en-US" altLang="zh-CN" sz="2000" dirty="0"/>
              <a:t>) || gen(‘</a:t>
            </a:r>
            <a:r>
              <a:rPr lang="en-US" altLang="zh-CN" sz="2000" dirty="0" err="1"/>
              <a:t>goto</a:t>
            </a:r>
            <a:r>
              <a:rPr lang="en-US" altLang="zh-CN" sz="2000" dirty="0"/>
              <a:t>’ </a:t>
            </a:r>
            <a:r>
              <a:rPr lang="en-US" altLang="zh-CN" sz="2000" dirty="0" err="1"/>
              <a:t>E.false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err="1"/>
              <a:t>E→</a:t>
            </a:r>
            <a:r>
              <a:rPr lang="en-US" altLang="zh-CN" sz="2000" b="1" dirty="0" err="1"/>
              <a:t>true</a:t>
            </a:r>
            <a:r>
              <a:rPr lang="en-US" altLang="zh-CN" sz="2000" dirty="0"/>
              <a:t>		</a:t>
            </a:r>
            <a:r>
              <a:rPr lang="en-US" altLang="zh-CN" sz="2000" dirty="0" err="1"/>
              <a:t>E.code</a:t>
            </a:r>
            <a:r>
              <a:rPr lang="en-US" altLang="zh-CN" sz="2000" dirty="0"/>
              <a:t> = gen(‘</a:t>
            </a:r>
            <a:r>
              <a:rPr lang="en-US" altLang="zh-CN" sz="2000" dirty="0" err="1"/>
              <a:t>goto</a:t>
            </a:r>
            <a:r>
              <a:rPr lang="en-US" altLang="zh-CN" sz="2000" dirty="0"/>
              <a:t>’ </a:t>
            </a:r>
            <a:r>
              <a:rPr lang="en-US" altLang="zh-CN" sz="2000" dirty="0" err="1"/>
              <a:t>E.true</a:t>
            </a:r>
            <a:r>
              <a:rPr lang="en-US" altLang="zh-CN" sz="2000" dirty="0"/>
              <a:t>);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err="1"/>
              <a:t>E→</a:t>
            </a:r>
            <a:r>
              <a:rPr lang="en-US" altLang="zh-CN" sz="2000" b="1" dirty="0" err="1"/>
              <a:t>false</a:t>
            </a:r>
            <a:r>
              <a:rPr lang="en-US" altLang="zh-CN" sz="2000" dirty="0"/>
              <a:t>		</a:t>
            </a:r>
            <a:r>
              <a:rPr lang="en-US" altLang="zh-CN" sz="2000" dirty="0" err="1"/>
              <a:t>E.code</a:t>
            </a:r>
            <a:r>
              <a:rPr lang="en-US" altLang="zh-CN" sz="2000" dirty="0"/>
              <a:t> = gen(‘</a:t>
            </a:r>
            <a:r>
              <a:rPr lang="en-US" altLang="zh-CN" sz="2000" dirty="0" err="1"/>
              <a:t>goto</a:t>
            </a:r>
            <a:r>
              <a:rPr lang="en-US" altLang="zh-CN" sz="2000" dirty="0"/>
              <a:t>’ </a:t>
            </a:r>
            <a:r>
              <a:rPr lang="en-US" altLang="zh-CN" sz="2000" dirty="0" err="1"/>
              <a:t>E.false</a:t>
            </a:r>
            <a:r>
              <a:rPr lang="en-US" altLang="zh-CN" sz="2000" dirty="0"/>
              <a:t>);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8.4</a:t>
            </a:r>
            <a:endParaRPr lang="en-US" altLang="zh-CN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7772400" cy="4724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a &lt; b or c &lt; d and e &lt; f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生成代码：</a:t>
            </a:r>
            <a:endParaRPr lang="zh-CN" altLang="en-US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		</a:t>
            </a:r>
            <a:r>
              <a:rPr lang="en-US" altLang="zh-CN" sz="2400"/>
              <a:t>if a &lt; b goto Ltrue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goto L1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L1:	if c &lt; d goto L2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goto Lfalse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L2:	if e &lt; f goto Ltrue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goto Lfalse</a:t>
            </a:r>
            <a:endParaRPr lang="en-US" altLang="zh-CN" sz="2400"/>
          </a:p>
        </p:txBody>
      </p:sp>
      <p:pic>
        <p:nvPicPr>
          <p:cNvPr id="47108" name="Picture 6" descr="ctrl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676400"/>
            <a:ext cx="5113338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reeform 7"/>
          <p:cNvSpPr/>
          <p:nvPr/>
        </p:nvSpPr>
        <p:spPr bwMode="ltGray">
          <a:xfrm flipH="1" flipV="1">
            <a:off x="4716463" y="2636838"/>
            <a:ext cx="1941512" cy="161925"/>
          </a:xfrm>
          <a:custGeom>
            <a:avLst/>
            <a:gdLst>
              <a:gd name="T0" fmla="*/ 2147483646 w 1314"/>
              <a:gd name="T1" fmla="*/ 2147483646 h 102"/>
              <a:gd name="T2" fmla="*/ 2147483646 w 1314"/>
              <a:gd name="T3" fmla="*/ 2147483646 h 102"/>
              <a:gd name="T4" fmla="*/ 0 w 1314"/>
              <a:gd name="T5" fmla="*/ 2147483646 h 102"/>
              <a:gd name="T6" fmla="*/ 0 60000 65536"/>
              <a:gd name="T7" fmla="*/ 0 60000 65536"/>
              <a:gd name="T8" fmla="*/ 0 60000 65536"/>
              <a:gd name="T9" fmla="*/ 0 w 1314"/>
              <a:gd name="T10" fmla="*/ 0 h 102"/>
              <a:gd name="T11" fmla="*/ 1314 w 1314"/>
              <a:gd name="T12" fmla="*/ 102 h 10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14" h="102">
                <a:moveTo>
                  <a:pt x="1314" y="79"/>
                </a:moveTo>
                <a:cubicBezTo>
                  <a:pt x="1216" y="67"/>
                  <a:pt x="946" y="0"/>
                  <a:pt x="727" y="4"/>
                </a:cubicBezTo>
                <a:cubicBezTo>
                  <a:pt x="508" y="8"/>
                  <a:pt x="151" y="82"/>
                  <a:pt x="0" y="102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Freeform 7"/>
          <p:cNvSpPr/>
          <p:nvPr/>
        </p:nvSpPr>
        <p:spPr bwMode="ltGray">
          <a:xfrm flipH="1" flipV="1">
            <a:off x="4859338" y="3209925"/>
            <a:ext cx="2665412" cy="314325"/>
          </a:xfrm>
          <a:custGeom>
            <a:avLst/>
            <a:gdLst>
              <a:gd name="T0" fmla="*/ 2147483646 w 1314"/>
              <a:gd name="T1" fmla="*/ 2147483646 h 102"/>
              <a:gd name="T2" fmla="*/ 2147483646 w 1314"/>
              <a:gd name="T3" fmla="*/ 2147483646 h 102"/>
              <a:gd name="T4" fmla="*/ 0 w 1314"/>
              <a:gd name="T5" fmla="*/ 2147483646 h 102"/>
              <a:gd name="T6" fmla="*/ 0 60000 65536"/>
              <a:gd name="T7" fmla="*/ 0 60000 65536"/>
              <a:gd name="T8" fmla="*/ 0 60000 65536"/>
              <a:gd name="T9" fmla="*/ 0 w 1314"/>
              <a:gd name="T10" fmla="*/ 0 h 102"/>
              <a:gd name="T11" fmla="*/ 1314 w 1314"/>
              <a:gd name="T12" fmla="*/ 102 h 10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14" h="102">
                <a:moveTo>
                  <a:pt x="1314" y="79"/>
                </a:moveTo>
                <a:cubicBezTo>
                  <a:pt x="1216" y="67"/>
                  <a:pt x="946" y="0"/>
                  <a:pt x="727" y="4"/>
                </a:cubicBezTo>
                <a:cubicBezTo>
                  <a:pt x="508" y="8"/>
                  <a:pt x="151" y="82"/>
                  <a:pt x="0" y="102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8.5</a:t>
            </a:r>
            <a:endParaRPr lang="en-US" altLang="zh-CN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</p:spPr>
        <p:txBody>
          <a:bodyPr/>
          <a:lstStyle/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while a &lt; b do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if c &lt; d then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x := y + z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else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x := y – z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生成代码为：</a:t>
            </a:r>
            <a:endParaRPr lang="zh-CN" altLang="en-US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L1:	if a &lt; b goto L2		L4:	t</a:t>
            </a:r>
            <a:r>
              <a:rPr lang="en-US" altLang="zh-CN" sz="2000" baseline="-25000"/>
              <a:t>2</a:t>
            </a:r>
            <a:r>
              <a:rPr lang="en-US" altLang="zh-CN" sz="2000"/>
              <a:t> := y - z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goto Lnext			x := t</a:t>
            </a:r>
            <a:r>
              <a:rPr lang="en-US" altLang="zh-CN" sz="2000" baseline="-25000"/>
              <a:t>2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L2:	if c &lt; d goto L3			goto L1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goto L4			Lnext: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L3:	t</a:t>
            </a:r>
            <a:r>
              <a:rPr lang="en-US" altLang="zh-CN" sz="2000" baseline="-25000"/>
              <a:t>1</a:t>
            </a:r>
            <a:r>
              <a:rPr lang="en-US" altLang="zh-CN" sz="2000"/>
              <a:t> := y + z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x := t</a:t>
            </a:r>
            <a:r>
              <a:rPr lang="en-US" altLang="zh-CN" sz="2000" baseline="-25000"/>
              <a:t>1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goto L1</a:t>
            </a:r>
            <a:endParaRPr lang="en-US" altLang="zh-CN" sz="2000"/>
          </a:p>
        </p:txBody>
      </p:sp>
      <p:pic>
        <p:nvPicPr>
          <p:cNvPr id="48132" name="Picture 6" descr="ctrl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271588"/>
            <a:ext cx="4081463" cy="195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reeform 7"/>
          <p:cNvSpPr/>
          <p:nvPr/>
        </p:nvSpPr>
        <p:spPr bwMode="ltGray">
          <a:xfrm flipH="1" flipV="1">
            <a:off x="5364163" y="2349500"/>
            <a:ext cx="1368425" cy="142875"/>
          </a:xfrm>
          <a:custGeom>
            <a:avLst/>
            <a:gdLst>
              <a:gd name="T0" fmla="*/ 2147483646 w 1314"/>
              <a:gd name="T1" fmla="*/ 2147483646 h 102"/>
              <a:gd name="T2" fmla="*/ 2147483646 w 1314"/>
              <a:gd name="T3" fmla="*/ 2147483646 h 102"/>
              <a:gd name="T4" fmla="*/ 0 w 1314"/>
              <a:gd name="T5" fmla="*/ 2147483646 h 102"/>
              <a:gd name="T6" fmla="*/ 0 60000 65536"/>
              <a:gd name="T7" fmla="*/ 0 60000 65536"/>
              <a:gd name="T8" fmla="*/ 0 60000 65536"/>
              <a:gd name="T9" fmla="*/ 0 w 1314"/>
              <a:gd name="T10" fmla="*/ 0 h 102"/>
              <a:gd name="T11" fmla="*/ 1314 w 1314"/>
              <a:gd name="T12" fmla="*/ 102 h 10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14" h="102">
                <a:moveTo>
                  <a:pt x="1314" y="79"/>
                </a:moveTo>
                <a:cubicBezTo>
                  <a:pt x="1216" y="67"/>
                  <a:pt x="946" y="0"/>
                  <a:pt x="727" y="4"/>
                </a:cubicBezTo>
                <a:cubicBezTo>
                  <a:pt x="508" y="8"/>
                  <a:pt x="151" y="82"/>
                  <a:pt x="0" y="102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Freeform 7"/>
          <p:cNvSpPr/>
          <p:nvPr/>
        </p:nvSpPr>
        <p:spPr bwMode="ltGray">
          <a:xfrm flipH="1" flipV="1">
            <a:off x="5867400" y="3179763"/>
            <a:ext cx="720725" cy="46037"/>
          </a:xfrm>
          <a:custGeom>
            <a:avLst/>
            <a:gdLst>
              <a:gd name="T0" fmla="*/ 2147483646 w 1314"/>
              <a:gd name="T1" fmla="*/ 2147483646 h 102"/>
              <a:gd name="T2" fmla="*/ 2147483646 w 1314"/>
              <a:gd name="T3" fmla="*/ 2147483646 h 102"/>
              <a:gd name="T4" fmla="*/ 0 w 1314"/>
              <a:gd name="T5" fmla="*/ 2147483646 h 102"/>
              <a:gd name="T6" fmla="*/ 0 60000 65536"/>
              <a:gd name="T7" fmla="*/ 0 60000 65536"/>
              <a:gd name="T8" fmla="*/ 0 60000 65536"/>
              <a:gd name="T9" fmla="*/ 0 w 1314"/>
              <a:gd name="T10" fmla="*/ 0 h 102"/>
              <a:gd name="T11" fmla="*/ 1314 w 1314"/>
              <a:gd name="T12" fmla="*/ 102 h 10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14" h="102">
                <a:moveTo>
                  <a:pt x="1314" y="79"/>
                </a:moveTo>
                <a:cubicBezTo>
                  <a:pt x="1216" y="67"/>
                  <a:pt x="946" y="0"/>
                  <a:pt x="727" y="4"/>
                </a:cubicBezTo>
                <a:cubicBezTo>
                  <a:pt x="508" y="8"/>
                  <a:pt x="151" y="82"/>
                  <a:pt x="0" y="102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Freeform 7"/>
          <p:cNvSpPr/>
          <p:nvPr/>
        </p:nvSpPr>
        <p:spPr bwMode="ltGray">
          <a:xfrm flipH="1" flipV="1">
            <a:off x="6235700" y="3179763"/>
            <a:ext cx="1649413" cy="104775"/>
          </a:xfrm>
          <a:custGeom>
            <a:avLst/>
            <a:gdLst>
              <a:gd name="T0" fmla="*/ 2147483646 w 1314"/>
              <a:gd name="T1" fmla="*/ 2147483646 h 102"/>
              <a:gd name="T2" fmla="*/ 2147483646 w 1314"/>
              <a:gd name="T3" fmla="*/ 2147483646 h 102"/>
              <a:gd name="T4" fmla="*/ 0 w 1314"/>
              <a:gd name="T5" fmla="*/ 2147483646 h 102"/>
              <a:gd name="T6" fmla="*/ 0 60000 65536"/>
              <a:gd name="T7" fmla="*/ 0 60000 65536"/>
              <a:gd name="T8" fmla="*/ 0 60000 65536"/>
              <a:gd name="T9" fmla="*/ 0 w 1314"/>
              <a:gd name="T10" fmla="*/ 0 h 102"/>
              <a:gd name="T11" fmla="*/ 1314 w 1314"/>
              <a:gd name="T12" fmla="*/ 102 h 10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14" h="102">
                <a:moveTo>
                  <a:pt x="1314" y="79"/>
                </a:moveTo>
                <a:cubicBezTo>
                  <a:pt x="1216" y="67"/>
                  <a:pt x="946" y="0"/>
                  <a:pt x="727" y="4"/>
                </a:cubicBezTo>
                <a:cubicBezTo>
                  <a:pt x="508" y="8"/>
                  <a:pt x="151" y="82"/>
                  <a:pt x="0" y="102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8.4.6  </a:t>
            </a:r>
            <a:r>
              <a:rPr lang="zh-CN" altLang="en-US"/>
              <a:t>混合翻译方式</a:t>
            </a:r>
            <a:endParaRPr lang="zh-CN" alt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/>
              <a:t>E→E + E | E </a:t>
            </a:r>
            <a:r>
              <a:rPr lang="en-US" altLang="zh-CN" sz="2800" b="1"/>
              <a:t>and</a:t>
            </a:r>
            <a:r>
              <a:rPr lang="en-US" altLang="zh-CN" sz="2800"/>
              <a:t> E | E </a:t>
            </a:r>
            <a:r>
              <a:rPr lang="en-US" altLang="zh-CN" sz="2800" b="1"/>
              <a:t>relop</a:t>
            </a:r>
            <a:r>
              <a:rPr lang="en-US" altLang="zh-CN" sz="2800"/>
              <a:t> E | id</a:t>
            </a:r>
            <a:endParaRPr lang="en-US" altLang="zh-CN" sz="28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/>
              <a:t>E→E</a:t>
            </a:r>
            <a:r>
              <a:rPr lang="en-US" altLang="zh-CN" sz="2800" baseline="-25000"/>
              <a:t>1 </a:t>
            </a:r>
            <a:r>
              <a:rPr lang="en-US" altLang="zh-CN" sz="2800"/>
              <a:t>+ E</a:t>
            </a:r>
            <a:r>
              <a:rPr lang="en-US" altLang="zh-CN" sz="2800" baseline="-25000"/>
              <a:t>2</a:t>
            </a:r>
            <a:r>
              <a:rPr lang="zh-CN" altLang="en-US" sz="2800"/>
              <a:t>对应的语义规则为：</a:t>
            </a:r>
            <a:endParaRPr lang="zh-CN" altLang="en-US" sz="28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E.type = arith;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b="1"/>
              <a:t>if</a:t>
            </a:r>
            <a:r>
              <a:rPr lang="en-US" altLang="zh-CN" sz="2000"/>
              <a:t> (E</a:t>
            </a:r>
            <a:r>
              <a:rPr lang="en-US" altLang="zh-CN" sz="2000" baseline="-25000"/>
              <a:t>1</a:t>
            </a:r>
            <a:r>
              <a:rPr lang="en-US" altLang="zh-CN" sz="2000"/>
              <a:t>.type = arith </a:t>
            </a:r>
            <a:r>
              <a:rPr lang="en-US" altLang="zh-CN" sz="2000" b="1"/>
              <a:t>and</a:t>
            </a:r>
            <a:r>
              <a:rPr lang="en-US" altLang="zh-CN" sz="2000"/>
              <a:t> E</a:t>
            </a:r>
            <a:r>
              <a:rPr lang="en-US" altLang="zh-CN" sz="2000" baseline="-25000"/>
              <a:t>2</a:t>
            </a:r>
            <a:r>
              <a:rPr lang="en-US" altLang="zh-CN" sz="2000"/>
              <a:t>.type = arith) {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E.place = newtemp;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E.code = E</a:t>
            </a:r>
            <a:r>
              <a:rPr lang="en-US" altLang="zh-CN" sz="2000" baseline="-25000"/>
              <a:t>1</a:t>
            </a:r>
            <a:r>
              <a:rPr lang="en-US" altLang="zh-CN" sz="2000"/>
              <a:t>.code || E</a:t>
            </a:r>
            <a:r>
              <a:rPr lang="en-US" altLang="zh-CN" sz="2000" baseline="-25000"/>
              <a:t>2</a:t>
            </a:r>
            <a:r>
              <a:rPr lang="en-US" altLang="zh-CN" sz="2000"/>
              <a:t>.code || gen(E.place ‘:=’ E</a:t>
            </a:r>
            <a:r>
              <a:rPr lang="en-US" altLang="zh-CN" sz="2000" baseline="-25000"/>
              <a:t>1</a:t>
            </a:r>
            <a:r>
              <a:rPr lang="en-US" altLang="zh-CN" sz="2000"/>
              <a:t>.place ‘+’ E</a:t>
            </a:r>
            <a:r>
              <a:rPr lang="en-US" altLang="zh-CN" sz="2000" baseline="-25000"/>
              <a:t>2</a:t>
            </a:r>
            <a:r>
              <a:rPr lang="en-US" altLang="zh-CN" sz="2000"/>
              <a:t>.place);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} </a:t>
            </a:r>
            <a:r>
              <a:rPr lang="en-US" altLang="zh-CN" sz="2000" b="1"/>
              <a:t>else if</a:t>
            </a:r>
            <a:r>
              <a:rPr lang="en-US" altLang="zh-CN" sz="2000"/>
              <a:t> (E</a:t>
            </a:r>
            <a:r>
              <a:rPr lang="en-US" altLang="zh-CN" sz="2000" baseline="-25000"/>
              <a:t>1</a:t>
            </a:r>
            <a:r>
              <a:rPr lang="en-US" altLang="zh-CN" sz="2000"/>
              <a:t>.type = arith </a:t>
            </a:r>
            <a:r>
              <a:rPr lang="en-US" altLang="zh-CN" sz="2000" b="1"/>
              <a:t>and</a:t>
            </a:r>
            <a:r>
              <a:rPr lang="en-US" altLang="zh-CN" sz="2000"/>
              <a:t> E</a:t>
            </a:r>
            <a:r>
              <a:rPr lang="en-US" altLang="zh-CN" sz="2000" baseline="-25000"/>
              <a:t>2</a:t>
            </a:r>
            <a:r>
              <a:rPr lang="en-US" altLang="zh-CN" sz="2000"/>
              <a:t>.type = bool) {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E.place = newtemp; E</a:t>
            </a:r>
            <a:r>
              <a:rPr lang="en-US" altLang="zh-CN" sz="2000" baseline="-25000"/>
              <a:t>2</a:t>
            </a:r>
            <a:r>
              <a:rPr lang="en-US" altLang="zh-CN" sz="2000"/>
              <a:t>.true = newlabel; E</a:t>
            </a:r>
            <a:r>
              <a:rPr lang="en-US" altLang="zh-CN" sz="2000" baseline="-25000"/>
              <a:t>2</a:t>
            </a:r>
            <a:r>
              <a:rPr lang="en-US" altLang="zh-CN" sz="2000"/>
              <a:t>.false = newlabel;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E.code = E</a:t>
            </a:r>
            <a:r>
              <a:rPr lang="en-US" altLang="zh-CN" sz="2000" baseline="-25000"/>
              <a:t>1</a:t>
            </a:r>
            <a:r>
              <a:rPr lang="en-US" altLang="zh-CN" sz="2000"/>
              <a:t>.code || E</a:t>
            </a:r>
            <a:r>
              <a:rPr lang="en-US" altLang="zh-CN" sz="2000" baseline="-25000"/>
              <a:t>2</a:t>
            </a:r>
            <a:r>
              <a:rPr lang="en-US" altLang="zh-CN" sz="2000"/>
              <a:t>.code || 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gen(E</a:t>
            </a:r>
            <a:r>
              <a:rPr lang="en-US" altLang="zh-CN" sz="2000" baseline="-25000"/>
              <a:t>2</a:t>
            </a:r>
            <a:r>
              <a:rPr lang="en-US" altLang="zh-CN" sz="2000"/>
              <a:t>.true ‘:’ E.place ‘:=’ E</a:t>
            </a:r>
            <a:r>
              <a:rPr lang="en-US" altLang="zh-CN" sz="2000" baseline="-25000"/>
              <a:t>1</a:t>
            </a:r>
            <a:r>
              <a:rPr lang="en-US" altLang="zh-CN" sz="2000"/>
              <a:t>.place + 1) ||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gen(‘goto’ nextstat + 1) || 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gen(E</a:t>
            </a:r>
            <a:r>
              <a:rPr lang="en-US" altLang="zh-CN" sz="2000" baseline="-25000"/>
              <a:t>2</a:t>
            </a:r>
            <a:r>
              <a:rPr lang="en-US" altLang="zh-CN" sz="2000"/>
              <a:t>.false ‘:’ E.place ‘:=’ E</a:t>
            </a:r>
            <a:r>
              <a:rPr lang="en-US" altLang="zh-CN" sz="2000" baseline="-25000"/>
              <a:t>1</a:t>
            </a:r>
            <a:r>
              <a:rPr lang="en-US" altLang="zh-CN" sz="2000"/>
              <a:t>.place)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} </a:t>
            </a:r>
            <a:r>
              <a:rPr lang="en-US" altLang="zh-CN" sz="2000" b="1"/>
              <a:t>else if</a:t>
            </a:r>
            <a:r>
              <a:rPr lang="en-US" altLang="zh-CN" sz="2000"/>
              <a:t> …</a:t>
            </a:r>
            <a:endParaRPr lang="en-US" altLang="zh-CN" sz="20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8.5  case</a:t>
            </a:r>
            <a:r>
              <a:rPr lang="zh-CN" altLang="en-US"/>
              <a:t>语句的翻译</a:t>
            </a:r>
            <a:endParaRPr lang="zh-CN" altLang="en-US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switch E</a:t>
            </a:r>
            <a:endParaRPr lang="en-US" altLang="zh-CN" sz="2000"/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begin</a:t>
            </a:r>
            <a:endParaRPr lang="en-US" altLang="zh-CN" sz="2000"/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case V</a:t>
            </a:r>
            <a:r>
              <a:rPr lang="en-US" altLang="zh-CN" sz="2000" baseline="-25000"/>
              <a:t>1</a:t>
            </a:r>
            <a:r>
              <a:rPr lang="en-US" altLang="zh-CN" sz="2000"/>
              <a:t> : S</a:t>
            </a:r>
            <a:r>
              <a:rPr lang="en-US" altLang="zh-CN" sz="2000" baseline="-25000"/>
              <a:t>1</a:t>
            </a:r>
            <a:endParaRPr lang="en-US" altLang="zh-CN" sz="2000" baseline="-25000"/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case V</a:t>
            </a:r>
            <a:r>
              <a:rPr lang="en-US" altLang="zh-CN" sz="2000" baseline="-25000"/>
              <a:t>2</a:t>
            </a:r>
            <a:r>
              <a:rPr lang="en-US" altLang="zh-CN" sz="2000"/>
              <a:t> : S</a:t>
            </a:r>
            <a:r>
              <a:rPr lang="en-US" altLang="zh-CN" sz="2000" baseline="-25000"/>
              <a:t>2</a:t>
            </a:r>
            <a:endParaRPr lang="en-US" altLang="zh-CN" sz="2000"/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…</a:t>
            </a:r>
            <a:endParaRPr lang="en-US" altLang="zh-CN" sz="2000"/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case V</a:t>
            </a:r>
            <a:r>
              <a:rPr lang="en-US" altLang="zh-CN" sz="2000" baseline="-25000"/>
              <a:t>n-1</a:t>
            </a:r>
            <a:r>
              <a:rPr lang="en-US" altLang="zh-CN" sz="2000"/>
              <a:t> : S</a:t>
            </a:r>
            <a:r>
              <a:rPr lang="en-US" altLang="zh-CN" sz="2000" baseline="-25000"/>
              <a:t>n-1</a:t>
            </a:r>
            <a:endParaRPr lang="en-US" altLang="zh-CN" sz="2000"/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default : S</a:t>
            </a:r>
            <a:r>
              <a:rPr lang="en-US" altLang="zh-CN" sz="2000" baseline="-25000"/>
              <a:t>n</a:t>
            </a:r>
            <a:endParaRPr lang="en-US" altLang="zh-CN" sz="2000"/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end</a:t>
            </a:r>
            <a:endParaRPr lang="en-US" altLang="zh-CN" sz="2000"/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400"/>
              <a:t>计算表达式</a:t>
            </a:r>
            <a:r>
              <a:rPr lang="en-US" altLang="zh-CN" sz="2400"/>
              <a:t>E</a:t>
            </a:r>
            <a:endParaRPr lang="en-US" altLang="zh-CN" sz="2400"/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400"/>
              <a:t>寻找哪个</a:t>
            </a:r>
            <a:r>
              <a:rPr lang="en-US" altLang="zh-CN" sz="2400"/>
              <a:t>V</a:t>
            </a:r>
            <a:r>
              <a:rPr lang="zh-CN" altLang="en-US" sz="2400"/>
              <a:t>与</a:t>
            </a:r>
            <a:r>
              <a:rPr lang="en-US" altLang="zh-CN" sz="2400"/>
              <a:t>E</a:t>
            </a:r>
            <a:r>
              <a:rPr lang="zh-CN" altLang="en-US" sz="2400"/>
              <a:t>的值相等，都不等，则选择</a:t>
            </a:r>
            <a:r>
              <a:rPr lang="en-US" altLang="zh-CN" sz="2400"/>
              <a:t>default</a:t>
            </a:r>
            <a:endParaRPr lang="en-US" altLang="zh-CN" sz="2400"/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400"/>
              <a:t>运行对应的语句</a:t>
            </a:r>
            <a:endParaRPr lang="zh-CN" altLang="en-US" sz="24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翻译方法</a:t>
            </a:r>
            <a:endParaRPr lang="zh-CN" altLang="en-US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102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第</a:t>
            </a:r>
            <a:r>
              <a:rPr lang="en-US" altLang="zh-CN" sz="2800" dirty="0"/>
              <a:t>(2)</a:t>
            </a:r>
            <a:r>
              <a:rPr lang="zh-CN" altLang="en-US" sz="2800" dirty="0"/>
              <a:t>步是一个</a:t>
            </a:r>
            <a:r>
              <a:rPr lang="en-US" altLang="zh-CN" sz="2800" dirty="0"/>
              <a:t>n-</a:t>
            </a:r>
            <a:r>
              <a:rPr lang="zh-CN" altLang="en-US" sz="2800" dirty="0"/>
              <a:t>路分支</a:t>
            </a:r>
            <a:endParaRPr lang="zh-CN" altLang="en-US" sz="2800" dirty="0"/>
          </a:p>
          <a:p>
            <a:pPr lvl="1" eaLnBrk="1" hangingPunct="1"/>
            <a:r>
              <a:rPr lang="zh-CN" altLang="en-US" sz="2400" dirty="0"/>
              <a:t>方法</a:t>
            </a:r>
            <a:r>
              <a:rPr lang="en-US" altLang="zh-CN" sz="2400" dirty="0"/>
              <a:t>1</a:t>
            </a:r>
            <a:r>
              <a:rPr lang="zh-CN" altLang="en-US" sz="2400" dirty="0"/>
              <a:t>：翻译为简单的条件分支语句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方法</a:t>
            </a:r>
            <a:r>
              <a:rPr lang="en-US" altLang="zh-CN" sz="2400" dirty="0"/>
              <a:t>2</a:t>
            </a:r>
            <a:r>
              <a:rPr lang="zh-CN" altLang="en-US" sz="2400" dirty="0"/>
              <a:t>：表驱动</a:t>
            </a:r>
            <a:endParaRPr lang="zh-CN" altLang="en-US" sz="2400" dirty="0"/>
          </a:p>
          <a:p>
            <a:pPr lvl="2" eaLnBrk="1" hangingPunct="1"/>
            <a:r>
              <a:rPr lang="zh-CN" altLang="en-US" sz="2000" dirty="0"/>
              <a:t>表项</a:t>
            </a:r>
            <a:r>
              <a:rPr lang="en-US" altLang="zh-CN" sz="2000" dirty="0"/>
              <a:t>——&lt;</a:t>
            </a:r>
            <a:r>
              <a:rPr lang="zh-CN" altLang="en-US" sz="2000" dirty="0"/>
              <a:t>值，标号</a:t>
            </a:r>
            <a:r>
              <a:rPr lang="en-US" altLang="zh-CN" sz="2000" dirty="0"/>
              <a:t>&gt;</a:t>
            </a:r>
            <a:endParaRPr lang="en-US" altLang="zh-CN" sz="2000" dirty="0"/>
          </a:p>
          <a:p>
            <a:pPr lvl="2" eaLnBrk="1" hangingPunct="1"/>
            <a:r>
              <a:rPr lang="zh-CN" altLang="en-US" sz="2000" dirty="0"/>
              <a:t>利用一循环进行检测</a:t>
            </a:r>
            <a:endParaRPr lang="zh-CN" altLang="en-US" sz="2000" dirty="0"/>
          </a:p>
          <a:p>
            <a:pPr lvl="1" eaLnBrk="1" hangingPunct="1"/>
            <a:r>
              <a:rPr lang="en-US" altLang="zh-CN" sz="2400" dirty="0"/>
              <a:t>hash</a:t>
            </a:r>
            <a:r>
              <a:rPr lang="zh-CN" altLang="en-US" sz="2400" dirty="0"/>
              <a:t>表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直接定位</a:t>
            </a:r>
            <a:endParaRPr lang="zh-CN" altLang="en-US" sz="2400" dirty="0"/>
          </a:p>
          <a:p>
            <a:pPr lvl="2" eaLnBrk="1" hangingPunct="1"/>
            <a:r>
              <a:rPr lang="zh-CN" altLang="en-US" sz="2000" dirty="0"/>
              <a:t>取值范围小，</a:t>
            </a:r>
            <a:r>
              <a:rPr lang="en-US" altLang="zh-CN" sz="2000" dirty="0" err="1"/>
              <a:t>i</a:t>
            </a:r>
            <a:r>
              <a:rPr lang="en-US" altLang="zh-CN" sz="2000" baseline="-25000" dirty="0" err="1"/>
              <a:t>min</a:t>
            </a:r>
            <a:r>
              <a:rPr lang="en-US" altLang="zh-CN" sz="2000" dirty="0" err="1"/>
              <a:t>~i</a:t>
            </a:r>
            <a:r>
              <a:rPr lang="en-US" altLang="zh-CN" sz="2000" baseline="-25000" dirty="0" err="1"/>
              <a:t>max</a:t>
            </a:r>
            <a:endParaRPr lang="en-US" altLang="zh-CN" sz="2000" dirty="0"/>
          </a:p>
          <a:p>
            <a:pPr lvl="2" eaLnBrk="1" hangingPunct="1"/>
            <a:r>
              <a:rPr lang="zh-CN" altLang="en-US" sz="2000" dirty="0"/>
              <a:t>标号数组</a:t>
            </a:r>
            <a:r>
              <a:rPr lang="en-US" altLang="zh-CN" sz="2000" dirty="0"/>
              <a:t>label[</a:t>
            </a:r>
            <a:r>
              <a:rPr lang="en-US" altLang="zh-CN" sz="2000" dirty="0" err="1"/>
              <a:t>i</a:t>
            </a:r>
            <a:r>
              <a:rPr lang="en-US" altLang="zh-CN" sz="2000" baseline="-25000" dirty="0" err="1"/>
              <a:t>max</a:t>
            </a:r>
            <a:r>
              <a:rPr lang="en-US" altLang="zh-CN" sz="2000" baseline="-25000" dirty="0"/>
              <a:t> </a:t>
            </a:r>
            <a:r>
              <a:rPr lang="en-US" altLang="zh-CN" sz="2000" dirty="0"/>
              <a:t>- </a:t>
            </a:r>
            <a:r>
              <a:rPr lang="en-US" altLang="zh-CN" sz="2000" dirty="0" err="1"/>
              <a:t>i</a:t>
            </a:r>
            <a:r>
              <a:rPr lang="en-US" altLang="zh-CN" sz="2000" baseline="-25000" dirty="0" err="1"/>
              <a:t>min</a:t>
            </a:r>
            <a:r>
              <a:rPr lang="en-US" altLang="zh-CN" sz="2000" baseline="-25000" dirty="0"/>
              <a:t> </a:t>
            </a:r>
            <a:r>
              <a:rPr lang="en-US" altLang="zh-CN" sz="2000" dirty="0"/>
              <a:t>+ 1]</a:t>
            </a:r>
            <a:endParaRPr lang="en-US" altLang="zh-CN" sz="2000" dirty="0"/>
          </a:p>
          <a:p>
            <a:pPr lvl="2" eaLnBrk="1" hangingPunct="1"/>
            <a:r>
              <a:rPr lang="zh-CN" altLang="en-US" sz="2000" dirty="0"/>
              <a:t>值</a:t>
            </a:r>
            <a:r>
              <a:rPr lang="en-US" altLang="zh-CN" sz="2000" dirty="0"/>
              <a:t>j </a:t>
            </a:r>
            <a:r>
              <a:rPr lang="en-US" altLang="zh-CN" sz="2000" dirty="0">
                <a:sym typeface="Wingdings" panose="05000000000000000000" pitchFamily="2" charset="2"/>
              </a:rPr>
              <a:t> </a:t>
            </a:r>
            <a:r>
              <a:rPr lang="zh-CN" altLang="en-US" sz="2000" dirty="0">
                <a:sym typeface="Wingdings" panose="05000000000000000000" pitchFamily="2" charset="2"/>
              </a:rPr>
              <a:t>对应语句标号</a:t>
            </a:r>
            <a:r>
              <a:rPr lang="en-US" altLang="zh-CN" sz="2000" dirty="0">
                <a:sym typeface="Wingdings" panose="05000000000000000000" pitchFamily="2" charset="2"/>
              </a:rPr>
              <a:t>label[j - </a:t>
            </a:r>
            <a:r>
              <a:rPr lang="en-US" altLang="zh-CN" sz="2000" dirty="0" err="1">
                <a:sym typeface="Wingdings" panose="05000000000000000000" pitchFamily="2" charset="2"/>
              </a:rPr>
              <a:t>i</a:t>
            </a:r>
            <a:r>
              <a:rPr lang="en-US" altLang="zh-CN" sz="2000" baseline="-25000" dirty="0" err="1">
                <a:sym typeface="Wingdings" panose="05000000000000000000" pitchFamily="2" charset="2"/>
              </a:rPr>
              <a:t>min</a:t>
            </a:r>
            <a:r>
              <a:rPr lang="en-US" altLang="zh-CN" sz="2000" dirty="0">
                <a:sym typeface="Wingdings" panose="05000000000000000000" pitchFamily="2" charset="2"/>
              </a:rPr>
              <a:t>]</a:t>
            </a:r>
            <a:endParaRPr lang="en-US" altLang="zh-CN" sz="2000" dirty="0">
              <a:sym typeface="Wingdings" panose="05000000000000000000" pitchFamily="2" charset="2"/>
            </a:endParaRPr>
          </a:p>
          <a:p>
            <a:pPr lvl="2" eaLnBrk="1" hangingPunct="1"/>
            <a:r>
              <a:rPr lang="zh-CN" altLang="en-US" sz="2000" dirty="0">
                <a:sym typeface="Wingdings" panose="05000000000000000000" pitchFamily="2" charset="2"/>
              </a:rPr>
              <a:t>表达式求值  直接定位标号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翻译方法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10200"/>
          </a:xfrm>
        </p:spPr>
        <p:txBody>
          <a:bodyPr/>
          <a:lstStyle/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</a:t>
            </a:r>
            <a:r>
              <a:rPr lang="zh-CN" altLang="en-US" sz="2000"/>
              <a:t>计算</a:t>
            </a:r>
            <a:r>
              <a:rPr lang="en-US" altLang="zh-CN" sz="2000"/>
              <a:t>E</a:t>
            </a:r>
            <a:r>
              <a:rPr lang="en-US" altLang="zh-CN" sz="2000">
                <a:sym typeface="Wingdings" panose="05000000000000000000" pitchFamily="2" charset="2"/>
              </a:rPr>
              <a:t></a:t>
            </a:r>
            <a:r>
              <a:rPr lang="en-US" altLang="zh-CN" sz="2000"/>
              <a:t>t</a:t>
            </a:r>
            <a:endParaRPr lang="en-US" altLang="zh-CN" sz="20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goto test</a:t>
            </a:r>
            <a:endParaRPr lang="en-US" altLang="zh-CN" sz="20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L</a:t>
            </a:r>
            <a:r>
              <a:rPr lang="en-US" altLang="zh-CN" sz="2000" baseline="-25000"/>
              <a:t>1</a:t>
            </a:r>
            <a:r>
              <a:rPr lang="en-US" altLang="zh-CN" sz="2000"/>
              <a:t>:	S</a:t>
            </a:r>
            <a:r>
              <a:rPr lang="en-US" altLang="zh-CN" sz="2000" baseline="-25000"/>
              <a:t>1</a:t>
            </a:r>
            <a:r>
              <a:rPr lang="zh-CN" altLang="en-US" sz="2000"/>
              <a:t>代码</a:t>
            </a:r>
            <a:endParaRPr lang="zh-CN" altLang="en-US" sz="20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		</a:t>
            </a:r>
            <a:r>
              <a:rPr lang="en-US" altLang="zh-CN" sz="2000"/>
              <a:t>goto next</a:t>
            </a:r>
            <a:endParaRPr lang="en-US" altLang="zh-CN" sz="20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L</a:t>
            </a:r>
            <a:r>
              <a:rPr lang="en-US" altLang="zh-CN" sz="2000" baseline="-25000"/>
              <a:t>2</a:t>
            </a:r>
            <a:r>
              <a:rPr lang="en-US" altLang="zh-CN" sz="2000"/>
              <a:t>:	S</a:t>
            </a:r>
            <a:r>
              <a:rPr lang="en-US" altLang="zh-CN" sz="2000" baseline="-25000"/>
              <a:t>2</a:t>
            </a:r>
            <a:r>
              <a:rPr lang="zh-CN" altLang="en-US" sz="2000"/>
              <a:t>代码</a:t>
            </a:r>
            <a:endParaRPr lang="zh-CN" altLang="en-US" sz="20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		</a:t>
            </a:r>
            <a:r>
              <a:rPr lang="en-US" altLang="zh-CN" sz="2000"/>
              <a:t>goto next</a:t>
            </a:r>
            <a:endParaRPr lang="en-US" altLang="zh-CN" sz="20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…</a:t>
            </a:r>
            <a:endParaRPr lang="en-US" altLang="zh-CN" sz="20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L</a:t>
            </a:r>
            <a:r>
              <a:rPr lang="en-US" altLang="zh-CN" sz="2000" baseline="-25000"/>
              <a:t>n-1</a:t>
            </a:r>
            <a:r>
              <a:rPr lang="en-US" altLang="zh-CN" sz="2000"/>
              <a:t>:	S</a:t>
            </a:r>
            <a:r>
              <a:rPr lang="en-US" altLang="zh-CN" sz="2000" baseline="-25000"/>
              <a:t>n-1</a:t>
            </a:r>
            <a:r>
              <a:rPr lang="zh-CN" altLang="en-US" sz="2000"/>
              <a:t>代码</a:t>
            </a:r>
            <a:endParaRPr lang="zh-CN" altLang="en-US" sz="20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		</a:t>
            </a:r>
            <a:r>
              <a:rPr lang="en-US" altLang="zh-CN" sz="2000"/>
              <a:t>goto next</a:t>
            </a:r>
            <a:endParaRPr lang="en-US" altLang="zh-CN" sz="20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L</a:t>
            </a:r>
            <a:r>
              <a:rPr lang="en-US" altLang="zh-CN" sz="2000" baseline="-25000"/>
              <a:t>n</a:t>
            </a:r>
            <a:r>
              <a:rPr lang="en-US" altLang="zh-CN" sz="2000"/>
              <a:t>:	S</a:t>
            </a:r>
            <a:r>
              <a:rPr lang="en-US" altLang="zh-CN" sz="2000" baseline="-25000"/>
              <a:t>n</a:t>
            </a:r>
            <a:r>
              <a:rPr lang="zh-CN" altLang="en-US" sz="2000"/>
              <a:t>代码</a:t>
            </a:r>
            <a:endParaRPr lang="zh-CN" altLang="en-US" sz="20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		</a:t>
            </a:r>
            <a:r>
              <a:rPr lang="en-US" altLang="zh-CN" sz="2000"/>
              <a:t>goto next</a:t>
            </a:r>
            <a:endParaRPr lang="en-US" altLang="zh-CN" sz="20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test:	if (t == V</a:t>
            </a:r>
            <a:r>
              <a:rPr lang="en-US" altLang="zh-CN" sz="2000" baseline="-25000"/>
              <a:t>1</a:t>
            </a:r>
            <a:r>
              <a:rPr lang="en-US" altLang="zh-CN" sz="2000"/>
              <a:t>) goto L</a:t>
            </a:r>
            <a:r>
              <a:rPr lang="en-US" altLang="zh-CN" sz="2000" baseline="-25000"/>
              <a:t>1</a:t>
            </a:r>
            <a:endParaRPr lang="en-US" altLang="zh-CN" sz="2000" baseline="-250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baseline="-25000"/>
              <a:t>		</a:t>
            </a:r>
            <a:r>
              <a:rPr lang="en-US" altLang="zh-CN" sz="2000"/>
              <a:t>if (t == V</a:t>
            </a:r>
            <a:r>
              <a:rPr lang="en-US" altLang="zh-CN" sz="2000" baseline="-25000"/>
              <a:t>2</a:t>
            </a:r>
            <a:r>
              <a:rPr lang="en-US" altLang="zh-CN" sz="2000"/>
              <a:t>) goto L</a:t>
            </a:r>
            <a:r>
              <a:rPr lang="en-US" altLang="zh-CN" sz="2000" baseline="-25000"/>
              <a:t>2</a:t>
            </a:r>
            <a:endParaRPr lang="en-US" altLang="zh-CN" sz="2000" baseline="-250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…</a:t>
            </a:r>
            <a:endParaRPr lang="en-US" altLang="zh-CN" sz="20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if (t == V</a:t>
            </a:r>
            <a:r>
              <a:rPr lang="en-US" altLang="zh-CN" sz="2000" baseline="-25000"/>
              <a:t>n-1</a:t>
            </a:r>
            <a:r>
              <a:rPr lang="en-US" altLang="zh-CN" sz="2000"/>
              <a:t>) goto L</a:t>
            </a:r>
            <a:r>
              <a:rPr lang="en-US" altLang="zh-CN" sz="2000" baseline="-25000"/>
              <a:t>n-1</a:t>
            </a:r>
            <a:endParaRPr lang="en-US" altLang="zh-CN" sz="20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goto L</a:t>
            </a:r>
            <a:r>
              <a:rPr lang="en-US" altLang="zh-CN" sz="2000" baseline="-25000"/>
              <a:t>n</a:t>
            </a:r>
            <a:endParaRPr lang="en-US" altLang="zh-CN" sz="20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next:</a:t>
            </a:r>
            <a:endParaRPr lang="en-US" altLang="zh-CN" sz="20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翻译方法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10200"/>
          </a:xfrm>
        </p:spPr>
        <p:txBody>
          <a:bodyPr/>
          <a:lstStyle/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		</a:t>
            </a:r>
            <a:r>
              <a:rPr lang="zh-CN" altLang="en-US" sz="2200"/>
              <a:t>计算</a:t>
            </a:r>
            <a:r>
              <a:rPr lang="en-US" altLang="zh-CN" sz="2200"/>
              <a:t>E</a:t>
            </a:r>
            <a:r>
              <a:rPr lang="en-US" altLang="zh-CN" sz="2200">
                <a:sym typeface="Wingdings" panose="05000000000000000000" pitchFamily="2" charset="2"/>
              </a:rPr>
              <a:t></a:t>
            </a:r>
            <a:r>
              <a:rPr lang="en-US" altLang="zh-CN" sz="2200"/>
              <a:t>t</a:t>
            </a:r>
            <a:endParaRPr lang="en-US" altLang="zh-CN" sz="22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		if t &lt;&gt; V</a:t>
            </a:r>
            <a:r>
              <a:rPr lang="en-US" altLang="zh-CN" sz="2200" baseline="-25000"/>
              <a:t>1</a:t>
            </a:r>
            <a:r>
              <a:rPr lang="en-US" altLang="zh-CN" sz="2200"/>
              <a:t> goto L</a:t>
            </a:r>
            <a:r>
              <a:rPr lang="en-US" altLang="zh-CN" sz="2200" baseline="-25000"/>
              <a:t>1</a:t>
            </a:r>
            <a:endParaRPr lang="en-US" altLang="zh-CN" sz="2200" baseline="-250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 baseline="-25000"/>
              <a:t>		</a:t>
            </a:r>
            <a:r>
              <a:rPr lang="en-US" altLang="zh-CN" sz="2200"/>
              <a:t>S</a:t>
            </a:r>
            <a:r>
              <a:rPr lang="en-US" altLang="zh-CN" sz="2200" baseline="-25000"/>
              <a:t>1</a:t>
            </a:r>
            <a:r>
              <a:rPr lang="zh-CN" altLang="en-US" sz="2200"/>
              <a:t>代码</a:t>
            </a:r>
            <a:endParaRPr lang="zh-CN" altLang="en-US" sz="22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200"/>
              <a:t>		</a:t>
            </a:r>
            <a:r>
              <a:rPr lang="en-US" altLang="zh-CN" sz="2200"/>
              <a:t>goto test</a:t>
            </a:r>
            <a:endParaRPr lang="en-US" altLang="zh-CN" sz="22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L</a:t>
            </a:r>
            <a:r>
              <a:rPr lang="en-US" altLang="zh-CN" sz="2200" baseline="-25000"/>
              <a:t>1</a:t>
            </a:r>
            <a:r>
              <a:rPr lang="en-US" altLang="zh-CN" sz="2200"/>
              <a:t>:	if t &lt;&gt; V</a:t>
            </a:r>
            <a:r>
              <a:rPr lang="en-US" altLang="zh-CN" sz="2200" baseline="-25000"/>
              <a:t>2</a:t>
            </a:r>
            <a:r>
              <a:rPr lang="en-US" altLang="zh-CN" sz="2200"/>
              <a:t> goto L</a:t>
            </a:r>
            <a:r>
              <a:rPr lang="en-US" altLang="zh-CN" sz="2200" baseline="-25000"/>
              <a:t>2</a:t>
            </a:r>
            <a:endParaRPr lang="en-US" altLang="zh-CN" sz="2200" baseline="-250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		S</a:t>
            </a:r>
            <a:r>
              <a:rPr lang="en-US" altLang="zh-CN" sz="2200" baseline="-25000"/>
              <a:t>2</a:t>
            </a:r>
            <a:r>
              <a:rPr lang="zh-CN" altLang="en-US" sz="2200"/>
              <a:t>代码</a:t>
            </a:r>
            <a:endParaRPr lang="zh-CN" altLang="en-US" sz="22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200"/>
              <a:t>		</a:t>
            </a:r>
            <a:r>
              <a:rPr lang="en-US" altLang="zh-CN" sz="2200"/>
              <a:t>goto next</a:t>
            </a:r>
            <a:endParaRPr lang="en-US" altLang="zh-CN" sz="22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L</a:t>
            </a:r>
            <a:r>
              <a:rPr lang="en-US" altLang="zh-CN" sz="2200" baseline="-25000"/>
              <a:t>2</a:t>
            </a:r>
            <a:r>
              <a:rPr lang="en-US" altLang="zh-CN" sz="2200"/>
              <a:t>:</a:t>
            </a:r>
            <a:endParaRPr lang="en-US" altLang="zh-CN" sz="22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		…</a:t>
            </a:r>
            <a:endParaRPr lang="en-US" altLang="zh-CN" sz="22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L</a:t>
            </a:r>
            <a:r>
              <a:rPr lang="en-US" altLang="zh-CN" sz="2200" baseline="-25000"/>
              <a:t>n-2</a:t>
            </a:r>
            <a:r>
              <a:rPr lang="en-US" altLang="zh-CN" sz="2200"/>
              <a:t>:	 if t &lt;&gt; V</a:t>
            </a:r>
            <a:r>
              <a:rPr lang="en-US" altLang="zh-CN" sz="2200" baseline="-25000"/>
              <a:t>n-1</a:t>
            </a:r>
            <a:r>
              <a:rPr lang="en-US" altLang="zh-CN" sz="2200"/>
              <a:t> goto L</a:t>
            </a:r>
            <a:r>
              <a:rPr lang="en-US" altLang="zh-CN" sz="2200" baseline="-25000"/>
              <a:t>n-1</a:t>
            </a:r>
            <a:endParaRPr lang="en-US" altLang="zh-CN" sz="2200" baseline="-250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		S</a:t>
            </a:r>
            <a:r>
              <a:rPr lang="en-US" altLang="zh-CN" sz="2200" baseline="-25000"/>
              <a:t>n-1</a:t>
            </a:r>
            <a:r>
              <a:rPr lang="zh-CN" altLang="en-US" sz="2200"/>
              <a:t>代码</a:t>
            </a:r>
            <a:endParaRPr lang="zh-CN" altLang="en-US" sz="22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200"/>
              <a:t>		</a:t>
            </a:r>
            <a:r>
              <a:rPr lang="en-US" altLang="zh-CN" sz="2200"/>
              <a:t>goto next</a:t>
            </a:r>
            <a:endParaRPr lang="en-US" altLang="zh-CN" sz="22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L</a:t>
            </a:r>
            <a:r>
              <a:rPr lang="en-US" altLang="zh-CN" sz="2200" baseline="-25000"/>
              <a:t>n</a:t>
            </a:r>
            <a:r>
              <a:rPr lang="en-US" altLang="zh-CN" sz="2200"/>
              <a:t>:	S</a:t>
            </a:r>
            <a:r>
              <a:rPr lang="en-US" altLang="zh-CN" sz="2200" baseline="-25000"/>
              <a:t>n</a:t>
            </a:r>
            <a:r>
              <a:rPr lang="zh-CN" altLang="en-US" sz="2200"/>
              <a:t>代码</a:t>
            </a:r>
            <a:endParaRPr lang="zh-CN" altLang="en-US" sz="22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next:</a:t>
            </a:r>
            <a:endParaRPr lang="en-US" altLang="zh-CN" sz="22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8.6  BackPatching</a:t>
            </a:r>
            <a:r>
              <a:rPr lang="zh-CN" altLang="en-US"/>
              <a:t>技术</a:t>
            </a:r>
            <a:endParaRPr lang="zh-CN" altLang="en-US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第</a:t>
            </a:r>
            <a:r>
              <a:rPr lang="en-US" altLang="zh-CN" sz="2800" dirty="0"/>
              <a:t>4</a:t>
            </a:r>
            <a:r>
              <a:rPr lang="zh-CN" altLang="en-US" sz="2800" dirty="0"/>
              <a:t>节语法制导定义实现方法</a:t>
            </a:r>
            <a:endParaRPr lang="zh-CN" altLang="en-US" sz="2800" dirty="0"/>
          </a:p>
          <a:p>
            <a:pPr lvl="1" eaLnBrk="1" hangingPunct="1"/>
            <a:r>
              <a:rPr lang="zh-CN" altLang="en-US" sz="2400" dirty="0"/>
              <a:t>两遍扫描：创建语法树，然后计算属性值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若单遍扫描：生成转移语句时目的地址未知</a:t>
            </a:r>
            <a:endParaRPr lang="zh-CN" altLang="en-US" sz="2400" dirty="0"/>
          </a:p>
          <a:p>
            <a:pPr eaLnBrk="1" hangingPunct="1"/>
            <a:r>
              <a:rPr lang="en-US" altLang="zh-CN" sz="2800" dirty="0"/>
              <a:t>backpatching</a:t>
            </a:r>
            <a:r>
              <a:rPr lang="zh-CN" altLang="en-US" sz="2800" dirty="0"/>
              <a:t>：布尔表达式生成转移语句时“留空”，控制流语句确定地址时“填空”</a:t>
            </a:r>
            <a:endParaRPr lang="en-US" altLang="zh-CN" sz="2800" dirty="0"/>
          </a:p>
          <a:p>
            <a:pPr lvl="1" eaLnBrk="1" hangingPunct="1"/>
            <a:r>
              <a:rPr lang="zh-CN" altLang="en-US" sz="2400" dirty="0"/>
              <a:t>语句</a:t>
            </a:r>
            <a:r>
              <a:rPr lang="zh-CN" altLang="en-US" sz="2400" dirty="0">
                <a:sym typeface="Wingdings" panose="05000000000000000000" pitchFamily="2" charset="2"/>
              </a:rPr>
              <a:t></a:t>
            </a:r>
            <a:r>
              <a:rPr lang="zh-CN" altLang="en-US" sz="2400" dirty="0"/>
              <a:t>四元式数组，地址</a:t>
            </a:r>
            <a:r>
              <a:rPr lang="en-US" altLang="zh-CN" sz="2400" dirty="0"/>
              <a:t>——</a:t>
            </a:r>
            <a:r>
              <a:rPr lang="zh-CN" altLang="en-US" sz="2400" dirty="0"/>
              <a:t>数组索引</a:t>
            </a:r>
            <a:endParaRPr lang="zh-CN" altLang="en-US" sz="2400" dirty="0"/>
          </a:p>
          <a:p>
            <a:pPr lvl="1" eaLnBrk="1" hangingPunct="1"/>
            <a:r>
              <a:rPr lang="en-US" altLang="zh-CN" sz="2400" dirty="0" err="1"/>
              <a:t>makelist</a:t>
            </a:r>
            <a:r>
              <a:rPr lang="en-US" altLang="zh-CN" sz="2400" dirty="0"/>
              <a:t>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)</a:t>
            </a:r>
            <a:r>
              <a:rPr lang="zh-CN" altLang="en-US" sz="2400" dirty="0"/>
              <a:t>：创建列表，仅包含</a:t>
            </a:r>
            <a:r>
              <a:rPr lang="en-US" altLang="zh-CN" sz="2400" dirty="0" err="1"/>
              <a:t>i</a:t>
            </a:r>
            <a:r>
              <a:rPr lang="en-US" altLang="zh-CN" sz="2400" dirty="0"/>
              <a:t>——</a:t>
            </a:r>
            <a:r>
              <a:rPr lang="zh-CN" altLang="en-US" sz="2400" dirty="0"/>
              <a:t>指向四元式数组索引</a:t>
            </a:r>
            <a:r>
              <a:rPr lang="en-US" altLang="zh-CN" sz="2400" dirty="0"/>
              <a:t>——</a:t>
            </a:r>
            <a:r>
              <a:rPr lang="zh-CN" altLang="en-US" sz="2400" dirty="0">
                <a:solidFill>
                  <a:srgbClr val="FF0000"/>
                </a:solidFill>
              </a:rPr>
              <a:t>还无法填写地址的转移语句，“留空”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lvl="1" eaLnBrk="1" hangingPunct="1"/>
            <a:r>
              <a:rPr lang="en-US" altLang="zh-CN" sz="2400" dirty="0"/>
              <a:t>merge(p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p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</a:t>
            </a:r>
            <a:r>
              <a:rPr lang="zh-CN" altLang="en-US" sz="2400" dirty="0"/>
              <a:t>：合并列表</a:t>
            </a:r>
            <a:r>
              <a:rPr lang="en-US" altLang="zh-CN" sz="2400" dirty="0"/>
              <a:t>p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、</a:t>
            </a:r>
            <a:r>
              <a:rPr lang="en-US" altLang="zh-CN" sz="2400" dirty="0"/>
              <a:t>p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——</a:t>
            </a:r>
            <a:r>
              <a:rPr lang="zh-CN" altLang="en-US" sz="2400" dirty="0">
                <a:solidFill>
                  <a:srgbClr val="FF0000"/>
                </a:solidFill>
              </a:rPr>
              <a:t>两个转移语句的目的地址是相同的，目前仍无法填写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1" eaLnBrk="1" hangingPunct="1"/>
            <a:r>
              <a:rPr lang="en-US" altLang="zh-CN" sz="2400" dirty="0"/>
              <a:t>backpatch(p,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)</a:t>
            </a:r>
            <a:r>
              <a:rPr lang="zh-CN" altLang="en-US" sz="2400" dirty="0"/>
              <a:t>：将列表</a:t>
            </a:r>
            <a:r>
              <a:rPr lang="en-US" altLang="zh-CN" sz="2400" dirty="0"/>
              <a:t>p</a:t>
            </a:r>
            <a:r>
              <a:rPr lang="zh-CN" altLang="en-US" sz="2400" dirty="0"/>
              <a:t>指向的所有语句中的空白处填入</a:t>
            </a:r>
            <a:r>
              <a:rPr lang="en-US" altLang="zh-CN" sz="2400" dirty="0" err="1"/>
              <a:t>i</a:t>
            </a:r>
            <a:r>
              <a:rPr lang="en-US" altLang="zh-CN" sz="2400" dirty="0"/>
              <a:t>——</a:t>
            </a:r>
            <a:r>
              <a:rPr lang="zh-CN" altLang="en-US" sz="2400" dirty="0">
                <a:solidFill>
                  <a:srgbClr val="FF0000"/>
                </a:solidFill>
              </a:rPr>
              <a:t>已经知道了这些转移语句的目的地址应该是</a:t>
            </a:r>
            <a:r>
              <a:rPr lang="en-US" altLang="zh-CN" sz="2400" dirty="0" err="1">
                <a:solidFill>
                  <a:srgbClr val="FF0000"/>
                </a:solidFill>
              </a:rPr>
              <a:t>i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8.6.1  </a:t>
            </a:r>
            <a:r>
              <a:rPr lang="zh-CN" altLang="en-US"/>
              <a:t>语法制导定义</a:t>
            </a:r>
            <a:endParaRPr lang="zh-CN" altLang="en-US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00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E→E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</a:t>
            </a:r>
            <a:r>
              <a:rPr lang="en-US" altLang="zh-CN" sz="2000" b="1" dirty="0"/>
              <a:t>or</a:t>
            </a:r>
            <a:r>
              <a:rPr lang="en-US" altLang="zh-CN" sz="2000" dirty="0"/>
              <a:t> M E</a:t>
            </a:r>
            <a:r>
              <a:rPr lang="en-US" altLang="zh-CN" sz="2000" baseline="-25000" dirty="0"/>
              <a:t>2   </a:t>
            </a:r>
            <a:r>
              <a:rPr lang="en-US" altLang="zh-CN" sz="2000" dirty="0"/>
              <a:t>{ backpatch(E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.falselist, </a:t>
            </a:r>
            <a:r>
              <a:rPr lang="en-US" altLang="zh-CN" sz="2000" dirty="0" err="1"/>
              <a:t>M.quad</a:t>
            </a:r>
            <a:r>
              <a:rPr lang="en-US" altLang="zh-CN" sz="2000" dirty="0"/>
              <a:t>);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	     </a:t>
            </a:r>
            <a:r>
              <a:rPr lang="en-US" altLang="zh-CN" sz="2000" dirty="0" err="1"/>
              <a:t>E.truelist</a:t>
            </a:r>
            <a:r>
              <a:rPr lang="en-US" altLang="zh-CN" sz="2000" dirty="0"/>
              <a:t> = merge(E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.truelist, 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.truelist);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	     </a:t>
            </a:r>
            <a:r>
              <a:rPr lang="en-US" altLang="zh-CN" sz="2000" dirty="0" err="1"/>
              <a:t>E.falselist</a:t>
            </a:r>
            <a:r>
              <a:rPr lang="en-US" altLang="zh-CN" sz="2000" dirty="0"/>
              <a:t> = 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.falselist; }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E→E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</a:t>
            </a:r>
            <a:r>
              <a:rPr lang="en-US" altLang="zh-CN" sz="2000" b="1" dirty="0"/>
              <a:t>and</a:t>
            </a:r>
            <a:r>
              <a:rPr lang="en-US" altLang="zh-CN" sz="2000" dirty="0"/>
              <a:t> M E</a:t>
            </a:r>
            <a:r>
              <a:rPr lang="en-US" altLang="zh-CN" sz="2000" baseline="-25000" dirty="0"/>
              <a:t>2  </a:t>
            </a:r>
            <a:r>
              <a:rPr lang="en-US" altLang="zh-CN" sz="2000" dirty="0"/>
              <a:t>{ backpatch(E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.truelist, </a:t>
            </a:r>
            <a:r>
              <a:rPr lang="en-US" altLang="zh-CN" sz="2000" dirty="0" err="1"/>
              <a:t>M.quad</a:t>
            </a:r>
            <a:r>
              <a:rPr lang="en-US" altLang="zh-CN" sz="2000" dirty="0"/>
              <a:t>);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	       </a:t>
            </a:r>
            <a:r>
              <a:rPr lang="en-US" altLang="zh-CN" sz="2000" dirty="0" err="1"/>
              <a:t>E.truelist</a:t>
            </a:r>
            <a:r>
              <a:rPr lang="en-US" altLang="zh-CN" sz="2000" dirty="0"/>
              <a:t> = 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.truelist; 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	    </a:t>
            </a:r>
            <a:r>
              <a:rPr lang="en-US" altLang="zh-CN" sz="2000" dirty="0" err="1"/>
              <a:t>E.falselist</a:t>
            </a:r>
            <a:r>
              <a:rPr lang="en-US" altLang="zh-CN" sz="2000" dirty="0"/>
              <a:t> = merge(E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.falselist, 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.falselist); }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err="1"/>
              <a:t>E→</a:t>
            </a:r>
            <a:r>
              <a:rPr lang="en-US" altLang="zh-CN" sz="2000" b="1" dirty="0" err="1"/>
              <a:t>not</a:t>
            </a:r>
            <a:r>
              <a:rPr lang="en-US" altLang="zh-CN" sz="2000" dirty="0"/>
              <a:t>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	{ </a:t>
            </a:r>
            <a:r>
              <a:rPr lang="en-US" altLang="zh-CN" sz="2000" dirty="0" err="1"/>
              <a:t>E.truelist</a:t>
            </a:r>
            <a:r>
              <a:rPr lang="en-US" altLang="zh-CN" sz="2000" dirty="0"/>
              <a:t> =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.falselist;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	   </a:t>
            </a:r>
            <a:r>
              <a:rPr lang="en-US" altLang="zh-CN" sz="2000" dirty="0" err="1"/>
              <a:t>E.falselist</a:t>
            </a:r>
            <a:r>
              <a:rPr lang="en-US" altLang="zh-CN" sz="2000" dirty="0"/>
              <a:t> =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.truelist; }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E→(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)	{ </a:t>
            </a:r>
            <a:r>
              <a:rPr lang="en-US" altLang="zh-CN" sz="2000" dirty="0" err="1"/>
              <a:t>E.truelist</a:t>
            </a:r>
            <a:r>
              <a:rPr lang="en-US" altLang="zh-CN" sz="2000" dirty="0"/>
              <a:t> =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.truelist;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	   </a:t>
            </a:r>
            <a:r>
              <a:rPr lang="en-US" altLang="zh-CN" sz="2000" dirty="0" err="1"/>
              <a:t>E.falselist</a:t>
            </a:r>
            <a:r>
              <a:rPr lang="en-US" altLang="zh-CN" sz="2000" dirty="0"/>
              <a:t> =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.falselist; }</a:t>
            </a:r>
            <a:endParaRPr lang="en-US" altLang="zh-CN" sz="2000" dirty="0"/>
          </a:p>
        </p:txBody>
      </p:sp>
      <p:sp>
        <p:nvSpPr>
          <p:cNvPr id="55300" name="Text Box 4"/>
          <p:cNvSpPr txBox="1">
            <a:spLocks noChangeArrowheads="1"/>
          </p:cNvSpPr>
          <p:nvPr/>
        </p:nvSpPr>
        <p:spPr bwMode="ltGray">
          <a:xfrm>
            <a:off x="6400800" y="609600"/>
            <a:ext cx="1905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FF3300"/>
                </a:solidFill>
              </a:rPr>
              <a:t>用下一语句编号“填空”</a:t>
            </a:r>
            <a:endParaRPr lang="zh-CN" altLang="en-US" sz="2000" dirty="0">
              <a:solidFill>
                <a:srgbClr val="FF3300"/>
              </a:solidFill>
            </a:endParaRPr>
          </a:p>
        </p:txBody>
      </p:sp>
      <p:sp>
        <p:nvSpPr>
          <p:cNvPr id="55301" name="Freeform 5"/>
          <p:cNvSpPr/>
          <p:nvPr/>
        </p:nvSpPr>
        <p:spPr bwMode="ltGray">
          <a:xfrm>
            <a:off x="5943600" y="1124744"/>
            <a:ext cx="716632" cy="399256"/>
          </a:xfrm>
          <a:custGeom>
            <a:avLst/>
            <a:gdLst>
              <a:gd name="T0" fmla="*/ 2147483646 w 380"/>
              <a:gd name="T1" fmla="*/ 0 h 425"/>
              <a:gd name="T2" fmla="*/ 0 w 380"/>
              <a:gd name="T3" fmla="*/ 2147483646 h 425"/>
              <a:gd name="T4" fmla="*/ 0 60000 65536"/>
              <a:gd name="T5" fmla="*/ 0 60000 65536"/>
              <a:gd name="T6" fmla="*/ 0 w 380"/>
              <a:gd name="T7" fmla="*/ 0 h 425"/>
              <a:gd name="T8" fmla="*/ 380 w 380"/>
              <a:gd name="T9" fmla="*/ 425 h 4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80" h="425">
                <a:moveTo>
                  <a:pt x="380" y="0"/>
                </a:moveTo>
                <a:lnTo>
                  <a:pt x="0" y="425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ltGray">
          <a:xfrm>
            <a:off x="6848084" y="2218601"/>
            <a:ext cx="1905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FF3300"/>
                </a:solidFill>
              </a:rPr>
              <a:t>还填不了的留给上层节点</a:t>
            </a:r>
            <a:endParaRPr lang="zh-CN" altLang="en-US" sz="2000" dirty="0">
              <a:solidFill>
                <a:srgbClr val="FF3300"/>
              </a:solidFill>
            </a:endParaRPr>
          </a:p>
        </p:txBody>
      </p:sp>
      <p:sp>
        <p:nvSpPr>
          <p:cNvPr id="7" name="Freeform 5"/>
          <p:cNvSpPr/>
          <p:nvPr/>
        </p:nvSpPr>
        <p:spPr bwMode="ltGray">
          <a:xfrm flipV="1">
            <a:off x="6660232" y="2066200"/>
            <a:ext cx="716632" cy="201543"/>
          </a:xfrm>
          <a:custGeom>
            <a:avLst/>
            <a:gdLst>
              <a:gd name="T0" fmla="*/ 2147483646 w 380"/>
              <a:gd name="T1" fmla="*/ 0 h 425"/>
              <a:gd name="T2" fmla="*/ 0 w 380"/>
              <a:gd name="T3" fmla="*/ 2147483646 h 425"/>
              <a:gd name="T4" fmla="*/ 0 60000 65536"/>
              <a:gd name="T5" fmla="*/ 0 60000 65536"/>
              <a:gd name="T6" fmla="*/ 0 w 380"/>
              <a:gd name="T7" fmla="*/ 0 h 425"/>
              <a:gd name="T8" fmla="*/ 380 w 380"/>
              <a:gd name="T9" fmla="*/ 425 h 4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80" h="425">
                <a:moveTo>
                  <a:pt x="380" y="0"/>
                </a:moveTo>
                <a:lnTo>
                  <a:pt x="0" y="425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Freeform 5"/>
          <p:cNvSpPr/>
          <p:nvPr/>
        </p:nvSpPr>
        <p:spPr bwMode="ltGray">
          <a:xfrm flipV="1">
            <a:off x="5943600" y="2321855"/>
            <a:ext cx="1076672" cy="201543"/>
          </a:xfrm>
          <a:custGeom>
            <a:avLst/>
            <a:gdLst>
              <a:gd name="T0" fmla="*/ 2147483646 w 380"/>
              <a:gd name="T1" fmla="*/ 0 h 425"/>
              <a:gd name="T2" fmla="*/ 0 w 380"/>
              <a:gd name="T3" fmla="*/ 2147483646 h 425"/>
              <a:gd name="T4" fmla="*/ 0 60000 65536"/>
              <a:gd name="T5" fmla="*/ 0 60000 65536"/>
              <a:gd name="T6" fmla="*/ 0 w 380"/>
              <a:gd name="T7" fmla="*/ 0 h 425"/>
              <a:gd name="T8" fmla="*/ 380 w 380"/>
              <a:gd name="T9" fmla="*/ 425 h 4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80" h="425">
                <a:moveTo>
                  <a:pt x="380" y="0"/>
                </a:moveTo>
                <a:lnTo>
                  <a:pt x="0" y="425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语法制导定义（续）</a:t>
            </a:r>
            <a:endParaRPr lang="zh-CN" altLang="en-US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E→</a:t>
            </a:r>
            <a:r>
              <a:rPr lang="en-US" altLang="zh-CN" sz="2400" b="1"/>
              <a:t>id</a:t>
            </a:r>
            <a:r>
              <a:rPr lang="en-US" altLang="zh-CN" sz="2400" b="1" baseline="-25000"/>
              <a:t>1</a:t>
            </a:r>
            <a:r>
              <a:rPr lang="en-US" altLang="zh-CN" sz="2400" b="1"/>
              <a:t> relop id</a:t>
            </a:r>
            <a:r>
              <a:rPr lang="en-US" altLang="zh-CN" sz="2400" b="1" baseline="-25000"/>
              <a:t>2   </a:t>
            </a:r>
            <a:r>
              <a:rPr lang="en-US" altLang="zh-CN" sz="2400"/>
              <a:t>{ E.truelist = makelist(nextquad);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        E.falselist = makelist(nextquad + 1);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emit(‘if’ </a:t>
            </a:r>
            <a:r>
              <a:rPr lang="en-US" altLang="zh-CN" sz="2400" b="1"/>
              <a:t>id</a:t>
            </a:r>
            <a:r>
              <a:rPr lang="en-US" altLang="zh-CN" sz="2400" baseline="-25000"/>
              <a:t>1</a:t>
            </a:r>
            <a:r>
              <a:rPr lang="en-US" altLang="zh-CN" sz="2400"/>
              <a:t>.place </a:t>
            </a:r>
            <a:r>
              <a:rPr lang="en-US" altLang="zh-CN" sz="2400" b="1"/>
              <a:t>relop</a:t>
            </a:r>
            <a:r>
              <a:rPr lang="en-US" altLang="zh-CN" sz="2400"/>
              <a:t>.op </a:t>
            </a:r>
            <a:r>
              <a:rPr lang="en-US" altLang="zh-CN" sz="2400" b="1"/>
              <a:t>id</a:t>
            </a:r>
            <a:r>
              <a:rPr lang="en-US" altLang="zh-CN" sz="2400" b="1" baseline="-25000"/>
              <a:t>2</a:t>
            </a:r>
            <a:r>
              <a:rPr lang="en-US" altLang="zh-CN" sz="2400"/>
              <a:t>.place ‘goto _’);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         emit(‘goto _’); }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E→</a:t>
            </a:r>
            <a:r>
              <a:rPr lang="en-US" altLang="zh-CN" sz="2400" b="1"/>
              <a:t>true</a:t>
            </a:r>
            <a:r>
              <a:rPr lang="en-US" altLang="zh-CN" sz="2400"/>
              <a:t>	{ E.truelist = makelist(nextquad);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   emit(‘goto _’); }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E→</a:t>
            </a:r>
            <a:r>
              <a:rPr lang="en-US" altLang="zh-CN" sz="2400" b="1"/>
              <a:t>false</a:t>
            </a:r>
            <a:r>
              <a:rPr lang="en-US" altLang="zh-CN" sz="2400"/>
              <a:t>	{ E.falselist = makelist(nextquad);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   emit(‘goto _’); }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M→</a:t>
            </a:r>
            <a:r>
              <a:rPr lang="en-US" altLang="zh-CN" sz="2400">
                <a:latin typeface="Symbol" panose="05050102010706020507" pitchFamily="18" charset="2"/>
              </a:rPr>
              <a:t>e</a:t>
            </a:r>
            <a:r>
              <a:rPr lang="en-US" altLang="zh-CN" sz="2400"/>
              <a:t>		{ M.quad = nextquad; }</a:t>
            </a:r>
            <a:endParaRPr lang="en-US" altLang="zh-CN" sz="2400"/>
          </a:p>
        </p:txBody>
      </p:sp>
      <p:sp>
        <p:nvSpPr>
          <p:cNvPr id="56324" name="Freeform 4"/>
          <p:cNvSpPr/>
          <p:nvPr/>
        </p:nvSpPr>
        <p:spPr bwMode="ltGray">
          <a:xfrm>
            <a:off x="3289300" y="1676400"/>
            <a:ext cx="901700" cy="762000"/>
          </a:xfrm>
          <a:custGeom>
            <a:avLst/>
            <a:gdLst>
              <a:gd name="T0" fmla="*/ 2147483646 w 568"/>
              <a:gd name="T1" fmla="*/ 0 h 480"/>
              <a:gd name="T2" fmla="*/ 2147483646 w 568"/>
              <a:gd name="T3" fmla="*/ 2147483646 h 480"/>
              <a:gd name="T4" fmla="*/ 2147483646 w 568"/>
              <a:gd name="T5" fmla="*/ 2147483646 h 480"/>
              <a:gd name="T6" fmla="*/ 0 60000 65536"/>
              <a:gd name="T7" fmla="*/ 0 60000 65536"/>
              <a:gd name="T8" fmla="*/ 0 60000 65536"/>
              <a:gd name="T9" fmla="*/ 0 w 568"/>
              <a:gd name="T10" fmla="*/ 0 h 480"/>
              <a:gd name="T11" fmla="*/ 568 w 568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68" h="480">
                <a:moveTo>
                  <a:pt x="568" y="0"/>
                </a:moveTo>
                <a:cubicBezTo>
                  <a:pt x="372" y="32"/>
                  <a:pt x="176" y="64"/>
                  <a:pt x="88" y="144"/>
                </a:cubicBezTo>
                <a:cubicBezTo>
                  <a:pt x="0" y="224"/>
                  <a:pt x="20" y="352"/>
                  <a:pt x="40" y="480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25" name="Freeform 5"/>
          <p:cNvSpPr/>
          <p:nvPr/>
        </p:nvSpPr>
        <p:spPr bwMode="ltGray">
          <a:xfrm>
            <a:off x="2657475" y="2133600"/>
            <a:ext cx="1685925" cy="860425"/>
          </a:xfrm>
          <a:custGeom>
            <a:avLst/>
            <a:gdLst>
              <a:gd name="T0" fmla="*/ 2147483646 w 1062"/>
              <a:gd name="T1" fmla="*/ 0 h 542"/>
              <a:gd name="T2" fmla="*/ 2147483646 w 1062"/>
              <a:gd name="T3" fmla="*/ 2147483646 h 542"/>
              <a:gd name="T4" fmla="*/ 2147483646 w 1062"/>
              <a:gd name="T5" fmla="*/ 2147483646 h 542"/>
              <a:gd name="T6" fmla="*/ 2147483646 w 1062"/>
              <a:gd name="T7" fmla="*/ 2147483646 h 542"/>
              <a:gd name="T8" fmla="*/ 0 60000 65536"/>
              <a:gd name="T9" fmla="*/ 0 60000 65536"/>
              <a:gd name="T10" fmla="*/ 0 60000 65536"/>
              <a:gd name="T11" fmla="*/ 0 60000 65536"/>
              <a:gd name="T12" fmla="*/ 0 w 1062"/>
              <a:gd name="T13" fmla="*/ 0 h 542"/>
              <a:gd name="T14" fmla="*/ 1062 w 1062"/>
              <a:gd name="T15" fmla="*/ 542 h 5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62" h="542">
                <a:moveTo>
                  <a:pt x="1062" y="0"/>
                </a:moveTo>
                <a:cubicBezTo>
                  <a:pt x="912" y="26"/>
                  <a:pt x="320" y="74"/>
                  <a:pt x="160" y="154"/>
                </a:cubicBezTo>
                <a:cubicBezTo>
                  <a:pt x="0" y="234"/>
                  <a:pt x="8" y="418"/>
                  <a:pt x="102" y="480"/>
                </a:cubicBezTo>
                <a:cubicBezTo>
                  <a:pt x="196" y="542"/>
                  <a:pt x="462" y="540"/>
                  <a:pt x="726" y="528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26" name="Text Box 6"/>
          <p:cNvSpPr txBox="1">
            <a:spLocks noChangeArrowheads="1"/>
          </p:cNvSpPr>
          <p:nvPr/>
        </p:nvSpPr>
        <p:spPr bwMode="ltGray">
          <a:xfrm>
            <a:off x="6400800" y="609600"/>
            <a:ext cx="205963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FF3300"/>
                </a:solidFill>
              </a:rPr>
              <a:t>下一语句编号</a:t>
            </a:r>
            <a:br>
              <a:rPr lang="en-US" altLang="zh-CN" sz="2000" dirty="0">
                <a:solidFill>
                  <a:srgbClr val="FF3300"/>
                </a:solidFill>
              </a:rPr>
            </a:br>
            <a:r>
              <a:rPr lang="zh-CN" altLang="en-US" sz="2000" dirty="0">
                <a:solidFill>
                  <a:srgbClr val="FF3300"/>
                </a:solidFill>
              </a:rPr>
              <a:t>为“留空”位置</a:t>
            </a:r>
            <a:endParaRPr lang="zh-CN" altLang="en-US" sz="2000" dirty="0">
              <a:solidFill>
                <a:srgbClr val="FF3300"/>
              </a:solidFill>
            </a:endParaRPr>
          </a:p>
        </p:txBody>
      </p:sp>
      <p:sp>
        <p:nvSpPr>
          <p:cNvPr id="56327" name="Freeform 7"/>
          <p:cNvSpPr/>
          <p:nvPr/>
        </p:nvSpPr>
        <p:spPr bwMode="ltGray">
          <a:xfrm>
            <a:off x="6808788" y="1219200"/>
            <a:ext cx="571524" cy="369888"/>
          </a:xfrm>
          <a:custGeom>
            <a:avLst/>
            <a:gdLst>
              <a:gd name="T0" fmla="*/ 2147483646 w 380"/>
              <a:gd name="T1" fmla="*/ 0 h 425"/>
              <a:gd name="T2" fmla="*/ 0 w 380"/>
              <a:gd name="T3" fmla="*/ 2147483646 h 425"/>
              <a:gd name="T4" fmla="*/ 0 60000 65536"/>
              <a:gd name="T5" fmla="*/ 0 60000 65536"/>
              <a:gd name="T6" fmla="*/ 0 w 380"/>
              <a:gd name="T7" fmla="*/ 0 h 425"/>
              <a:gd name="T8" fmla="*/ 380 w 380"/>
              <a:gd name="T9" fmla="*/ 425 h 4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80" h="425">
                <a:moveTo>
                  <a:pt x="380" y="0"/>
                </a:moveTo>
                <a:lnTo>
                  <a:pt x="0" y="425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8.6</a:t>
            </a:r>
            <a:endParaRPr lang="en-US" altLang="zh-CN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a &lt; b or c &lt; d and e &lt; f</a:t>
            </a:r>
            <a:endParaRPr lang="en-US" altLang="zh-CN"/>
          </a:p>
        </p:txBody>
      </p:sp>
      <p:pic>
        <p:nvPicPr>
          <p:cNvPr id="57348" name="Picture 7" descr="backpatch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133600"/>
            <a:ext cx="8018463" cy="328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8.6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lang="en-US" altLang="zh-CN" sz="2400"/>
              <a:t>a &lt; b</a:t>
            </a:r>
            <a:r>
              <a:rPr lang="zh-CN" altLang="en-US" sz="2400"/>
              <a:t>归约为</a:t>
            </a:r>
            <a:r>
              <a:rPr lang="en-US" altLang="zh-CN" sz="2400"/>
              <a:t>E</a:t>
            </a:r>
            <a:r>
              <a:rPr lang="zh-CN" altLang="en-US" sz="2400"/>
              <a:t>，产生两个四元式</a:t>
            </a:r>
            <a:endParaRPr lang="zh-CN" altLang="en-US" sz="240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100:	if a &lt; b goto _</a:t>
            </a:r>
            <a:endParaRPr lang="en-US" altLang="zh-CN" sz="200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101:	goto _</a:t>
            </a:r>
            <a:endParaRPr lang="en-US" altLang="zh-CN" sz="2000"/>
          </a:p>
          <a:p>
            <a:pPr eaLnBrk="1" hangingPunct="1"/>
            <a:r>
              <a:rPr lang="en-US" altLang="zh-CN" sz="2400"/>
              <a:t>E→E</a:t>
            </a:r>
            <a:r>
              <a:rPr lang="en-US" altLang="zh-CN" sz="2400" baseline="-25000"/>
              <a:t>1</a:t>
            </a:r>
            <a:r>
              <a:rPr lang="en-US" altLang="zh-CN" sz="2400"/>
              <a:t> </a:t>
            </a:r>
            <a:r>
              <a:rPr lang="en-US" altLang="zh-CN" sz="2400" b="1"/>
              <a:t>or</a:t>
            </a:r>
            <a:r>
              <a:rPr lang="en-US" altLang="zh-CN" sz="2400"/>
              <a:t> M E</a:t>
            </a:r>
            <a:r>
              <a:rPr lang="en-US" altLang="zh-CN" sz="2400" baseline="-25000"/>
              <a:t>2</a:t>
            </a:r>
            <a:r>
              <a:rPr lang="zh-CN" altLang="en-US" sz="2400"/>
              <a:t>中的</a:t>
            </a:r>
            <a:r>
              <a:rPr lang="en-US" altLang="zh-CN" sz="2400"/>
              <a:t>M</a:t>
            </a:r>
            <a:r>
              <a:rPr lang="zh-CN" altLang="en-US" sz="2400"/>
              <a:t>，属性值为</a:t>
            </a:r>
            <a:r>
              <a:rPr lang="en-US" altLang="zh-CN" sz="2400"/>
              <a:t>102</a:t>
            </a:r>
            <a:endParaRPr lang="en-US" altLang="zh-CN" sz="2400"/>
          </a:p>
          <a:p>
            <a:pPr eaLnBrk="1" hangingPunct="1"/>
            <a:r>
              <a:rPr lang="en-US" altLang="zh-CN" sz="2400"/>
              <a:t>c &lt; d</a:t>
            </a:r>
            <a:r>
              <a:rPr lang="zh-CN" altLang="en-US" sz="2400"/>
              <a:t>归约为</a:t>
            </a:r>
            <a:r>
              <a:rPr lang="en-US" altLang="zh-CN" sz="2400"/>
              <a:t>E</a:t>
            </a:r>
            <a:r>
              <a:rPr lang="zh-CN" altLang="en-US" sz="2400"/>
              <a:t>，产生两个四元式</a:t>
            </a:r>
            <a:endParaRPr lang="zh-CN" altLang="en-US" sz="240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102:	if c &lt; d goto _</a:t>
            </a:r>
            <a:endParaRPr lang="en-US" altLang="zh-CN" sz="200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103:	goto _</a:t>
            </a:r>
            <a:endParaRPr lang="en-US" altLang="zh-CN" sz="2000"/>
          </a:p>
          <a:p>
            <a:pPr eaLnBrk="1" hangingPunct="1"/>
            <a:r>
              <a:rPr lang="en-US" altLang="zh-CN" sz="2400"/>
              <a:t>E→E</a:t>
            </a:r>
            <a:r>
              <a:rPr lang="en-US" altLang="zh-CN" sz="2400" baseline="-25000"/>
              <a:t>1</a:t>
            </a:r>
            <a:r>
              <a:rPr lang="en-US" altLang="zh-CN" sz="2400"/>
              <a:t> </a:t>
            </a:r>
            <a:r>
              <a:rPr lang="en-US" altLang="zh-CN" sz="2400" b="1"/>
              <a:t>and</a:t>
            </a:r>
            <a:r>
              <a:rPr lang="en-US" altLang="zh-CN" sz="2400"/>
              <a:t> M E</a:t>
            </a:r>
            <a:r>
              <a:rPr lang="en-US" altLang="zh-CN" sz="2400" baseline="-25000"/>
              <a:t>2</a:t>
            </a:r>
            <a:r>
              <a:rPr lang="zh-CN" altLang="en-US" sz="2400"/>
              <a:t>中的</a:t>
            </a:r>
            <a:r>
              <a:rPr lang="en-US" altLang="zh-CN" sz="2400"/>
              <a:t>M</a:t>
            </a:r>
            <a:r>
              <a:rPr lang="zh-CN" altLang="en-US" sz="2400"/>
              <a:t>，属性值为</a:t>
            </a:r>
            <a:r>
              <a:rPr lang="en-US" altLang="zh-CN" sz="2400"/>
              <a:t>104</a:t>
            </a:r>
            <a:endParaRPr lang="en-US" altLang="zh-CN" sz="2400"/>
          </a:p>
          <a:p>
            <a:pPr eaLnBrk="1" hangingPunct="1"/>
            <a:r>
              <a:rPr lang="en-US" altLang="zh-CN" sz="2400"/>
              <a:t>e &lt; f</a:t>
            </a:r>
            <a:r>
              <a:rPr lang="zh-CN" altLang="en-US" sz="2400"/>
              <a:t>归约为</a:t>
            </a:r>
            <a:r>
              <a:rPr lang="en-US" altLang="zh-CN" sz="2400"/>
              <a:t>E</a:t>
            </a:r>
            <a:r>
              <a:rPr lang="zh-CN" altLang="en-US" sz="2400"/>
              <a:t>，产生两个四元式</a:t>
            </a:r>
            <a:endParaRPr lang="zh-CN" altLang="en-US" sz="240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104:	if e &lt; f goto _</a:t>
            </a:r>
            <a:endParaRPr lang="en-US" altLang="zh-CN" sz="200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105:	goto _</a:t>
            </a:r>
            <a:endParaRPr lang="en-US" altLang="zh-CN" sz="20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8.6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zh-CN" altLang="en-US" sz="2400"/>
              <a:t>利用</a:t>
            </a:r>
            <a:r>
              <a:rPr lang="en-US" altLang="zh-CN" sz="2400"/>
              <a:t>E→E</a:t>
            </a:r>
            <a:r>
              <a:rPr lang="en-US" altLang="zh-CN" sz="2400" baseline="-25000"/>
              <a:t>1</a:t>
            </a:r>
            <a:r>
              <a:rPr lang="en-US" altLang="zh-CN" sz="2400"/>
              <a:t> </a:t>
            </a:r>
            <a:r>
              <a:rPr lang="en-US" altLang="zh-CN" sz="2400" b="1"/>
              <a:t>and</a:t>
            </a:r>
            <a:r>
              <a:rPr lang="en-US" altLang="zh-CN" sz="2400"/>
              <a:t> M E</a:t>
            </a:r>
            <a:r>
              <a:rPr lang="en-US" altLang="zh-CN" sz="2400" baseline="-25000"/>
              <a:t>2</a:t>
            </a:r>
            <a:r>
              <a:rPr lang="zh-CN" altLang="en-US" sz="2400"/>
              <a:t>归约，</a:t>
            </a:r>
            <a:r>
              <a:rPr lang="en-US" altLang="zh-CN" sz="2400"/>
              <a:t>backpatch({102},104)</a:t>
            </a:r>
            <a:endParaRPr lang="en-US" altLang="zh-CN" sz="2400"/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100:	if a &lt; b goto _</a:t>
            </a:r>
            <a:endParaRPr lang="en-US" altLang="zh-CN" sz="2000"/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101:	goto _</a:t>
            </a:r>
            <a:endParaRPr lang="en-US" altLang="zh-CN" sz="2000"/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102:	if c &lt; d goto 104</a:t>
            </a:r>
            <a:endParaRPr lang="en-US" altLang="zh-CN" sz="2000"/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103</a:t>
            </a:r>
            <a:r>
              <a:rPr lang="zh-CN" altLang="en-US" sz="2000"/>
              <a:t>：	</a:t>
            </a:r>
            <a:r>
              <a:rPr lang="en-US" altLang="zh-CN" sz="2000"/>
              <a:t>goto _</a:t>
            </a:r>
            <a:endParaRPr lang="en-US" altLang="zh-CN" sz="2000"/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104:	if e &lt; f goto _</a:t>
            </a:r>
            <a:endParaRPr lang="en-US" altLang="zh-CN" sz="2000"/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105:	goto _</a:t>
            </a:r>
            <a:endParaRPr lang="en-US" altLang="zh-CN" sz="2000"/>
          </a:p>
          <a:p>
            <a:pPr eaLnBrk="1" hangingPunct="1">
              <a:spcBef>
                <a:spcPct val="10000"/>
              </a:spcBef>
            </a:pPr>
            <a:r>
              <a:rPr lang="zh-CN" altLang="en-US" sz="2400"/>
              <a:t>规约</a:t>
            </a:r>
            <a:r>
              <a:rPr lang="en-US" altLang="zh-CN" sz="2400"/>
              <a:t>E→E</a:t>
            </a:r>
            <a:r>
              <a:rPr lang="en-US" altLang="zh-CN" sz="2400" baseline="-25000"/>
              <a:t>1</a:t>
            </a:r>
            <a:r>
              <a:rPr lang="en-US" altLang="zh-CN" sz="2400"/>
              <a:t> </a:t>
            </a:r>
            <a:r>
              <a:rPr lang="en-US" altLang="zh-CN" sz="2400" b="1"/>
              <a:t>or</a:t>
            </a:r>
            <a:r>
              <a:rPr lang="en-US" altLang="zh-CN" sz="2400"/>
              <a:t> M E</a:t>
            </a:r>
            <a:r>
              <a:rPr lang="en-US" altLang="zh-CN" sz="2400" baseline="-25000"/>
              <a:t>2</a:t>
            </a:r>
            <a:r>
              <a:rPr lang="zh-CN" altLang="en-US" sz="2400"/>
              <a:t>，</a:t>
            </a:r>
            <a:r>
              <a:rPr lang="en-US" altLang="zh-CN" sz="2400"/>
              <a:t>backpatch({101},102)</a:t>
            </a:r>
            <a:endParaRPr lang="en-US" altLang="zh-CN" sz="2400"/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100:	if a &lt; b goto _</a:t>
            </a:r>
            <a:endParaRPr lang="en-US" altLang="zh-CN" sz="2000"/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101:	goto 102</a:t>
            </a:r>
            <a:endParaRPr lang="en-US" altLang="zh-CN" sz="2000"/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102:	if c &lt; d goto 104</a:t>
            </a:r>
            <a:endParaRPr lang="en-US" altLang="zh-CN" sz="2000"/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103:	goto _</a:t>
            </a:r>
            <a:endParaRPr lang="en-US" altLang="zh-CN" sz="2000"/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104:	if e &lt; f goto _</a:t>
            </a:r>
            <a:endParaRPr lang="en-US" altLang="zh-CN" sz="2000"/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105:	goto _</a:t>
            </a:r>
            <a:endParaRPr lang="en-US" altLang="zh-CN" sz="2000"/>
          </a:p>
        </p:txBody>
      </p:sp>
      <p:sp>
        <p:nvSpPr>
          <p:cNvPr id="59396" name="Text Box 4"/>
          <p:cNvSpPr txBox="1">
            <a:spLocks noChangeArrowheads="1"/>
          </p:cNvSpPr>
          <p:nvPr/>
        </p:nvSpPr>
        <p:spPr bwMode="ltGray">
          <a:xfrm>
            <a:off x="5334000" y="4267200"/>
            <a:ext cx="1905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3300"/>
                </a:solidFill>
              </a:rPr>
              <a:t>E.truelist</a:t>
            </a:r>
            <a:endParaRPr lang="en-US" altLang="zh-CN" sz="2000">
              <a:solidFill>
                <a:srgbClr val="FF3300"/>
              </a:solidFill>
            </a:endParaRPr>
          </a:p>
        </p:txBody>
      </p:sp>
      <p:sp>
        <p:nvSpPr>
          <p:cNvPr id="59397" name="Freeform 5"/>
          <p:cNvSpPr/>
          <p:nvPr/>
        </p:nvSpPr>
        <p:spPr bwMode="ltGray">
          <a:xfrm>
            <a:off x="3671888" y="4495800"/>
            <a:ext cx="2189162" cy="6350"/>
          </a:xfrm>
          <a:custGeom>
            <a:avLst/>
            <a:gdLst>
              <a:gd name="T0" fmla="*/ 2147483646 w 1379"/>
              <a:gd name="T1" fmla="*/ 0 h 4"/>
              <a:gd name="T2" fmla="*/ 0 w 1379"/>
              <a:gd name="T3" fmla="*/ 2147483646 h 4"/>
              <a:gd name="T4" fmla="*/ 0 60000 65536"/>
              <a:gd name="T5" fmla="*/ 0 60000 65536"/>
              <a:gd name="T6" fmla="*/ 0 w 1379"/>
              <a:gd name="T7" fmla="*/ 0 h 4"/>
              <a:gd name="T8" fmla="*/ 1379 w 1379"/>
              <a:gd name="T9" fmla="*/ 4 h 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379" h="4">
                <a:moveTo>
                  <a:pt x="1379" y="0"/>
                </a:moveTo>
                <a:lnTo>
                  <a:pt x="0" y="4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398" name="Freeform 6"/>
          <p:cNvSpPr/>
          <p:nvPr/>
        </p:nvSpPr>
        <p:spPr bwMode="ltGray">
          <a:xfrm>
            <a:off x="3629025" y="4572000"/>
            <a:ext cx="2162175" cy="1266825"/>
          </a:xfrm>
          <a:custGeom>
            <a:avLst/>
            <a:gdLst>
              <a:gd name="T0" fmla="*/ 2147483646 w 1362"/>
              <a:gd name="T1" fmla="*/ 0 h 798"/>
              <a:gd name="T2" fmla="*/ 0 w 1362"/>
              <a:gd name="T3" fmla="*/ 2147483646 h 798"/>
              <a:gd name="T4" fmla="*/ 0 60000 65536"/>
              <a:gd name="T5" fmla="*/ 0 60000 65536"/>
              <a:gd name="T6" fmla="*/ 0 w 1362"/>
              <a:gd name="T7" fmla="*/ 0 h 798"/>
              <a:gd name="T8" fmla="*/ 1362 w 1362"/>
              <a:gd name="T9" fmla="*/ 798 h 79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362" h="798">
                <a:moveTo>
                  <a:pt x="1362" y="0"/>
                </a:moveTo>
                <a:lnTo>
                  <a:pt x="0" y="798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399" name="Text Box 7"/>
          <p:cNvSpPr txBox="1">
            <a:spLocks noChangeArrowheads="1"/>
          </p:cNvSpPr>
          <p:nvPr/>
        </p:nvSpPr>
        <p:spPr bwMode="ltGray">
          <a:xfrm>
            <a:off x="5410200" y="4876800"/>
            <a:ext cx="1905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3300"/>
                </a:solidFill>
              </a:rPr>
              <a:t>E.falselist</a:t>
            </a:r>
            <a:endParaRPr lang="en-US" altLang="zh-CN" sz="2000">
              <a:solidFill>
                <a:srgbClr val="FF3300"/>
              </a:solidFill>
            </a:endParaRPr>
          </a:p>
        </p:txBody>
      </p:sp>
      <p:sp>
        <p:nvSpPr>
          <p:cNvPr id="59400" name="Freeform 8"/>
          <p:cNvSpPr/>
          <p:nvPr/>
        </p:nvSpPr>
        <p:spPr bwMode="ltGray">
          <a:xfrm>
            <a:off x="2855913" y="5105400"/>
            <a:ext cx="3081337" cy="395288"/>
          </a:xfrm>
          <a:custGeom>
            <a:avLst/>
            <a:gdLst>
              <a:gd name="T0" fmla="*/ 2147483646 w 1941"/>
              <a:gd name="T1" fmla="*/ 0 h 249"/>
              <a:gd name="T2" fmla="*/ 0 w 1941"/>
              <a:gd name="T3" fmla="*/ 2147483646 h 249"/>
              <a:gd name="T4" fmla="*/ 0 60000 65536"/>
              <a:gd name="T5" fmla="*/ 0 60000 65536"/>
              <a:gd name="T6" fmla="*/ 0 w 1941"/>
              <a:gd name="T7" fmla="*/ 0 h 249"/>
              <a:gd name="T8" fmla="*/ 1941 w 1941"/>
              <a:gd name="T9" fmla="*/ 249 h 24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941" h="249">
                <a:moveTo>
                  <a:pt x="1941" y="0"/>
                </a:moveTo>
                <a:lnTo>
                  <a:pt x="0" y="249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01" name="Freeform 9"/>
          <p:cNvSpPr/>
          <p:nvPr/>
        </p:nvSpPr>
        <p:spPr bwMode="ltGray">
          <a:xfrm>
            <a:off x="2897188" y="5181600"/>
            <a:ext cx="2970212" cy="993775"/>
          </a:xfrm>
          <a:custGeom>
            <a:avLst/>
            <a:gdLst>
              <a:gd name="T0" fmla="*/ 2147483646 w 1871"/>
              <a:gd name="T1" fmla="*/ 0 h 626"/>
              <a:gd name="T2" fmla="*/ 0 w 1871"/>
              <a:gd name="T3" fmla="*/ 2147483646 h 626"/>
              <a:gd name="T4" fmla="*/ 0 60000 65536"/>
              <a:gd name="T5" fmla="*/ 0 60000 65536"/>
              <a:gd name="T6" fmla="*/ 0 w 1871"/>
              <a:gd name="T7" fmla="*/ 0 h 626"/>
              <a:gd name="T8" fmla="*/ 1871 w 1871"/>
              <a:gd name="T9" fmla="*/ 626 h 62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871" h="626">
                <a:moveTo>
                  <a:pt x="1871" y="0"/>
                </a:moveTo>
                <a:lnTo>
                  <a:pt x="0" y="626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8.6.2  </a:t>
            </a:r>
            <a:r>
              <a:rPr lang="zh-CN" altLang="en-US"/>
              <a:t>控制流语句的翻译</a:t>
            </a:r>
            <a:endParaRPr lang="zh-CN" altLang="en-US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S→</a:t>
            </a:r>
            <a:r>
              <a:rPr lang="en-US" altLang="zh-CN" sz="2000" b="1"/>
              <a:t>if</a:t>
            </a:r>
            <a:r>
              <a:rPr lang="en-US" altLang="zh-CN" sz="2000"/>
              <a:t> E </a:t>
            </a:r>
            <a:r>
              <a:rPr lang="en-US" altLang="zh-CN" sz="2000" b="1"/>
              <a:t>then</a:t>
            </a:r>
            <a:r>
              <a:rPr lang="en-US" altLang="zh-CN" sz="2000"/>
              <a:t> M</a:t>
            </a:r>
            <a:r>
              <a:rPr lang="en-US" altLang="zh-CN" sz="2000" baseline="-25000"/>
              <a:t>1</a:t>
            </a:r>
            <a:r>
              <a:rPr lang="en-US" altLang="zh-CN" sz="2000"/>
              <a:t> S</a:t>
            </a:r>
            <a:r>
              <a:rPr lang="en-US" altLang="zh-CN" sz="2000" baseline="-25000"/>
              <a:t>1</a:t>
            </a:r>
            <a:r>
              <a:rPr lang="en-US" altLang="zh-CN" sz="2000"/>
              <a:t> N </a:t>
            </a:r>
            <a:r>
              <a:rPr lang="en-US" altLang="zh-CN" sz="2000" b="1"/>
              <a:t>else</a:t>
            </a:r>
            <a:r>
              <a:rPr lang="en-US" altLang="zh-CN" sz="2000"/>
              <a:t> M</a:t>
            </a:r>
            <a:r>
              <a:rPr lang="en-US" altLang="zh-CN" sz="2000" baseline="-25000"/>
              <a:t>2</a:t>
            </a:r>
            <a:r>
              <a:rPr lang="en-US" altLang="zh-CN" sz="2000"/>
              <a:t> S</a:t>
            </a:r>
            <a:r>
              <a:rPr lang="en-US" altLang="zh-CN" sz="2000" baseline="-25000"/>
              <a:t>2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{ backpatch(E.truelist, M</a:t>
            </a:r>
            <a:r>
              <a:rPr lang="en-US" altLang="zh-CN" sz="2000" baseline="-25000"/>
              <a:t>1</a:t>
            </a:r>
            <a:r>
              <a:rPr lang="en-US" altLang="zh-CN" sz="2000"/>
              <a:t>.quad); 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   backpatch(E.falselist, M</a:t>
            </a:r>
            <a:r>
              <a:rPr lang="en-US" altLang="zh-CN" sz="2000" baseline="-25000"/>
              <a:t>2</a:t>
            </a:r>
            <a:r>
              <a:rPr lang="en-US" altLang="zh-CN" sz="2000"/>
              <a:t>.quad);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   S.nextlist = merge(S</a:t>
            </a:r>
            <a:r>
              <a:rPr lang="en-US" altLang="zh-CN" sz="2000" baseline="-25000"/>
              <a:t>1</a:t>
            </a:r>
            <a:r>
              <a:rPr lang="en-US" altLang="zh-CN" sz="2000"/>
              <a:t>.nextlist, merge(N.nextlist, S</a:t>
            </a:r>
            <a:r>
              <a:rPr lang="en-US" altLang="zh-CN" sz="2000" baseline="-25000"/>
              <a:t>2</a:t>
            </a:r>
            <a:r>
              <a:rPr lang="en-US" altLang="zh-CN" sz="2000"/>
              <a:t>.nextlist)); }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N→</a:t>
            </a:r>
            <a:r>
              <a:rPr lang="en-US" altLang="zh-CN" sz="2000">
                <a:latin typeface="Symbol" panose="05050102010706020507" pitchFamily="18" charset="2"/>
              </a:rPr>
              <a:t>e</a:t>
            </a:r>
            <a:r>
              <a:rPr lang="en-US" altLang="zh-CN" sz="2000"/>
              <a:t>	{ N.nextlist = makelist(nextquad); emit(‘goto _’); }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M→</a:t>
            </a:r>
            <a:r>
              <a:rPr lang="en-US" altLang="zh-CN" sz="2000">
                <a:latin typeface="Symbol" panose="05050102010706020507" pitchFamily="18" charset="2"/>
              </a:rPr>
              <a:t>e</a:t>
            </a:r>
            <a:r>
              <a:rPr lang="en-US" altLang="zh-CN" sz="2000"/>
              <a:t>	{ M.quad = nextquad; }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S→</a:t>
            </a:r>
            <a:r>
              <a:rPr lang="en-US" altLang="zh-CN" sz="2000" b="1"/>
              <a:t>while</a:t>
            </a:r>
            <a:r>
              <a:rPr lang="en-US" altLang="zh-CN" sz="2000"/>
              <a:t> M</a:t>
            </a:r>
            <a:r>
              <a:rPr lang="en-US" altLang="zh-CN" sz="2000" baseline="-25000"/>
              <a:t>1</a:t>
            </a:r>
            <a:r>
              <a:rPr lang="en-US" altLang="zh-CN" sz="2000"/>
              <a:t> E </a:t>
            </a:r>
            <a:r>
              <a:rPr lang="en-US" altLang="zh-CN" sz="2000" b="1"/>
              <a:t>do</a:t>
            </a:r>
            <a:r>
              <a:rPr lang="en-US" altLang="zh-CN" sz="2000"/>
              <a:t> M</a:t>
            </a:r>
            <a:r>
              <a:rPr lang="en-US" altLang="zh-CN" sz="2000" baseline="-25000"/>
              <a:t>2</a:t>
            </a:r>
            <a:r>
              <a:rPr lang="en-US" altLang="zh-CN" sz="2000"/>
              <a:t> S</a:t>
            </a:r>
            <a:r>
              <a:rPr lang="en-US" altLang="zh-CN" sz="2000" baseline="-25000"/>
              <a:t>1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{ backpatch(S</a:t>
            </a:r>
            <a:r>
              <a:rPr lang="en-US" altLang="zh-CN" sz="2000" baseline="-25000"/>
              <a:t>1</a:t>
            </a:r>
            <a:r>
              <a:rPr lang="en-US" altLang="zh-CN" sz="2000"/>
              <a:t>.nextlist, M</a:t>
            </a:r>
            <a:r>
              <a:rPr lang="en-US" altLang="zh-CN" sz="2000" baseline="-25000"/>
              <a:t>1</a:t>
            </a:r>
            <a:r>
              <a:rPr lang="en-US" altLang="zh-CN" sz="2000"/>
              <a:t>.quad);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   backpatch(E.truelist, M</a:t>
            </a:r>
            <a:r>
              <a:rPr lang="en-US" altLang="zh-CN" sz="2000" baseline="-25000"/>
              <a:t>2</a:t>
            </a:r>
            <a:r>
              <a:rPr lang="en-US" altLang="zh-CN" sz="2000"/>
              <a:t>.quad);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   S.nextlist = E.falselist;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   emit(‘goto’ M</a:t>
            </a:r>
            <a:r>
              <a:rPr lang="en-US" altLang="zh-CN" sz="2000" baseline="-25000"/>
              <a:t>1</a:t>
            </a:r>
            <a:r>
              <a:rPr lang="en-US" altLang="zh-CN" sz="2000"/>
              <a:t>.quad); }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S→</a:t>
            </a:r>
            <a:r>
              <a:rPr lang="en-US" altLang="zh-CN" sz="2000" b="1"/>
              <a:t>begin</a:t>
            </a:r>
            <a:r>
              <a:rPr lang="en-US" altLang="zh-CN" sz="2000"/>
              <a:t> L </a:t>
            </a:r>
            <a:r>
              <a:rPr lang="en-US" altLang="zh-CN" sz="2000" b="1"/>
              <a:t>end</a:t>
            </a:r>
            <a:r>
              <a:rPr lang="en-US" altLang="zh-CN" sz="2000"/>
              <a:t>	{ S.nextlist = L.nextlist; }</a:t>
            </a:r>
            <a:endParaRPr lang="en-US" altLang="zh-CN" sz="20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控制流语句的翻译（续）</a:t>
            </a:r>
            <a:endParaRPr lang="zh-CN" altLang="en-US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S→A	{ S.nextlist = </a:t>
            </a:r>
            <a:r>
              <a:rPr lang="en-US" altLang="zh-CN" sz="2000" b="1"/>
              <a:t>null</a:t>
            </a:r>
            <a:r>
              <a:rPr lang="en-US" altLang="zh-CN" sz="2000"/>
              <a:t>; }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L→L</a:t>
            </a:r>
            <a:r>
              <a:rPr lang="en-US" altLang="zh-CN" sz="2000" baseline="-25000"/>
              <a:t>1</a:t>
            </a:r>
            <a:r>
              <a:rPr lang="en-US" altLang="zh-CN" sz="2000"/>
              <a:t> ; M S	{ backpatch(L</a:t>
            </a:r>
            <a:r>
              <a:rPr lang="en-US" altLang="zh-CN" sz="2000" baseline="-25000"/>
              <a:t>1</a:t>
            </a:r>
            <a:r>
              <a:rPr lang="en-US" altLang="zh-CN" sz="2000"/>
              <a:t>.nextlist, M.quad);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   L.nextlist = S.nextlist; }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L→S	{ L.nextlist = S.nextlist; }</a:t>
            </a:r>
            <a:endParaRPr lang="en-US" altLang="zh-CN" sz="20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8.7  </a:t>
            </a:r>
            <a:r>
              <a:rPr lang="zh-CN" altLang="en-US"/>
              <a:t>过程调用的翻译</a:t>
            </a:r>
            <a:endParaRPr lang="zh-CN" altLang="en-US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</p:spPr>
        <p:txBody>
          <a:bodyPr/>
          <a:lstStyle/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S→ </a:t>
            </a:r>
            <a:r>
              <a:rPr lang="en-US" altLang="zh-CN" sz="2400" b="1"/>
              <a:t>call</a:t>
            </a:r>
            <a:r>
              <a:rPr lang="en-US" altLang="zh-CN" sz="2400"/>
              <a:t> </a:t>
            </a:r>
            <a:r>
              <a:rPr lang="en-US" altLang="zh-CN" sz="2400" b="1"/>
              <a:t>id</a:t>
            </a:r>
            <a:r>
              <a:rPr lang="en-US" altLang="zh-CN" sz="2400"/>
              <a:t> ( Elist )</a:t>
            </a:r>
            <a:endParaRPr lang="en-US" altLang="zh-CN" sz="24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Elist→Elist , E</a:t>
            </a:r>
            <a:endParaRPr lang="en-US" altLang="zh-CN" sz="24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Elist→E</a:t>
            </a:r>
            <a:endParaRPr lang="en-US" altLang="zh-CN" sz="24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</a:pPr>
            <a:r>
              <a:rPr lang="zh-CN" altLang="en-US" sz="2800"/>
              <a:t>调用序列</a:t>
            </a:r>
            <a:endParaRPr lang="zh-CN" altLang="en-US" sz="2800"/>
          </a:p>
          <a:p>
            <a:pPr lvl="1" eaLnBrk="1" hangingPunct="1">
              <a:lnSpc>
                <a:spcPct val="85000"/>
              </a:lnSpc>
              <a:spcBef>
                <a:spcPct val="10000"/>
              </a:spcBef>
            </a:pPr>
            <a:r>
              <a:rPr lang="zh-CN" altLang="en-US" sz="2400"/>
              <a:t>为被调用过程活动记录分配内存</a:t>
            </a:r>
            <a:endParaRPr lang="zh-CN" altLang="en-US" sz="2400"/>
          </a:p>
          <a:p>
            <a:pPr lvl="1" eaLnBrk="1" hangingPunct="1">
              <a:lnSpc>
                <a:spcPct val="85000"/>
              </a:lnSpc>
              <a:spcBef>
                <a:spcPct val="10000"/>
              </a:spcBef>
            </a:pPr>
            <a:r>
              <a:rPr lang="zh-CN" altLang="en-US" sz="2400"/>
              <a:t>计算参数值，传递给被调用过程</a:t>
            </a:r>
            <a:endParaRPr lang="zh-CN" altLang="en-US" sz="2400"/>
          </a:p>
          <a:p>
            <a:pPr lvl="1" eaLnBrk="1" hangingPunct="1">
              <a:lnSpc>
                <a:spcPct val="85000"/>
              </a:lnSpc>
              <a:spcBef>
                <a:spcPct val="10000"/>
              </a:spcBef>
            </a:pPr>
            <a:r>
              <a:rPr lang="zh-CN" altLang="en-US" sz="2400"/>
              <a:t>保存调用过程状态，保存返回地址</a:t>
            </a:r>
            <a:endParaRPr lang="zh-CN" altLang="en-US" sz="2400"/>
          </a:p>
          <a:p>
            <a:pPr lvl="1" eaLnBrk="1" hangingPunct="1">
              <a:lnSpc>
                <a:spcPct val="85000"/>
              </a:lnSpc>
              <a:spcBef>
                <a:spcPct val="10000"/>
              </a:spcBef>
            </a:pPr>
            <a:r>
              <a:rPr lang="zh-CN" altLang="en-US" sz="2400"/>
              <a:t>生成转移语句</a:t>
            </a:r>
            <a:r>
              <a:rPr lang="zh-CN" altLang="en-US" sz="2400">
                <a:sym typeface="Wingdings" panose="05000000000000000000" pitchFamily="2" charset="2"/>
              </a:rPr>
              <a:t>被调用过程</a:t>
            </a:r>
            <a:endParaRPr lang="zh-CN" altLang="en-US" sz="2400">
              <a:sym typeface="Wingdings" panose="05000000000000000000" pitchFamily="2" charset="2"/>
            </a:endParaRPr>
          </a:p>
          <a:p>
            <a:pPr eaLnBrk="1" hangingPunct="1">
              <a:lnSpc>
                <a:spcPct val="85000"/>
              </a:lnSpc>
              <a:spcBef>
                <a:spcPct val="10000"/>
              </a:spcBef>
            </a:pPr>
            <a:r>
              <a:rPr lang="zh-CN" altLang="en-US" sz="2800"/>
              <a:t>返回序列</a:t>
            </a:r>
            <a:endParaRPr lang="zh-CN" altLang="en-US" sz="2800"/>
          </a:p>
          <a:p>
            <a:pPr lvl="1" eaLnBrk="1" hangingPunct="1">
              <a:lnSpc>
                <a:spcPct val="85000"/>
              </a:lnSpc>
              <a:spcBef>
                <a:spcPct val="10000"/>
              </a:spcBef>
            </a:pPr>
            <a:r>
              <a:rPr lang="zh-CN" altLang="en-US" sz="2400"/>
              <a:t>返回值传递给调用过程</a:t>
            </a:r>
            <a:endParaRPr lang="zh-CN" altLang="en-US" sz="2400"/>
          </a:p>
          <a:p>
            <a:pPr lvl="1" eaLnBrk="1" hangingPunct="1">
              <a:lnSpc>
                <a:spcPct val="85000"/>
              </a:lnSpc>
              <a:spcBef>
                <a:spcPct val="10000"/>
              </a:spcBef>
            </a:pPr>
            <a:r>
              <a:rPr lang="zh-CN" altLang="en-US" sz="2400"/>
              <a:t>恢复调用过程的活动记录</a:t>
            </a:r>
            <a:endParaRPr lang="zh-CN" altLang="en-US" sz="2400"/>
          </a:p>
          <a:p>
            <a:pPr lvl="1" eaLnBrk="1" hangingPunct="1">
              <a:lnSpc>
                <a:spcPct val="85000"/>
              </a:lnSpc>
              <a:spcBef>
                <a:spcPct val="10000"/>
              </a:spcBef>
            </a:pPr>
            <a:r>
              <a:rPr lang="zh-CN" altLang="en-US" sz="2400"/>
              <a:t>跳转回返回地址</a:t>
            </a:r>
            <a:endParaRPr lang="zh-CN" altLang="en-US" sz="24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简单例子</a:t>
            </a:r>
            <a:endParaRPr lang="zh-CN" altLang="en-US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参数传地址方式，内存静态分配</a:t>
            </a:r>
            <a:endParaRPr lang="zh-CN" altLang="en-US"/>
          </a:p>
          <a:p>
            <a:pPr lvl="1" eaLnBrk="1" hangingPunct="1"/>
            <a:r>
              <a:rPr lang="en-US" altLang="zh-CN"/>
              <a:t>param</a:t>
            </a:r>
            <a:r>
              <a:rPr lang="zh-CN" altLang="en-US"/>
              <a:t>语句</a:t>
            </a:r>
            <a:r>
              <a:rPr lang="en-US" altLang="zh-CN"/>
              <a:t>——</a:t>
            </a:r>
            <a:r>
              <a:rPr lang="zh-CN" altLang="en-US"/>
              <a:t>参数的占位符</a:t>
            </a:r>
            <a:endParaRPr lang="zh-CN" altLang="en-US"/>
          </a:p>
          <a:p>
            <a:pPr lvl="1" eaLnBrk="1" hangingPunct="1"/>
            <a:r>
              <a:rPr lang="zh-CN" altLang="en-US"/>
              <a:t>第一个</a:t>
            </a:r>
            <a:r>
              <a:rPr lang="en-US" altLang="zh-CN"/>
              <a:t>param</a:t>
            </a:r>
            <a:r>
              <a:rPr lang="zh-CN" altLang="en-US"/>
              <a:t>语句指针传递给被调用过程</a:t>
            </a:r>
            <a:endParaRPr lang="zh-CN" altLang="en-US"/>
          </a:p>
          <a:p>
            <a:pPr lvl="1" eaLnBrk="1" hangingPunct="1"/>
            <a:r>
              <a:rPr lang="zh-CN" altLang="en-US"/>
              <a:t>调用序列</a:t>
            </a:r>
            <a:endParaRPr lang="zh-CN" altLang="en-US"/>
          </a:p>
          <a:p>
            <a:pPr lvl="2" eaLnBrk="1" hangingPunct="1"/>
            <a:r>
              <a:rPr lang="zh-CN" altLang="en-US"/>
              <a:t>计算参数</a:t>
            </a:r>
            <a:endParaRPr lang="zh-CN" altLang="en-US"/>
          </a:p>
          <a:p>
            <a:pPr lvl="2" eaLnBrk="1" hangingPunct="1"/>
            <a:r>
              <a:rPr lang="en-US" altLang="zh-CN"/>
              <a:t>param</a:t>
            </a:r>
            <a:r>
              <a:rPr lang="zh-CN" altLang="en-US"/>
              <a:t>语句列表</a:t>
            </a:r>
            <a:r>
              <a:rPr lang="en-US" altLang="zh-CN"/>
              <a:t>——</a:t>
            </a:r>
            <a:r>
              <a:rPr lang="zh-CN" altLang="en-US"/>
              <a:t>罗列参数</a:t>
            </a:r>
            <a:endParaRPr lang="zh-CN" altLang="en-US"/>
          </a:p>
          <a:p>
            <a:pPr lvl="2" eaLnBrk="1" hangingPunct="1"/>
            <a:r>
              <a:rPr lang="zh-CN" altLang="en-US"/>
              <a:t>所有参数表达式</a:t>
            </a:r>
            <a:r>
              <a:rPr lang="en-US" altLang="zh-CN"/>
              <a:t>place</a:t>
            </a:r>
            <a:r>
              <a:rPr lang="zh-CN" altLang="en-US"/>
              <a:t>属性保存在队列</a:t>
            </a:r>
            <a:r>
              <a:rPr lang="en-US" altLang="zh-CN"/>
              <a:t>queue</a:t>
            </a:r>
            <a:r>
              <a:rPr lang="zh-CN" altLang="en-US"/>
              <a:t>中</a:t>
            </a:r>
            <a:endParaRPr lang="zh-CN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简单例子（续）</a:t>
            </a:r>
            <a:endParaRPr lang="zh-CN" altLang="en-US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翻译模式</a:t>
            </a:r>
            <a:endParaRPr lang="zh-CN" altLang="en-US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S→</a:t>
            </a:r>
            <a:r>
              <a:rPr lang="en-US" altLang="zh-CN" b="1"/>
              <a:t>call</a:t>
            </a:r>
            <a:r>
              <a:rPr lang="en-US" altLang="zh-CN"/>
              <a:t> </a:t>
            </a:r>
            <a:r>
              <a:rPr lang="en-US" altLang="zh-CN" b="1"/>
              <a:t>id</a:t>
            </a:r>
            <a:r>
              <a:rPr lang="en-US" altLang="zh-CN"/>
              <a:t> ( Elist )</a:t>
            </a:r>
            <a:endParaRPr lang="en-US" altLang="zh-CN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			{ for queue</a:t>
            </a:r>
            <a:r>
              <a:rPr lang="zh-CN" altLang="en-US"/>
              <a:t>中每个项</a:t>
            </a:r>
            <a:r>
              <a:rPr lang="en-US" altLang="zh-CN"/>
              <a:t>p do</a:t>
            </a:r>
            <a:endParaRPr lang="en-US" altLang="zh-CN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				emit(‘param’ p);</a:t>
            </a:r>
            <a:endParaRPr lang="en-US" altLang="zh-CN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			   emit(‘call’ id.place); }</a:t>
            </a:r>
            <a:endParaRPr lang="en-US" altLang="zh-CN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Elist→Elist , E { </a:t>
            </a:r>
            <a:r>
              <a:rPr lang="zh-CN" altLang="en-US"/>
              <a:t>将</a:t>
            </a:r>
            <a:r>
              <a:rPr lang="en-US" altLang="zh-CN"/>
              <a:t>E.place</a:t>
            </a:r>
            <a:r>
              <a:rPr lang="zh-CN" altLang="en-US"/>
              <a:t>添加到</a:t>
            </a:r>
            <a:r>
              <a:rPr lang="en-US" altLang="zh-CN"/>
              <a:t>queue</a:t>
            </a:r>
            <a:r>
              <a:rPr lang="zh-CN" altLang="en-US"/>
              <a:t>尾部</a:t>
            </a:r>
            <a:r>
              <a:rPr lang="en-US" altLang="zh-CN"/>
              <a:t>; }</a:t>
            </a:r>
            <a:endParaRPr lang="en-US" altLang="zh-CN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Elist→E	{ </a:t>
            </a:r>
            <a:r>
              <a:rPr lang="zh-CN" altLang="en-US"/>
              <a:t>初始化</a:t>
            </a:r>
            <a:r>
              <a:rPr lang="en-US" altLang="zh-CN"/>
              <a:t>queue</a:t>
            </a:r>
            <a:r>
              <a:rPr lang="zh-CN" altLang="en-US"/>
              <a:t>，仅包含</a:t>
            </a:r>
            <a:r>
              <a:rPr lang="en-US" altLang="zh-CN"/>
              <a:t>E.place; }</a:t>
            </a:r>
            <a:endParaRPr lang="en-US" altLang="zh-CN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递归遍历语法树生成代码</a:t>
            </a:r>
            <a:endParaRPr lang="zh-CN" altLang="en-US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void tree::gen_code(ostream &amp;out)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{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gen_header(out);		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生成汇编程序头部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Node *p = root-&gt;children[0];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if (p-&gt;kind == DECL_NODE)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gen_decl(out, p);		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生成变量声明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endl &lt;&lt; endl &lt;&lt; "\t.code" &lt;&lt; endl;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recursive_gen_code(out, root);	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汇编程序生成递归函数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if (root-&gt;label.next_label != "")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out &lt;&lt; root-&gt;label.next_label &lt;&lt; ":" &lt;&lt; endl;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"\tinvoke ExitProcess, 0" &lt;&lt; endl;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"end " &lt;&lt; root-&gt;label.begin_label &lt;&lt; endl;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}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打印程序头部</a:t>
            </a:r>
            <a:endParaRPr lang="zh-CN" alt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void tree::gen_header(ostream &amp;out)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{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"\t.586" &lt;&lt; endl;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"\t.model flat, stdcall" &lt;&lt; endl;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"\toption casemap :none" &lt;&lt; endl;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endl;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"\tinclude \\masm32\\include\\windows.inc" &lt;&lt; endl;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"\tinclude \\masm32\\include\\user32.inc" &lt;&lt; endl;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"\tinclude \\masm32\\include\\kernel32.inc" &lt;&lt; endl;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"\tinclude \\masm32\\include\\masm32.inc" &lt;&lt; endl;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endl;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"\tincludelib \\masm32\\lib\\user32.lib" &lt;&lt; endl;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"\tincludelib \\masm32\\lib\\kernel32.lib" &lt;&lt; endl;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"\tincludelib \\masm32\\lib\\masm32.lib" &lt;&lt; endl;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}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变量声明</a:t>
            </a:r>
            <a:endParaRPr lang="zh-CN" alt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void tree::gen_decl(ostream &amp;out, Node *t)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{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endl &lt;&lt; endl &lt;&lt; "\t.data" &lt;&lt; endl;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for (; t-&gt;kind == DECL_NODE; t = t-&gt;sibling)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{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for (Node *p = t-&gt;children[1]; p; p = p-&gt;sibling)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  if (p-&gt;type == Integer)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    out &lt;&lt; “\t\t_” &lt;&lt; symtbl.getname(p-&gt;attr.symtbl_seq) &lt;&lt; “ DWORD 0” &lt;&lt; endl;		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“</a:t>
            </a: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_”+C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源程序变量名</a:t>
            </a:r>
            <a:r>
              <a:rPr lang="en-US" altLang="zh-CN" sz="1800">
                <a:latin typeface="Arial Unicode MS" pitchFamily="34" charset="-122"/>
                <a:ea typeface="Arial Unicode MS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  <a:sym typeface="Wingdings" panose="05000000000000000000" pitchFamily="2" charset="2"/>
              </a:rPr>
              <a:t>汇编程序变量名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  else if (p-&gt;type == Char)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    out &lt;&lt; "\t\t_" &lt;&lt; symtbl.getname(p-&gt;attr.symtbl_seq) &lt;&lt; " BYTE 0" &lt;&lt; endl;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}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变量声明（续）</a:t>
            </a:r>
            <a:endParaRPr lang="zh-CN" altLang="en-US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for (int i = 0; i &lt; temp_var_seq; i++)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声明临时变量（“</a:t>
            </a: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t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”</a:t>
            </a: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+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编号）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{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out &lt;&lt; "\t\tt" &lt;&lt;  i &lt;&lt; " DWORD 0" &lt;&lt; endl;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}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"\t\tbuffer BYTE 128 dup(0)" &lt;&lt; endl;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"\t\tLF BYTE 13, 10, 0" &lt;&lt; endl;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}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递归代码生成函数入口</a:t>
            </a:r>
            <a:endParaRPr lang="zh-CN" alt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void tree::recursive_gen_code(ostream &amp;out, Node *t)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{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if (t-&gt;kind == STMT_NODE)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{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stmt_gen_code(out, t);	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生成语句的汇编码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}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else if (t-&gt;kind == EXPR_NODE &amp;&amp; (t-&gt;kind_kind == OP_EXPR || t-&gt;kind_kind == NOT_EXPR))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{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expr_gen_code(out, t);	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生成表达式的汇编码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}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}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表达式代码生成</a:t>
            </a:r>
            <a:endParaRPr lang="zh-CN" altLang="en-US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void tree::expr_gen_code(ostream &amp;out, Node *t)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{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Node *e1 = t-&gt;children[0];	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第一个运算对象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Node *e2 = t-&gt;children[1];	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第二个运算对象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switch (t-&gt;attr.op)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{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case PLUS:		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加法表达式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out &lt;&lt; “\tMOV eax, ”;	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取出第一个运算对象到</a:t>
            </a: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eax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if (e1-&gt;kind_kind == ID_EXPR)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变量打印名字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  out &lt;&lt; "_" &lt;&lt; symtbl.getname(e1-&gt;attr.symtbl_seq);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else if (e1-&gt;kind_kind == CONST_EXPR)	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常量打印数值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  out &lt;&lt; e1-&gt;attr.vali;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else out &lt;&lt; “t” &lt;&lt; e1-&gt;temp_var;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运算表达式打印中间结果临时变量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out &lt;&lt; endl;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out &lt;&lt; “\tADD eax, ”;		// eax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与第二个运算对象进行加法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表达式代码生成（续）</a:t>
            </a:r>
            <a:endParaRPr lang="zh-CN" altLang="en-US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if (e2-&gt;kind_kind == ID_EXPR)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  out &lt;&lt; "_" &lt;&lt; symtbl.getname(e2-&gt;attr.symtbl_seq);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else if (e2-&gt;kind_kind == CONST_EXPR)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  out &lt;&lt; e2-&gt;attr.vali;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else out &lt;&lt; "t" &lt;&lt; e2-&gt;temp_var;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out &lt;&lt; endl;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out &lt;&lt; “\tMOV t” &lt;&lt; t-&gt;temp_var &lt;&lt; “, eax” &lt;&lt; endl;	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保存结果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break;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表达式代码生成（续）</a:t>
            </a:r>
            <a:endParaRPr lang="zh-CN" altLang="en-US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case LT: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out &lt;&lt; "\tMOV eax, ";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if (e1-&gt;kind_kind == ID_EXPR)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  out &lt;&lt; "_" &lt;&lt; symtbl.getname(e1-&gt;attr.symtbl_seq);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else if (e1-&gt;kind_kind == CONST_EXPR)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  out &lt;&lt; e1-&gt;attr.vali;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else out &lt;&lt; "t" &lt;&lt; e1-&gt;temp_var;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out &lt;&lt; endl;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out &lt;&lt; "\tCMP eax, ";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if (e2-&gt;kind_kind == ID_EXPR)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  out &lt;&lt; "_" &lt;&lt; symtbl.getname(e2-&gt;attr.symtbl_seq);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else if (e2-&gt;kind_kind == CONST_EXPR)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  out &lt;&lt; e2-&gt;attr.vali;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else out &lt;&lt; "t" &lt;&lt; e2-&gt;temp_var;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out &lt;&lt; endl;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out &lt;&lt; “\tjl ” &lt;&lt; t-&gt;label.true_label &lt;&lt; endl;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跳转到真值出口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out &lt;&lt; “\tjmp ” &lt;&lt; t-&gt;label.false_label &lt;&lt; endl;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跳转到假值出口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break;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语句代码生成</a:t>
            </a:r>
            <a:endParaRPr lang="zh-CN" altLang="en-US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void tree::stmt_gen_code(ostream &amp;out, Node *t)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{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if (t-&gt;kind_kind == COMP_STMT)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{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for (int i = 0; t-&gt;children[i]; i++)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{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  recursive_gen_code(out, t-&gt;children[i]);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  for (Node *p = t-&gt;children[i]-&gt;sibling; p; p = p-&gt;sibling)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    recursive_gen_code(out, p);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}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}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语句代码生成（续）</a:t>
            </a:r>
            <a:endParaRPr lang="zh-CN" alt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else if (t-&gt;kind_kind == WHILE_STMT)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{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if (t-&gt;label.begin_label != “”)	// while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循环开始标号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  out &lt;&lt; t-&gt;label.begin_label &lt;&lt; ":" &lt;&lt; endl;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recursive_gen_code(out, t-&gt;children[0]);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生成布尔表达式代码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recursive_gen_code(out, t-&gt;children[1]);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生成循环体代码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out &lt;&lt; “\tjmp ” &lt;&lt; t-&gt;label.begin_label &lt;&lt; endl; 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跳转到循环开始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}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语句代码生成（续）</a:t>
            </a:r>
            <a:endParaRPr lang="zh-CN" altLang="en-US"/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void tree::get_temp_var(Node *t)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{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if (t-&gt;kind != EXPR_NODE)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	return;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if (t-&gt;attr.op &lt; PLUS || t-&gt;attr.op &gt; OVER)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	return;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Node *arg1 = t-&gt;children[0];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Node *arg2 = t-&gt;children[1];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临时变量重用（收回不用的临时变量）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if (arg1-&gt;kind_kind == OP_EXPR)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	temp_var_seq--;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if (arg2 &amp;&amp; arg2-&gt;kind_kind == OP_EXPR)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	tree::temp_var_seq--;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t-&gt;temp_var = tree::temp_var_seq;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分配临时变量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tree::temp_var_seq++;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}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语句代码生成（续）</a:t>
            </a:r>
            <a:endParaRPr lang="zh-CN" altLang="en-US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71575" y="1341438"/>
            <a:ext cx="7772400" cy="4724400"/>
          </a:xfrm>
        </p:spPr>
        <p:txBody>
          <a:bodyPr/>
          <a:lstStyle/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void tree::stmt_get_label(Node *t)	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为语句生成标号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{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switch (t-&gt;kind_kind)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{ …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case WHILE_STMT: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{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Node *e = t-&gt;children[0];	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循环判定条件</a:t>
            </a: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——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布尔表达式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Node *s = t-&gt;children[1];	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循环体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if (t-&gt;label.begin_label == "")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  t-&gt;label.begin_label = new_label();	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生成循环开始标号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s-&gt;label.next_label = t-&gt;label.begin_label;	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循环体的“下一条语句”是循环开始标号</a:t>
            </a: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——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继续循环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s-&gt;label.begin_label = e-&gt;label.true_label = new_label();  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生成循环体开始标号</a:t>
            </a: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——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也是循环条件真值出口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if (t-&gt;label.next_label == "")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  t-&gt;label.next_label = new_label();		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生成整个循环的下一条语句标号（循环结束）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e-&gt;label.false_label = t-&gt;label.next_label;	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循环条件假值出口即循环结束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if (t-&gt;sibling)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  t-&gt;sibling-&gt;label.begin_label = t-&gt;label.next_label;  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兄弟结点的开始标号即这条语句的下一个标号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recursive_get_label(e);		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递归地生成布尔表达式内标号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recursive_get_label(s);		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递归地生成循环体内标号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}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}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}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</p:txBody>
      </p:sp>
      <p:sp>
        <p:nvSpPr>
          <p:cNvPr id="76804" name="矩形 1"/>
          <p:cNvSpPr>
            <a:spLocks noChangeArrowheads="1"/>
          </p:cNvSpPr>
          <p:nvPr/>
        </p:nvSpPr>
        <p:spPr bwMode="auto">
          <a:xfrm>
            <a:off x="4716463" y="1700213"/>
            <a:ext cx="287972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 eaLnBrk="1" hangingPunct="1">
              <a:lnSpc>
                <a:spcPct val="114000"/>
              </a:lnSpc>
            </a:pPr>
            <a:r>
              <a:rPr lang="zh-CN" altLang="en-US" sz="200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</a:rPr>
              <a:t>显然，标号是继承属性</a:t>
            </a:r>
            <a:endParaRPr lang="en-US" altLang="zh-CN" sz="2000">
              <a:solidFill>
                <a:srgbClr val="FF0000"/>
              </a:solidFill>
              <a:latin typeface="Arial Unicode MS" pitchFamily="34" charset="-122"/>
              <a:ea typeface="Arial Unicode MS" pitchFamily="34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语句代码生成（续）</a:t>
            </a:r>
            <a:endParaRPr lang="zh-CN" altLang="en-US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71575" y="1341438"/>
            <a:ext cx="7772400" cy="4724400"/>
          </a:xfrm>
        </p:spPr>
        <p:txBody>
          <a:bodyPr/>
          <a:lstStyle/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void tree::expr_get_label(Node *t)	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布尔表达式生成标号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{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if (t-&gt;type != Boolean)	return;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Node *e1 = t-&gt;children[0];		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第一子表达式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Node *e2 = t-&gt;children[1];		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第二子表达式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switch (t-&gt;attr.op)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{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case AND: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e1-&gt;label.true_label = new_label();	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子表达式一为真，跳转到子表达式二代码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e2-&gt;label.true_label = t-&gt;label.true_label;  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子表达式二也为真，与操作结果为真</a:t>
            </a: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——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真值出口是相同标号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e1-&gt;label.false_label = e2-&gt;label.false_label = t-&gt;label.false_label;  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三者假值出口是相同标号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break;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case OR: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e1-&gt;label.false_label = new_label();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e2-&gt;label.false_label = t-&gt;label.false_label;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e1-&gt;label.true_label = e2-&gt;label.true_label = t-&gt;label.true_label;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break;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case NOT: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e1-&gt;label.true_label = t-&gt;label.false_label;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e1-&gt;label.false_label = t-&gt;label.true_label;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break;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}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if (e1)  recursive_get_label(e1);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if (e2)  recursive_get_label(e2);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}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语句代码生成（续）</a:t>
            </a:r>
            <a:endParaRPr lang="zh-CN" altLang="en-US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int main(int argc, char *argv[])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{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int n = 1;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lexer lexer;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parser parser;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if (parser.yycreate(&amp;lexer)) {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	if (lexer.yycreate(&amp;parser)) {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		lexer.yyin = new ifstream(argv[1]);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		lexer.yyout = new ofstream(argv[2]);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		n = parser.yyparse();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		parse_tree.get_label();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		parse_tree.gen_code(*lexer.yyout);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	}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}	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getchar();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return n;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}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文本框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rgbClr val="000000"/>
                </a:solidFill>
                <a:latin typeface="Symbol" panose="05050102010706020507" pitchFamily="18" charset="2"/>
                <a:ea typeface="微软雅黑" panose="020B0503020204020204" charset="-122"/>
                <a:sym typeface="微软雅黑" panose="020B0503020204020204" charset="-122"/>
              </a:rPr>
              <a:t>e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是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____ _____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1" name="文本框 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终结符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2" name="文本框 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非终结符</a:t>
            </a:r>
            <a:endParaRPr lang="zh-CN" altLang="en-US" sz="2600" baseline="30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3" name="文本框 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空符号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4" name="文本框 9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空字符串</a:t>
            </a:r>
            <a:endParaRPr lang="zh-CN" altLang="en-US" sz="2600" baseline="30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5" name="椭圆 10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6" name="椭圆 11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7" name="椭圆 12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8" name="椭圆 13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9" name="矩形: 圆角 14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45420" name="组合 19"/>
          <p:cNvGrpSpPr/>
          <p:nvPr>
            <p:custDataLst>
              <p:tags r:id="rId11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5422" name="TitleBackground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3" name="ColorBlock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4" name="TypeText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45425" name="Tip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45421" name="图片 4"/>
          <p:cNvPicPr>
            <a:picLocks noChangeArrowheads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8"/>
    </p:custData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文本框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对下面</a:t>
            </a:r>
            <a:r>
              <a:rPr lang="en-US" altLang="zh-CN" sz="2600" dirty="0">
                <a:solidFill>
                  <a:srgbClr val="000000"/>
                </a:solidFill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CFG</a:t>
            </a:r>
            <a:r>
              <a:rPr lang="zh-CN" altLang="en-US" sz="2600" dirty="0">
                <a:solidFill>
                  <a:srgbClr val="000000"/>
                </a:solidFill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构造预测分析表，不正确的说法是</a:t>
            </a:r>
            <a:r>
              <a:rPr lang="en-US" altLang="zh-CN" sz="2600" dirty="0">
                <a:solidFill>
                  <a:srgbClr val="000000"/>
                </a:solidFill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____ _____</a:t>
            </a:r>
            <a:r>
              <a:rPr lang="zh-CN" altLang="en-US" sz="2600" dirty="0">
                <a:solidFill>
                  <a:srgbClr val="000000"/>
                </a:solidFill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。</a:t>
            </a:r>
            <a:endParaRPr lang="en-US" altLang="zh-CN" sz="2600" dirty="0">
              <a:solidFill>
                <a:srgbClr val="000000"/>
              </a:solidFill>
              <a:ea typeface="微软雅黑" panose="020B0503020204020204" charset="-122"/>
              <a:cs typeface="Times New Roman" panose="02020603050405020304" charset="0"/>
              <a:sym typeface="微软雅黑" panose="020B0503020204020204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/>
              <a:t>S 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en-US" altLang="zh-CN" b="1" dirty="0"/>
              <a:t>  </a:t>
            </a:r>
            <a:r>
              <a:rPr lang="en-US" altLang="zh-CN" b="1" dirty="0" err="1"/>
              <a:t>i</a:t>
            </a:r>
            <a:r>
              <a:rPr lang="en-US" altLang="zh-CN" b="1" dirty="0"/>
              <a:t> E t SS’ | a	S’ 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en-US" altLang="zh-CN" b="1" dirty="0"/>
              <a:t> </a:t>
            </a:r>
            <a:r>
              <a:rPr lang="en-US" altLang="zh-CN" b="1" dirty="0" err="1"/>
              <a:t>eS</a:t>
            </a:r>
            <a:r>
              <a:rPr lang="en-US" altLang="zh-CN" b="1" dirty="0"/>
              <a:t> | </a:t>
            </a:r>
            <a:r>
              <a:rPr lang="en-US" altLang="zh-CN" b="1" dirty="0">
                <a:latin typeface="Symbol" panose="05050102010706020507" pitchFamily="18" charset="2"/>
              </a:rPr>
              <a:t>e</a:t>
            </a:r>
            <a:endParaRPr lang="en-US" altLang="zh-CN" b="1" dirty="0">
              <a:latin typeface="Symbol" panose="05050102010706020507" pitchFamily="18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/>
              <a:t>E 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en-US" altLang="zh-CN" b="1" dirty="0"/>
              <a:t> b</a:t>
            </a:r>
            <a:endParaRPr lang="zh-CN" altLang="en-US" sz="2600" dirty="0">
              <a:solidFill>
                <a:srgbClr val="000000"/>
              </a:solidFill>
              <a:ea typeface="微软雅黑" panose="020B0503020204020204" charset="-122"/>
              <a:cs typeface="Times New Roman" panose="02020603050405020304" charset="0"/>
              <a:sym typeface="微软雅黑" panose="020B0503020204020204" charset="-122"/>
            </a:endParaRPr>
          </a:p>
        </p:txBody>
      </p:sp>
      <p:sp>
        <p:nvSpPr>
          <p:cNvPr id="145411" name="文本框 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rgbClr val="000000"/>
                </a:solidFill>
                <a:ea typeface="微软雅黑" panose="020B0503020204020204" charset="-122"/>
                <a:cs typeface="Times New Roman" panose="02020603050405020304" charset="0"/>
              </a:rPr>
              <a:t>S </a:t>
            </a:r>
            <a:r>
              <a:rPr lang="en-US" altLang="zh-CN" sz="2600" dirty="0">
                <a:solidFill>
                  <a:srgbClr val="000000"/>
                </a:solidFill>
                <a:ea typeface="微软雅黑" panose="020B0503020204020204" charset="-122"/>
                <a:cs typeface="Times New Roman" panose="02020603050405020304" charset="0"/>
                <a:sym typeface="Symbol" panose="05050102010706020507" pitchFamily="18" charset="2"/>
              </a:rPr>
              <a:t></a:t>
            </a:r>
            <a:r>
              <a:rPr lang="en-US" altLang="zh-CN" sz="2600" dirty="0">
                <a:solidFill>
                  <a:srgbClr val="000000"/>
                </a:solidFill>
                <a:ea typeface="微软雅黑" panose="020B0503020204020204" charset="-122"/>
                <a:cs typeface="Times New Roman" panose="02020603050405020304" charset="0"/>
              </a:rPr>
              <a:t> a</a:t>
            </a:r>
            <a:r>
              <a:rPr lang="zh-CN" altLang="zh-CN" sz="2600" dirty="0">
                <a:solidFill>
                  <a:srgbClr val="000000"/>
                </a:solidFill>
                <a:ea typeface="微软雅黑" panose="020B0503020204020204" charset="-122"/>
                <a:cs typeface="Times New Roman" panose="02020603050405020304" charset="0"/>
              </a:rPr>
              <a:t>应填入列</a:t>
            </a:r>
            <a:r>
              <a:rPr lang="en-US" altLang="zh-CN" sz="2600" dirty="0">
                <a:solidFill>
                  <a:srgbClr val="000000"/>
                </a:solidFill>
                <a:ea typeface="微软雅黑" panose="020B0503020204020204" charset="-122"/>
                <a:cs typeface="Times New Roman" panose="02020603050405020304" charset="0"/>
              </a:rPr>
              <a:t>a</a:t>
            </a:r>
            <a:endParaRPr lang="zh-CN" altLang="en-US" sz="2600" dirty="0">
              <a:solidFill>
                <a:srgbClr val="000000"/>
              </a:solidFill>
              <a:ea typeface="微软雅黑" panose="020B0503020204020204" charset="-122"/>
              <a:cs typeface="Times New Roman" panose="02020603050405020304" charset="0"/>
              <a:sym typeface="微软雅黑" panose="020B0503020204020204" charset="-122"/>
            </a:endParaRPr>
          </a:p>
        </p:txBody>
      </p:sp>
      <p:sp>
        <p:nvSpPr>
          <p:cNvPr id="145412" name="文本框 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rgbClr val="000000"/>
                </a:solidFill>
                <a:ea typeface="微软雅黑" panose="020B0503020204020204" charset="-122"/>
                <a:cs typeface="Times New Roman" panose="02020603050405020304" charset="0"/>
              </a:rPr>
              <a:t>S’ </a:t>
            </a:r>
            <a:r>
              <a:rPr lang="en-US" altLang="zh-CN" sz="2600" dirty="0">
                <a:solidFill>
                  <a:srgbClr val="000000"/>
                </a:solidFill>
                <a:ea typeface="微软雅黑" panose="020B0503020204020204" charset="-122"/>
                <a:cs typeface="Times New Roman" panose="02020603050405020304" charset="0"/>
                <a:sym typeface="Symbol" panose="05050102010706020507" pitchFamily="18" charset="2"/>
              </a:rPr>
              <a:t></a:t>
            </a:r>
            <a:r>
              <a:rPr lang="en-US" altLang="zh-CN" sz="2600" dirty="0">
                <a:solidFill>
                  <a:srgbClr val="000000"/>
                </a:solidFill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sz="2600" dirty="0" err="1">
                <a:solidFill>
                  <a:srgbClr val="000000"/>
                </a:solidFill>
                <a:ea typeface="微软雅黑" panose="020B0503020204020204" charset="-122"/>
                <a:cs typeface="Times New Roman" panose="02020603050405020304" charset="0"/>
              </a:rPr>
              <a:t>eS</a:t>
            </a:r>
            <a:r>
              <a:rPr lang="zh-CN" altLang="zh-CN" sz="2600" dirty="0">
                <a:solidFill>
                  <a:srgbClr val="000000"/>
                </a:solidFill>
                <a:ea typeface="微软雅黑" panose="020B0503020204020204" charset="-122"/>
                <a:cs typeface="Times New Roman" panose="02020603050405020304" charset="0"/>
              </a:rPr>
              <a:t>应填入列</a:t>
            </a:r>
            <a:r>
              <a:rPr lang="pt-BR" altLang="zh-CN" sz="2600" dirty="0">
                <a:solidFill>
                  <a:srgbClr val="000000"/>
                </a:solidFill>
                <a:ea typeface="微软雅黑" panose="020B0503020204020204" charset="-122"/>
                <a:cs typeface="Times New Roman" panose="02020603050405020304" charset="0"/>
              </a:rPr>
              <a:t>e</a:t>
            </a:r>
            <a:endParaRPr lang="zh-CN" altLang="en-US" sz="2600" dirty="0">
              <a:solidFill>
                <a:srgbClr val="000000"/>
              </a:solidFill>
              <a:ea typeface="微软雅黑" panose="020B0503020204020204" charset="-122"/>
              <a:cs typeface="Times New Roman" panose="02020603050405020304" charset="0"/>
              <a:sym typeface="微软雅黑" panose="020B0503020204020204" charset="-122"/>
            </a:endParaRPr>
          </a:p>
        </p:txBody>
      </p:sp>
      <p:sp>
        <p:nvSpPr>
          <p:cNvPr id="145413" name="文本框 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rgbClr val="000000"/>
                </a:solidFill>
                <a:ea typeface="微软雅黑" panose="020B0503020204020204" charset="-122"/>
                <a:cs typeface="Times New Roman" panose="02020603050405020304" charset="0"/>
              </a:rPr>
              <a:t>S’ </a:t>
            </a:r>
            <a:r>
              <a:rPr lang="en-US" altLang="zh-CN" sz="2600" dirty="0">
                <a:solidFill>
                  <a:srgbClr val="000000"/>
                </a:solidFill>
                <a:ea typeface="微软雅黑" panose="020B0503020204020204" charset="-122"/>
                <a:cs typeface="Times New Roman" panose="02020603050405020304" charset="0"/>
                <a:sym typeface="Symbol" panose="05050102010706020507" pitchFamily="18" charset="2"/>
              </a:rPr>
              <a:t></a:t>
            </a:r>
            <a:r>
              <a:rPr lang="en-US" altLang="zh-CN" sz="2600" dirty="0">
                <a:solidFill>
                  <a:srgbClr val="000000"/>
                </a:solidFill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sz="2800" b="1" dirty="0">
                <a:latin typeface="Symbol" panose="05050102010706020507" pitchFamily="18" charset="2"/>
              </a:rPr>
              <a:t>e</a:t>
            </a:r>
            <a:r>
              <a:rPr lang="zh-CN" altLang="zh-CN" sz="2600" dirty="0">
                <a:solidFill>
                  <a:srgbClr val="000000"/>
                </a:solidFill>
                <a:ea typeface="微软雅黑" panose="020B0503020204020204" charset="-122"/>
                <a:cs typeface="Times New Roman" panose="02020603050405020304" charset="0"/>
              </a:rPr>
              <a:t>应填入列</a:t>
            </a:r>
            <a:r>
              <a:rPr lang="en-US" altLang="zh-CN" sz="2800" b="1" dirty="0">
                <a:latin typeface="Symbol" panose="05050102010706020507" pitchFamily="18" charset="2"/>
              </a:rPr>
              <a:t>e</a:t>
            </a:r>
            <a:endParaRPr lang="zh-CN" altLang="en-US" sz="2600" dirty="0">
              <a:solidFill>
                <a:srgbClr val="000000"/>
              </a:solidFill>
              <a:ea typeface="微软雅黑" panose="020B0503020204020204" charset="-122"/>
              <a:cs typeface="Times New Roman" panose="02020603050405020304" charset="0"/>
              <a:sym typeface="微软雅黑" panose="020B0503020204020204" charset="-122"/>
            </a:endParaRPr>
          </a:p>
        </p:txBody>
      </p:sp>
      <p:sp>
        <p:nvSpPr>
          <p:cNvPr id="145414" name="文本框 9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rgbClr val="000000"/>
                </a:solidFill>
                <a:ea typeface="微软雅黑" panose="020B0503020204020204" charset="-122"/>
                <a:cs typeface="Times New Roman" panose="02020603050405020304" charset="0"/>
              </a:rPr>
              <a:t>S’ </a:t>
            </a:r>
            <a:r>
              <a:rPr lang="en-US" altLang="zh-CN" sz="2600" dirty="0">
                <a:solidFill>
                  <a:srgbClr val="000000"/>
                </a:solidFill>
                <a:ea typeface="微软雅黑" panose="020B0503020204020204" charset="-122"/>
                <a:cs typeface="Times New Roman" panose="02020603050405020304" charset="0"/>
                <a:sym typeface="Symbol" panose="05050102010706020507" pitchFamily="18" charset="2"/>
              </a:rPr>
              <a:t></a:t>
            </a:r>
            <a:r>
              <a:rPr lang="en-US" altLang="zh-CN" sz="2600" dirty="0">
                <a:solidFill>
                  <a:srgbClr val="000000"/>
                </a:solidFill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sz="2800" b="1" dirty="0">
                <a:latin typeface="Symbol" panose="05050102010706020507" pitchFamily="18" charset="2"/>
              </a:rPr>
              <a:t>e</a:t>
            </a:r>
            <a:r>
              <a:rPr lang="zh-CN" altLang="zh-CN" sz="2600" dirty="0">
                <a:solidFill>
                  <a:srgbClr val="000000"/>
                </a:solidFill>
                <a:ea typeface="微软雅黑" panose="020B0503020204020204" charset="-122"/>
                <a:cs typeface="Times New Roman" panose="02020603050405020304" charset="0"/>
              </a:rPr>
              <a:t>应填入列</a:t>
            </a:r>
            <a:r>
              <a:rPr lang="en-US" altLang="zh-CN" sz="2600" dirty="0">
                <a:solidFill>
                  <a:srgbClr val="000000"/>
                </a:solidFill>
                <a:ea typeface="微软雅黑" panose="020B0503020204020204" charset="-122"/>
                <a:cs typeface="Times New Roman" panose="02020603050405020304" charset="0"/>
              </a:rPr>
              <a:t>e</a:t>
            </a:r>
            <a:endParaRPr lang="zh-CN" altLang="en-US" sz="2600" baseline="30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5" name="椭圆 10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6" name="椭圆 11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7" name="椭圆 12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8" name="椭圆 13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9" name="矩形: 圆角 14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45420" name="组合 19"/>
          <p:cNvGrpSpPr/>
          <p:nvPr>
            <p:custDataLst>
              <p:tags r:id="rId11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5422" name="TitleBackground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3" name="ColorBlock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4" name="TypeText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45425" name="Tip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45421" name="图片 4"/>
          <p:cNvPicPr>
            <a:picLocks noChangeArrowheads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8"/>
    </p:custData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文本框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635000"/>
            <a:ext cx="79756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对下面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CFG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，正确的说法是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____ _____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。</a:t>
            </a:r>
            <a:endParaRPr lang="en-US" altLang="zh-CN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b="1" dirty="0"/>
              <a:t>S 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en-US" altLang="zh-CN" b="1" dirty="0"/>
              <a:t> </a:t>
            </a:r>
            <a:r>
              <a:rPr lang="pt-BR" altLang="zh-CN" b="1" dirty="0"/>
              <a:t>TU 		T 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en-US" altLang="zh-CN" b="1" dirty="0"/>
              <a:t> </a:t>
            </a:r>
            <a:r>
              <a:rPr lang="pt-BR" altLang="zh-CN" b="1" dirty="0"/>
              <a:t>0T1 | </a:t>
            </a:r>
            <a:r>
              <a:rPr lang="pt-BR" altLang="zh-CN" b="1" dirty="0">
                <a:latin typeface="Symbol" panose="05050102010706020507" pitchFamily="18" charset="2"/>
              </a:rPr>
              <a:t>e</a:t>
            </a:r>
            <a:r>
              <a:rPr lang="pt-BR" altLang="zh-CN" b="1" dirty="0"/>
              <a:t>	U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pt-BR" altLang="zh-CN" b="1" dirty="0"/>
              <a:t>1U0 | </a:t>
            </a:r>
            <a:r>
              <a:rPr lang="pt-BR" altLang="zh-CN" b="1" dirty="0">
                <a:latin typeface="Symbol" panose="05050102010706020507" pitchFamily="18" charset="2"/>
              </a:rPr>
              <a:t>e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1" name="文本框 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接受所有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0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个数相等的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0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串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2" name="文本框 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存在等价的正则表达式</a:t>
            </a:r>
            <a:endParaRPr lang="zh-CN" altLang="en-US" sz="2600" baseline="30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3" name="文本框 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是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LL(1)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文法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4" name="文本框 9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是算符文法</a:t>
            </a:r>
            <a:endParaRPr lang="zh-CN" altLang="en-US" sz="2600" baseline="30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5" name="椭圆 10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6" name="椭圆 11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7" name="椭圆 12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8" name="椭圆 13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9" name="矩形: 圆角 14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45420" name="组合 19"/>
          <p:cNvGrpSpPr/>
          <p:nvPr>
            <p:custDataLst>
              <p:tags r:id="rId11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5422" name="TitleBackground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3" name="ColorBlock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4" name="TypeText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45425" name="Tip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45421" name="图片 4"/>
          <p:cNvPicPr>
            <a:picLocks noChangeArrowheads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8"/>
    </p:custData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文本框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635000"/>
            <a:ext cx="79756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文法</a:t>
            </a:r>
            <a:r>
              <a:rPr lang="pt-BR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G</a:t>
            </a:r>
            <a:r>
              <a:rPr lang="zh-CN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pt-BR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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xSx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| y</a:t>
            </a:r>
            <a:r>
              <a:rPr lang="zh-CN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能够识别的语言是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____ _____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。</a:t>
            </a:r>
            <a:endParaRPr lang="en-US" altLang="zh-CN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1" name="文本框 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dirty="0"/>
              <a:t>xyx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2" name="文本框 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dirty="0"/>
              <a:t>(xyx)*</a:t>
            </a:r>
            <a:endParaRPr lang="zh-CN" altLang="en-US" sz="2600" baseline="30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3" name="文本框 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dirty="0"/>
              <a:t>x</a:t>
            </a:r>
            <a:r>
              <a:rPr lang="pt-BR" altLang="zh-CN" baseline="30000" dirty="0"/>
              <a:t>n</a:t>
            </a:r>
            <a:r>
              <a:rPr lang="pt-BR" altLang="zh-CN" dirty="0"/>
              <a:t>yx</a:t>
            </a:r>
            <a:r>
              <a:rPr lang="pt-BR" altLang="zh-CN" baseline="30000" dirty="0"/>
              <a:t>n</a:t>
            </a:r>
            <a:r>
              <a:rPr lang="pt-BR" altLang="zh-CN" dirty="0"/>
              <a:t>(n&gt;=0)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4" name="文本框 9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dirty="0"/>
              <a:t>x*yx*</a:t>
            </a:r>
            <a:endParaRPr lang="zh-CN" altLang="en-US" sz="2600" baseline="30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5" name="椭圆 10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6" name="椭圆 11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7" name="椭圆 12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8" name="椭圆 13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9" name="矩形: 圆角 14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45420" name="组合 19"/>
          <p:cNvGrpSpPr/>
          <p:nvPr>
            <p:custDataLst>
              <p:tags r:id="rId11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5422" name="TitleBackground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3" name="ColorBlock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4" name="TypeText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45425" name="Tip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45421" name="图片 4"/>
          <p:cNvPicPr>
            <a:picLocks noChangeArrowheads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8"/>
    </p:custData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文本框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635000"/>
            <a:ext cx="79756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在进行同心集合并时可能会产生新的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____ _____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冲突。</a:t>
            </a:r>
            <a:endParaRPr lang="en-US" altLang="zh-CN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1" name="文本框 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/>
              <a:t>移进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2" name="文本框 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/>
              <a:t>归约</a:t>
            </a:r>
            <a:r>
              <a:rPr lang="en-US" altLang="zh-CN" dirty="0"/>
              <a:t>/</a:t>
            </a:r>
            <a:r>
              <a:rPr lang="zh-CN" altLang="en-US" dirty="0"/>
              <a:t>归约</a:t>
            </a:r>
            <a:endParaRPr lang="zh-CN" altLang="en-US" sz="2600" baseline="30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3" name="文本框 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/>
              <a:t>归约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4" name="文本框 9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/>
              <a:t>移进</a:t>
            </a:r>
            <a:r>
              <a:rPr lang="en-US" altLang="zh-CN" dirty="0"/>
              <a:t>/</a:t>
            </a:r>
            <a:r>
              <a:rPr lang="zh-CN" altLang="en-US" dirty="0"/>
              <a:t>归约</a:t>
            </a:r>
            <a:endParaRPr lang="zh-CN" altLang="en-US" sz="2600" baseline="30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5" name="椭圆 10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6" name="椭圆 11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7" name="椭圆 12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8" name="椭圆 13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9" name="矩形: 圆角 14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45420" name="组合 19"/>
          <p:cNvGrpSpPr/>
          <p:nvPr>
            <p:custDataLst>
              <p:tags r:id="rId11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5422" name="TitleBackground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3" name="ColorBlock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4" name="TypeText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45425" name="Tip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45421" name="图片 4"/>
          <p:cNvPicPr>
            <a:picLocks noChangeArrowheads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8"/>
    </p:custData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文本框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635000"/>
            <a:ext cx="79756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LR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语法分析栈中存放的状态是识别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____ _____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的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DFA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状态。</a:t>
            </a:r>
            <a:endParaRPr lang="en-US" altLang="zh-CN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1" name="文本框 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最右句型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2" name="文本框 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最右句柄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3" name="文本框 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活前缀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4" name="文本框 9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项目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5" name="椭圆 10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6" name="椭圆 11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7" name="椭圆 12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8" name="椭圆 13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9" name="矩形: 圆角 14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45420" name="组合 19"/>
          <p:cNvGrpSpPr/>
          <p:nvPr>
            <p:custDataLst>
              <p:tags r:id="rId11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5422" name="TitleBackground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3" name="ColorBlock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4" name="TypeText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45425" name="Tip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45421" name="图片 4"/>
          <p:cNvPicPr>
            <a:picLocks noChangeArrowheads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8"/>
    </p:custData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文本框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635000"/>
            <a:ext cx="79756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上下文无关文法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____ _____</a:t>
            </a:r>
            <a:r>
              <a:rPr lang="zh-CN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产生语言</a:t>
            </a:r>
            <a:r>
              <a:rPr lang="pt-BR" altLang="zh-CN" dirty="0"/>
              <a:t>L={a</a:t>
            </a:r>
            <a:r>
              <a:rPr lang="pt-BR" altLang="zh-CN" baseline="30000" dirty="0"/>
              <a:t>n</a:t>
            </a:r>
            <a:r>
              <a:rPr lang="pt-BR" altLang="zh-CN" dirty="0"/>
              <a:t>b</a:t>
            </a:r>
            <a:r>
              <a:rPr lang="pt-BR" altLang="zh-CN" baseline="30000" dirty="0"/>
              <a:t>n</a:t>
            </a:r>
            <a:r>
              <a:rPr lang="pt-BR" altLang="zh-CN" dirty="0"/>
              <a:t>c</a:t>
            </a:r>
            <a:r>
              <a:rPr lang="pt-BR" altLang="zh-CN" baseline="30000" dirty="0"/>
              <a:t>i</a:t>
            </a:r>
            <a:r>
              <a:rPr lang="pt-BR" altLang="zh-CN" dirty="0"/>
              <a:t>|i&gt;=1,n&gt;=1}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。</a:t>
            </a:r>
            <a:endParaRPr lang="en-US" altLang="zh-CN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1" name="文本框 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/>
              <a:t>可以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2" name="文本框 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/>
              <a:t>不可以</a:t>
            </a:r>
            <a:endParaRPr lang="zh-CN" altLang="en-US" sz="2600" baseline="30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5" name="椭圆 10"/>
          <p:cNvSpPr>
            <a:spLocks noChangeAspect="1"/>
          </p:cNvSpPr>
          <p:nvPr>
            <p:custDataLst>
              <p:tags r:id="rId4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6" name="椭圆 11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9" name="矩形: 圆角 14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45420" name="组合 19"/>
          <p:cNvGrpSpPr/>
          <p:nvPr>
            <p:custDataLst>
              <p:tags r:id="rId7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5422" name="TitleBackground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3" name="ColorBlock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4" name="TypeText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45425" name="TipText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45421" name="图片 4"/>
          <p:cNvPicPr>
            <a:picLocks noChangeArrowheads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4"/>
    </p:custData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文本框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635000"/>
            <a:ext cx="79756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对下面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CFG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，说法错误的是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____ _____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。</a:t>
            </a:r>
            <a:endParaRPr lang="en-US" altLang="zh-CN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b="1" dirty="0"/>
              <a:t>E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pt-BR" altLang="zh-CN" b="1" dirty="0"/>
              <a:t> E+E | E*E | (E) | id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1" name="文本框 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消除左递归后即可用预测分析法进行分析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2" name="文本框 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可用算符优先分析算法进行分析</a:t>
            </a:r>
            <a:endParaRPr lang="zh-CN" altLang="en-US" sz="2600" baseline="30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3" name="文本框 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可消除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LR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分析表中冲突，从而用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SLR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分析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4" name="文本框 9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是二义性文法</a:t>
            </a:r>
            <a:endParaRPr lang="zh-CN" altLang="en-US" sz="2600" baseline="30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5" name="椭圆 10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6" name="椭圆 11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7" name="椭圆 12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8" name="椭圆 13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9" name="矩形: 圆角 14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45420" name="组合 19"/>
          <p:cNvGrpSpPr/>
          <p:nvPr>
            <p:custDataLst>
              <p:tags r:id="rId11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5422" name="TitleBackground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3" name="ColorBlock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4" name="TypeText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45425" name="Tip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45421" name="图片 4"/>
          <p:cNvPicPr>
            <a:picLocks noChangeArrowheads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8"/>
    </p:custData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文本框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635000"/>
            <a:ext cx="79756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对下面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CFG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，说法错误的是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____ _____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b="1" dirty="0"/>
              <a:t>S 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pt-BR" altLang="zh-CN" b="1" dirty="0"/>
              <a:t> aA	A 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pt-BR" altLang="zh-CN" b="1" dirty="0"/>
              <a:t> Bb	 B 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pt-BR" altLang="zh-CN" b="1" dirty="0"/>
              <a:t> Ba</a:t>
            </a:r>
            <a:r>
              <a:rPr lang="en-US" altLang="zh-CN" b="1" dirty="0"/>
              <a:t> | a</a:t>
            </a:r>
            <a:endParaRPr lang="en-US" altLang="zh-CN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b="1" dirty="0"/>
              <a:t>C 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en-US" altLang="zh-CN" b="1" dirty="0"/>
              <a:t> Ab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1" name="文本框 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是无用的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2" name="文本框 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pt-BR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aa</a:t>
            </a:r>
            <a:r>
              <a:rPr lang="pt-BR" altLang="zh-CN" sz="2600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pt-BR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对应相同的语言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3" name="文本框 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是算符文法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4" name="文本框 9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aaab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是其活前缀</a:t>
            </a:r>
            <a:endParaRPr lang="zh-CN" altLang="en-US" sz="2600" baseline="30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5" name="椭圆 10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6" name="椭圆 11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7" name="椭圆 12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8" name="椭圆 13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9" name="矩形: 圆角 14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45420" name="组合 19"/>
          <p:cNvGrpSpPr/>
          <p:nvPr>
            <p:custDataLst>
              <p:tags r:id="rId11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5422" name="TitleBackground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3" name="ColorBlock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4" name="TypeText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45425" name="Tip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45421" name="图片 4"/>
          <p:cNvPicPr>
            <a:picLocks noChangeArrowheads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8"/>
    </p:custData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文本框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635000"/>
            <a:ext cx="79756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用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DAG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表示下面表达式，需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____ _____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个结点。</a:t>
            </a:r>
            <a:endParaRPr lang="en-US" altLang="zh-CN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b="1" dirty="0"/>
              <a:t>a + (a + a + a * (a + a)) * a</a:t>
            </a:r>
            <a:endParaRPr lang="en-US" altLang="zh-CN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1" name="文本框 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4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2" name="文本框 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3" name="文本框 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6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4" name="文本框 9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7</a:t>
            </a:r>
            <a:endParaRPr lang="zh-CN" altLang="en-US" sz="2600" baseline="30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5" name="椭圆 10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6" name="椭圆 11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7" name="椭圆 12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8" name="椭圆 13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9" name="矩形: 圆角 14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45420" name="组合 19"/>
          <p:cNvGrpSpPr/>
          <p:nvPr>
            <p:custDataLst>
              <p:tags r:id="rId11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5422" name="TitleBackground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3" name="ColorBlock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4" name="TypeText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45425" name="Tip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45421" name="图片 4"/>
          <p:cNvPicPr>
            <a:picLocks noChangeArrowheads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8"/>
    </p:custData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文本框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635000"/>
            <a:ext cx="79756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属性定义更不容易和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____ _____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相结合。</a:t>
            </a:r>
            <a:endParaRPr lang="en-US" altLang="zh-CN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1" name="文本框 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预测分析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2" name="文本框 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算符优先分析</a:t>
            </a:r>
            <a:endParaRPr lang="zh-CN" altLang="en-US" sz="2600" baseline="30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3" name="文本框 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SLR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分析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4" name="文本框 9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规范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LR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分析</a:t>
            </a:r>
            <a:endParaRPr lang="zh-CN" altLang="en-US" sz="2600" baseline="30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5" name="椭圆 10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6" name="椭圆 11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7" name="椭圆 12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8" name="椭圆 13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9" name="矩形: 圆角 14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45420" name="组合 19"/>
          <p:cNvGrpSpPr/>
          <p:nvPr>
            <p:custDataLst>
              <p:tags r:id="rId11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5422" name="TitleBackground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3" name="ColorBlock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4" name="TypeText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45425" name="Tip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45421" name="图片 4"/>
          <p:cNvPicPr>
            <a:picLocks noChangeArrowheads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8"/>
    </p:custData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文本框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635000"/>
            <a:ext cx="79756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如果对类型采用名字等价判定，则披着羊皮的灰太狼会被认为是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____ _____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。</a:t>
            </a:r>
            <a:endParaRPr lang="en-US" altLang="zh-CN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1" name="文本框 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羊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2" name="文本框 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狼</a:t>
            </a:r>
            <a:endParaRPr lang="zh-CN" altLang="en-US" sz="2600" baseline="30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3" name="文本框 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灰太狼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4" name="文本框 9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以上皆错</a:t>
            </a:r>
            <a:endParaRPr lang="zh-CN" altLang="en-US" sz="2600" baseline="30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5" name="椭圆 10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6" name="椭圆 11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7" name="椭圆 12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8" name="椭圆 13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9" name="矩形: 圆角 14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45420" name="组合 19"/>
          <p:cNvGrpSpPr/>
          <p:nvPr>
            <p:custDataLst>
              <p:tags r:id="rId11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5422" name="TitleBackground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3" name="ColorBlock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4" name="TypeText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45425" name="Tip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45421" name="图片 4"/>
          <p:cNvPicPr>
            <a:picLocks noChangeArrowheads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文本框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635000"/>
            <a:ext cx="79756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关于下面类型表达式，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____ _____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是正确的。</a:t>
            </a:r>
            <a:endParaRPr lang="en-US" altLang="zh-CN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b="1" dirty="0"/>
              <a:t>(pointer(char)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en-US" altLang="zh-CN" b="1" dirty="0"/>
              <a:t>int</a:t>
            </a:r>
            <a:r>
              <a:rPr lang="pt-BR" altLang="zh-CN" b="1" dirty="0"/>
              <a:t>)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en-US" altLang="zh-CN" b="1" dirty="0"/>
              <a:t>pointer(char)</a:t>
            </a:r>
            <a:endParaRPr lang="en-US" altLang="zh-CN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1" name="文本框 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2786063"/>
            <a:ext cx="70612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语言对这种类型的等价判定采用名字等价方式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2" name="文本框 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/>
              <a:t>Pascal</a:t>
            </a:r>
            <a:r>
              <a:rPr lang="zh-CN" altLang="zh-CN" dirty="0"/>
              <a:t>语言采用结构等价方式</a:t>
            </a:r>
            <a:endParaRPr lang="zh-CN" altLang="en-US" sz="2600" baseline="30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3" name="文本框 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在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语言中，这种类型会引发类型错误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4" name="文本框 9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以上皆错</a:t>
            </a:r>
            <a:endParaRPr lang="zh-CN" altLang="en-US" sz="2600" baseline="30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5" name="椭圆 10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6" name="椭圆 11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7" name="椭圆 12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8" name="椭圆 13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419" name="矩形: 圆角 14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45420" name="组合 19"/>
          <p:cNvGrpSpPr/>
          <p:nvPr>
            <p:custDataLst>
              <p:tags r:id="rId11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5422" name="TitleBackground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3" name="ColorBlock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4" name="TypeText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45425" name="Tip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45421" name="图片 4"/>
          <p:cNvPicPr>
            <a:picLocks noChangeArrowheads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8"/>
    </p:custDataLst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p="http://schemas.openxmlformats.org/presentationml/2006/main">
  <p:tag name="RAINPROBLEM" val="ProblemSubmit"/>
  <p:tag name="RAINPROBLEMTYPE" val="MultipleChoice"/>
</p:tagLst>
</file>

<file path=ppt/tags/tag11.xml><?xml version="1.0" encoding="utf-8"?>
<p:tagLst xmlns:p="http://schemas.openxmlformats.org/presentationml/2006/main">
  <p:tag name="RAINPROBLEMTYPE" val="ProblemTypeMarker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" val="ProblemSetting"/>
  <p:tag name="RAINPROBLEMTYPE" val="MultipleChoice"/>
</p:tagLst>
</file>

<file path=ppt/tags/tag17.xml><?xml version="1.0" encoding="utf-8"?>
<p:tagLst xmlns:p="http://schemas.openxmlformats.org/presentationml/2006/main">
  <p:tag name="RAINPROBLEM" val="MultipleChoice"/>
  <p:tag name="PROBLEMSCORE" val="1.0"/>
</p:tagLst>
</file>

<file path=ppt/tags/tag18.xml><?xml version="1.0" encoding="utf-8"?>
<p:tagLst xmlns:p="http://schemas.openxmlformats.org/presentationml/2006/main">
  <p:tag name="RAINPROBLEM" val="ProblemBody"/>
</p:tagLst>
</file>

<file path=ppt/tags/tag19.xml><?xml version="1.0" encoding="utf-8"?>
<p:tagLst xmlns:p="http://schemas.openxmlformats.org/presentationml/2006/main">
  <p:tag name="RAINPROBLEM" val="ProblemItem"/>
</p:tagLst>
</file>

<file path=ppt/tags/tag20.xml><?xml version="1.0" encoding="utf-8"?>
<p:tagLst xmlns:p="http://schemas.openxmlformats.org/presentationml/2006/main">
  <p:tag name="RAINPROBLEM" val="ProblemItem"/>
</p:tagLst>
</file>

<file path=ppt/tags/tag21.xml><?xml version="1.0" encoding="utf-8"?>
<p:tagLst xmlns:p="http://schemas.openxmlformats.org/presentationml/2006/main">
  <p:tag name="RAINPROBLEM" val="ProblemItem"/>
</p:tagLst>
</file>

<file path=ppt/tags/tag22.xml><?xml version="1.0" encoding="utf-8"?>
<p:tagLst xmlns:p="http://schemas.openxmlformats.org/presentationml/2006/main">
  <p:tag name="RAINPROBLEM" val="ProblemItem"/>
</p:tagLst>
</file>

<file path=ppt/tags/tag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p="http://schemas.openxmlformats.org/presentationml/2006/main">
  <p:tag name="RAINPROBLEM" val="ProblemSubmit"/>
  <p:tag name="RAINPROBLEMTYPE" val="MultipleChoice"/>
</p:tagLst>
</file>

<file path=ppt/tags/tag28.xml><?xml version="1.0" encoding="utf-8"?>
<p:tagLst xmlns:p="http://schemas.openxmlformats.org/presentationml/2006/main">
  <p:tag name="RAINPROBLEMTYPE" val="ProblemTypeMarker"/>
</p:tagLst>
</file>

<file path=ppt/tags/tag29.xml><?xml version="1.0" encoding="utf-8"?>
<p:tagLst xmlns:p="http://schemas.openxmlformats.org/presentationml/2006/main">
  <p:tag name="RAINPROBLEMTYPE" val="ProblemTypeMarker"/>
</p:tagLst>
</file>

<file path=ppt/tags/tag30.xml><?xml version="1.0" encoding="utf-8"?>
<p:tagLst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TYPE" val="ProblemTypeMarker"/>
</p:tagLst>
</file>

<file path=ppt/tags/tag33.xml><?xml version="1.0" encoding="utf-8"?>
<p:tagLst xmlns:p="http://schemas.openxmlformats.org/presentationml/2006/main">
  <p:tag name="RAINPROBLEM" val="ProblemSetting"/>
  <p:tag name="RAINPROBLEMTYPE" val="MultipleChoice"/>
</p:tagLst>
</file>

<file path=ppt/tags/tag34.xml><?xml version="1.0" encoding="utf-8"?>
<p:tagLst xmlns:p="http://schemas.openxmlformats.org/presentationml/2006/main">
  <p:tag name="RAINPROBLEM" val="MultipleChoice"/>
  <p:tag name="PROBLEMSCORE" val="1.0"/>
</p:tagLst>
</file>

<file path=ppt/tags/tag35.xml><?xml version="1.0" encoding="utf-8"?>
<p:tagLst xmlns:p="http://schemas.openxmlformats.org/presentationml/2006/main">
  <p:tag name="RAINPROBLEM" val="ProblemBody"/>
</p:tagLst>
</file>

<file path=ppt/tags/tag36.xml><?xml version="1.0" encoding="utf-8"?>
<p:tagLst xmlns:p="http://schemas.openxmlformats.org/presentationml/2006/main">
  <p:tag name="RAINPROBLEM" val="ProblemItem"/>
</p:tagLst>
</file>

<file path=ppt/tags/tag37.xml><?xml version="1.0" encoding="utf-8"?>
<p:tagLst xmlns:p="http://schemas.openxmlformats.org/presentationml/2006/main">
  <p:tag name="RAINPROBLEM" val="ProblemItem"/>
</p:tagLst>
</file>

<file path=ppt/tags/tag38.xml><?xml version="1.0" encoding="utf-8"?>
<p:tagLst xmlns:p="http://schemas.openxmlformats.org/presentationml/2006/main">
  <p:tag name="RAINPROBLEM" val="ProblemItem"/>
</p:tagLst>
</file>

<file path=ppt/tags/tag39.xml><?xml version="1.0" encoding="utf-8"?>
<p:tagLst xmlns:p="http://schemas.openxmlformats.org/presentationml/2006/main">
  <p:tag name="RAINPROBLEM" val="ProblemItem"/>
</p:tagLst>
</file>

<file path=ppt/tags/tag4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4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p="http://schemas.openxmlformats.org/presentationml/2006/main">
  <p:tag name="RAINPROBLEM" val="ProblemSubmit"/>
  <p:tag name="RAINPROBLEMTYPE" val="MultipleChoice"/>
</p:tagLst>
</file>

<file path=ppt/tags/tag45.xml><?xml version="1.0" encoding="utf-8"?>
<p:tagLst xmlns:p="http://schemas.openxmlformats.org/presentationml/2006/main">
  <p:tag name="RAINPROBLEMTYPE" val="ProblemTypeMarker"/>
</p:tagLst>
</file>

<file path=ppt/tags/tag46.xml><?xml version="1.0" encoding="utf-8"?>
<p:tagLst xmlns:p="http://schemas.openxmlformats.org/presentationml/2006/main">
  <p:tag name="RAINPROBLEMTYPE" val="ProblemTypeMarker"/>
</p:tagLst>
</file>

<file path=ppt/tags/tag47.xml><?xml version="1.0" encoding="utf-8"?>
<p:tagLst xmlns:p="http://schemas.openxmlformats.org/presentationml/2006/main">
  <p:tag name="RAINPROBLEMTYPE" val="ProblemTypeMarker"/>
</p:tagLst>
</file>

<file path=ppt/tags/tag48.xml><?xml version="1.0" encoding="utf-8"?>
<p:tagLst xmlns:p="http://schemas.openxmlformats.org/presentationml/2006/main">
  <p:tag name="RAINPROBLEMTYPE" val="ProblemTypeMarker"/>
</p:tagLst>
</file>

<file path=ppt/tags/tag49.xml><?xml version="1.0" encoding="utf-8"?>
<p:tagLst xmlns:p="http://schemas.openxmlformats.org/presentationml/2006/main">
  <p:tag name="RAINPROBLEMTYPE" val="ProblemTypeMarker"/>
</p:tagLst>
</file>

<file path=ppt/tags/tag50.xml><?xml version="1.0" encoding="utf-8"?>
<p:tagLst xmlns:p="http://schemas.openxmlformats.org/presentationml/2006/main">
  <p:tag name="RAINPROBLEM" val="ProblemSetting"/>
  <p:tag name="RAINPROBLEMTYPE" val="MultipleChoice"/>
</p:tagLst>
</file>

<file path=ppt/tags/tag51.xml><?xml version="1.0" encoding="utf-8"?>
<p:tagLst xmlns:p="http://schemas.openxmlformats.org/presentationml/2006/main">
  <p:tag name="RAINPROBLEM" val="MultipleChoice"/>
  <p:tag name="PROBLEMSCORE" val="1.0"/>
</p:tagLst>
</file>

<file path=ppt/tags/tag52.xml><?xml version="1.0" encoding="utf-8"?>
<p:tagLst xmlns:p="http://schemas.openxmlformats.org/presentationml/2006/main">
  <p:tag name="RAINPROBLEM" val="ProblemBody"/>
</p:tagLst>
</file>

<file path=ppt/tags/tag53.xml><?xml version="1.0" encoding="utf-8"?>
<p:tagLst xmlns:p="http://schemas.openxmlformats.org/presentationml/2006/main">
  <p:tag name="RAINPROBLEM" val="ProblemItem"/>
</p:tagLst>
</file>

<file path=ppt/tags/tag54.xml><?xml version="1.0" encoding="utf-8"?>
<p:tagLst xmlns:p="http://schemas.openxmlformats.org/presentationml/2006/main">
  <p:tag name="RAINPROBLEM" val="ProblemItem"/>
</p:tagLst>
</file>

<file path=ppt/tags/tag55.xml><?xml version="1.0" encoding="utf-8"?>
<p:tagLst xmlns:p="http://schemas.openxmlformats.org/presentationml/2006/main">
  <p:tag name="RAINPROBLEM" val="ProblemItem"/>
</p:tagLst>
</file>

<file path=ppt/tags/tag56.xml><?xml version="1.0" encoding="utf-8"?>
<p:tagLst xmlns:p="http://schemas.openxmlformats.org/presentationml/2006/main">
  <p:tag name="RAINPROBLEM" val="ProblemItem"/>
</p:tagLst>
</file>

<file path=ppt/tags/tag5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6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p="http://schemas.openxmlformats.org/presentationml/2006/main">
  <p:tag name="RAINPROBLEM" val="ProblemSubmit"/>
  <p:tag name="RAINPROBLEMTYPE" val="MultipleChoice"/>
</p:tagLst>
</file>

<file path=ppt/tags/tag62.xml><?xml version="1.0" encoding="utf-8"?>
<p:tagLst xmlns:p="http://schemas.openxmlformats.org/presentationml/2006/main">
  <p:tag name="RAINPROBLEMTYPE" val="ProblemTypeMarker"/>
</p:tagLst>
</file>

<file path=ppt/tags/tag63.xml><?xml version="1.0" encoding="utf-8"?>
<p:tagLst xmlns:p="http://schemas.openxmlformats.org/presentationml/2006/main">
  <p:tag name="RAINPROBLEMTYPE" val="ProblemTypeMarker"/>
</p:tagLst>
</file>

<file path=ppt/tags/tag64.xml><?xml version="1.0" encoding="utf-8"?>
<p:tagLst xmlns:p="http://schemas.openxmlformats.org/presentationml/2006/main">
  <p:tag name="RAINPROBLEMTYPE" val="ProblemTypeMarker"/>
</p:tagLst>
</file>

<file path=ppt/tags/tag65.xml><?xml version="1.0" encoding="utf-8"?>
<p:tagLst xmlns:p="http://schemas.openxmlformats.org/presentationml/2006/main">
  <p:tag name="RAINPROBLEMTYPE" val="ProblemTypeMarker"/>
</p:tagLst>
</file>

<file path=ppt/tags/tag66.xml><?xml version="1.0" encoding="utf-8"?>
<p:tagLst xmlns:p="http://schemas.openxmlformats.org/presentationml/2006/main">
  <p:tag name="RAINPROBLEMTYPE" val="ProblemTypeMarker"/>
</p:tagLst>
</file>

<file path=ppt/tags/tag67.xml><?xml version="1.0" encoding="utf-8"?>
<p:tagLst xmlns:p="http://schemas.openxmlformats.org/presentationml/2006/main">
  <p:tag name="RAINPROBLEM" val="ProblemSetting"/>
  <p:tag name="RAINPROBLEMTYPE" val="MultipleChoice"/>
</p:tagLst>
</file>

<file path=ppt/tags/tag68.xml><?xml version="1.0" encoding="utf-8"?>
<p:tagLst xmlns:p="http://schemas.openxmlformats.org/presentationml/2006/main">
  <p:tag name="RAINPROBLEM" val="MultipleChoice"/>
  <p:tag name="PROBLEMSCORE" val="1.0"/>
</p:tagLst>
</file>

<file path=ppt/tags/tag69.xml><?xml version="1.0" encoding="utf-8"?>
<p:tagLst xmlns:p="http://schemas.openxmlformats.org/presentationml/2006/main">
  <p:tag name="RAINPROBLEM" val="ProblemBody"/>
</p:tagLst>
</file>

<file path=ppt/tags/tag70.xml><?xml version="1.0" encoding="utf-8"?>
<p:tagLst xmlns:p="http://schemas.openxmlformats.org/presentationml/2006/main">
  <p:tag name="RAINPROBLEM" val="ProblemItem"/>
</p:tagLst>
</file>

<file path=ppt/tags/tag71.xml><?xml version="1.0" encoding="utf-8"?>
<p:tagLst xmlns:p="http://schemas.openxmlformats.org/presentationml/2006/main">
  <p:tag name="RAINPROBLEM" val="ProblemItem"/>
</p:tagLst>
</file>

<file path=ppt/tags/tag72.xml><?xml version="1.0" encoding="utf-8"?>
<p:tagLst xmlns:p="http://schemas.openxmlformats.org/presentationml/2006/main">
  <p:tag name="RAINPROBLEM" val="ProblemItem"/>
</p:tagLst>
</file>

<file path=ppt/tags/tag73.xml><?xml version="1.0" encoding="utf-8"?>
<p:tagLst xmlns:p="http://schemas.openxmlformats.org/presentationml/2006/main">
  <p:tag name="RAINPROBLEM" val="ProblemItem"/>
</p:tagLst>
</file>

<file path=ppt/tags/tag7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5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7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8.xml><?xml version="1.0" encoding="utf-8"?>
<p:tagLst xmlns:p="http://schemas.openxmlformats.org/presentationml/2006/main">
  <p:tag name="RAINPROBLEM" val="ProblemSubmit"/>
  <p:tag name="RAINPROBLEMTYPE" val="MultipleChoice"/>
</p:tagLst>
</file>

<file path=ppt/tags/tag79.xml><?xml version="1.0" encoding="utf-8"?>
<p:tagLst xmlns:p="http://schemas.openxmlformats.org/presentationml/2006/main">
  <p:tag name="RAINPROBLEMTYPE" val="ProblemTypeMarker"/>
</p:tagLst>
</file>

<file path=ppt/tags/tag80.xml><?xml version="1.0" encoding="utf-8"?>
<p:tagLst xmlns:p="http://schemas.openxmlformats.org/presentationml/2006/main">
  <p:tag name="RAINPROBLEMTYPE" val="ProblemTypeMarker"/>
</p:tagLst>
</file>

<file path=ppt/tags/tag81.xml><?xml version="1.0" encoding="utf-8"?>
<p:tagLst xmlns:p="http://schemas.openxmlformats.org/presentationml/2006/main">
  <p:tag name="RAINPROBLEMTYPE" val="ProblemTypeMarker"/>
</p:tagLst>
</file>

<file path=ppt/tags/tag82.xml><?xml version="1.0" encoding="utf-8"?>
<p:tagLst xmlns:p="http://schemas.openxmlformats.org/presentationml/2006/main">
  <p:tag name="RAINPROBLEMTYPE" val="ProblemTypeMarker"/>
</p:tagLst>
</file>

<file path=ppt/tags/tag83.xml><?xml version="1.0" encoding="utf-8"?>
<p:tagLst xmlns:p="http://schemas.openxmlformats.org/presentationml/2006/main">
  <p:tag name="RAINPROBLEMTYPE" val="ProblemTypeMarker"/>
</p:tagLst>
</file>

<file path=ppt/tags/tag84.xml><?xml version="1.0" encoding="utf-8"?>
<p:tagLst xmlns:p="http://schemas.openxmlformats.org/presentationml/2006/main">
  <p:tag name="RAINPROBLEM" val="ProblemSetting"/>
  <p:tag name="RAINPROBLEMTYPE" val="MultipleChoice"/>
</p:tagLst>
</file>

<file path=ppt/tags/tag85.xml><?xml version="1.0" encoding="utf-8"?>
<p:tagLst xmlns:p="http://schemas.openxmlformats.org/presentationml/2006/main">
  <p:tag name="RAINPROBLEM" val="MultipleChoice"/>
  <p:tag name="PROBLEMSCORE" val="1.0"/>
</p:tagLst>
</file>

<file path=ppt/tags/tag86.xml><?xml version="1.0" encoding="utf-8"?>
<p:tagLst xmlns:p="http://schemas.openxmlformats.org/presentationml/2006/main">
  <p:tag name="RAINPROBLEM" val="ProblemBody"/>
</p:tagLst>
</file>

<file path=ppt/tags/tag87.xml><?xml version="1.0" encoding="utf-8"?>
<p:tagLst xmlns:p="http://schemas.openxmlformats.org/presentationml/2006/main">
  <p:tag name="RAINPROBLEM" val="ProblemItem"/>
</p:tagLst>
</file>

<file path=ppt/tags/tag88.xml><?xml version="1.0" encoding="utf-8"?>
<p:tagLst xmlns:p="http://schemas.openxmlformats.org/presentationml/2006/main">
  <p:tag name="RAINPROBLEM" val="ProblemItem"/>
</p:tagLst>
</file>

<file path=ppt/tags/tag89.xml><?xml version="1.0" encoding="utf-8"?>
<p:tagLst xmlns:p="http://schemas.openxmlformats.org/presentationml/2006/main">
  <p:tag name="RAINPROBLEM" val="ProblemItem"/>
</p:tagLst>
</file>

<file path=ppt/tags/tag90.xml><?xml version="1.0" encoding="utf-8"?>
<p:tagLst xmlns:p="http://schemas.openxmlformats.org/presentationml/2006/main">
  <p:tag name="RAINPROBLEM" val="ProblemItem"/>
</p:tagLst>
</file>

<file path=ppt/tags/tag9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5.xml><?xml version="1.0" encoding="utf-8"?>
<p:tagLst xmlns:p="http://schemas.openxmlformats.org/presentationml/2006/main">
  <p:tag name="RAINPROBLEM" val="ProblemSubmit"/>
  <p:tag name="RAINPROBLEMTYPE" val="MultipleChoice"/>
</p:tagLst>
</file>

<file path=ppt/tags/tag96.xml><?xml version="1.0" encoding="utf-8"?>
<p:tagLst xmlns:p="http://schemas.openxmlformats.org/presentationml/2006/main">
  <p:tag name="RAINPROBLEMTYPE" val="ProblemTypeMarker"/>
</p:tagLst>
</file>

<file path=ppt/tags/tag97.xml><?xml version="1.0" encoding="utf-8"?>
<p:tagLst xmlns:p="http://schemas.openxmlformats.org/presentationml/2006/main">
  <p:tag name="RAINPROBLEMTYPE" val="ProblemTypeMarker"/>
</p:tagLst>
</file>

<file path=ppt/tags/tag98.xml><?xml version="1.0" encoding="utf-8"?>
<p:tagLst xmlns:p="http://schemas.openxmlformats.org/presentationml/2006/main">
  <p:tag name="RAINPROBLEMTYPE" val="ProblemTypeMarker"/>
</p:tagLst>
</file>

<file path=ppt/tags/tag99.xml><?xml version="1.0" encoding="utf-8"?>
<p:tagLst xmlns:p="http://schemas.openxmlformats.org/presentationml/2006/main">
  <p:tag name="RAINPROBLEMTYPE" val="ProblemTypeMarker"/>
</p:tagLst>
</file>

<file path=ppt/tags/tag100.xml><?xml version="1.0" encoding="utf-8"?>
<p:tagLst xmlns:p="http://schemas.openxmlformats.org/presentationml/2006/main">
  <p:tag name="RAINPROBLEMTYPE" val="ProblemTypeMarker"/>
</p:tagLst>
</file>

<file path=ppt/tags/tag101.xml><?xml version="1.0" encoding="utf-8"?>
<p:tagLst xmlns:p="http://schemas.openxmlformats.org/presentationml/2006/main">
  <p:tag name="RAINPROBLEM" val="ProblemSetting"/>
  <p:tag name="RAINPROBLEMTYPE" val="MultipleChoice"/>
</p:tagLst>
</file>

<file path=ppt/tags/tag102.xml><?xml version="1.0" encoding="utf-8"?>
<p:tagLst xmlns:p="http://schemas.openxmlformats.org/presentationml/2006/main">
  <p:tag name="RAINPROBLEM" val="MultipleChoice"/>
  <p:tag name="PROBLEMSCORE" val="1.0"/>
</p:tagLst>
</file>

<file path=ppt/tags/tag103.xml><?xml version="1.0" encoding="utf-8"?>
<p:tagLst xmlns:p="http://schemas.openxmlformats.org/presentationml/2006/main">
  <p:tag name="RAINPROBLEM" val="ProblemBody"/>
</p:tagLst>
</file>

<file path=ppt/tags/tag104.xml><?xml version="1.0" encoding="utf-8"?>
<p:tagLst xmlns:p="http://schemas.openxmlformats.org/presentationml/2006/main">
  <p:tag name="RAINPROBLEM" val="ProblemItem"/>
</p:tagLst>
</file>

<file path=ppt/tags/tag105.xml><?xml version="1.0" encoding="utf-8"?>
<p:tagLst xmlns:p="http://schemas.openxmlformats.org/presentationml/2006/main">
  <p:tag name="RAINPROBLEM" val="ProblemItem"/>
</p:tagLst>
</file>

<file path=ppt/tags/tag106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0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8.xml><?xml version="1.0" encoding="utf-8"?>
<p:tagLst xmlns:p="http://schemas.openxmlformats.org/presentationml/2006/main">
  <p:tag name="RAINPROBLEM" val="ProblemSubmit"/>
  <p:tag name="RAINPROBLEMTYPE" val="MultipleChoice"/>
</p:tagLst>
</file>

<file path=ppt/tags/tag109.xml><?xml version="1.0" encoding="utf-8"?>
<p:tagLst xmlns:p="http://schemas.openxmlformats.org/presentationml/2006/main">
  <p:tag name="RAINPROBLEMTYPE" val="ProblemTypeMarker"/>
</p:tagLst>
</file>

<file path=ppt/tags/tag110.xml><?xml version="1.0" encoding="utf-8"?>
<p:tagLst xmlns:p="http://schemas.openxmlformats.org/presentationml/2006/main">
  <p:tag name="RAINPROBLEMTYPE" val="ProblemTypeMarker"/>
</p:tagLst>
</file>

<file path=ppt/tags/tag111.xml><?xml version="1.0" encoding="utf-8"?>
<p:tagLst xmlns:p="http://schemas.openxmlformats.org/presentationml/2006/main">
  <p:tag name="RAINPROBLEMTYPE" val="ProblemTypeMarker"/>
</p:tagLst>
</file>

<file path=ppt/tags/tag112.xml><?xml version="1.0" encoding="utf-8"?>
<p:tagLst xmlns:p="http://schemas.openxmlformats.org/presentationml/2006/main">
  <p:tag name="RAINPROBLEMTYPE" val="ProblemTypeMarker"/>
</p:tagLst>
</file>

<file path=ppt/tags/tag113.xml><?xml version="1.0" encoding="utf-8"?>
<p:tagLst xmlns:p="http://schemas.openxmlformats.org/presentationml/2006/main">
  <p:tag name="RAINPROBLEMTYPE" val="ProblemTypeMarker"/>
</p:tagLst>
</file>

<file path=ppt/tags/tag114.xml><?xml version="1.0" encoding="utf-8"?>
<p:tagLst xmlns:p="http://schemas.openxmlformats.org/presentationml/2006/main">
  <p:tag name="RAINPROBLEM" val="ProblemSetting"/>
  <p:tag name="RAINPROBLEMTYPE" val="MultipleChoice"/>
</p:tagLst>
</file>

<file path=ppt/tags/tag115.xml><?xml version="1.0" encoding="utf-8"?>
<p:tagLst xmlns:p="http://schemas.openxmlformats.org/presentationml/2006/main">
  <p:tag name="RAINPROBLEM" val="MultipleChoice"/>
  <p:tag name="PROBLEMSCORE" val="1.0"/>
</p:tagLst>
</file>

<file path=ppt/tags/tag116.xml><?xml version="1.0" encoding="utf-8"?>
<p:tagLst xmlns:p="http://schemas.openxmlformats.org/presentationml/2006/main">
  <p:tag name="RAINPROBLEM" val="ProblemBody"/>
</p:tagLst>
</file>

<file path=ppt/tags/tag117.xml><?xml version="1.0" encoding="utf-8"?>
<p:tagLst xmlns:p="http://schemas.openxmlformats.org/presentationml/2006/main">
  <p:tag name="RAINPROBLEM" val="ProblemItem"/>
</p:tagLst>
</file>

<file path=ppt/tags/tag118.xml><?xml version="1.0" encoding="utf-8"?>
<p:tagLst xmlns:p="http://schemas.openxmlformats.org/presentationml/2006/main">
  <p:tag name="RAINPROBLEM" val="ProblemItem"/>
</p:tagLst>
</file>

<file path=ppt/tags/tag119.xml><?xml version="1.0" encoding="utf-8"?>
<p:tagLst xmlns:p="http://schemas.openxmlformats.org/presentationml/2006/main">
  <p:tag name="RAINPROBLEM" val="ProblemItem"/>
</p:tagLst>
</file>

<file path=ppt/tags/tag120.xml><?xml version="1.0" encoding="utf-8"?>
<p:tagLst xmlns:p="http://schemas.openxmlformats.org/presentationml/2006/main">
  <p:tag name="RAINPROBLEM" val="ProblemItem"/>
</p:tagLst>
</file>

<file path=ppt/tags/tag12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2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5.xml><?xml version="1.0" encoding="utf-8"?>
<p:tagLst xmlns:p="http://schemas.openxmlformats.org/presentationml/2006/main">
  <p:tag name="RAINPROBLEM" val="ProblemSubmit"/>
  <p:tag name="RAINPROBLEMTYPE" val="MultipleChoice"/>
</p:tagLst>
</file>

<file path=ppt/tags/tag126.xml><?xml version="1.0" encoding="utf-8"?>
<p:tagLst xmlns:p="http://schemas.openxmlformats.org/presentationml/2006/main">
  <p:tag name="RAINPROBLEMTYPE" val="ProblemTypeMarker"/>
</p:tagLst>
</file>

<file path=ppt/tags/tag127.xml><?xml version="1.0" encoding="utf-8"?>
<p:tagLst xmlns:p="http://schemas.openxmlformats.org/presentationml/2006/main">
  <p:tag name="RAINPROBLEMTYPE" val="ProblemTypeMarker"/>
</p:tagLst>
</file>

<file path=ppt/tags/tag128.xml><?xml version="1.0" encoding="utf-8"?>
<p:tagLst xmlns:p="http://schemas.openxmlformats.org/presentationml/2006/main">
  <p:tag name="RAINPROBLEMTYPE" val="ProblemTypeMarker"/>
</p:tagLst>
</file>

<file path=ppt/tags/tag129.xml><?xml version="1.0" encoding="utf-8"?>
<p:tagLst xmlns:p="http://schemas.openxmlformats.org/presentationml/2006/main">
  <p:tag name="RAINPROBLEMTYPE" val="ProblemTypeMarker"/>
</p:tagLst>
</file>

<file path=ppt/tags/tag130.xml><?xml version="1.0" encoding="utf-8"?>
<p:tagLst xmlns:p="http://schemas.openxmlformats.org/presentationml/2006/main">
  <p:tag name="RAINPROBLEMTYPE" val="ProblemTypeMarker"/>
</p:tagLst>
</file>

<file path=ppt/tags/tag131.xml><?xml version="1.0" encoding="utf-8"?>
<p:tagLst xmlns:p="http://schemas.openxmlformats.org/presentationml/2006/main">
  <p:tag name="RAINPROBLEM" val="ProblemSetting"/>
  <p:tag name="RAINPROBLEMTYPE" val="MultipleChoice"/>
</p:tagLst>
</file>

<file path=ppt/tags/tag132.xml><?xml version="1.0" encoding="utf-8"?>
<p:tagLst xmlns:p="http://schemas.openxmlformats.org/presentationml/2006/main">
  <p:tag name="RAINPROBLEM" val="MultipleChoice"/>
  <p:tag name="PROBLEMSCORE" val="1.0"/>
</p:tagLst>
</file>

<file path=ppt/tags/tag133.xml><?xml version="1.0" encoding="utf-8"?>
<p:tagLst xmlns:p="http://schemas.openxmlformats.org/presentationml/2006/main">
  <p:tag name="RAINPROBLEM" val="ProblemBody"/>
</p:tagLst>
</file>

<file path=ppt/tags/tag134.xml><?xml version="1.0" encoding="utf-8"?>
<p:tagLst xmlns:p="http://schemas.openxmlformats.org/presentationml/2006/main">
  <p:tag name="RAINPROBLEM" val="ProblemItem"/>
</p:tagLst>
</file>

<file path=ppt/tags/tag135.xml><?xml version="1.0" encoding="utf-8"?>
<p:tagLst xmlns:p="http://schemas.openxmlformats.org/presentationml/2006/main">
  <p:tag name="RAINPROBLEM" val="ProblemItem"/>
</p:tagLst>
</file>

<file path=ppt/tags/tag136.xml><?xml version="1.0" encoding="utf-8"?>
<p:tagLst xmlns:p="http://schemas.openxmlformats.org/presentationml/2006/main">
  <p:tag name="RAINPROBLEM" val="ProblemItem"/>
</p:tagLst>
</file>

<file path=ppt/tags/tag137.xml><?xml version="1.0" encoding="utf-8"?>
<p:tagLst xmlns:p="http://schemas.openxmlformats.org/presentationml/2006/main">
  <p:tag name="RAINPROBLEM" val="ProblemItem"/>
</p:tagLst>
</file>

<file path=ppt/tags/tag13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42.xml><?xml version="1.0" encoding="utf-8"?>
<p:tagLst xmlns:p="http://schemas.openxmlformats.org/presentationml/2006/main">
  <p:tag name="RAINPROBLEM" val="ProblemSubmit"/>
  <p:tag name="RAINPROBLEMTYPE" val="MultipleChoice"/>
</p:tagLst>
</file>

<file path=ppt/tags/tag143.xml><?xml version="1.0" encoding="utf-8"?>
<p:tagLst xmlns:p="http://schemas.openxmlformats.org/presentationml/2006/main">
  <p:tag name="RAINPROBLEMTYPE" val="ProblemTypeMarker"/>
</p:tagLst>
</file>

<file path=ppt/tags/tag144.xml><?xml version="1.0" encoding="utf-8"?>
<p:tagLst xmlns:p="http://schemas.openxmlformats.org/presentationml/2006/main">
  <p:tag name="RAINPROBLEMTYPE" val="ProblemTypeMarker"/>
</p:tagLst>
</file>

<file path=ppt/tags/tag145.xml><?xml version="1.0" encoding="utf-8"?>
<p:tagLst xmlns:p="http://schemas.openxmlformats.org/presentationml/2006/main">
  <p:tag name="RAINPROBLEMTYPE" val="ProblemTypeMarker"/>
</p:tagLst>
</file>

<file path=ppt/tags/tag146.xml><?xml version="1.0" encoding="utf-8"?>
<p:tagLst xmlns:p="http://schemas.openxmlformats.org/presentationml/2006/main">
  <p:tag name="RAINPROBLEMTYPE" val="ProblemTypeMarker"/>
</p:tagLst>
</file>

<file path=ppt/tags/tag147.xml><?xml version="1.0" encoding="utf-8"?>
<p:tagLst xmlns:p="http://schemas.openxmlformats.org/presentationml/2006/main">
  <p:tag name="RAINPROBLEMTYPE" val="ProblemTypeMarker"/>
</p:tagLst>
</file>

<file path=ppt/tags/tag148.xml><?xml version="1.0" encoding="utf-8"?>
<p:tagLst xmlns:p="http://schemas.openxmlformats.org/presentationml/2006/main">
  <p:tag name="RAINPROBLEM" val="ProblemSetting"/>
  <p:tag name="RAINPROBLEMTYPE" val="MultipleChoice"/>
</p:tagLst>
</file>

<file path=ppt/tags/tag149.xml><?xml version="1.0" encoding="utf-8"?>
<p:tagLst xmlns:p="http://schemas.openxmlformats.org/presentationml/2006/main">
  <p:tag name="RAINPROBLEM" val="MultipleChoice"/>
  <p:tag name="PROBLEMSCORE" val="1.0"/>
</p:tagLst>
</file>

<file path=ppt/tags/tag150.xml><?xml version="1.0" encoding="utf-8"?>
<p:tagLst xmlns:p="http://schemas.openxmlformats.org/presentationml/2006/main">
  <p:tag name="RAINPROBLEM" val="ProblemBody"/>
</p:tagLst>
</file>

<file path=ppt/tags/tag151.xml><?xml version="1.0" encoding="utf-8"?>
<p:tagLst xmlns:p="http://schemas.openxmlformats.org/presentationml/2006/main">
  <p:tag name="RAINPROBLEM" val="ProblemItem"/>
</p:tagLst>
</file>

<file path=ppt/tags/tag152.xml><?xml version="1.0" encoding="utf-8"?>
<p:tagLst xmlns:p="http://schemas.openxmlformats.org/presentationml/2006/main">
  <p:tag name="RAINPROBLEM" val="ProblemItem"/>
</p:tagLst>
</file>

<file path=ppt/tags/tag153.xml><?xml version="1.0" encoding="utf-8"?>
<p:tagLst xmlns:p="http://schemas.openxmlformats.org/presentationml/2006/main">
  <p:tag name="RAINPROBLEM" val="ProblemItem"/>
</p:tagLst>
</file>

<file path=ppt/tags/tag154.xml><?xml version="1.0" encoding="utf-8"?>
<p:tagLst xmlns:p="http://schemas.openxmlformats.org/presentationml/2006/main">
  <p:tag name="RAINPROBLEM" val="ProblemItem"/>
</p:tagLst>
</file>

<file path=ppt/tags/tag15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5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9.xml><?xml version="1.0" encoding="utf-8"?>
<p:tagLst xmlns:p="http://schemas.openxmlformats.org/presentationml/2006/main">
  <p:tag name="RAINPROBLEM" val="ProblemSubmit"/>
  <p:tag name="RAINPROBLEMTYPE" val="MultipleChoice"/>
</p:tagLst>
</file>

<file path=ppt/tags/tag160.xml><?xml version="1.0" encoding="utf-8"?>
<p:tagLst xmlns:p="http://schemas.openxmlformats.org/presentationml/2006/main">
  <p:tag name="RAINPROBLEMTYPE" val="ProblemTypeMarker"/>
</p:tagLst>
</file>

<file path=ppt/tags/tag161.xml><?xml version="1.0" encoding="utf-8"?>
<p:tagLst xmlns:p="http://schemas.openxmlformats.org/presentationml/2006/main">
  <p:tag name="RAINPROBLEMTYPE" val="ProblemTypeMarker"/>
</p:tagLst>
</file>

<file path=ppt/tags/tag162.xml><?xml version="1.0" encoding="utf-8"?>
<p:tagLst xmlns:p="http://schemas.openxmlformats.org/presentationml/2006/main">
  <p:tag name="RAINPROBLEMTYPE" val="ProblemTypeMarker"/>
</p:tagLst>
</file>

<file path=ppt/tags/tag163.xml><?xml version="1.0" encoding="utf-8"?>
<p:tagLst xmlns:p="http://schemas.openxmlformats.org/presentationml/2006/main">
  <p:tag name="RAINPROBLEMTYPE" val="ProblemTypeMarker"/>
</p:tagLst>
</file>

<file path=ppt/tags/tag164.xml><?xml version="1.0" encoding="utf-8"?>
<p:tagLst xmlns:p="http://schemas.openxmlformats.org/presentationml/2006/main">
  <p:tag name="RAINPROBLEMTYPE" val="ProblemTypeMarker"/>
</p:tagLst>
</file>

<file path=ppt/tags/tag165.xml><?xml version="1.0" encoding="utf-8"?>
<p:tagLst xmlns:p="http://schemas.openxmlformats.org/presentationml/2006/main">
  <p:tag name="RAINPROBLEM" val="ProblemSetting"/>
  <p:tag name="RAINPROBLEMTYPE" val="MultipleChoice"/>
</p:tagLst>
</file>

<file path=ppt/tags/tag166.xml><?xml version="1.0" encoding="utf-8"?>
<p:tagLst xmlns:p="http://schemas.openxmlformats.org/presentationml/2006/main">
  <p:tag name="RAINPROBLEM" val="MultipleChoice"/>
  <p:tag name="PROBLEMSCORE" val="1.0"/>
</p:tagLst>
</file>

<file path=ppt/tags/tag167.xml><?xml version="1.0" encoding="utf-8"?>
<p:tagLst xmlns:p="http://schemas.openxmlformats.org/presentationml/2006/main">
  <p:tag name="RAINPROBLEM" val="ProblemBody"/>
</p:tagLst>
</file>

<file path=ppt/tags/tag168.xml><?xml version="1.0" encoding="utf-8"?>
<p:tagLst xmlns:p="http://schemas.openxmlformats.org/presentationml/2006/main">
  <p:tag name="RAINPROBLEM" val="ProblemItem"/>
</p:tagLst>
</file>

<file path=ppt/tags/tag169.xml><?xml version="1.0" encoding="utf-8"?>
<p:tagLst xmlns:p="http://schemas.openxmlformats.org/presentationml/2006/main">
  <p:tag name="RAINPROBLEM" val="ProblemItem"/>
</p:tagLst>
</file>

<file path=ppt/tags/tag170.xml><?xml version="1.0" encoding="utf-8"?>
<p:tagLst xmlns:p="http://schemas.openxmlformats.org/presentationml/2006/main">
  <p:tag name="RAINPROBLEM" val="ProblemItem"/>
</p:tagLst>
</file>

<file path=ppt/tags/tag171.xml><?xml version="1.0" encoding="utf-8"?>
<p:tagLst xmlns:p="http://schemas.openxmlformats.org/presentationml/2006/main">
  <p:tag name="RAINPROBLEM" val="ProblemItem"/>
</p:tagLst>
</file>

<file path=ppt/tags/tag17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6.xml><?xml version="1.0" encoding="utf-8"?>
<p:tagLst xmlns:p="http://schemas.openxmlformats.org/presentationml/2006/main">
  <p:tag name="RAINPROBLEM" val="ProblemSubmit"/>
  <p:tag name="RAINPROBLEMTYPE" val="MultipleChoice"/>
</p:tagLst>
</file>

<file path=ppt/tags/tag177.xml><?xml version="1.0" encoding="utf-8"?>
<p:tagLst xmlns:p="http://schemas.openxmlformats.org/presentationml/2006/main">
  <p:tag name="RAINPROBLEMTYPE" val="ProblemTypeMarker"/>
</p:tagLst>
</file>

<file path=ppt/tags/tag178.xml><?xml version="1.0" encoding="utf-8"?>
<p:tagLst xmlns:p="http://schemas.openxmlformats.org/presentationml/2006/main">
  <p:tag name="RAINPROBLEMTYPE" val="ProblemTypeMarker"/>
</p:tagLst>
</file>

<file path=ppt/tags/tag179.xml><?xml version="1.0" encoding="utf-8"?>
<p:tagLst xmlns:p="http://schemas.openxmlformats.org/presentationml/2006/main">
  <p:tag name="RAINPROBLEMTYPE" val="ProblemTypeMarker"/>
</p:tagLst>
</file>

<file path=ppt/tags/tag180.xml><?xml version="1.0" encoding="utf-8"?>
<p:tagLst xmlns:p="http://schemas.openxmlformats.org/presentationml/2006/main">
  <p:tag name="RAINPROBLEMTYPE" val="ProblemTypeMarker"/>
</p:tagLst>
</file>

<file path=ppt/tags/tag181.xml><?xml version="1.0" encoding="utf-8"?>
<p:tagLst xmlns:p="http://schemas.openxmlformats.org/presentationml/2006/main">
  <p:tag name="RAINPROBLEMTYPE" val="ProblemTypeMarker"/>
</p:tagLst>
</file>

<file path=ppt/tags/tag182.xml><?xml version="1.0" encoding="utf-8"?>
<p:tagLst xmlns:p="http://schemas.openxmlformats.org/presentationml/2006/main">
  <p:tag name="RAINPROBLEM" val="ProblemSetting"/>
  <p:tag name="RAINPROBLEMTYPE" val="MultipleChoice"/>
</p:tagLst>
</file>

<file path=ppt/tags/tag183.xml><?xml version="1.0" encoding="utf-8"?>
<p:tagLst xmlns:p="http://schemas.openxmlformats.org/presentationml/2006/main">
  <p:tag name="RAINPROBLEM" val="MultipleChoice"/>
  <p:tag name="PROBLEMSCORE" val="1.0"/>
</p:tagLst>
</file>

<file path=ppt/tags/tag184.xml><?xml version="1.0" encoding="utf-8"?>
<p:tagLst xmlns:p="http://schemas.openxmlformats.org/presentationml/2006/main">
  <p:tag name="RAINPROBLEM" val="ProblemBody"/>
</p:tagLst>
</file>

<file path=ppt/tags/tag185.xml><?xml version="1.0" encoding="utf-8"?>
<p:tagLst xmlns:p="http://schemas.openxmlformats.org/presentationml/2006/main">
  <p:tag name="RAINPROBLEM" val="ProblemItem"/>
</p:tagLst>
</file>

<file path=ppt/tags/tag186.xml><?xml version="1.0" encoding="utf-8"?>
<p:tagLst xmlns:p="http://schemas.openxmlformats.org/presentationml/2006/main">
  <p:tag name="RAINPROBLEM" val="ProblemItem"/>
</p:tagLst>
</file>

<file path=ppt/tags/tag187.xml><?xml version="1.0" encoding="utf-8"?>
<p:tagLst xmlns:p="http://schemas.openxmlformats.org/presentationml/2006/main">
  <p:tag name="RAINPROBLEM" val="ProblemItem"/>
</p:tagLst>
</file>

<file path=ppt/tags/tag188.xml><?xml version="1.0" encoding="utf-8"?>
<p:tagLst xmlns:p="http://schemas.openxmlformats.org/presentationml/2006/main">
  <p:tag name="RAINPROBLEM" val="ProblemItem"/>
</p:tagLst>
</file>

<file path=ppt/tags/tag18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9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3.xml><?xml version="1.0" encoding="utf-8"?>
<p:tagLst xmlns:p="http://schemas.openxmlformats.org/presentationml/2006/main">
  <p:tag name="RAINPROBLEM" val="ProblemSubmit"/>
  <p:tag name="RAINPROBLEMTYPE" val="MultipleChoice"/>
</p:tagLst>
</file>

<file path=ppt/tags/tag194.xml><?xml version="1.0" encoding="utf-8"?>
<p:tagLst xmlns:p="http://schemas.openxmlformats.org/presentationml/2006/main">
  <p:tag name="RAINPROBLEMTYPE" val="ProblemTypeMarker"/>
</p:tagLst>
</file>

<file path=ppt/tags/tag195.xml><?xml version="1.0" encoding="utf-8"?>
<p:tagLst xmlns:p="http://schemas.openxmlformats.org/presentationml/2006/main">
  <p:tag name="RAINPROBLEMTYPE" val="ProblemTypeMarker"/>
</p:tagLst>
</file>

<file path=ppt/tags/tag196.xml><?xml version="1.0" encoding="utf-8"?>
<p:tagLst xmlns:p="http://schemas.openxmlformats.org/presentationml/2006/main">
  <p:tag name="RAINPROBLEMTYPE" val="ProblemTypeMarker"/>
</p:tagLst>
</file>

<file path=ppt/tags/tag197.xml><?xml version="1.0" encoding="utf-8"?>
<p:tagLst xmlns:p="http://schemas.openxmlformats.org/presentationml/2006/main">
  <p:tag name="RAINPROBLEMTYPE" val="ProblemTypeMarker"/>
</p:tagLst>
</file>

<file path=ppt/tags/tag198.xml><?xml version="1.0" encoding="utf-8"?>
<p:tagLst xmlns:p="http://schemas.openxmlformats.org/presentationml/2006/main">
  <p:tag name="RAINPROBLEMTYPE" val="ProblemTypeMarker"/>
</p:tagLst>
</file>

<file path=ppt/tags/tag199.xml><?xml version="1.0" encoding="utf-8"?>
<p:tagLst xmlns:p="http://schemas.openxmlformats.org/presentationml/2006/main">
  <p:tag name="RAINPROBLEM" val="ProblemSetting"/>
  <p:tag name="RAINPROBLEMTYPE" val="MultipleChoice"/>
</p:tagLst>
</file>

<file path=ppt/tags/tag200.xml><?xml version="1.0" encoding="utf-8"?>
<p:tagLst xmlns:p="http://schemas.openxmlformats.org/presentationml/2006/main">
  <p:tag name="RAINPROBLEM" val="MultipleChoice"/>
  <p:tag name="PROBLEMSCORE" val="1.0"/>
</p:tagLst>
</file>

<file path=ppt/tags/tag201.xml><?xml version="1.0" encoding="utf-8"?>
<p:tagLst xmlns:p="http://schemas.openxmlformats.org/presentationml/2006/main">
  <p:tag name="RAINPROBLEM" val="ProblemBody"/>
</p:tagLst>
</file>

<file path=ppt/tags/tag202.xml><?xml version="1.0" encoding="utf-8"?>
<p:tagLst xmlns:p="http://schemas.openxmlformats.org/presentationml/2006/main">
  <p:tag name="RAINPROBLEM" val="ProblemItem"/>
</p:tagLst>
</file>

<file path=ppt/tags/tag203.xml><?xml version="1.0" encoding="utf-8"?>
<p:tagLst xmlns:p="http://schemas.openxmlformats.org/presentationml/2006/main">
  <p:tag name="RAINPROBLEM" val="ProblemItem"/>
</p:tagLst>
</file>

<file path=ppt/tags/tag204.xml><?xml version="1.0" encoding="utf-8"?>
<p:tagLst xmlns:p="http://schemas.openxmlformats.org/presentationml/2006/main">
  <p:tag name="RAINPROBLEM" val="ProblemItem"/>
</p:tagLst>
</file>

<file path=ppt/tags/tag205.xml><?xml version="1.0" encoding="utf-8"?>
<p:tagLst xmlns:p="http://schemas.openxmlformats.org/presentationml/2006/main">
  <p:tag name="RAINPROBLEM" val="ProblemItem"/>
</p:tagLst>
</file>

<file path=ppt/tags/tag20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8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0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0.xml><?xml version="1.0" encoding="utf-8"?>
<p:tagLst xmlns:p="http://schemas.openxmlformats.org/presentationml/2006/main">
  <p:tag name="RAINPROBLEM" val="ProblemSubmit"/>
  <p:tag name="RAINPROBLEMTYPE" val="MultipleChoice"/>
</p:tagLst>
</file>

<file path=ppt/tags/tag211.xml><?xml version="1.0" encoding="utf-8"?>
<p:tagLst xmlns:p="http://schemas.openxmlformats.org/presentationml/2006/main">
  <p:tag name="RAINPROBLEMTYPE" val="ProblemTypeMarker"/>
</p:tagLst>
</file>

<file path=ppt/tags/tag212.xml><?xml version="1.0" encoding="utf-8"?>
<p:tagLst xmlns:p="http://schemas.openxmlformats.org/presentationml/2006/main">
  <p:tag name="RAINPROBLEMTYPE" val="ProblemTypeMarker"/>
</p:tagLst>
</file>

<file path=ppt/tags/tag213.xml><?xml version="1.0" encoding="utf-8"?>
<p:tagLst xmlns:p="http://schemas.openxmlformats.org/presentationml/2006/main">
  <p:tag name="RAINPROBLEMTYPE" val="ProblemTypeMarker"/>
</p:tagLst>
</file>

<file path=ppt/tags/tag214.xml><?xml version="1.0" encoding="utf-8"?>
<p:tagLst xmlns:p="http://schemas.openxmlformats.org/presentationml/2006/main">
  <p:tag name="RAINPROBLEMTYPE" val="ProblemTypeMarker"/>
</p:tagLst>
</file>

<file path=ppt/tags/tag215.xml><?xml version="1.0" encoding="utf-8"?>
<p:tagLst xmlns:p="http://schemas.openxmlformats.org/presentationml/2006/main">
  <p:tag name="RAINPROBLEMTYPE" val="ProblemTypeMarker"/>
</p:tagLst>
</file>

<file path=ppt/tags/tag216.xml><?xml version="1.0" encoding="utf-8"?>
<p:tagLst xmlns:p="http://schemas.openxmlformats.org/presentationml/2006/main">
  <p:tag name="RAINPROBLEM" val="ProblemSetting"/>
  <p:tag name="RAINPROBLEMTYPE" val="MultipleChoice"/>
</p:tagLst>
</file>

<file path=ppt/tags/tag217.xml><?xml version="1.0" encoding="utf-8"?>
<p:tagLst xmlns:p="http://schemas.openxmlformats.org/presentationml/2006/main">
  <p:tag name="RAINPROBLEM" val="MultipleChoice"/>
  <p:tag name="PROBLEMSCORE" val="1.0"/>
</p:tagLst>
</file>

<file path=ppt/theme/theme1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FD1"/>
      </a:accent5>
      <a:accent6>
        <a:srgbClr val="2D2DB9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F0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F0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lends 2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0</TotalTime>
  <Words>21413</Words>
  <Application>WPS 演示</Application>
  <PresentationFormat>全屏显示(4:3)</PresentationFormat>
  <Paragraphs>1340</Paragraphs>
  <Slides>88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88</vt:i4>
      </vt:variant>
    </vt:vector>
  </HeadingPairs>
  <TitlesOfParts>
    <vt:vector size="100" baseType="lpstr">
      <vt:lpstr>Arial</vt:lpstr>
      <vt:lpstr>宋体</vt:lpstr>
      <vt:lpstr>Wingdings</vt:lpstr>
      <vt:lpstr>Tahoma</vt:lpstr>
      <vt:lpstr>Times New Roman</vt:lpstr>
      <vt:lpstr>Symbol</vt:lpstr>
      <vt:lpstr>微软雅黑</vt:lpstr>
      <vt:lpstr>Arial Unicode MS</vt:lpstr>
      <vt:lpstr>黑体</vt:lpstr>
      <vt:lpstr>Times New Roman</vt:lpstr>
      <vt:lpstr>Arial Unicode MS</vt:lpstr>
      <vt:lpstr>Blends</vt:lpstr>
      <vt:lpstr>第八章  中间代码生成</vt:lpstr>
      <vt:lpstr>学习内容</vt:lpstr>
      <vt:lpstr>8.1 中间语言</vt:lpstr>
      <vt:lpstr>语法制导定义构造语法树</vt:lpstr>
      <vt:lpstr>语法树的计算机内部表示</vt:lpstr>
      <vt:lpstr>8.1.2  三地址码</vt:lpstr>
      <vt:lpstr>8.1.3  三地址码语句类型</vt:lpstr>
      <vt:lpstr>语法制导翻译生成三地址码</vt:lpstr>
      <vt:lpstr>赋值语句的翻译</vt:lpstr>
      <vt:lpstr>中间代码生成示例</vt:lpstr>
      <vt:lpstr>控制流语句的翻译</vt:lpstr>
      <vt:lpstr>8.1.5  三地址码的实现</vt:lpstr>
      <vt:lpstr>三元运算的实现——拆分</vt:lpstr>
      <vt:lpstr>间接三元组实现方式</vt:lpstr>
      <vt:lpstr>8.2  声明语句的翻译</vt:lpstr>
      <vt:lpstr>8.2.2  作用域的处理</vt:lpstr>
      <vt:lpstr>处理作用域的翻译模式</vt:lpstr>
      <vt:lpstr>8.2.3  记录类型的处理</vt:lpstr>
      <vt:lpstr>8.3  赋值语句</vt:lpstr>
      <vt:lpstr>8.3.2  临时名字的重用</vt:lpstr>
      <vt:lpstr>重用算法</vt:lpstr>
      <vt:lpstr>例8.1</vt:lpstr>
      <vt:lpstr>8.3.3  数组元素寻址</vt:lpstr>
      <vt:lpstr>数组元素寻址（续）</vt:lpstr>
      <vt:lpstr>数组元素寻址（续）</vt:lpstr>
      <vt:lpstr>实现方法</vt:lpstr>
      <vt:lpstr>8.3.4  数组元素寻址的翻译模式</vt:lpstr>
      <vt:lpstr>数组元素寻址的翻译模式(续)</vt:lpstr>
      <vt:lpstr>数组元素寻址的翻译模式(续)</vt:lpstr>
      <vt:lpstr>数组元素寻址的翻译模式(续)</vt:lpstr>
      <vt:lpstr>例8.2</vt:lpstr>
      <vt:lpstr>8.3.5  类型转换</vt:lpstr>
      <vt:lpstr>类型转换例子</vt:lpstr>
      <vt:lpstr>8.3.6  记录（结构）域的访问</vt:lpstr>
      <vt:lpstr>8.4  布尔表达式的翻译</vt:lpstr>
      <vt:lpstr>8.4.2  用数值表示布尔值</vt:lpstr>
      <vt:lpstr>翻译模式</vt:lpstr>
      <vt:lpstr>例8.3</vt:lpstr>
      <vt:lpstr>8.4.3  控制流语句的翻译</vt:lpstr>
      <vt:lpstr>语法制导定义－if</vt:lpstr>
      <vt:lpstr>语法制导定义－if-else</vt:lpstr>
      <vt:lpstr>语法制导定义－While</vt:lpstr>
      <vt:lpstr>8.4.5  布尔表达式结合控制流语句翻译</vt:lpstr>
      <vt:lpstr>例8.4</vt:lpstr>
      <vt:lpstr>例8.5</vt:lpstr>
      <vt:lpstr>8.4.6  混合翻译方式</vt:lpstr>
      <vt:lpstr>8.5  case语句的翻译</vt:lpstr>
      <vt:lpstr>翻译方法</vt:lpstr>
      <vt:lpstr>翻译方法1</vt:lpstr>
      <vt:lpstr>翻译方法2</vt:lpstr>
      <vt:lpstr>8.6  BackPatching技术</vt:lpstr>
      <vt:lpstr>8.6.1  语法制导定义</vt:lpstr>
      <vt:lpstr>语法制导定义（续）</vt:lpstr>
      <vt:lpstr>例8.6</vt:lpstr>
      <vt:lpstr>例8.6（续）</vt:lpstr>
      <vt:lpstr>例8.6（续）</vt:lpstr>
      <vt:lpstr>8.6.2  控制流语句的翻译</vt:lpstr>
      <vt:lpstr>控制流语句的翻译（续）</vt:lpstr>
      <vt:lpstr>8.7  过程调用的翻译</vt:lpstr>
      <vt:lpstr>简单例子</vt:lpstr>
      <vt:lpstr>简单例子（续）</vt:lpstr>
      <vt:lpstr>递归遍历语法树生成代码</vt:lpstr>
      <vt:lpstr>打印程序头部</vt:lpstr>
      <vt:lpstr>变量声明</vt:lpstr>
      <vt:lpstr>变量声明（续）</vt:lpstr>
      <vt:lpstr>递归代码生成函数入口</vt:lpstr>
      <vt:lpstr>表达式代码生成</vt:lpstr>
      <vt:lpstr>表达式代码生成（续）</vt:lpstr>
      <vt:lpstr>表达式代码生成（续）</vt:lpstr>
      <vt:lpstr>语句代码生成</vt:lpstr>
      <vt:lpstr>语句代码生成（续）</vt:lpstr>
      <vt:lpstr>语句代码生成（续）</vt:lpstr>
      <vt:lpstr>语句代码生成（续）</vt:lpstr>
      <vt:lpstr>语句代码生成（续）</vt:lpstr>
      <vt:lpstr>语句代码生成（续）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南开大学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介绍</dc:title>
  <dc:creator>王刚</dc:creator>
  <cp:lastModifiedBy>蒋枘言</cp:lastModifiedBy>
  <cp:revision>1866</cp:revision>
  <dcterms:created xsi:type="dcterms:W3CDTF">2003-06-05T11:51:00Z</dcterms:created>
  <dcterms:modified xsi:type="dcterms:W3CDTF">2025-12-01T07:09:26Z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934B2F613AC443259CD16B37CC5B60EB_12</vt:lpwstr>
  </property>
  <property fmtid="{D5CDD505-2E9C-101B-9397-08002B2CF9AE}" pid="3" name="KSOProductBuildVer">
    <vt:lpwstr>2052-12.1.0.20305</vt:lpwstr>
  </property>
</Properties>
</file>