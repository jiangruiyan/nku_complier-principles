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2"/>
  </p:notesMasterIdLst>
  <p:handoutMasterIdLst>
    <p:handoutMasterId r:id="rId133"/>
  </p:handoutMasterIdLst>
  <p:sldIdLst>
    <p:sldId id="256" r:id="rId3"/>
    <p:sldId id="364" r:id="rId4"/>
    <p:sldId id="257" r:id="rId5"/>
    <p:sldId id="258" r:id="rId6"/>
    <p:sldId id="259" r:id="rId7"/>
    <p:sldId id="260" r:id="rId8"/>
    <p:sldId id="261" r:id="rId9"/>
    <p:sldId id="368" r:id="rId10"/>
    <p:sldId id="262" r:id="rId11"/>
    <p:sldId id="369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271" r:id="rId20"/>
    <p:sldId id="370" r:id="rId21"/>
    <p:sldId id="272" r:id="rId22"/>
    <p:sldId id="371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380" r:id="rId32"/>
    <p:sldId id="385" r:id="rId33"/>
    <p:sldId id="386" r:id="rId34"/>
    <p:sldId id="381" r:id="rId35"/>
    <p:sldId id="383" r:id="rId36"/>
    <p:sldId id="382" r:id="rId37"/>
    <p:sldId id="384" r:id="rId38"/>
    <p:sldId id="281" r:id="rId39"/>
    <p:sldId id="372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373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74" r:id="rId60"/>
    <p:sldId id="300" r:id="rId61"/>
    <p:sldId id="301" r:id="rId62"/>
    <p:sldId id="302" r:id="rId63"/>
    <p:sldId id="375" r:id="rId64"/>
    <p:sldId id="303" r:id="rId65"/>
    <p:sldId id="304" r:id="rId66"/>
    <p:sldId id="376" r:id="rId67"/>
    <p:sldId id="305" r:id="rId68"/>
    <p:sldId id="306" r:id="rId69"/>
    <p:sldId id="307" r:id="rId70"/>
    <p:sldId id="308" r:id="rId71"/>
    <p:sldId id="377" r:id="rId72"/>
    <p:sldId id="365" r:id="rId73"/>
    <p:sldId id="309" r:id="rId74"/>
    <p:sldId id="310" r:id="rId75"/>
    <p:sldId id="311" r:id="rId76"/>
    <p:sldId id="312" r:id="rId77"/>
    <p:sldId id="378" r:id="rId78"/>
    <p:sldId id="313" r:id="rId79"/>
    <p:sldId id="314" r:id="rId80"/>
    <p:sldId id="315" r:id="rId81"/>
    <p:sldId id="316" r:id="rId82"/>
    <p:sldId id="317" r:id="rId83"/>
    <p:sldId id="318" r:id="rId84"/>
    <p:sldId id="319" r:id="rId85"/>
    <p:sldId id="366" r:id="rId86"/>
    <p:sldId id="367" r:id="rId87"/>
    <p:sldId id="321" r:id="rId88"/>
    <p:sldId id="379" r:id="rId89"/>
    <p:sldId id="322" r:id="rId90"/>
    <p:sldId id="323" r:id="rId91"/>
    <p:sldId id="324" r:id="rId92"/>
    <p:sldId id="325" r:id="rId93"/>
    <p:sldId id="326" r:id="rId94"/>
    <p:sldId id="327" r:id="rId95"/>
    <p:sldId id="328" r:id="rId96"/>
    <p:sldId id="329" r:id="rId97"/>
    <p:sldId id="330" r:id="rId98"/>
    <p:sldId id="331" r:id="rId99"/>
    <p:sldId id="332" r:id="rId100"/>
    <p:sldId id="333" r:id="rId101"/>
    <p:sldId id="334" r:id="rId102"/>
    <p:sldId id="335" r:id="rId103"/>
    <p:sldId id="336" r:id="rId104"/>
    <p:sldId id="337" r:id="rId105"/>
    <p:sldId id="338" r:id="rId106"/>
    <p:sldId id="339" r:id="rId107"/>
    <p:sldId id="340" r:id="rId108"/>
    <p:sldId id="341" r:id="rId109"/>
    <p:sldId id="342" r:id="rId110"/>
    <p:sldId id="343" r:id="rId111"/>
    <p:sldId id="344" r:id="rId112"/>
    <p:sldId id="345" r:id="rId113"/>
    <p:sldId id="346" r:id="rId114"/>
    <p:sldId id="347" r:id="rId115"/>
    <p:sldId id="348" r:id="rId116"/>
    <p:sldId id="349" r:id="rId117"/>
    <p:sldId id="350" r:id="rId118"/>
    <p:sldId id="351" r:id="rId119"/>
    <p:sldId id="352" r:id="rId120"/>
    <p:sldId id="353" r:id="rId121"/>
    <p:sldId id="354" r:id="rId122"/>
    <p:sldId id="355" r:id="rId123"/>
    <p:sldId id="356" r:id="rId124"/>
    <p:sldId id="357" r:id="rId125"/>
    <p:sldId id="358" r:id="rId126"/>
    <p:sldId id="359" r:id="rId127"/>
    <p:sldId id="360" r:id="rId128"/>
    <p:sldId id="361" r:id="rId129"/>
    <p:sldId id="362" r:id="rId130"/>
    <p:sldId id="363" r:id="rId13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CF01"/>
    <a:srgbClr val="0000FF"/>
    <a:srgbClr val="3333CC"/>
    <a:srgbClr val="800000"/>
    <a:srgbClr val="99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83" autoAdjust="0"/>
  </p:normalViewPr>
  <p:slideViewPr>
    <p:cSldViewPr showGuides="1">
      <p:cViewPr varScale="1">
        <p:scale>
          <a:sx n="120" d="100"/>
          <a:sy n="120" d="100"/>
        </p:scale>
        <p:origin x="13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6" Type="http://schemas.openxmlformats.org/officeDocument/2006/relationships/tableStyles" Target="tableStyles.xml"/><Relationship Id="rId135" Type="http://schemas.openxmlformats.org/officeDocument/2006/relationships/viewProps" Target="viewProps.xml"/><Relationship Id="rId134" Type="http://schemas.openxmlformats.org/officeDocument/2006/relationships/presProps" Target="presProps.xml"/><Relationship Id="rId133" Type="http://schemas.openxmlformats.org/officeDocument/2006/relationships/handoutMaster" Target="handoutMasters/handoutMaster1.xml"/><Relationship Id="rId132" Type="http://schemas.openxmlformats.org/officeDocument/2006/relationships/notesMaster" Target="notesMasters/notesMaster1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EC6498E-F568-447E-B016-E17035CDD4D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8D2062-0386-47B9-876B-21174DDAC53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0162EEC-7CB7-4FF3-AC1D-D595C40CCBD0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47634-3B98-4851-A2A0-2C4641F16F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4FD7D-2A14-4923-8927-5A01FA9653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1826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1450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5BC2D-87C8-4368-8A6D-B2CF911AF5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1BC09D-8EAC-4229-9C74-64374EC16F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00D00-8E91-4AB1-9C75-704D0DB388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63AE20-DA72-4DDA-A903-643CF25396A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CB451-BEEC-42F5-A09D-0BCEC161A5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AB07D-BFD6-4AAA-BA6C-ED439279022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4C186-2D1E-4D0B-8563-A7986EC008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4C9BB-6340-44AD-909F-24B37EDB85C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A424FA42-5F07-4F9A-9957-830C75DC4EA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 kern="1200">
          <a:solidFill>
            <a:srgbClr val="3333C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 kern="1200">
          <a:solidFill>
            <a:srgbClr val="FF33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第五章  语法制导翻译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学习重点</a:t>
            </a: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语法制导定义概念</a:t>
            </a:r>
            <a:endParaRPr lang="zh-CN" altLang="en-US"/>
          </a:p>
          <a:p>
            <a:pPr eaLnBrk="1" hangingPunct="1"/>
            <a:r>
              <a:rPr lang="zh-CN" altLang="en-US"/>
              <a:t>利用语法制导定义构造语法树</a:t>
            </a:r>
            <a:endParaRPr lang="zh-CN" altLang="en-US"/>
          </a:p>
          <a:p>
            <a:pPr eaLnBrk="1" hangingPunct="1"/>
            <a:r>
              <a:rPr lang="en-US" altLang="zh-CN"/>
              <a:t>S-</a:t>
            </a:r>
            <a:r>
              <a:rPr lang="zh-CN" altLang="en-US"/>
              <a:t>属性定义、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  <a:endParaRPr lang="zh-CN" altLang="en-US"/>
          </a:p>
          <a:p>
            <a:pPr eaLnBrk="1" hangingPunct="1"/>
            <a:r>
              <a:rPr lang="zh-CN" altLang="en-US"/>
              <a:t>自顶向下计算属性</a:t>
            </a:r>
            <a:endParaRPr lang="zh-CN" altLang="en-US"/>
          </a:p>
          <a:p>
            <a:pPr eaLnBrk="1" hangingPunct="1"/>
            <a:r>
              <a:rPr lang="zh-CN" altLang="en-US"/>
              <a:t>自底向上计算属性</a:t>
            </a:r>
            <a:endParaRPr lang="zh-CN" altLang="en-US"/>
          </a:p>
          <a:p>
            <a:pPr eaLnBrk="1" hangingPunct="1"/>
            <a:r>
              <a:rPr lang="zh-CN" altLang="en-US"/>
              <a:t>递归方法计算属性</a:t>
            </a:r>
            <a:endParaRPr lang="zh-CN" altLang="en-US"/>
          </a:p>
          <a:p>
            <a:pPr eaLnBrk="1" hangingPunct="1"/>
            <a:r>
              <a:rPr lang="zh-CN" altLang="en-US"/>
              <a:t>内存分配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362200"/>
            <a:ext cx="7772400" cy="4343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语法制导定义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翻译模式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“编程语言的翻译根据语法进行”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“属性”，</a:t>
            </a:r>
            <a:r>
              <a:rPr lang="en-US" altLang="zh-CN" sz="2800" dirty="0">
                <a:solidFill>
                  <a:srgbClr val="FF3300"/>
                </a:solidFill>
              </a:rPr>
              <a:t>attribute</a:t>
            </a:r>
            <a:r>
              <a:rPr lang="en-US" altLang="zh-CN" sz="2800" dirty="0"/>
              <a:t>——</a:t>
            </a:r>
            <a:r>
              <a:rPr lang="zh-CN" altLang="en-US" sz="2800" dirty="0"/>
              <a:t>翻译结果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每个语法符号与若干属性相关联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翻译</a:t>
            </a:r>
            <a:r>
              <a:rPr lang="en-US" altLang="zh-CN" sz="2800" dirty="0"/>
              <a:t>——</a:t>
            </a:r>
            <a:r>
              <a:rPr lang="zh-CN" altLang="en-US" sz="2800" dirty="0"/>
              <a:t>指定属性的相互依赖关系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语义规则，</a:t>
            </a:r>
            <a:r>
              <a:rPr lang="en-US" altLang="zh-CN" sz="2800" dirty="0">
                <a:solidFill>
                  <a:srgbClr val="FF3300"/>
                </a:solidFill>
              </a:rPr>
              <a:t>semantic rule</a:t>
            </a:r>
            <a:r>
              <a:rPr lang="en-US" altLang="zh-CN" sz="2800" dirty="0"/>
              <a:t>——</a:t>
            </a:r>
            <a:r>
              <a:rPr lang="zh-CN" altLang="en-US" sz="2800" dirty="0"/>
              <a:t>翻译规则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语义规则的执行顺序反映属性的相互关系</a:t>
            </a:r>
            <a:endParaRPr lang="zh-CN" altLang="en-US" sz="2800" dirty="0"/>
          </a:p>
        </p:txBody>
      </p:sp>
      <p:pic>
        <p:nvPicPr>
          <p:cNvPr id="7172" name="Picture 4" descr="genera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00175"/>
            <a:ext cx="662146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  </a:t>
            </a:r>
            <a:r>
              <a:rPr lang="zh-CN" altLang="en-US"/>
              <a:t>语法制导定义</a:t>
            </a:r>
            <a:endParaRPr lang="zh-C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3340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扩充</a:t>
            </a:r>
            <a:r>
              <a:rPr lang="en-US" altLang="zh-CN" sz="2800" dirty="0"/>
              <a:t>CFG</a:t>
            </a:r>
            <a:endParaRPr lang="en-US" altLang="zh-CN" sz="2800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sz="2400" dirty="0"/>
              <a:t>语法符号</a:t>
            </a:r>
            <a:r>
              <a:rPr lang="zh-CN" altLang="en-US" sz="2400" dirty="0">
                <a:sym typeface="Wingdings" panose="05000000000000000000" pitchFamily="2" charset="2"/>
              </a:rPr>
              <a:t>附加</a:t>
            </a:r>
            <a:r>
              <a:rPr lang="zh-CN" altLang="en-US" sz="2400" b="1" dirty="0">
                <a:ea typeface="黑体" panose="02010609060101010101" pitchFamily="49" charset="-122"/>
              </a:rPr>
              <a:t>属性</a:t>
            </a:r>
            <a:r>
              <a:rPr lang="en-US" altLang="zh-CN" sz="2400" dirty="0">
                <a:ea typeface="黑体" panose="02010609060101010101" pitchFamily="49" charset="-122"/>
              </a:rPr>
              <a:t>——</a:t>
            </a:r>
            <a:r>
              <a:rPr lang="zh-CN" altLang="en-US" sz="2400" dirty="0"/>
              <a:t>语法树节点，记录域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产生式</a:t>
            </a:r>
            <a:r>
              <a:rPr lang="zh-CN" altLang="en-US" sz="2400" dirty="0">
                <a:sym typeface="Wingdings" panose="05000000000000000000" pitchFamily="2" charset="2"/>
              </a:rPr>
              <a:t>附加</a:t>
            </a:r>
            <a:r>
              <a:rPr lang="zh-CN" altLang="en-US" sz="2400" b="1" dirty="0">
                <a:ea typeface="黑体" panose="02010609060101010101" pitchFamily="49" charset="-122"/>
              </a:rPr>
              <a:t>语义规则</a:t>
            </a:r>
            <a:r>
              <a:rPr lang="en-US" altLang="zh-CN" sz="2400" dirty="0"/>
              <a:t>——</a:t>
            </a:r>
            <a:r>
              <a:rPr lang="zh-CN" altLang="en-US" sz="2400" dirty="0"/>
              <a:t>语法树节点，属性计算规则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属性类型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综合，</a:t>
            </a:r>
            <a:r>
              <a:rPr lang="en-US" altLang="zh-CN" sz="2400" dirty="0">
                <a:solidFill>
                  <a:srgbClr val="FF3300"/>
                </a:solidFill>
              </a:rPr>
              <a:t>synthesized</a:t>
            </a:r>
            <a:r>
              <a:rPr lang="zh-CN" altLang="en-US" sz="2400" dirty="0"/>
              <a:t>，根据孩子节点属性计算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继承，</a:t>
            </a:r>
            <a:r>
              <a:rPr lang="en-US" altLang="zh-CN" sz="2400" dirty="0">
                <a:solidFill>
                  <a:srgbClr val="FF3300"/>
                </a:solidFill>
              </a:rPr>
              <a:t>inherited</a:t>
            </a:r>
            <a:r>
              <a:rPr lang="zh-CN" altLang="en-US" sz="2400" dirty="0"/>
              <a:t>，由父、兄弟节点属性计算</a:t>
            </a:r>
            <a:endParaRPr lang="zh-CN" altLang="en-US" sz="2400" dirty="0"/>
          </a:p>
          <a:p>
            <a:pPr eaLnBrk="1" hangingPunct="1"/>
            <a:r>
              <a:rPr lang="zh-CN" altLang="en-US" sz="2800" dirty="0"/>
              <a:t>依赖图，</a:t>
            </a:r>
            <a:r>
              <a:rPr lang="en-US" altLang="zh-CN" sz="2800" dirty="0">
                <a:solidFill>
                  <a:srgbClr val="FF3300"/>
                </a:solidFill>
              </a:rPr>
              <a:t>dependency graph</a:t>
            </a: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800" dirty="0"/>
              <a:t>注释语法树：节点属性值计算完毕</a:t>
            </a:r>
            <a:br>
              <a:rPr lang="zh-CN" altLang="en-US" sz="2800" dirty="0"/>
            </a:br>
            <a:r>
              <a:rPr lang="en-US" altLang="zh-CN" sz="2800" dirty="0">
                <a:solidFill>
                  <a:srgbClr val="FF3300"/>
                </a:solidFill>
              </a:rPr>
              <a:t>annotated parse tree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3300"/>
                </a:solidFill>
              </a:rPr>
              <a:t>annotating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3300"/>
                </a:solidFill>
              </a:rPr>
              <a:t>decorating</a:t>
            </a:r>
            <a:br>
              <a:rPr lang="en-US" altLang="zh-CN" sz="2800" dirty="0"/>
            </a:br>
            <a:endParaRPr lang="en-US" altLang="zh-C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5.1.1 </a:t>
            </a:r>
            <a:r>
              <a:rPr lang="zh-CN" altLang="en-US"/>
              <a:t>语法制导定义的形式</a:t>
            </a: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每个产生式</a:t>
            </a:r>
            <a:r>
              <a:rPr lang="en-US" altLang="zh-CN" sz="2800"/>
              <a:t>A </a:t>
            </a:r>
            <a:r>
              <a:rPr lang="en-US" altLang="zh-CN" sz="2800">
                <a:sym typeface="Symbol" panose="05050102010706020507" pitchFamily="18" charset="2"/>
              </a:rPr>
              <a:t> </a:t>
            </a:r>
            <a:r>
              <a:rPr lang="zh-CN" altLang="en-US" sz="2800"/>
              <a:t>与一组语义规则相关联，每个语义规则具有如下形式：</a:t>
            </a:r>
            <a:endParaRPr lang="zh-CN" altLang="en-US" sz="2800"/>
          </a:p>
          <a:p>
            <a:pPr lvl="1" eaLnBrk="1" hangingPunct="1"/>
            <a:r>
              <a:rPr lang="en-US" altLang="zh-CN" sz="2400"/>
              <a:t>b = f(c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r>
              <a:rPr lang="en-US" altLang="zh-CN" sz="2400"/>
              <a:t>)</a:t>
            </a:r>
            <a:r>
              <a:rPr lang="zh-CN" altLang="en-US" sz="2400"/>
              <a:t>，两种可能情况</a:t>
            </a:r>
            <a:endParaRPr lang="zh-CN" altLang="en-US" sz="2400"/>
          </a:p>
          <a:p>
            <a:pPr lvl="1" eaLnBrk="1" hangingPunct="1"/>
            <a:r>
              <a:rPr lang="en-US" altLang="zh-CN" sz="2400"/>
              <a:t>b</a:t>
            </a: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的综合属性，</a:t>
            </a:r>
            <a:r>
              <a:rPr lang="en-US" altLang="zh-CN" sz="2400"/>
              <a:t>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zh-CN" altLang="en-US" sz="2400">
                <a:sym typeface="Symbol" panose="05050102010706020507" pitchFamily="18" charset="2"/>
              </a:rPr>
              <a:t>中语法符号的属性</a:t>
            </a:r>
            <a:endParaRPr lang="zh-CN" altLang="en-US" sz="240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/>
              <a:t>b</a:t>
            </a:r>
            <a:r>
              <a:rPr lang="zh-CN" altLang="en-US" sz="2400"/>
              <a:t>为</a:t>
            </a:r>
            <a:r>
              <a:rPr lang="zh-CN" altLang="en-US" sz="2400">
                <a:sym typeface="Symbol" panose="05050102010706020507" pitchFamily="18" charset="2"/>
              </a:rPr>
              <a:t>中某个符号</a:t>
            </a:r>
            <a:r>
              <a:rPr lang="zh-CN" altLang="en-US" sz="2400"/>
              <a:t>的继承属性，</a:t>
            </a:r>
            <a:r>
              <a:rPr lang="en-US" altLang="zh-CN" sz="2400"/>
              <a:t>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、</a:t>
            </a:r>
            <a:r>
              <a:rPr lang="zh-CN" altLang="en-US" sz="2400">
                <a:sym typeface="Symbol" panose="05050102010706020507" pitchFamily="18" charset="2"/>
              </a:rPr>
              <a:t>中语法符号的属性</a:t>
            </a:r>
            <a:endParaRPr lang="zh-CN" altLang="en-US" sz="240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>
                <a:sym typeface="Symbol" panose="05050102010706020507" pitchFamily="18" charset="2"/>
              </a:rPr>
              <a:t>b</a:t>
            </a:r>
            <a:r>
              <a:rPr lang="zh-CN" altLang="en-US" sz="2400">
                <a:sym typeface="Symbol" panose="05050102010706020507" pitchFamily="18" charset="2"/>
              </a:rPr>
              <a:t>依赖</a:t>
            </a:r>
            <a:r>
              <a:rPr lang="en-US" altLang="zh-CN" sz="2400"/>
              <a:t>c</a:t>
            </a:r>
            <a:r>
              <a:rPr lang="en-US" altLang="zh-CN" sz="2400" baseline="-25000"/>
              <a:t>1</a:t>
            </a:r>
            <a:r>
              <a:rPr lang="en-US" altLang="zh-CN" sz="2400"/>
              <a:t>, c</a:t>
            </a:r>
            <a:r>
              <a:rPr lang="en-US" altLang="zh-CN" sz="2400" baseline="-25000"/>
              <a:t>2</a:t>
            </a:r>
            <a:r>
              <a:rPr lang="en-US" altLang="zh-CN" sz="2400"/>
              <a:t>, …, c</a:t>
            </a:r>
            <a:r>
              <a:rPr lang="en-US" altLang="zh-CN" sz="2400" baseline="-25000"/>
              <a:t>k</a:t>
            </a:r>
            <a:endParaRPr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800" b="1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属性文法</a:t>
            </a:r>
            <a:r>
              <a:rPr lang="zh-CN" altLang="en-US" sz="2800">
                <a:sym typeface="Symbol" panose="05050102010706020507" pitchFamily="18" charset="2"/>
              </a:rPr>
              <a:t>：扩充了语法制导定义，无副作用</a:t>
            </a:r>
            <a:endParaRPr lang="zh-CN" altLang="en-US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</a:t>
            </a:r>
            <a:endParaRPr lang="en-US" altLang="zh-CN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267200"/>
            <a:ext cx="7772400" cy="137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/>
              <a:t>digit.lexval</a:t>
            </a:r>
            <a:r>
              <a:rPr lang="zh-CN" altLang="en-US" sz="2800"/>
              <a:t>：终结符只有综合属性，由词法分析器提供</a:t>
            </a:r>
            <a:endParaRPr lang="zh-CN" altLang="en-US" sz="2800"/>
          </a:p>
          <a:p>
            <a:pPr eaLnBrk="1" hangingPunct="1">
              <a:lnSpc>
                <a:spcPct val="90000"/>
              </a:lnSpc>
            </a:pPr>
            <a:r>
              <a:rPr kumimoji="0" lang="zh-CN" altLang="en-US" sz="2800"/>
              <a:t>开始符号通常没有继承属性</a:t>
            </a:r>
            <a:endParaRPr lang="zh-CN" altLang="en-US" sz="2800"/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1066800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1066800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1066800" y="4191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3962400" y="1371600"/>
            <a:ext cx="0" cy="281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8842" name="Text Box 10"/>
          <p:cNvSpPr txBox="1">
            <a:spLocks noChangeArrowheads="1"/>
          </p:cNvSpPr>
          <p:nvPr/>
        </p:nvSpPr>
        <p:spPr bwMode="auto">
          <a:xfrm>
            <a:off x="1066800" y="1828800"/>
            <a:ext cx="708660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</a:rPr>
              <a:t>L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 E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			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print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E  E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T			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E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+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E  T				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endParaRPr kumimoji="0"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T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F	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T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*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 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F		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	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F.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lexval</a:t>
            </a:r>
            <a:endParaRPr kumimoji="0"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250" name="Text Box 12"/>
          <p:cNvSpPr txBox="1">
            <a:spLocks noChangeArrowheads="1"/>
          </p:cNvSpPr>
          <p:nvPr/>
        </p:nvSpPr>
        <p:spPr bwMode="auto">
          <a:xfrm>
            <a:off x="5867400" y="1752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10251" name="Text Box 13"/>
          <p:cNvSpPr txBox="1">
            <a:spLocks noChangeArrowheads="1"/>
          </p:cNvSpPr>
          <p:nvPr/>
        </p:nvSpPr>
        <p:spPr bwMode="auto">
          <a:xfrm>
            <a:off x="1981200" y="13716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  <a:endParaRPr kumimoji="0" lang="zh-CN" altLang="en-US" sz="2000" b="1"/>
          </a:p>
        </p:txBody>
      </p:sp>
      <p:sp>
        <p:nvSpPr>
          <p:cNvPr id="10252" name="Text Box 15"/>
          <p:cNvSpPr txBox="1">
            <a:spLocks noChangeArrowheads="1"/>
          </p:cNvSpPr>
          <p:nvPr/>
        </p:nvSpPr>
        <p:spPr bwMode="auto">
          <a:xfrm>
            <a:off x="5029200" y="13716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语义规则</a:t>
            </a:r>
            <a:endParaRPr kumimoji="0" lang="zh-CN" altLang="en-US" sz="20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5.1.2  </a:t>
            </a:r>
            <a:r>
              <a:rPr lang="zh-CN" altLang="en-US"/>
              <a:t>综合属性</a:t>
            </a:r>
            <a:endParaRPr lang="zh-CN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只有综合属性：</a:t>
            </a:r>
            <a:r>
              <a:rPr lang="en-US" altLang="zh-CN" b="1">
                <a:solidFill>
                  <a:schemeClr val="folHlink"/>
                </a:solidFill>
                <a:ea typeface="黑体" panose="02010609060101010101" pitchFamily="49" charset="-122"/>
              </a:rPr>
              <a:t>S-</a:t>
            </a:r>
            <a:r>
              <a:rPr lang="zh-CN" altLang="en-US" b="1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属性定义</a:t>
            </a:r>
            <a:endParaRPr lang="zh-CN" altLang="en-US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语法树自底向上计算属性</a:t>
            </a:r>
            <a:endParaRPr lang="zh-CN" altLang="en-US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</a:t>
            </a:r>
            <a:endParaRPr lang="en-US" altLang="zh-CN"/>
          </a:p>
        </p:txBody>
      </p:sp>
      <p:pic>
        <p:nvPicPr>
          <p:cNvPr id="12291" name="Picture 4" descr="annt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95400"/>
            <a:ext cx="4622800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5.1.3  </a:t>
            </a:r>
            <a:r>
              <a:rPr lang="zh-CN" altLang="en-US"/>
              <a:t>继承属性</a:t>
            </a: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752600"/>
          </a:xfrm>
        </p:spPr>
        <p:txBody>
          <a:bodyPr/>
          <a:lstStyle/>
          <a:p>
            <a:pPr eaLnBrk="1" hangingPunct="1"/>
            <a:r>
              <a:rPr lang="zh-CN" altLang="en-US"/>
              <a:t>表达程序语言结构在上下文中的相互依赖关系更加自然、方便</a:t>
            </a:r>
            <a:endParaRPr lang="zh-CN" alt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  </a:t>
            </a:r>
            <a:r>
              <a:rPr lang="zh-CN" altLang="en-US"/>
              <a:t>变量定义</a:t>
            </a: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/>
              <a:t>real  id</a:t>
            </a:r>
            <a:r>
              <a:rPr lang="en-US" altLang="zh-CN" b="1" baseline="-25000"/>
              <a:t>1</a:t>
            </a:r>
            <a:r>
              <a:rPr lang="en-US" altLang="zh-CN" b="1"/>
              <a:t>, id</a:t>
            </a:r>
            <a:r>
              <a:rPr lang="en-US" altLang="zh-CN" b="1" baseline="-25000"/>
              <a:t>2</a:t>
            </a:r>
            <a:r>
              <a:rPr lang="en-US" altLang="zh-CN" b="1"/>
              <a:t>, id</a:t>
            </a:r>
            <a:r>
              <a:rPr lang="en-US" altLang="zh-CN" b="1" baseline="-25000"/>
              <a:t>3</a:t>
            </a:r>
            <a:r>
              <a:rPr lang="en-US" altLang="zh-CN" b="1"/>
              <a:t>;</a:t>
            </a:r>
            <a:endParaRPr lang="en-US" altLang="zh-CN" b="1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1066800" y="2133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1066800" y="2590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1066800" y="533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3733800" y="21336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4553" name="Text Box 9"/>
          <p:cNvSpPr txBox="1">
            <a:spLocks noChangeArrowheads="1"/>
          </p:cNvSpPr>
          <p:nvPr/>
        </p:nvSpPr>
        <p:spPr bwMode="auto">
          <a:xfrm>
            <a:off x="1066800" y="2590800"/>
            <a:ext cx="7086600" cy="260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D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1524000" y="2133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5029200" y="2133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 descr="defva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524000"/>
            <a:ext cx="48768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/>
              <a:t>自顶向下传递属性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5.1.4  </a:t>
            </a:r>
            <a:r>
              <a:rPr lang="zh-CN" altLang="en-US"/>
              <a:t>依赖图</a:t>
            </a:r>
            <a:endParaRPr lang="zh-CN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888288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属性</a:t>
            </a:r>
            <a:r>
              <a:rPr lang="en-US" altLang="zh-CN" sz="2800" dirty="0"/>
              <a:t>b</a:t>
            </a:r>
            <a:r>
              <a:rPr lang="zh-CN" altLang="en-US" sz="2800" dirty="0"/>
              <a:t>依赖属性</a:t>
            </a:r>
            <a:r>
              <a:rPr lang="en-US" altLang="zh-CN" sz="2800" dirty="0"/>
              <a:t>c</a:t>
            </a:r>
            <a:r>
              <a:rPr lang="zh-CN" altLang="en-US" sz="2800" dirty="0"/>
              <a:t>，则</a:t>
            </a:r>
            <a:r>
              <a:rPr lang="en-US" altLang="zh-CN" sz="2800" dirty="0"/>
              <a:t>b</a:t>
            </a:r>
            <a:r>
              <a:rPr lang="zh-CN" altLang="en-US" sz="2800" dirty="0"/>
              <a:t>应在</a:t>
            </a:r>
            <a:r>
              <a:rPr lang="en-US" altLang="zh-CN" sz="2800" dirty="0"/>
              <a:t>c</a:t>
            </a:r>
            <a:r>
              <a:rPr lang="zh-CN" altLang="en-US" sz="2800" dirty="0"/>
              <a:t>之后计算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用有向图表示这种依赖关系</a:t>
            </a:r>
            <a:r>
              <a:rPr lang="en-US" altLang="zh-CN" sz="2800" dirty="0"/>
              <a:t>——</a:t>
            </a:r>
            <a:r>
              <a:rPr lang="zh-CN" altLang="en-US" sz="2800" dirty="0"/>
              <a:t>依赖图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构造方法：</a:t>
            </a:r>
            <a:endParaRPr lang="zh-CN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zh-CN" altLang="en-US" sz="2000" dirty="0"/>
              <a:t>语法树中每个节点</a:t>
            </a:r>
            <a:r>
              <a:rPr lang="en-US" altLang="zh-CN" sz="2000" dirty="0"/>
              <a:t>n </a:t>
            </a:r>
            <a:r>
              <a:rPr lang="en-US" altLang="zh-CN" sz="2000" b="1" dirty="0"/>
              <a:t>do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n</a:t>
            </a:r>
            <a:r>
              <a:rPr lang="zh-CN" altLang="en-US" sz="2000" dirty="0"/>
              <a:t>的每个语法符号的属性</a:t>
            </a:r>
            <a:r>
              <a:rPr lang="en-US" altLang="zh-CN" sz="2000" dirty="0"/>
              <a:t>a </a:t>
            </a:r>
            <a:r>
              <a:rPr lang="en-US" altLang="zh-CN" sz="2000" b="1" dirty="0"/>
              <a:t>do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在依赖图中为</a:t>
            </a:r>
            <a:r>
              <a:rPr lang="en-US" altLang="zh-CN" sz="2000" dirty="0"/>
              <a:t>a</a:t>
            </a:r>
            <a:r>
              <a:rPr lang="zh-CN" altLang="en-US" sz="2000" dirty="0"/>
              <a:t>构造一个节点</a:t>
            </a:r>
            <a:endParaRPr lang="zh-CN" alt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zh-CN" altLang="en-US" sz="2000" dirty="0"/>
              <a:t>语法树中每个节点</a:t>
            </a:r>
            <a:r>
              <a:rPr lang="en-US" altLang="zh-CN" sz="2000" dirty="0"/>
              <a:t>n </a:t>
            </a:r>
            <a:r>
              <a:rPr lang="en-US" altLang="zh-CN" sz="2000" b="1" dirty="0"/>
              <a:t>do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n</a:t>
            </a:r>
            <a:r>
              <a:rPr lang="zh-CN" altLang="en-US" sz="2000" dirty="0"/>
              <a:t>使用的产生式的每个语义规则</a:t>
            </a:r>
            <a:r>
              <a:rPr lang="en-US" altLang="zh-CN" sz="2000" dirty="0"/>
              <a:t>b = f(c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…, c</a:t>
            </a:r>
            <a:r>
              <a:rPr lang="en-US" altLang="zh-CN" sz="2000" baseline="-25000" dirty="0"/>
              <a:t>k</a:t>
            </a:r>
            <a:r>
              <a:rPr lang="en-US" altLang="zh-CN" sz="2000" dirty="0"/>
              <a:t>) </a:t>
            </a:r>
            <a:r>
              <a:rPr lang="en-US" altLang="zh-CN" sz="2000" b="1" dirty="0"/>
              <a:t>do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1 to k </a:t>
            </a:r>
            <a:r>
              <a:rPr lang="en-US" altLang="zh-CN" sz="2000" b="1" dirty="0"/>
              <a:t>do</a:t>
            </a:r>
            <a:endParaRPr lang="en-US" altLang="zh-CN" sz="20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zh-CN" altLang="en-US" sz="2000" dirty="0"/>
              <a:t>构造从</a:t>
            </a:r>
            <a:r>
              <a:rPr lang="en-US" altLang="zh-CN" sz="2000" dirty="0"/>
              <a:t>c</a:t>
            </a:r>
            <a:r>
              <a:rPr lang="en-US" altLang="zh-CN" sz="2000" baseline="-25000" dirty="0"/>
              <a:t>i</a:t>
            </a:r>
            <a:r>
              <a:rPr lang="zh-CN" altLang="en-US" sz="2000" dirty="0"/>
              <a:t>到</a:t>
            </a:r>
            <a:r>
              <a:rPr lang="en-US" altLang="zh-CN" sz="2000" dirty="0"/>
              <a:t>b</a:t>
            </a:r>
            <a:r>
              <a:rPr lang="zh-CN" altLang="en-US" sz="2000" dirty="0"/>
              <a:t>的一条边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5.4</a:t>
            </a:r>
            <a:endParaRPr lang="en-US" altLang="zh-CN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 </a:t>
            </a:r>
            <a:r>
              <a:rPr kumimoji="0" lang="en-US" altLang="zh-CN">
                <a:sym typeface="Symbol" panose="05050102010706020507" pitchFamily="18" charset="2"/>
              </a:rPr>
              <a:t> E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 + E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,	E.val = E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.val + E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.val</a:t>
            </a:r>
            <a:endParaRPr kumimoji="0" lang="en-US" altLang="zh-CN">
              <a:sym typeface="Symbol" panose="05050102010706020507" pitchFamily="18" charset="2"/>
            </a:endParaRPr>
          </a:p>
        </p:txBody>
      </p:sp>
      <p:pic>
        <p:nvPicPr>
          <p:cNvPr id="17412" name="Picture 4" descr="depgra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57400"/>
            <a:ext cx="5794375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5.5</a:t>
            </a:r>
            <a:endParaRPr lang="en-US" altLang="zh-CN"/>
          </a:p>
        </p:txBody>
      </p:sp>
      <p:pic>
        <p:nvPicPr>
          <p:cNvPr id="18435" name="Picture 4" descr="varde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1287463"/>
            <a:ext cx="5445125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5.1.5  </a:t>
            </a:r>
            <a:r>
              <a:rPr lang="zh-CN" altLang="en-US" dirty="0"/>
              <a:t>属性计算顺序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拓扑排序，计算顺序</a:t>
            </a:r>
            <a:r>
              <a:rPr lang="en-US" altLang="zh-CN" dirty="0"/>
              <a:t>m</a:t>
            </a:r>
            <a:r>
              <a:rPr lang="en-US" altLang="zh-CN" baseline="-25000" dirty="0"/>
              <a:t>1</a:t>
            </a:r>
            <a:r>
              <a:rPr lang="en-US" altLang="zh-CN" dirty="0"/>
              <a:t>, m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k</a:t>
            </a:r>
            <a:r>
              <a:rPr lang="zh-CN" altLang="en-US" dirty="0"/>
              <a:t>满足依赖关系，则依赖图存在边</a:t>
            </a:r>
            <a:r>
              <a:rPr lang="en-US" altLang="zh-CN" dirty="0" err="1"/>
              <a:t>m</a:t>
            </a:r>
            <a:r>
              <a:rPr lang="en-US" altLang="zh-CN" baseline="-25000" dirty="0" err="1"/>
              <a:t>i</a:t>
            </a:r>
            <a:r>
              <a:rPr kumimoji="0" lang="en-US" altLang="zh-CN" dirty="0" err="1">
                <a:sym typeface="Symbol" panose="05050102010706020507" pitchFamily="18" charset="2"/>
              </a:rPr>
              <a:t>m</a:t>
            </a:r>
            <a:r>
              <a:rPr kumimoji="0" lang="en-US" altLang="zh-CN" baseline="-25000" dirty="0" err="1">
                <a:sym typeface="Symbol" panose="05050102010706020507" pitchFamily="18" charset="2"/>
              </a:rPr>
              <a:t>j</a:t>
            </a:r>
            <a:r>
              <a:rPr kumimoji="0" lang="en-US" altLang="zh-CN" dirty="0" err="1">
                <a:sym typeface="Wingdings" panose="05000000000000000000" pitchFamily="2" charset="2"/>
              </a:rPr>
              <a:t>i</a:t>
            </a:r>
            <a:r>
              <a:rPr kumimoji="0" lang="en-US" altLang="zh-CN" dirty="0">
                <a:sym typeface="Wingdings" panose="05000000000000000000" pitchFamily="2" charset="2"/>
              </a:rPr>
              <a:t> &lt; j</a:t>
            </a:r>
            <a:endParaRPr kumimoji="0" lang="en-US" altLang="zh-CN" dirty="0">
              <a:sym typeface="Wingdings" panose="05000000000000000000" pitchFamily="2" charset="2"/>
            </a:endParaRPr>
          </a:p>
          <a:p>
            <a:pPr eaLnBrk="1" hangingPunct="1"/>
            <a:r>
              <a:rPr kumimoji="0" lang="zh-CN" altLang="en-US" dirty="0">
                <a:sym typeface="Wingdings" panose="05000000000000000000" pitchFamily="2" charset="2"/>
              </a:rPr>
              <a:t>计算</a:t>
            </a:r>
            <a:r>
              <a:rPr kumimoji="0" lang="en-US" altLang="zh-CN" dirty="0">
                <a:sym typeface="Wingdings" panose="05000000000000000000" pitchFamily="2" charset="2"/>
              </a:rPr>
              <a:t>b=(c</a:t>
            </a:r>
            <a:r>
              <a:rPr lang="en-US" altLang="zh-CN" baseline="-25000" dirty="0"/>
              <a:t>1</a:t>
            </a:r>
            <a:r>
              <a:rPr lang="en-US" altLang="zh-CN" dirty="0"/>
              <a:t>, c</a:t>
            </a:r>
            <a:r>
              <a:rPr lang="en-US" altLang="zh-CN" baseline="-25000" dirty="0"/>
              <a:t>2</a:t>
            </a:r>
            <a:r>
              <a:rPr lang="en-US" altLang="zh-CN" dirty="0"/>
              <a:t>, …, c</a:t>
            </a:r>
            <a:r>
              <a:rPr lang="en-US" altLang="zh-CN" baseline="-25000" dirty="0"/>
              <a:t>k</a:t>
            </a:r>
            <a:r>
              <a:rPr lang="en-US" altLang="zh-CN" dirty="0"/>
              <a:t>)</a:t>
            </a:r>
            <a:r>
              <a:rPr lang="zh-CN" altLang="en-US" dirty="0"/>
              <a:t>时，属性值</a:t>
            </a:r>
            <a:r>
              <a:rPr kumimoji="0" lang="en-US" altLang="zh-CN" dirty="0">
                <a:sym typeface="Wingdings" panose="05000000000000000000" pitchFamily="2" charset="2"/>
              </a:rPr>
              <a:t>c</a:t>
            </a:r>
            <a:r>
              <a:rPr lang="en-US" altLang="zh-CN" baseline="-25000" dirty="0"/>
              <a:t>1</a:t>
            </a:r>
            <a:r>
              <a:rPr lang="en-US" altLang="zh-CN" dirty="0"/>
              <a:t>, c</a:t>
            </a:r>
            <a:r>
              <a:rPr lang="en-US" altLang="zh-CN" baseline="-25000" dirty="0"/>
              <a:t>2</a:t>
            </a:r>
            <a:r>
              <a:rPr lang="en-US" altLang="zh-CN" dirty="0"/>
              <a:t>, …, c</a:t>
            </a:r>
            <a:r>
              <a:rPr lang="en-US" altLang="zh-CN" baseline="-25000" dirty="0"/>
              <a:t>k</a:t>
            </a:r>
            <a:r>
              <a:rPr lang="zh-CN" altLang="en-US" dirty="0"/>
              <a:t>已经计算出来</a:t>
            </a:r>
            <a:endParaRPr lang="zh-CN" altLang="en-US" dirty="0"/>
          </a:p>
          <a:p>
            <a:pPr eaLnBrk="1" hangingPunct="1"/>
            <a:r>
              <a:rPr lang="zh-CN" altLang="en-US" dirty="0"/>
              <a:t>文法</a:t>
            </a:r>
            <a:r>
              <a:rPr lang="zh-CN" altLang="en-US" dirty="0">
                <a:sym typeface="Wingdings" panose="05000000000000000000" pitchFamily="2" charset="2"/>
              </a:rPr>
              <a:t>语法树依赖图拓扑排序语义规则计算顺序输入串翻译</a:t>
            </a:r>
            <a:endParaRPr lang="zh-CN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5.6</a:t>
            </a: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5.5</a:t>
            </a:r>
            <a:r>
              <a:rPr lang="zh-CN" altLang="en-US" dirty="0"/>
              <a:t>依赖图的边，编号由小到大</a:t>
            </a:r>
            <a:r>
              <a:rPr lang="zh-CN" altLang="en-US" dirty="0">
                <a:sym typeface="Wingdings" panose="05000000000000000000" pitchFamily="2" charset="2"/>
              </a:rPr>
              <a:t>排列满足要求的拓扑排序</a:t>
            </a:r>
            <a:endParaRPr lang="zh-CN" altLang="en-US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4</a:t>
            </a:r>
            <a:r>
              <a:rPr lang="en-US" altLang="zh-CN" sz="2800" dirty="0">
                <a:sym typeface="Wingdings" panose="05000000000000000000" pitchFamily="2" charset="2"/>
              </a:rPr>
              <a:t>=real;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5</a:t>
            </a:r>
            <a:r>
              <a:rPr lang="en-US" altLang="zh-CN" sz="2800" dirty="0">
                <a:sym typeface="Wingdings" panose="05000000000000000000" pitchFamily="2" charset="2"/>
              </a:rPr>
              <a:t>=real;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Wingdings" panose="05000000000000000000" pitchFamily="2" charset="2"/>
              </a:rPr>
              <a:t>addtype</a:t>
            </a:r>
            <a:r>
              <a:rPr lang="en-US" altLang="zh-CN" sz="2800" dirty="0">
                <a:sym typeface="Wingdings" panose="05000000000000000000" pitchFamily="2" charset="2"/>
              </a:rPr>
              <a:t>(id</a:t>
            </a:r>
            <a:r>
              <a:rPr lang="en-US" altLang="zh-CN" sz="2800" baseline="-25000" dirty="0">
                <a:sym typeface="Wingdings" panose="05000000000000000000" pitchFamily="2" charset="2"/>
              </a:rPr>
              <a:t>3</a:t>
            </a:r>
            <a:r>
              <a:rPr lang="en-US" altLang="zh-CN" sz="2800" dirty="0">
                <a:sym typeface="Wingdings" panose="05000000000000000000" pitchFamily="2" charset="2"/>
              </a:rPr>
              <a:t>.entry, 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5</a:t>
            </a:r>
            <a:r>
              <a:rPr lang="en-US" altLang="zh-CN" sz="2800" dirty="0">
                <a:sym typeface="Wingdings" panose="05000000000000000000" pitchFamily="2" charset="2"/>
              </a:rPr>
              <a:t>);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7</a:t>
            </a:r>
            <a:r>
              <a:rPr lang="en-US" altLang="zh-CN" sz="2800" dirty="0">
                <a:sym typeface="Wingdings" panose="05000000000000000000" pitchFamily="2" charset="2"/>
              </a:rPr>
              <a:t>=a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5</a:t>
            </a:r>
            <a:r>
              <a:rPr lang="en-US" altLang="zh-CN" sz="2800" dirty="0">
                <a:sym typeface="Wingdings" panose="05000000000000000000" pitchFamily="2" charset="2"/>
              </a:rPr>
              <a:t>;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Wingdings" panose="05000000000000000000" pitchFamily="2" charset="2"/>
              </a:rPr>
              <a:t>addtype</a:t>
            </a:r>
            <a:r>
              <a:rPr lang="en-US" altLang="zh-CN" sz="2800" dirty="0">
                <a:sym typeface="Wingdings" panose="05000000000000000000" pitchFamily="2" charset="2"/>
              </a:rPr>
              <a:t>(id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.entry, 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7</a:t>
            </a:r>
            <a:r>
              <a:rPr lang="en-US" altLang="zh-CN" sz="2800" dirty="0">
                <a:sym typeface="Wingdings" panose="05000000000000000000" pitchFamily="2" charset="2"/>
              </a:rPr>
              <a:t>);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9</a:t>
            </a:r>
            <a:r>
              <a:rPr lang="en-US" altLang="zh-CN" sz="2800" dirty="0">
                <a:sym typeface="Wingdings" panose="05000000000000000000" pitchFamily="2" charset="2"/>
              </a:rPr>
              <a:t>=a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7</a:t>
            </a:r>
            <a:r>
              <a:rPr lang="en-US" altLang="zh-CN" sz="2800" dirty="0">
                <a:sym typeface="Wingdings" panose="05000000000000000000" pitchFamily="2" charset="2"/>
              </a:rPr>
              <a:t>;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>
                <a:sym typeface="Wingdings" panose="05000000000000000000" pitchFamily="2" charset="2"/>
              </a:rPr>
              <a:t>addtype</a:t>
            </a:r>
            <a:r>
              <a:rPr lang="en-US" altLang="zh-CN" sz="2800" dirty="0">
                <a:sym typeface="Wingdings" panose="05000000000000000000" pitchFamily="2" charset="2"/>
              </a:rPr>
              <a:t>(id</a:t>
            </a:r>
            <a:r>
              <a:rPr lang="en-US" altLang="zh-CN" sz="2800" baseline="-25000" dirty="0"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sym typeface="Wingdings" panose="05000000000000000000" pitchFamily="2" charset="2"/>
              </a:rPr>
              <a:t>.entry, a</a:t>
            </a:r>
            <a:r>
              <a:rPr lang="en-US" altLang="zh-CN" sz="2800" baseline="-25000" dirty="0">
                <a:sym typeface="Wingdings" panose="05000000000000000000" pitchFamily="2" charset="2"/>
              </a:rPr>
              <a:t>9</a:t>
            </a:r>
            <a:r>
              <a:rPr lang="en-US" altLang="zh-CN" sz="2800" dirty="0">
                <a:sym typeface="Wingdings" panose="05000000000000000000" pitchFamily="2" charset="2"/>
              </a:rPr>
              <a:t>);</a:t>
            </a:r>
            <a:endParaRPr lang="en-US" altLang="zh-CN" sz="28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  </a:t>
            </a:r>
            <a:r>
              <a:rPr lang="zh-CN" altLang="en-US"/>
              <a:t>构造语法树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作为中间表示形式</a:t>
            </a:r>
            <a:r>
              <a:rPr lang="en-US" altLang="zh-CN" dirty="0"/>
              <a:t>——</a:t>
            </a:r>
            <a:r>
              <a:rPr lang="zh-CN" altLang="en-US" dirty="0"/>
              <a:t>分离分析与翻译</a:t>
            </a:r>
            <a:endParaRPr lang="zh-CN" altLang="en-US" dirty="0"/>
          </a:p>
          <a:p>
            <a:pPr eaLnBrk="1" hangingPunct="1"/>
            <a:r>
              <a:rPr lang="zh-CN" altLang="en-US" dirty="0"/>
              <a:t>在进行语法分析的同时进行翻译存在的不足：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适合分析的文法可能未反映自然的语言结构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分析顺序可能与翻译顺序不一致</a:t>
            </a:r>
            <a:endParaRPr lang="zh-CN" altLang="en-US" dirty="0"/>
          </a:p>
          <a:p>
            <a:pPr eaLnBrk="1" hangingPunct="1"/>
            <a:r>
              <a:rPr lang="zh-CN" altLang="en-US" dirty="0"/>
              <a:t>利用语法制导翻译方法来构造语法树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在语法树上进行后续翻译工作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5.2.1  </a:t>
            </a:r>
            <a:r>
              <a:rPr lang="zh-CN" altLang="en-US"/>
              <a:t>语法树</a:t>
            </a:r>
            <a:endParaRPr lang="zh-CN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（抽象）语法树，压缩形式</a:t>
            </a:r>
            <a:endParaRPr lang="zh-CN" altLang="en-US"/>
          </a:p>
          <a:p>
            <a:pPr lvl="1" eaLnBrk="1" hangingPunct="1"/>
            <a:r>
              <a:rPr lang="zh-CN" altLang="en-US"/>
              <a:t>关键字和运算符均在内部节点</a:t>
            </a:r>
            <a:endParaRPr lang="zh-CN" altLang="en-US"/>
          </a:p>
          <a:p>
            <a:pPr lvl="1" eaLnBrk="1" hangingPunct="1"/>
            <a:r>
              <a:rPr lang="zh-CN" altLang="en-US"/>
              <a:t>链式结构会被压缩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语法树压缩例</a:t>
            </a:r>
            <a:endParaRPr lang="zh-CN" altLang="en-US"/>
          </a:p>
        </p:txBody>
      </p:sp>
      <p:pic>
        <p:nvPicPr>
          <p:cNvPr id="23555" name="Picture 4" descr="anntre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08100"/>
            <a:ext cx="495935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5" descr="syn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447800"/>
            <a:ext cx="3375025" cy="224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5.2.2  </a:t>
            </a:r>
            <a:r>
              <a:rPr lang="zh-CN" altLang="en-US"/>
              <a:t>表达式语法树的构造</a:t>
            </a: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与表达式翻译为后缀形式类似</a:t>
            </a:r>
            <a:endParaRPr lang="zh-CN" altLang="en-US"/>
          </a:p>
          <a:p>
            <a:pPr eaLnBrk="1" hangingPunct="1"/>
            <a:r>
              <a:rPr lang="zh-CN" altLang="en-US"/>
              <a:t>数据结构：语法树每个节点用一个记录表示</a:t>
            </a:r>
            <a:endParaRPr lang="zh-CN" altLang="en-US"/>
          </a:p>
          <a:p>
            <a:pPr lvl="1" eaLnBrk="1" hangingPunct="1"/>
            <a:r>
              <a:rPr lang="zh-CN" altLang="en-US"/>
              <a:t>运算符节点记录格式：</a:t>
            </a:r>
            <a:br>
              <a:rPr lang="zh-CN" altLang="en-US"/>
            </a:br>
            <a:r>
              <a:rPr lang="en-US" altLang="zh-CN" sz="2400"/>
              <a:t>{</a:t>
            </a:r>
            <a:br>
              <a:rPr lang="en-US" altLang="zh-CN" sz="2400"/>
            </a:br>
            <a:r>
              <a:rPr lang="en-US" altLang="zh-CN" sz="2400"/>
              <a:t>	</a:t>
            </a:r>
            <a:r>
              <a:rPr lang="zh-CN" altLang="en-US" sz="2400"/>
              <a:t>运算符</a:t>
            </a:r>
            <a:br>
              <a:rPr lang="zh-CN" altLang="en-US" sz="2400"/>
            </a:br>
            <a:r>
              <a:rPr lang="zh-CN" altLang="en-US" sz="2400"/>
              <a:t>	指向运算对象节点</a:t>
            </a:r>
            <a:r>
              <a:rPr lang="en-US" altLang="zh-CN" sz="2400"/>
              <a:t>1</a:t>
            </a:r>
            <a:r>
              <a:rPr lang="zh-CN" altLang="en-US" sz="2400"/>
              <a:t>的指针</a:t>
            </a:r>
            <a:br>
              <a:rPr lang="zh-CN" altLang="en-US" sz="2400"/>
            </a:br>
            <a:r>
              <a:rPr lang="zh-CN" altLang="en-US" sz="2400"/>
              <a:t>	执行运算对象节点</a:t>
            </a:r>
            <a:r>
              <a:rPr lang="en-US" altLang="zh-CN" sz="2400"/>
              <a:t>2</a:t>
            </a:r>
            <a:r>
              <a:rPr lang="zh-CN" altLang="en-US" sz="2400"/>
              <a:t>的指针</a:t>
            </a:r>
            <a:br>
              <a:rPr lang="zh-CN" altLang="en-US" sz="2400"/>
            </a:br>
            <a:r>
              <a:rPr lang="zh-CN" altLang="en-US" sz="2400"/>
              <a:t> </a:t>
            </a:r>
            <a:r>
              <a:rPr lang="en-US" altLang="zh-CN" sz="2400"/>
              <a:t>…</a:t>
            </a:r>
            <a:br>
              <a:rPr lang="en-US" altLang="zh-CN" sz="2400"/>
            </a:br>
            <a:r>
              <a:rPr lang="en-US" altLang="zh-CN" sz="2400"/>
              <a:t>}</a:t>
            </a:r>
            <a:endParaRPr lang="en-US" altLang="zh-CN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辅助函数</a:t>
            </a: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190500" lvl="1" indent="0" eaLnBrk="1" hangingPunct="1">
              <a:buNone/>
            </a:pPr>
            <a:r>
              <a:rPr lang="en-US" altLang="zh-CN" dirty="0" err="1"/>
              <a:t>mknode</a:t>
            </a:r>
            <a:r>
              <a:rPr lang="en-US" altLang="zh-CN" dirty="0"/>
              <a:t>(op, left, right)</a:t>
            </a:r>
            <a:r>
              <a:rPr lang="zh-CN" altLang="en-US" dirty="0"/>
              <a:t>：为运算符</a:t>
            </a:r>
            <a:r>
              <a:rPr lang="en-US" altLang="zh-CN" dirty="0"/>
              <a:t>op</a:t>
            </a:r>
            <a:r>
              <a:rPr lang="zh-CN" altLang="en-US" dirty="0"/>
              <a:t>创建语法树中节点，标记为</a:t>
            </a:r>
            <a:r>
              <a:rPr lang="en-US" altLang="zh-CN" dirty="0"/>
              <a:t>op</a:t>
            </a:r>
            <a:r>
              <a:rPr lang="zh-CN" altLang="en-US" dirty="0"/>
              <a:t>（运算符），运算对象节点指针</a:t>
            </a:r>
            <a:r>
              <a:rPr lang="en-US" altLang="zh-CN" dirty="0"/>
              <a:t>left</a:t>
            </a:r>
            <a:r>
              <a:rPr lang="zh-CN" altLang="en-US" dirty="0"/>
              <a:t>和</a:t>
            </a:r>
            <a:r>
              <a:rPr lang="en-US" altLang="zh-CN" dirty="0"/>
              <a:t>right</a:t>
            </a:r>
            <a:endParaRPr lang="en-US" altLang="zh-CN" dirty="0"/>
          </a:p>
          <a:p>
            <a:pPr marL="190500" lvl="1" indent="0"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mkleaf</a:t>
            </a:r>
            <a:r>
              <a:rPr lang="en-US" altLang="zh-CN" dirty="0"/>
              <a:t>(</a:t>
            </a:r>
            <a:r>
              <a:rPr lang="en-US" altLang="zh-CN" b="1" dirty="0"/>
              <a:t>id</a:t>
            </a:r>
            <a:r>
              <a:rPr lang="en-US" altLang="zh-CN" dirty="0"/>
              <a:t>, entry)</a:t>
            </a:r>
            <a:r>
              <a:rPr lang="zh-CN" altLang="en-US" dirty="0"/>
              <a:t>：为标识符创建语法树节点，标记为</a:t>
            </a:r>
            <a:r>
              <a:rPr lang="en-US" altLang="zh-CN" b="1" dirty="0"/>
              <a:t>id</a:t>
            </a:r>
            <a:r>
              <a:rPr lang="zh-CN" altLang="en-US" dirty="0"/>
              <a:t>，另一个域为符号表项指针</a:t>
            </a:r>
            <a:r>
              <a:rPr lang="en-US" altLang="zh-CN" dirty="0"/>
              <a:t>entry</a:t>
            </a:r>
            <a:endParaRPr lang="en-US" altLang="zh-CN" dirty="0"/>
          </a:p>
          <a:p>
            <a:pPr marL="190500" lvl="1" indent="0"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mkleaf</a:t>
            </a:r>
            <a:r>
              <a:rPr lang="en-US" altLang="zh-CN" dirty="0"/>
              <a:t>(</a:t>
            </a:r>
            <a:r>
              <a:rPr lang="en-US" altLang="zh-CN" b="1" dirty="0"/>
              <a:t>num</a:t>
            </a:r>
            <a:r>
              <a:rPr lang="en-US" altLang="zh-CN" dirty="0"/>
              <a:t>, </a:t>
            </a:r>
            <a:r>
              <a:rPr lang="en-US" altLang="zh-CN" dirty="0" err="1"/>
              <a:t>val</a:t>
            </a:r>
            <a:r>
              <a:rPr lang="en-US" altLang="zh-CN" dirty="0"/>
              <a:t>)</a:t>
            </a:r>
            <a:r>
              <a:rPr lang="zh-CN" altLang="en-US" dirty="0"/>
              <a:t>：为运算数创建节点，标记为</a:t>
            </a:r>
            <a:r>
              <a:rPr lang="en-US" altLang="zh-CN" b="1" dirty="0"/>
              <a:t>num</a:t>
            </a:r>
            <a:r>
              <a:rPr lang="zh-CN" altLang="en-US" dirty="0"/>
              <a:t>，另一个域为数值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5.7  a-4+c</a:t>
            </a:r>
            <a:r>
              <a:rPr lang="zh-CN" altLang="en-US"/>
              <a:t>的语法树</a:t>
            </a: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(1)  p</a:t>
            </a:r>
            <a:r>
              <a:rPr lang="en-US" altLang="zh-CN" sz="2400" baseline="-25000"/>
              <a:t>1</a:t>
            </a:r>
            <a:r>
              <a:rPr lang="en-US" altLang="zh-CN" sz="2400"/>
              <a:t>=mkleaf(</a:t>
            </a:r>
            <a:r>
              <a:rPr lang="en-US" altLang="zh-CN" sz="2400" b="1"/>
              <a:t>id</a:t>
            </a:r>
            <a:r>
              <a:rPr lang="en-US" altLang="zh-CN" sz="2400"/>
              <a:t>, entry_a);	     (4)  p</a:t>
            </a:r>
            <a:r>
              <a:rPr lang="en-US" altLang="zh-CN" sz="2400" baseline="-25000"/>
              <a:t>4</a:t>
            </a:r>
            <a:r>
              <a:rPr lang="en-US" altLang="zh-CN" sz="2400"/>
              <a:t>=mkleaf(</a:t>
            </a:r>
            <a:r>
              <a:rPr lang="en-US" altLang="zh-CN" sz="2400" b="1"/>
              <a:t>id</a:t>
            </a:r>
            <a:r>
              <a:rPr lang="en-US" altLang="zh-CN" sz="2400"/>
              <a:t>, entry_c);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(2)  p</a:t>
            </a:r>
            <a:r>
              <a:rPr lang="en-US" altLang="zh-CN" sz="2400" baseline="-25000"/>
              <a:t>2</a:t>
            </a:r>
            <a:r>
              <a:rPr lang="en-US" altLang="zh-CN" sz="2400"/>
              <a:t>=mkleaf(</a:t>
            </a:r>
            <a:r>
              <a:rPr lang="en-US" altLang="zh-CN" sz="2400" b="1"/>
              <a:t>num</a:t>
            </a:r>
            <a:r>
              <a:rPr lang="en-US" altLang="zh-CN" sz="2400"/>
              <a:t>, 4);	     (5)  p</a:t>
            </a:r>
            <a:r>
              <a:rPr lang="en-US" altLang="zh-CN" sz="2400" baseline="-25000"/>
              <a:t>5</a:t>
            </a:r>
            <a:r>
              <a:rPr lang="en-US" altLang="zh-CN" sz="2400"/>
              <a:t>=mknode(‘+’, p</a:t>
            </a:r>
            <a:r>
              <a:rPr lang="en-US" altLang="zh-CN" sz="2400" baseline="-25000"/>
              <a:t>3</a:t>
            </a:r>
            <a:r>
              <a:rPr lang="en-US" altLang="zh-CN" sz="2400"/>
              <a:t>, p</a:t>
            </a:r>
            <a:r>
              <a:rPr lang="en-US" altLang="zh-CN" sz="2400" baseline="-25000"/>
              <a:t>4</a:t>
            </a:r>
            <a:r>
              <a:rPr lang="en-US" altLang="zh-CN" sz="2400"/>
              <a:t>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(3)  p</a:t>
            </a:r>
            <a:r>
              <a:rPr lang="en-US" altLang="zh-CN" sz="2400" baseline="-25000"/>
              <a:t>3</a:t>
            </a:r>
            <a:r>
              <a:rPr lang="en-US" altLang="zh-CN" sz="2400"/>
              <a:t>=mknode(‘-’, p</a:t>
            </a:r>
            <a:r>
              <a:rPr lang="en-US" altLang="zh-CN" sz="2400" baseline="-25000"/>
              <a:t>1</a:t>
            </a:r>
            <a:r>
              <a:rPr lang="en-US" altLang="zh-CN" sz="2400"/>
              <a:t>, p</a:t>
            </a:r>
            <a:r>
              <a:rPr lang="en-US" altLang="zh-CN" sz="2400" baseline="-25000"/>
              <a:t>2</a:t>
            </a:r>
            <a:r>
              <a:rPr lang="en-US" altLang="zh-CN" sz="2400"/>
              <a:t>);</a:t>
            </a:r>
            <a:endParaRPr lang="en-US" altLang="zh-CN" sz="2400"/>
          </a:p>
        </p:txBody>
      </p:sp>
      <p:pic>
        <p:nvPicPr>
          <p:cNvPr id="26628" name="Picture 4" descr="syntree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4200525" cy="264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5"/>
          <p:cNvSpPr>
            <a:spLocks noChangeArrowheads="1"/>
          </p:cNvSpPr>
          <p:nvPr/>
        </p:nvSpPr>
        <p:spPr bwMode="ltGray">
          <a:xfrm>
            <a:off x="2286000" y="39624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ltGray">
          <a:xfrm>
            <a:off x="4800600" y="4038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2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ltGray">
          <a:xfrm>
            <a:off x="3276600" y="3124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3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ltGray">
          <a:xfrm>
            <a:off x="6096000" y="3124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4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ltGray">
          <a:xfrm>
            <a:off x="5029200" y="23622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5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5.2.3  </a:t>
            </a:r>
            <a:r>
              <a:rPr lang="zh-CN" altLang="en-US" sz="4000"/>
              <a:t>构造语法树的语法制导定义</a:t>
            </a:r>
            <a:endParaRPr lang="zh-CN" altLang="en-US" sz="40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4724400"/>
          </a:xfrm>
        </p:spPr>
        <p:txBody>
          <a:bodyPr/>
          <a:lstStyle/>
          <a:p>
            <a:pPr eaLnBrk="1" hangingPunct="1"/>
            <a:r>
              <a:rPr lang="zh-CN" altLang="en-US" sz="4000"/>
              <a:t>例</a:t>
            </a:r>
            <a:r>
              <a:rPr lang="en-US" altLang="zh-CN" sz="4000"/>
              <a:t>5.8</a:t>
            </a:r>
            <a:endParaRPr lang="en-US" altLang="zh-CN" sz="4000"/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914400" y="18288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914400" y="19050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914400" y="23622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914400" y="5105400"/>
            <a:ext cx="7558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3429000" y="19050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838200" y="2362200"/>
            <a:ext cx="7696200" cy="268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		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mknode</a:t>
            </a:r>
            <a:r>
              <a:rPr kumimoji="0" lang="en-US" altLang="zh-CN" sz="2400">
                <a:sym typeface="Symbol" panose="05050102010706020507" pitchFamily="18" charset="2"/>
              </a:rPr>
              <a:t>(“+”,E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>
                <a:sym typeface="Symbol" panose="05050102010706020507" pitchFamily="18" charset="2"/>
              </a:rPr>
              <a:t> T		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mknode</a:t>
            </a:r>
            <a:r>
              <a:rPr kumimoji="0" lang="en-US" altLang="zh-CN" sz="2400">
                <a:sym typeface="Symbol" panose="05050102010706020507" pitchFamily="18" charset="2"/>
              </a:rPr>
              <a:t>(“-”,E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T			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T 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400">
                <a:sym typeface="Symbol" panose="05050102010706020507" pitchFamily="18" charset="2"/>
              </a:rPr>
              <a:t> 		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T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			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mkleaf</a:t>
            </a:r>
            <a:r>
              <a:rPr kumimoji="0" lang="en-US" altLang="zh-CN" sz="2400">
                <a:sym typeface="Symbol" panose="05050102010706020507" pitchFamily="18" charset="2"/>
              </a:rPr>
              <a:t>(id,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lexval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T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		T.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mkleaf</a:t>
            </a:r>
            <a:r>
              <a:rPr kumimoji="0" lang="en-US" altLang="zh-CN" sz="2400">
                <a:sym typeface="Symbol" panose="05050102010706020507" pitchFamily="18" charset="2"/>
              </a:rPr>
              <a:t>(num,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val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27658" name="Text Box 11"/>
          <p:cNvSpPr txBox="1">
            <a:spLocks noChangeArrowheads="1"/>
          </p:cNvSpPr>
          <p:nvPr/>
        </p:nvSpPr>
        <p:spPr bwMode="auto">
          <a:xfrm>
            <a:off x="1447800" y="1905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27659" name="Text Box 12"/>
          <p:cNvSpPr txBox="1">
            <a:spLocks noChangeArrowheads="1"/>
          </p:cNvSpPr>
          <p:nvPr/>
        </p:nvSpPr>
        <p:spPr bwMode="auto">
          <a:xfrm>
            <a:off x="5029200" y="1905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5.8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28675" name="Picture 4" descr="syntree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0"/>
            <a:ext cx="4894263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5.2.4  </a:t>
            </a:r>
            <a:r>
              <a:rPr lang="zh-CN" altLang="en-US"/>
              <a:t>用有向无环图表示表达式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公共子表达式用公共节点表示</a:t>
            </a:r>
            <a:endParaRPr lang="zh-CN" altLang="en-US"/>
          </a:p>
          <a:p>
            <a:pPr eaLnBrk="1" hangingPunct="1"/>
            <a:r>
              <a:rPr lang="zh-CN" altLang="en-US"/>
              <a:t>可能出现一个节点有多个“父节点”的情况</a:t>
            </a:r>
            <a:endParaRPr lang="zh-CN" altLang="en-US"/>
          </a:p>
          <a:p>
            <a:pPr eaLnBrk="1" hangingPunct="1"/>
            <a:r>
              <a:rPr lang="zh-CN" altLang="en-US"/>
              <a:t>构造方法</a:t>
            </a:r>
            <a:endParaRPr lang="zh-CN" altLang="en-US"/>
          </a:p>
          <a:p>
            <a:pPr lvl="1" eaLnBrk="1" hangingPunct="1"/>
            <a:r>
              <a:rPr lang="zh-CN" altLang="en-US"/>
              <a:t>类似语法树构造</a:t>
            </a:r>
            <a:endParaRPr lang="zh-CN" altLang="en-US"/>
          </a:p>
          <a:p>
            <a:pPr lvl="1" eaLnBrk="1" hangingPunct="1"/>
            <a:r>
              <a:rPr lang="zh-CN" altLang="en-US"/>
              <a:t>构造节点前检查是否已构造相同节点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</a:t>
            </a:r>
            <a:r>
              <a:rPr lang="en-US" altLang="zh-CN"/>
              <a:t>5.9</a:t>
            </a: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724400"/>
          </a:xfrm>
        </p:spPr>
        <p:txBody>
          <a:bodyPr/>
          <a:lstStyle/>
          <a:p>
            <a:pPr eaLnBrk="1" hangingPunct="1"/>
            <a:r>
              <a:rPr lang="en-US" altLang="zh-CN" dirty="0" err="1"/>
              <a:t>a+a</a:t>
            </a:r>
            <a:r>
              <a:rPr lang="en-US" altLang="zh-CN" dirty="0"/>
              <a:t>*(b-c)+(b-c)*d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(1)  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a);		(8)  p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b)(=p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(2) 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a)(=p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);	(9)  p</a:t>
            </a:r>
            <a:r>
              <a:rPr lang="en-US" altLang="zh-CN" sz="2400" baseline="-25000" dirty="0"/>
              <a:t>9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c)(=p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(3)  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b);		(10)  p</a:t>
            </a:r>
            <a:r>
              <a:rPr lang="en-US" altLang="zh-CN" sz="2400" baseline="-25000" dirty="0"/>
              <a:t>10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(‘-’, p</a:t>
            </a:r>
            <a:r>
              <a:rPr lang="en-US" altLang="zh-CN" sz="2400" baseline="-25000" dirty="0"/>
              <a:t>8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9</a:t>
            </a:r>
            <a:r>
              <a:rPr lang="en-US" altLang="zh-CN" sz="2400" dirty="0"/>
              <a:t>)(=p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(4)  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c);		(11)  p</a:t>
            </a:r>
            <a:r>
              <a:rPr lang="en-US" altLang="zh-CN" sz="2400" baseline="-25000" dirty="0"/>
              <a:t>11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mkleaf</a:t>
            </a:r>
            <a:r>
              <a:rPr lang="en-US" altLang="zh-CN" sz="2400" dirty="0"/>
              <a:t>(</a:t>
            </a:r>
            <a:r>
              <a:rPr lang="en-US" altLang="zh-CN" sz="2400" b="1" dirty="0"/>
              <a:t>id</a:t>
            </a:r>
            <a:r>
              <a:rPr lang="en-US" altLang="zh-CN" sz="2400" dirty="0"/>
              <a:t>, d);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(5)  p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(‘-’, 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); 	(12)  p</a:t>
            </a:r>
            <a:r>
              <a:rPr lang="en-US" altLang="zh-CN" sz="2400" baseline="-25000" dirty="0"/>
              <a:t>12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(‘*’, p</a:t>
            </a:r>
            <a:r>
              <a:rPr lang="en-US" altLang="zh-CN" sz="2400" baseline="-25000" dirty="0"/>
              <a:t>10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11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(6)  p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(‘*’,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5</a:t>
            </a:r>
            <a:r>
              <a:rPr lang="en-US" altLang="zh-CN" sz="2400" dirty="0"/>
              <a:t>); 	(13)  p</a:t>
            </a:r>
            <a:r>
              <a:rPr lang="en-US" altLang="zh-CN" sz="2400" baseline="-25000" dirty="0"/>
              <a:t>13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(‘+’, 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12</a:t>
            </a:r>
            <a:r>
              <a:rPr lang="en-US" altLang="zh-CN" sz="2400" dirty="0"/>
              <a:t>);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(6)  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=</a:t>
            </a:r>
            <a:r>
              <a:rPr lang="en-US" altLang="zh-CN" sz="2400" dirty="0" err="1"/>
              <a:t>mknode</a:t>
            </a:r>
            <a:r>
              <a:rPr lang="en-US" altLang="zh-CN" sz="2400" dirty="0"/>
              <a:t>(‘+’, 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6</a:t>
            </a:r>
            <a:r>
              <a:rPr lang="en-US" altLang="zh-CN" sz="2400" dirty="0"/>
              <a:t>);</a:t>
            </a:r>
            <a:endParaRPr lang="en-US" altLang="zh-CN" dirty="0"/>
          </a:p>
        </p:txBody>
      </p:sp>
      <p:cxnSp>
        <p:nvCxnSpPr>
          <p:cNvPr id="3" name="直接箭头连接符 2"/>
          <p:cNvCxnSpPr/>
          <p:nvPr/>
        </p:nvCxnSpPr>
        <p:spPr bwMode="auto">
          <a:xfrm flipV="1">
            <a:off x="3275856" y="2276872"/>
            <a:ext cx="0" cy="288032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/>
          <p:cNvCxnSpPr/>
          <p:nvPr/>
        </p:nvCxnSpPr>
        <p:spPr bwMode="auto">
          <a:xfrm flipH="1">
            <a:off x="3263888" y="2276872"/>
            <a:ext cx="3324336" cy="608491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/>
          <p:nvPr/>
        </p:nvCxnSpPr>
        <p:spPr bwMode="auto">
          <a:xfrm flipH="1">
            <a:off x="3234476" y="2733517"/>
            <a:ext cx="3324336" cy="608491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箭头连接符 10"/>
          <p:cNvCxnSpPr/>
          <p:nvPr/>
        </p:nvCxnSpPr>
        <p:spPr bwMode="auto">
          <a:xfrm flipH="1">
            <a:off x="3779912" y="3206375"/>
            <a:ext cx="3324336" cy="608491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5.9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31747" name="Picture 5" descr="expda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73175"/>
            <a:ext cx="5584825" cy="368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6"/>
          <p:cNvSpPr>
            <a:spLocks noChangeArrowheads="1"/>
          </p:cNvSpPr>
          <p:nvPr/>
        </p:nvSpPr>
        <p:spPr bwMode="ltGray">
          <a:xfrm>
            <a:off x="1219200" y="3657600"/>
            <a:ext cx="84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2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49" name="Rectangle 7"/>
          <p:cNvSpPr>
            <a:spLocks noChangeArrowheads="1"/>
          </p:cNvSpPr>
          <p:nvPr/>
        </p:nvSpPr>
        <p:spPr bwMode="ltGray">
          <a:xfrm>
            <a:off x="2057400" y="4419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3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8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0" name="Rectangle 8"/>
          <p:cNvSpPr>
            <a:spLocks noChangeArrowheads="1"/>
          </p:cNvSpPr>
          <p:nvPr/>
        </p:nvSpPr>
        <p:spPr bwMode="ltGray">
          <a:xfrm>
            <a:off x="4953000" y="4343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4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9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1" name="Rectangle 9"/>
          <p:cNvSpPr>
            <a:spLocks noChangeArrowheads="1"/>
          </p:cNvSpPr>
          <p:nvPr/>
        </p:nvSpPr>
        <p:spPr bwMode="ltGray">
          <a:xfrm>
            <a:off x="4114800" y="36576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5 </a:t>
            </a:r>
            <a:r>
              <a:rPr lang="en-US" altLang="zh-CN" sz="2400">
                <a:solidFill>
                  <a:schemeClr val="hlink"/>
                </a:solidFill>
              </a:rPr>
              <a:t>, p</a:t>
            </a:r>
            <a:r>
              <a:rPr lang="en-US" altLang="zh-CN" sz="2400" baseline="-25000">
                <a:solidFill>
                  <a:schemeClr val="hlink"/>
                </a:solidFill>
              </a:rPr>
              <a:t>10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2" name="Rectangle 10"/>
          <p:cNvSpPr>
            <a:spLocks noChangeArrowheads="1"/>
          </p:cNvSpPr>
          <p:nvPr/>
        </p:nvSpPr>
        <p:spPr bwMode="ltGray">
          <a:xfrm>
            <a:off x="3124200" y="28194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6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3" name="Rectangle 11"/>
          <p:cNvSpPr>
            <a:spLocks noChangeArrowheads="1"/>
          </p:cNvSpPr>
          <p:nvPr/>
        </p:nvSpPr>
        <p:spPr bwMode="ltGray">
          <a:xfrm>
            <a:off x="2362200" y="2133600"/>
            <a:ext cx="43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7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4" name="Rectangle 12"/>
          <p:cNvSpPr>
            <a:spLocks noChangeArrowheads="1"/>
          </p:cNvSpPr>
          <p:nvPr/>
        </p:nvSpPr>
        <p:spPr bwMode="ltGray">
          <a:xfrm>
            <a:off x="6781800" y="28194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11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5" name="Rectangle 13"/>
          <p:cNvSpPr>
            <a:spLocks noChangeArrowheads="1"/>
          </p:cNvSpPr>
          <p:nvPr/>
        </p:nvSpPr>
        <p:spPr bwMode="ltGray">
          <a:xfrm>
            <a:off x="5740400" y="1981200"/>
            <a:ext cx="539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12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  <p:sp>
        <p:nvSpPr>
          <p:cNvPr id="31756" name="Rectangle 15"/>
          <p:cNvSpPr>
            <a:spLocks noChangeArrowheads="1"/>
          </p:cNvSpPr>
          <p:nvPr/>
        </p:nvSpPr>
        <p:spPr bwMode="ltGray">
          <a:xfrm>
            <a:off x="4114800" y="1219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</a:rPr>
              <a:t>p</a:t>
            </a:r>
            <a:r>
              <a:rPr lang="en-US" altLang="zh-CN" sz="2400" baseline="-25000">
                <a:solidFill>
                  <a:schemeClr val="hlink"/>
                </a:solidFill>
              </a:rPr>
              <a:t>13</a:t>
            </a:r>
            <a:endParaRPr lang="en-US" altLang="zh-CN" sz="2400" baseline="-250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  <a:r>
              <a:rPr lang="zh-CN" altLang="en-US"/>
              <a:t>的实现</a:t>
            </a:r>
            <a:endParaRPr lang="zh-CN" alt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 = i + 10</a:t>
            </a:r>
            <a:endParaRPr lang="en-US" altLang="zh-CN"/>
          </a:p>
        </p:txBody>
      </p:sp>
      <p:pic>
        <p:nvPicPr>
          <p:cNvPr id="32772" name="Picture 6" descr="expdag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3217863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7" descr="dagimp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286000"/>
            <a:ext cx="449897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5.1  </a:t>
            </a:r>
            <a:r>
              <a:rPr lang="zh-CN" altLang="en-US"/>
              <a:t>构造</a:t>
            </a:r>
            <a:r>
              <a:rPr lang="en-US" altLang="zh-CN"/>
              <a:t>DAG</a:t>
            </a:r>
            <a:r>
              <a:rPr lang="zh-CN" altLang="en-US"/>
              <a:t>节点</a:t>
            </a: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输入：标记（操作符）</a:t>
            </a:r>
            <a:r>
              <a:rPr lang="en-US" altLang="zh-CN" sz="2800" dirty="0"/>
              <a:t>op</a:t>
            </a:r>
            <a:r>
              <a:rPr lang="zh-CN" altLang="en-US" sz="2800" dirty="0"/>
              <a:t>，节点</a:t>
            </a:r>
            <a:r>
              <a:rPr lang="en-US" altLang="zh-CN" sz="2800" i="1" dirty="0"/>
              <a:t>l</a:t>
            </a:r>
            <a:r>
              <a:rPr lang="zh-CN" altLang="en-US" sz="2800" dirty="0"/>
              <a:t>，节点</a:t>
            </a:r>
            <a:r>
              <a:rPr lang="en-US" altLang="zh-CN" sz="2800" i="1" dirty="0"/>
              <a:t>r</a:t>
            </a:r>
            <a:endParaRPr lang="en-US" altLang="zh-CN" sz="2800" i="1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输出：具有</a:t>
            </a:r>
            <a:r>
              <a:rPr lang="en-US" altLang="zh-CN" sz="2800" dirty="0"/>
              <a:t>&lt;op, </a:t>
            </a:r>
            <a:r>
              <a:rPr lang="en-US" altLang="zh-CN" sz="2800" i="1" dirty="0"/>
              <a:t>l</a:t>
            </a:r>
            <a:r>
              <a:rPr lang="en-US" altLang="zh-CN" sz="2800" dirty="0"/>
              <a:t>, </a:t>
            </a:r>
            <a:r>
              <a:rPr lang="en-US" altLang="zh-CN" sz="2800" i="1" dirty="0"/>
              <a:t>r</a:t>
            </a:r>
            <a:r>
              <a:rPr lang="en-US" altLang="zh-CN" sz="2800" dirty="0"/>
              <a:t>&gt;</a:t>
            </a:r>
            <a:r>
              <a:rPr lang="zh-CN" altLang="en-US" sz="2800" dirty="0"/>
              <a:t>形式的节点</a:t>
            </a:r>
            <a:endParaRPr lang="zh-CN" altLang="en-US" sz="28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方法：</a:t>
            </a:r>
            <a:endParaRPr lang="zh-CN" altLang="en-US" sz="28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在创建节点前，搜索节点数组</a:t>
            </a:r>
            <a:endParaRPr lang="zh-CN" altLang="en-US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寻找标记为</a:t>
            </a:r>
            <a:r>
              <a:rPr lang="en-US" altLang="zh-CN" sz="2400" dirty="0"/>
              <a:t>op</a:t>
            </a:r>
            <a:r>
              <a:rPr lang="zh-CN" altLang="en-US" sz="2400" dirty="0"/>
              <a:t>，左孩子</a:t>
            </a:r>
            <a:r>
              <a:rPr lang="en-US" altLang="zh-CN" sz="2400" i="1" dirty="0"/>
              <a:t>l</a:t>
            </a:r>
            <a:r>
              <a:rPr lang="zh-CN" altLang="en-US" sz="2400" dirty="0"/>
              <a:t>，右孩子</a:t>
            </a:r>
            <a:r>
              <a:rPr lang="en-US" altLang="zh-CN" sz="2400" i="1" dirty="0"/>
              <a:t>r</a:t>
            </a:r>
            <a:r>
              <a:rPr lang="zh-CN" altLang="en-US" sz="2400" dirty="0"/>
              <a:t>的节点</a:t>
            </a:r>
            <a:r>
              <a:rPr lang="en-US" altLang="zh-CN" sz="2400" dirty="0"/>
              <a:t>m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若找到，直接返回</a:t>
            </a:r>
            <a:r>
              <a:rPr lang="en-US" altLang="zh-CN" sz="2400" dirty="0"/>
              <a:t>m</a:t>
            </a:r>
            <a:endParaRPr lang="en-US" altLang="zh-CN" sz="24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否则，创建新节点，标记为</a:t>
            </a:r>
            <a:r>
              <a:rPr lang="en-US" altLang="zh-CN" sz="2400" dirty="0"/>
              <a:t>op</a:t>
            </a:r>
            <a:r>
              <a:rPr lang="zh-CN" altLang="en-US" sz="2400" dirty="0"/>
              <a:t>，左孩子为</a:t>
            </a:r>
            <a:r>
              <a:rPr lang="en-US" altLang="zh-CN" sz="2400" i="1" dirty="0"/>
              <a:t>l</a:t>
            </a:r>
            <a:r>
              <a:rPr lang="zh-CN" altLang="en-US" sz="2400" dirty="0"/>
              <a:t>，右孩子为</a:t>
            </a:r>
            <a:r>
              <a:rPr lang="en-US" altLang="zh-CN" sz="2400" i="1" dirty="0"/>
              <a:t>r</a:t>
            </a:r>
            <a:r>
              <a:rPr lang="zh-CN" altLang="en-US" sz="2400" dirty="0"/>
              <a:t>，将该节点返回</a:t>
            </a:r>
            <a:endParaRPr lang="zh-CN" altLang="en-US" sz="2400" dirty="0"/>
          </a:p>
          <a:p>
            <a:pPr marL="0" indent="0" eaLnBrk="1" hangingPunct="1"/>
            <a:r>
              <a:rPr lang="zh-CN" altLang="en-US" sz="2800" dirty="0"/>
              <a:t>搜索方法：</a:t>
            </a:r>
            <a:r>
              <a:rPr lang="en-US" altLang="zh-CN" sz="2800" dirty="0"/>
              <a:t>hash</a:t>
            </a:r>
            <a:r>
              <a:rPr lang="zh-CN" altLang="en-US" sz="2800" dirty="0"/>
              <a:t>技术</a:t>
            </a:r>
            <a:r>
              <a:rPr lang="en-US" altLang="zh-CN" sz="2800" dirty="0"/>
              <a:t>…</a:t>
            </a:r>
            <a:endParaRPr lang="en-US" altLang="zh-CN" sz="2800" dirty="0"/>
          </a:p>
          <a:p>
            <a:pPr marL="0" indent="0" eaLnBrk="1" hangingPunct="1"/>
            <a:r>
              <a:rPr lang="zh-CN" altLang="en-US" sz="2800" dirty="0"/>
              <a:t>代码优化阶段类似方法：局部值标号（</a:t>
            </a:r>
            <a:r>
              <a:rPr lang="en-US" altLang="zh-CN" sz="2800" dirty="0"/>
              <a:t>Local Value Numbering</a:t>
            </a:r>
            <a:r>
              <a:rPr lang="zh-CN" altLang="en-US" sz="2800" dirty="0"/>
              <a:t>，</a:t>
            </a:r>
            <a:r>
              <a:rPr lang="en-US" altLang="zh-CN" sz="2800" dirty="0"/>
              <a:t>LVN</a:t>
            </a:r>
            <a:r>
              <a:rPr lang="zh-CN" altLang="en-US" sz="2800"/>
              <a:t>）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en-US" altLang="zh-CN" sz="2800" dirty="0" err="1">
                <a:sym typeface="Wingdings" panose="05000000000000000000" pitchFamily="2" charset="2"/>
              </a:rPr>
              <a:t>G</a:t>
            </a:r>
            <a:r>
              <a:rPr lang="en-US" altLang="zh-CN" sz="2800" dirty="0" err="1"/>
              <a:t>ocal</a:t>
            </a:r>
            <a:r>
              <a:rPr lang="en-US" altLang="zh-CN" sz="2800" dirty="0"/>
              <a:t> Value Numbering</a:t>
            </a:r>
            <a:r>
              <a:rPr lang="zh-CN" altLang="en-US" sz="2800" dirty="0"/>
              <a:t>，</a:t>
            </a:r>
            <a:r>
              <a:rPr lang="en-US" altLang="zh-CN" sz="2800" dirty="0"/>
              <a:t>GVN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{StmtK,ExpK} NodeKind;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{IfK,RepeatK,AssignK,ReadK,WriteK} StmtKind;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{OpK,ConstK,IdK} ExpKind;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enum {Void,Integer,Boolean} ExpType;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#define MAXCHILDREN 3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typedef struct treeNode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{ 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	struct treeNode * child[MAXCHILDREN];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struct treeNode * sibling;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int lineno;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NodeKind nodekind;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union { StmtKind stmt; ExpKind exp;} 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union { TokenType op;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        int val;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        char * name; } attr;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 ExpType type; /* for type checking of exps */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} TreeNode;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</a:t>
            </a:r>
            <a:r>
              <a:rPr lang="zh-CN" altLang="en-US"/>
              <a:t>辅助函数</a:t>
            </a:r>
            <a:endParaRPr lang="zh-CN" alt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TreeNode * newStmtNode(StmtKind kind)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TreeNode * t = (TreeNode *) malloc(sizeof(TreeNode));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int i;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if (t==NULL)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fprintf(listing,"Out of memory error at line %d\n",lineno);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else {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for (i=0;i&lt;MAXCHILDREN;i++) t-&gt;child[i] = NULL;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t-&gt;sibling = NULL;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t-&gt;nodekind = StmtK;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t-&gt;kind.stmt = 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t-&gt;lineno = lineno;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</a:t>
            </a:r>
            <a:r>
              <a:rPr lang="zh-CN" altLang="en-US"/>
              <a:t>辅助函数</a:t>
            </a: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TreeNode * newExpNode(ExpKind kind)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TreeNode * t = (TreeNode *) malloc(sizeof(TreeNode));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int i;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if (t==NULL)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fprintf(listing,"Out of memory error at line %d\n",lineno);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else {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for (i=0;i&lt;MAXCHILDREN;i++) t-&gt;child[i] = NULL;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t-&gt;sibling = NULL;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t-&gt;nodekind = ExpK;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t-&gt;kind.exp = kind;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t-&gt;lineno = lineno;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  t-&gt;type = Void;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16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</a:t>
            </a:r>
            <a:r>
              <a:rPr lang="zh-CN" altLang="en-US"/>
              <a:t>表达式</a:t>
            </a:r>
            <a:endParaRPr lang="zh-CN" alt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TreeNode * simple_exp(void)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TreeNode * t = term();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while ((token==PLUS) || (token==MINUS))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TreeNode * p = newExpNode(OpK);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if (p!=NULL)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p-&gt;child[0] = 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p-&gt;attr.op = token;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t = p;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match(token);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t-&gt;child[1] = term();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——IF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TreeNode * if_stmt(void)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TreeNode * t = newStmtNode(IfK);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match(IF);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if (t!=NULL) t-&gt;child[0] = exp();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match(THEN);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if (t!=NULL) t-&gt;child[1] = stmt_sequence();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if (token==ELSE)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match(ELSE);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if (t!=NULL) t-&gt;child[2] = stmt_sequence();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match(END);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return 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——Yacc</a:t>
            </a:r>
            <a:endParaRPr lang="en-US" altLang="zh-CN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#define YYSTYPE TreeNode *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simple_exp  : simple_exp PLUS term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newExpNode(OpK);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$1;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$3;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$$-&gt;attr.op = PLUS;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| simple_exp MINUS term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newExpNode(OpK);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$1;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$3;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$$-&gt;attr.op = MINUS;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| term { $$ = $1;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TinyC</a:t>
            </a:r>
            <a:r>
              <a:rPr lang="zh-CN" altLang="en-US"/>
              <a:t>中的语法树</a:t>
            </a:r>
            <a:r>
              <a:rPr lang="en-US" altLang="zh-CN"/>
              <a:t>——Yacc</a:t>
            </a:r>
            <a:endParaRPr lang="en-US" altLang="zh-CN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if_stmt     : IF exp THEN stmt_seq END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newStmtNode(IfK);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$2;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$4;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| IF exp THEN stmt_seq ELSE stmt_seq END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{ $$ = newStmtNode(IfK);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$$-&gt;child[0] = $2;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$$-&gt;child[1] = $4;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  $$-&gt;child[2] = $6;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5.3  </a:t>
            </a:r>
            <a:r>
              <a:rPr lang="zh-CN" altLang="en-US"/>
              <a:t>自底向上计算</a:t>
            </a:r>
            <a:r>
              <a:rPr lang="en-US" altLang="zh-CN"/>
              <a:t>S-</a:t>
            </a:r>
            <a:r>
              <a:rPr lang="zh-CN" altLang="en-US"/>
              <a:t>属性定义</a:t>
            </a:r>
            <a:endParaRPr lang="zh-CN" alt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133600"/>
          </a:xfrm>
        </p:spPr>
        <p:txBody>
          <a:bodyPr/>
          <a:lstStyle/>
          <a:p>
            <a:pPr eaLnBrk="1" hangingPunct="1"/>
            <a:r>
              <a:rPr lang="zh-CN" altLang="en-US" dirty="0"/>
              <a:t>与</a:t>
            </a:r>
            <a:r>
              <a:rPr lang="en-US" altLang="zh-CN" dirty="0"/>
              <a:t>LR(1)</a:t>
            </a:r>
            <a:r>
              <a:rPr lang="zh-CN" altLang="en-US" dirty="0"/>
              <a:t>分析器结合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属性值如何保存？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在栈中保存语法符号的属性值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/>
              <a:t>何时计算属性？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归约时，利用栈中语法符号（产生式右部）属性值计算新的（左部非终结符的）综合属性值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自底向上计算</a:t>
            </a:r>
            <a:r>
              <a:rPr lang="en-US" altLang="zh-CN"/>
              <a:t>S-</a:t>
            </a:r>
            <a:r>
              <a:rPr lang="zh-CN" altLang="en-US"/>
              <a:t>属性定义示例</a:t>
            </a:r>
            <a:endParaRPr lang="zh-CN" altLang="en-US"/>
          </a:p>
        </p:txBody>
      </p:sp>
      <p:pic>
        <p:nvPicPr>
          <p:cNvPr id="43011" name="Picture 4" descr="attsta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1752600"/>
            <a:ext cx="2544762" cy="284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5" descr="attstack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209800"/>
            <a:ext cx="2544763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6"/>
          <p:cNvSpPr txBox="1">
            <a:spLocks noChangeArrowheads="1"/>
          </p:cNvSpPr>
          <p:nvPr/>
        </p:nvSpPr>
        <p:spPr bwMode="ltGray">
          <a:xfrm>
            <a:off x="2895600" y="1600200"/>
            <a:ext cx="3886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A  XYZ</a:t>
            </a:r>
            <a:r>
              <a:rPr kumimoji="0" lang="en-US" altLang="zh-CN" sz="2800">
                <a:sym typeface="Wingdings" panose="05000000000000000000" pitchFamily="2" charset="2"/>
              </a:rPr>
              <a:t>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 A.</a:t>
            </a:r>
            <a:r>
              <a:rPr kumimoji="0" lang="en-US" altLang="zh-CN" sz="2800" i="1">
                <a:sym typeface="Symbol" panose="05050102010706020507" pitchFamily="18" charset="2"/>
              </a:rPr>
              <a:t>a</a:t>
            </a:r>
            <a:r>
              <a:rPr kumimoji="0" lang="en-US" altLang="zh-CN" sz="2800"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sym typeface="Symbol" panose="05050102010706020507" pitchFamily="18" charset="2"/>
              </a:rPr>
              <a:t>f</a:t>
            </a:r>
            <a:r>
              <a:rPr kumimoji="0" lang="en-US" altLang="zh-CN" sz="2800">
                <a:sym typeface="Symbol" panose="05050102010706020507" pitchFamily="18" charset="2"/>
              </a:rPr>
              <a:t>(X.</a:t>
            </a:r>
            <a:r>
              <a:rPr kumimoji="0" lang="en-US" altLang="zh-CN" sz="2800" i="1">
                <a:sym typeface="Symbol" panose="05050102010706020507" pitchFamily="18" charset="2"/>
              </a:rPr>
              <a:t>x</a:t>
            </a:r>
            <a:r>
              <a:rPr kumimoji="0" lang="en-US" altLang="zh-CN" sz="2800">
                <a:sym typeface="Symbol" panose="05050102010706020507" pitchFamily="18" charset="2"/>
              </a:rPr>
              <a:t>,Y.</a:t>
            </a:r>
            <a:r>
              <a:rPr kumimoji="0" lang="en-US" altLang="zh-CN" sz="2800" i="1">
                <a:sym typeface="Symbol" panose="05050102010706020507" pitchFamily="18" charset="2"/>
              </a:rPr>
              <a:t>y</a:t>
            </a:r>
            <a:r>
              <a:rPr kumimoji="0" lang="en-US" altLang="zh-CN" sz="2800">
                <a:sym typeface="Symbol" panose="05050102010706020507" pitchFamily="18" charset="2"/>
              </a:rPr>
              <a:t>,Z.</a:t>
            </a:r>
            <a:r>
              <a:rPr kumimoji="0" lang="en-US" altLang="zh-CN" sz="2800" i="1">
                <a:sym typeface="Symbol" panose="05050102010706020507" pitchFamily="18" charset="2"/>
              </a:rPr>
              <a:t>z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r>
              <a:rPr kumimoji="0" lang="en-US" altLang="zh-CN" sz="2800">
                <a:sym typeface="Wingdings" panose="05000000000000000000" pitchFamily="2" charset="2"/>
              </a:rPr>
              <a:t></a:t>
            </a:r>
            <a:br>
              <a:rPr kumimoji="0" lang="en-US" altLang="zh-CN" sz="2800">
                <a:sym typeface="Symbol" panose="05050102010706020507" pitchFamily="18" charset="2"/>
              </a:rPr>
            </a:br>
            <a:r>
              <a:rPr kumimoji="0" lang="en-US" altLang="zh-CN" sz="2800">
                <a:sym typeface="Symbol" panose="05050102010706020507" pitchFamily="18" charset="2"/>
              </a:rPr>
              <a:t>val[ntop]=f(val[top-2], val[top-1], val[top])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5.10</a:t>
            </a:r>
            <a:endParaRPr lang="en-US" altLang="zh-CN"/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6" name="Line 5"/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Line 6"/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Line 7"/>
          <p:cNvSpPr>
            <a:spLocks noChangeShapeType="1"/>
          </p:cNvSpPr>
          <p:nvPr/>
        </p:nvSpPr>
        <p:spPr bwMode="auto">
          <a:xfrm>
            <a:off x="1066800" y="5562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Line 8"/>
          <p:cNvSpPr>
            <a:spLocks noChangeShapeType="1"/>
          </p:cNvSpPr>
          <p:nvPr/>
        </p:nvSpPr>
        <p:spPr bwMode="auto">
          <a:xfrm>
            <a:off x="3657600" y="1447800"/>
            <a:ext cx="0" cy="411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1369" name="Text Box 9"/>
          <p:cNvSpPr txBox="1">
            <a:spLocks noChangeArrowheads="1"/>
          </p:cNvSpPr>
          <p:nvPr/>
        </p:nvSpPr>
        <p:spPr bwMode="auto">
          <a:xfrm>
            <a:off x="1066800" y="1905000"/>
            <a:ext cx="7467600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L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 E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print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[top])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T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[ntop]=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[top-2]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+val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T		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T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*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F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[ntop]=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[top-2]*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T  F		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		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[ntop]=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[top-1]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F  </a:t>
            </a:r>
            <a:r>
              <a:rPr kumimoji="0"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digit</a:t>
            </a:r>
            <a:r>
              <a:rPr kumimoji="0"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041" name="Text Box 10"/>
          <p:cNvSpPr txBox="1">
            <a:spLocks noChangeArrowheads="1"/>
          </p:cNvSpPr>
          <p:nvPr/>
        </p:nvSpPr>
        <p:spPr bwMode="auto">
          <a:xfrm>
            <a:off x="5867400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44042" name="Text Box 11"/>
          <p:cNvSpPr txBox="1">
            <a:spLocks noChangeArrowheads="1"/>
          </p:cNvSpPr>
          <p:nvPr/>
        </p:nvSpPr>
        <p:spPr bwMode="auto">
          <a:xfrm>
            <a:off x="1981200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44043" name="Text Box 12"/>
          <p:cNvSpPr txBox="1">
            <a:spLocks noChangeArrowheads="1"/>
          </p:cNvSpPr>
          <p:nvPr/>
        </p:nvSpPr>
        <p:spPr bwMode="auto">
          <a:xfrm>
            <a:off x="5029200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代码片断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5.10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45059" name="Picture 19" descr="valsatt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90638"/>
            <a:ext cx="5067300" cy="556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  L-</a:t>
            </a:r>
            <a:r>
              <a:rPr lang="zh-CN" altLang="en-US"/>
              <a:t>属性定义</a:t>
            </a: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语法分析同时进行翻译，按深度优先顺序进行属性计算</a:t>
            </a:r>
            <a:endParaRPr lang="zh-CN" altLang="en-US" sz="2800" dirty="0"/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sym typeface="Symbol" panose="05050102010706020507" pitchFamily="18" charset="2"/>
              </a:rPr>
              <a:t>procedure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sym typeface="Symbol" panose="05050102010706020507" pitchFamily="18" charset="2"/>
              </a:rPr>
              <a:t>dfsvisit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n:node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{	</a:t>
            </a:r>
            <a:r>
              <a:rPr lang="en-US" altLang="zh-CN" sz="2000" b="1" dirty="0">
                <a:sym typeface="Symbol" panose="05050102010706020507" pitchFamily="18" charset="2"/>
              </a:rPr>
              <a:t>for</a:t>
            </a:r>
            <a:r>
              <a:rPr lang="en-US" altLang="zh-CN" sz="2000" dirty="0">
                <a:sym typeface="Symbol" panose="05050102010706020507" pitchFamily="18" charset="2"/>
              </a:rPr>
              <a:t> n</a:t>
            </a:r>
            <a:r>
              <a:rPr lang="zh-CN" altLang="en-US" sz="2000" dirty="0">
                <a:sym typeface="Symbol" panose="05050102010706020507" pitchFamily="18" charset="2"/>
              </a:rPr>
              <a:t>的每个孩子，由左至右 </a:t>
            </a:r>
            <a:r>
              <a:rPr lang="en-US" altLang="zh-CN" sz="2000" b="1" dirty="0">
                <a:sym typeface="Symbol" panose="05050102010706020507" pitchFamily="18" charset="2"/>
              </a:rPr>
              <a:t>do</a:t>
            </a:r>
            <a:endParaRPr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{	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</a:t>
            </a:r>
            <a:r>
              <a:rPr lang="zh-CN" altLang="en-US" sz="2000" dirty="0">
                <a:sym typeface="Symbol" panose="05050102010706020507" pitchFamily="18" charset="2"/>
              </a:rPr>
              <a:t>计算</a:t>
            </a:r>
            <a:r>
              <a:rPr lang="en-US" altLang="zh-CN" sz="2000" dirty="0">
                <a:sym typeface="Symbol" panose="05050102010706020507" pitchFamily="18" charset="2"/>
              </a:rPr>
              <a:t>m</a:t>
            </a:r>
            <a:r>
              <a:rPr lang="zh-CN" altLang="en-US" sz="2000" dirty="0">
                <a:sym typeface="Symbol" panose="05050102010706020507" pitchFamily="18" charset="2"/>
              </a:rPr>
              <a:t>的继承属性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r>
              <a:rPr lang="zh-CN" altLang="en-US" sz="2000" dirty="0">
                <a:sym typeface="Symbol" panose="05050102010706020507" pitchFamily="18" charset="2"/>
              </a:rPr>
              <a:t>（利用</a:t>
            </a:r>
            <a:r>
              <a:rPr lang="en-US" altLang="zh-CN" sz="2000" dirty="0"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ym typeface="Symbol" panose="05050102010706020507" pitchFamily="18" charset="2"/>
              </a:rPr>
              <a:t>的继承属性和</a:t>
            </a:r>
            <a:r>
              <a:rPr lang="en-US" altLang="zh-CN" sz="2000" dirty="0">
                <a:sym typeface="Symbol" panose="05050102010706020507" pitchFamily="18" charset="2"/>
              </a:rPr>
              <a:t>m</a:t>
            </a:r>
            <a:r>
              <a:rPr lang="zh-CN" altLang="en-US" sz="2000" dirty="0">
                <a:sym typeface="Symbol" panose="05050102010706020507" pitchFamily="18" charset="2"/>
              </a:rPr>
              <a:t>的左兄弟的属性）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sym typeface="Symbol" panose="05050102010706020507" pitchFamily="18" charset="2"/>
              </a:rPr>
              <a:t>		</a:t>
            </a:r>
            <a:r>
              <a:rPr lang="en-US" altLang="zh-CN" sz="2000" dirty="0" err="1">
                <a:sym typeface="Symbol" panose="05050102010706020507" pitchFamily="18" charset="2"/>
              </a:rPr>
              <a:t>dfsvisit</a:t>
            </a:r>
            <a:r>
              <a:rPr lang="en-US" altLang="zh-CN" sz="2000" dirty="0">
                <a:sym typeface="Symbol" panose="05050102010706020507" pitchFamily="18" charset="2"/>
              </a:rPr>
              <a:t>(m);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</a:t>
            </a:r>
            <a:r>
              <a:rPr lang="zh-CN" altLang="en-US" sz="2000" dirty="0">
                <a:sym typeface="Symbol" panose="05050102010706020507" pitchFamily="18" charset="2"/>
              </a:rPr>
              <a:t>计算</a:t>
            </a:r>
            <a:r>
              <a:rPr lang="en-US" altLang="zh-CN" sz="2000" dirty="0"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ym typeface="Symbol" panose="05050102010706020507" pitchFamily="18" charset="2"/>
              </a:rPr>
              <a:t>的综合属性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/>
          </a:p>
          <a:p>
            <a:pPr eaLnBrk="1" hangingPunct="1"/>
            <a:r>
              <a:rPr lang="en-US" altLang="zh-CN" sz="2800" dirty="0"/>
              <a:t>L-</a:t>
            </a:r>
            <a:r>
              <a:rPr lang="zh-CN" altLang="en-US" sz="2800" dirty="0"/>
              <a:t>属性定义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可由深度优先计算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包括所有基于</a:t>
            </a:r>
            <a:r>
              <a:rPr lang="en-US" altLang="zh-CN" sz="2400" dirty="0"/>
              <a:t>LL(1)</a:t>
            </a:r>
            <a:r>
              <a:rPr lang="zh-CN" altLang="en-US" sz="2400" dirty="0"/>
              <a:t>文法的语法制导定义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5.4.1  L-</a:t>
            </a:r>
            <a:r>
              <a:rPr lang="zh-CN" altLang="en-US"/>
              <a:t>属性定义</a:t>
            </a:r>
            <a:endParaRPr lang="zh-CN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一个语法制导定义，若满足如下条件，则称之为</a:t>
            </a:r>
            <a:r>
              <a:rPr lang="en-US" altLang="zh-CN" dirty="0"/>
              <a:t>L-</a:t>
            </a:r>
            <a:r>
              <a:rPr lang="zh-CN" altLang="en-US" dirty="0"/>
              <a:t>属性定义：</a:t>
            </a:r>
            <a:endParaRPr lang="zh-CN" altLang="en-US" dirty="0"/>
          </a:p>
          <a:p>
            <a:pPr marL="990600" lvl="1" indent="-533400" eaLnBrk="1" hangingPunct="1">
              <a:spcBef>
                <a:spcPct val="0"/>
              </a:spcBef>
            </a:pPr>
            <a:r>
              <a:rPr lang="zh-CN" altLang="en-US" dirty="0">
                <a:sym typeface="Symbol" panose="05050102010706020507" pitchFamily="18" charset="2"/>
              </a:rPr>
              <a:t>对产生式</a:t>
            </a:r>
            <a:r>
              <a:rPr lang="en-US" altLang="zh-CN" dirty="0">
                <a:sym typeface="Symbol" panose="05050102010706020507" pitchFamily="18" charset="2"/>
              </a:rPr>
              <a:t>A X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en-US" altLang="zh-CN" dirty="0" err="1">
                <a:sym typeface="Symbol" panose="05050102010706020507" pitchFamily="18" charset="2"/>
              </a:rPr>
              <a:t>X</a:t>
            </a:r>
            <a:r>
              <a:rPr lang="en-US" altLang="zh-CN" baseline="-25000" dirty="0" err="1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X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en-US" altLang="zh-CN" dirty="0">
                <a:sym typeface="Symbol" panose="05050102010706020507" pitchFamily="18" charset="2"/>
              </a:rPr>
              <a:t>(1≤j≤n)</a:t>
            </a:r>
            <a:r>
              <a:rPr lang="zh-CN" altLang="en-US" dirty="0">
                <a:sym typeface="Symbol" panose="05050102010706020507" pitchFamily="18" charset="2"/>
              </a:rPr>
              <a:t>的每个继承属性应仅依赖于</a:t>
            </a:r>
            <a:endParaRPr lang="zh-CN" altLang="en-US" dirty="0">
              <a:sym typeface="Symbol" panose="05050102010706020507" pitchFamily="18" charset="2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 err="1">
                <a:sym typeface="Symbol" panose="05050102010706020507" pitchFamily="18" charset="2"/>
              </a:rPr>
              <a:t>X</a:t>
            </a:r>
            <a:r>
              <a:rPr lang="en-US" altLang="zh-CN" baseline="-25000" dirty="0" err="1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左边符号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…</a:t>
            </a:r>
            <a:r>
              <a:rPr lang="zh-CN" altLang="en-US" dirty="0">
                <a:sym typeface="Symbol" panose="05050102010706020507" pitchFamily="18" charset="2"/>
              </a:rPr>
              <a:t>、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j-1</a:t>
            </a:r>
            <a:r>
              <a:rPr lang="zh-CN" altLang="en-US" dirty="0">
                <a:sym typeface="Symbol" panose="05050102010706020507" pitchFamily="18" charset="2"/>
              </a:rPr>
              <a:t>的属性（继承属性和综合属性）</a:t>
            </a:r>
            <a:endParaRPr lang="zh-CN" altLang="en-US" dirty="0">
              <a:sym typeface="Symbol" panose="05050102010706020507" pitchFamily="18" charset="2"/>
            </a:endParaRPr>
          </a:p>
          <a:p>
            <a:pPr marL="1371600" lvl="2" indent="-4572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Symbol" panose="05050102010706020507" pitchFamily="18" charset="2"/>
              </a:rPr>
              <a:t>A</a:t>
            </a:r>
            <a:r>
              <a:rPr lang="zh-CN" altLang="en-US" dirty="0">
                <a:sym typeface="Symbol" panose="05050102010706020507" pitchFamily="18" charset="2"/>
              </a:rPr>
              <a:t>的继承属性</a:t>
            </a:r>
            <a:endParaRPr lang="zh-CN" altLang="en-US" dirty="0">
              <a:sym typeface="Symbol" panose="05050102010706020507" pitchFamily="18" charset="2"/>
            </a:endParaRPr>
          </a:p>
          <a:p>
            <a:pPr marL="609600" indent="-609600" eaLnBrk="1" hangingPunct="1"/>
            <a:r>
              <a:rPr lang="zh-CN" altLang="en-US" dirty="0">
                <a:sym typeface="Symbol" panose="05050102010706020507" pitchFamily="18" charset="2"/>
              </a:rPr>
              <a:t>所有</a:t>
            </a:r>
            <a:r>
              <a:rPr lang="en-US" altLang="zh-CN" dirty="0">
                <a:sym typeface="Symbol" panose="05050102010706020507" pitchFamily="18" charset="2"/>
              </a:rPr>
              <a:t>S-</a:t>
            </a:r>
            <a:r>
              <a:rPr lang="zh-CN" altLang="en-US" dirty="0">
                <a:sym typeface="Symbol" panose="05050102010706020507" pitchFamily="18" charset="2"/>
              </a:rPr>
              <a:t>属性定义都是</a:t>
            </a:r>
            <a:r>
              <a:rPr lang="en-US" altLang="zh-CN" dirty="0">
                <a:sym typeface="Symbol" panose="05050102010706020507" pitchFamily="18" charset="2"/>
              </a:rPr>
              <a:t>L-</a:t>
            </a:r>
            <a:r>
              <a:rPr lang="zh-CN" altLang="en-US" dirty="0">
                <a:sym typeface="Symbol" panose="05050102010706020507" pitchFamily="18" charset="2"/>
              </a:rPr>
              <a:t>属性定义</a:t>
            </a:r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5.11</a:t>
            </a:r>
            <a:endParaRPr lang="en-US" altLang="zh-CN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86400" y="4800600"/>
            <a:ext cx="3084513" cy="60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hlink"/>
                </a:solidFill>
              </a:rPr>
              <a:t>不是</a:t>
            </a:r>
            <a:r>
              <a:rPr lang="en-US" altLang="zh-CN" sz="2800">
                <a:solidFill>
                  <a:schemeClr val="hlink"/>
                </a:solidFill>
              </a:rPr>
              <a:t>L-</a:t>
            </a:r>
            <a:r>
              <a:rPr lang="zh-CN" altLang="en-US" sz="2800">
                <a:solidFill>
                  <a:schemeClr val="hlink"/>
                </a:solidFill>
              </a:rPr>
              <a:t>属性定义</a:t>
            </a:r>
            <a:endParaRPr lang="zh-CN" altLang="en-US" sz="2800">
              <a:solidFill>
                <a:schemeClr val="hlink"/>
              </a:solidFill>
            </a:endParaRPr>
          </a:p>
        </p:txBody>
      </p:sp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1066800" y="152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1066800" y="1600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4" name="Line 6"/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5" name="Line 7"/>
          <p:cNvSpPr>
            <a:spLocks noChangeShapeType="1"/>
          </p:cNvSpPr>
          <p:nvPr/>
        </p:nvSpPr>
        <p:spPr bwMode="auto">
          <a:xfrm>
            <a:off x="1066800" y="4648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 flipH="1">
            <a:off x="3733800" y="16002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066800" y="2057400"/>
            <a:ext cx="7086600" cy="2614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LM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L.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M.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(L.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3</a:t>
            </a:r>
            <a:r>
              <a:rPr kumimoji="0" lang="en-US" altLang="zh-CN" sz="2400">
                <a:sym typeface="Symbol" panose="05050102010706020507" pitchFamily="18" charset="2"/>
              </a:rPr>
              <a:t>(M.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A </a:t>
            </a:r>
            <a:r>
              <a:rPr kumimoji="0" lang="en-US" altLang="zh-CN" sz="2400">
                <a:sym typeface="Symbol" panose="05050102010706020507" pitchFamily="18" charset="2"/>
              </a:rPr>
              <a:t> QR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4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Q.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5</a:t>
            </a:r>
            <a:r>
              <a:rPr kumimoji="0" lang="en-US" altLang="zh-CN" sz="2400">
                <a:sym typeface="Symbol" panose="05050102010706020507" pitchFamily="18" charset="2"/>
              </a:rPr>
              <a:t>(R.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f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6</a:t>
            </a:r>
            <a:r>
              <a:rPr kumimoji="0" lang="en-US" altLang="zh-CN" sz="2400">
                <a:sym typeface="Symbol" panose="05050102010706020507" pitchFamily="18" charset="2"/>
              </a:rPr>
              <a:t>(Q.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48138" name="Text Box 10"/>
          <p:cNvSpPr txBox="1">
            <a:spLocks noChangeArrowheads="1"/>
          </p:cNvSpPr>
          <p:nvPr/>
        </p:nvSpPr>
        <p:spPr bwMode="auto">
          <a:xfrm>
            <a:off x="1524000" y="16002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  <a:endParaRPr kumimoji="0" lang="zh-CN" altLang="en-US" sz="2000" b="1"/>
          </a:p>
        </p:txBody>
      </p:sp>
      <p:sp>
        <p:nvSpPr>
          <p:cNvPr id="48139" name="Text Box 11"/>
          <p:cNvSpPr txBox="1">
            <a:spLocks noChangeArrowheads="1"/>
          </p:cNvSpPr>
          <p:nvPr/>
        </p:nvSpPr>
        <p:spPr bwMode="auto">
          <a:xfrm>
            <a:off x="5029200" y="16002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语义规则</a:t>
            </a:r>
            <a:endParaRPr kumimoji="0" lang="zh-CN" altLang="en-US" sz="2000" b="1"/>
          </a:p>
        </p:txBody>
      </p:sp>
      <p:sp>
        <p:nvSpPr>
          <p:cNvPr id="48140" name="Freeform 13"/>
          <p:cNvSpPr/>
          <p:nvPr/>
        </p:nvSpPr>
        <p:spPr bwMode="ltGray">
          <a:xfrm>
            <a:off x="5435600" y="4076700"/>
            <a:ext cx="1474788" cy="723900"/>
          </a:xfrm>
          <a:custGeom>
            <a:avLst/>
            <a:gdLst>
              <a:gd name="T0" fmla="*/ 2147483646 w 801"/>
              <a:gd name="T1" fmla="*/ 991973332 h 528"/>
              <a:gd name="T2" fmla="*/ 2147483646 w 801"/>
              <a:gd name="T3" fmla="*/ 450896470 h 528"/>
              <a:gd name="T4" fmla="*/ 1382636765 w 801"/>
              <a:gd name="T5" fmla="*/ 146541764 h 528"/>
              <a:gd name="T6" fmla="*/ 0 w 801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01" h="528">
                <a:moveTo>
                  <a:pt x="768" y="528"/>
                </a:moveTo>
                <a:cubicBezTo>
                  <a:pt x="764" y="480"/>
                  <a:pt x="801" y="315"/>
                  <a:pt x="741" y="240"/>
                </a:cubicBezTo>
                <a:cubicBezTo>
                  <a:pt x="681" y="165"/>
                  <a:pt x="531" y="118"/>
                  <a:pt x="408" y="78"/>
                </a:cubicBezTo>
                <a:cubicBezTo>
                  <a:pt x="285" y="38"/>
                  <a:pt x="85" y="16"/>
                  <a:pt x="0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5.4.2  </a:t>
            </a:r>
            <a:r>
              <a:rPr lang="zh-CN" altLang="en-US"/>
              <a:t>翻译模式</a:t>
            </a:r>
            <a:endParaRPr lang="zh-CN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语义动作嵌入产生式</a:t>
            </a:r>
            <a:endParaRPr lang="zh-CN" altLang="en-US"/>
          </a:p>
          <a:p>
            <a:pPr eaLnBrk="1" hangingPunct="1"/>
            <a:r>
              <a:rPr lang="zh-CN" altLang="en-US"/>
              <a:t>指明计算顺序</a:t>
            </a:r>
            <a:endParaRPr lang="zh-CN" altLang="en-US"/>
          </a:p>
          <a:p>
            <a:pPr eaLnBrk="1" hangingPunct="1"/>
            <a:r>
              <a:rPr lang="zh-CN" altLang="en-US" sz="4000">
                <a:solidFill>
                  <a:srgbClr val="3333CC"/>
                </a:solidFill>
              </a:rPr>
              <a:t>例</a:t>
            </a:r>
            <a:r>
              <a:rPr lang="en-US" altLang="zh-CN" sz="4000">
                <a:solidFill>
                  <a:srgbClr val="3333CC"/>
                </a:solidFill>
              </a:rPr>
              <a:t>5.12</a:t>
            </a:r>
            <a:endParaRPr lang="en-US" altLang="zh-CN" sz="4000">
              <a:solidFill>
                <a:srgbClr val="3333CC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 R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 T { </a:t>
            </a:r>
            <a:r>
              <a:rPr kumimoji="0" lang="en-US" altLang="zh-CN" sz="2800" i="1">
                <a:sym typeface="Symbol" panose="05050102010706020507" pitchFamily="18" charset="2"/>
              </a:rPr>
              <a:t>print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lexeme</a:t>
            </a:r>
            <a:r>
              <a:rPr kumimoji="0" lang="en-US" altLang="zh-CN" sz="2800">
                <a:sym typeface="Symbol" panose="05050102010706020507" pitchFamily="18" charset="2"/>
              </a:rPr>
              <a:t>)}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| </a:t>
            </a:r>
            <a:r>
              <a:rPr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lang="en-US" altLang="zh-CN" sz="2800">
              <a:latin typeface="Symbol" panose="05050102010706020507" pitchFamily="18" charset="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T</a:t>
            </a:r>
            <a:r>
              <a:rPr kumimoji="0" lang="en-US" altLang="zh-CN" sz="2800">
                <a:sym typeface="Symbol" panose="05050102010706020507" pitchFamily="18" charset="2"/>
              </a:rPr>
              <a:t>  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 { </a:t>
            </a:r>
            <a:r>
              <a:rPr kumimoji="0" lang="en-US" altLang="zh-CN" sz="2800" i="1">
                <a:sym typeface="Symbol" panose="05050102010706020507" pitchFamily="18" charset="2"/>
              </a:rPr>
              <a:t>print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sym typeface="Symbol" panose="05050102010706020507" pitchFamily="18" charset="2"/>
              </a:rPr>
              <a:t>) }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5.12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50179" name="Picture 4" descr="schem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208963" cy="381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设计翻译模式</a:t>
            </a: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marL="609600" indent="-609600" eaLnBrk="1" hangingPunct="1"/>
            <a:r>
              <a:rPr lang="zh-CN" altLang="en-US" sz="2400" dirty="0"/>
              <a:t>以语法制导定义为基础</a:t>
            </a:r>
            <a:endParaRPr lang="zh-CN" altLang="en-US" sz="2400" dirty="0"/>
          </a:p>
          <a:p>
            <a:pPr marL="609600" indent="-609600" eaLnBrk="1" hangingPunct="1"/>
            <a:r>
              <a:rPr lang="zh-CN" altLang="en-US" sz="2400" dirty="0"/>
              <a:t>注意</a:t>
            </a:r>
            <a:r>
              <a:rPr lang="en-US" altLang="zh-CN" sz="2400" dirty="0"/>
              <a:t>L-</a:t>
            </a:r>
            <a:r>
              <a:rPr lang="zh-CN" altLang="en-US" sz="2400" dirty="0"/>
              <a:t>属性定义所带来的限制，确保不会违反属性计算的依赖关系</a:t>
            </a:r>
            <a:endParaRPr lang="zh-CN" altLang="en-US" sz="2400" dirty="0"/>
          </a:p>
          <a:p>
            <a:pPr marL="609600" indent="-609600" eaLnBrk="1" hangingPunct="1"/>
            <a:r>
              <a:rPr lang="zh-CN" altLang="en-US" sz="2400" dirty="0"/>
              <a:t>最简单情况：只有综合属性</a:t>
            </a:r>
            <a:endParaRPr lang="zh-CN" altLang="en-US" sz="2400" dirty="0"/>
          </a:p>
          <a:p>
            <a:pPr marL="609600" indent="-609600" eaLnBrk="1" hangingPunct="1"/>
            <a:r>
              <a:rPr lang="zh-CN" altLang="en-US" sz="2400" dirty="0"/>
              <a:t>既有综合属性，又有继承属性</a:t>
            </a:r>
            <a:endParaRPr lang="zh-CN" altLang="en-US" sz="24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一个符号的继承属性必须在符号之前（左边）的语义动作中进行计算</a:t>
            </a:r>
            <a:endParaRPr lang="zh-CN" altLang="en-US" sz="20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动作不能引用它右边符号的综合属性</a:t>
            </a:r>
            <a:endParaRPr lang="zh-CN" altLang="en-US" sz="2000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000" dirty="0"/>
              <a:t>产生式左部</a:t>
            </a:r>
            <a:r>
              <a:rPr lang="en-US" altLang="zh-CN" sz="2000" dirty="0"/>
              <a:t>NT</a:t>
            </a:r>
            <a:r>
              <a:rPr lang="zh-CN" altLang="en-US" sz="2000" dirty="0"/>
              <a:t>的综合属性，必须在其依赖的所有属性计算完毕后，才能计算。一般置于右部的末尾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S</a:t>
            </a:r>
            <a:r>
              <a:rPr kumimoji="0" lang="en-US" altLang="zh-CN" dirty="0">
                <a:sym typeface="Symbol" panose="05050102010706020507" pitchFamily="18" charset="2"/>
              </a:rPr>
              <a:t>  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  { 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dirty="0">
                <a:sym typeface="Symbol" panose="05050102010706020507" pitchFamily="18" charset="2"/>
              </a:rPr>
              <a:t>.in = 1; A</a:t>
            </a:r>
            <a:r>
              <a:rPr kumimoji="0" lang="en-US" altLang="zh-CN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dirty="0">
                <a:sym typeface="Symbol" panose="05050102010706020507" pitchFamily="18" charset="2"/>
              </a:rPr>
              <a:t>.in = 2; }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dirty="0">
                <a:sym typeface="Symbol" panose="05050102010706020507" pitchFamily="18" charset="2"/>
              </a:rPr>
              <a:t>A  a </a:t>
            </a:r>
            <a:r>
              <a:rPr kumimoji="0" lang="en-US" altLang="zh-CN" sz="2800" dirty="0">
                <a:sym typeface="Symbol" panose="05050102010706020507" pitchFamily="18" charset="2"/>
              </a:rPr>
              <a:t>{ </a:t>
            </a:r>
            <a:r>
              <a:rPr kumimoji="0" lang="en-US" altLang="zh-CN" sz="2800" i="1" dirty="0">
                <a:sym typeface="Symbol" panose="05050102010706020507" pitchFamily="18" charset="2"/>
              </a:rPr>
              <a:t>print</a:t>
            </a:r>
            <a:r>
              <a:rPr kumimoji="0" lang="en-US" altLang="zh-CN" sz="2800" dirty="0">
                <a:sym typeface="Symbol" panose="05050102010706020507" pitchFamily="18" charset="2"/>
              </a:rPr>
              <a:t>(A.in); }</a:t>
            </a:r>
            <a:endParaRPr lang="en-US" altLang="zh-CN" dirty="0"/>
          </a:p>
          <a:p>
            <a:pPr eaLnBrk="1" hangingPunct="1"/>
            <a:r>
              <a:rPr lang="zh-CN" altLang="en-US" dirty="0"/>
              <a:t>产生式</a:t>
            </a:r>
            <a:r>
              <a:rPr lang="en-US" altLang="zh-CN" dirty="0"/>
              <a:t>1</a:t>
            </a:r>
            <a:r>
              <a:rPr lang="zh-CN" altLang="en-US" dirty="0"/>
              <a:t>不满足第一条要求，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zh-CN" altLang="en-US" dirty="0"/>
              <a:t>的继承属性在符号之后进行计算。</a:t>
            </a:r>
            <a:br>
              <a:rPr lang="zh-CN" altLang="en-US" dirty="0"/>
            </a:br>
            <a:r>
              <a:rPr lang="zh-CN" altLang="en-US" dirty="0"/>
              <a:t>当利用产生式</a:t>
            </a:r>
            <a:r>
              <a:rPr lang="en-US" altLang="zh-CN" dirty="0"/>
              <a:t>2</a:t>
            </a:r>
            <a:r>
              <a:rPr lang="zh-CN" altLang="en-US" dirty="0"/>
              <a:t>进行归约时，</a:t>
            </a:r>
            <a:r>
              <a:rPr lang="en-US" altLang="zh-CN" dirty="0"/>
              <a:t>A</a:t>
            </a:r>
            <a:r>
              <a:rPr lang="zh-CN" altLang="en-US" dirty="0"/>
              <a:t>的继承属性还未得到，失败</a:t>
            </a:r>
            <a:endParaRPr lang="zh-CN" altLang="en-US" dirty="0"/>
          </a:p>
          <a:p>
            <a:pPr eaLnBrk="1" hangingPunct="1"/>
            <a:r>
              <a:rPr lang="en-US" altLang="zh-CN" dirty="0"/>
              <a:t>L-</a:t>
            </a:r>
            <a:r>
              <a:rPr lang="zh-CN" altLang="en-US" dirty="0"/>
              <a:t>属性定义总能构造出符合</a:t>
            </a:r>
            <a:r>
              <a:rPr lang="en-US" altLang="zh-CN" dirty="0"/>
              <a:t>3</a:t>
            </a:r>
            <a:r>
              <a:rPr lang="zh-CN" altLang="en-US" dirty="0"/>
              <a:t>条要求的翻译模式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5.13</a:t>
            </a:r>
            <a:endParaRPr lang="en-US" altLang="zh-CN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981200"/>
          </a:xfrm>
        </p:spPr>
        <p:txBody>
          <a:bodyPr/>
          <a:lstStyle/>
          <a:p>
            <a:pPr eaLnBrk="1" hangingPunct="1"/>
            <a:r>
              <a:rPr lang="zh-CN" altLang="en-US" dirty="0"/>
              <a:t>数学格式化语言</a:t>
            </a:r>
            <a:r>
              <a:rPr lang="en-US" altLang="zh-CN" dirty="0"/>
              <a:t>EQN</a:t>
            </a:r>
            <a:endParaRPr lang="en-US" altLang="zh-CN" dirty="0"/>
          </a:p>
          <a:p>
            <a:pPr eaLnBrk="1" hangingPunct="1"/>
            <a:r>
              <a:rPr lang="en-US" altLang="zh-CN" b="1" dirty="0"/>
              <a:t>text</a:t>
            </a:r>
            <a:r>
              <a:rPr lang="en-US" altLang="zh-CN" dirty="0"/>
              <a:t>——</a:t>
            </a:r>
            <a:r>
              <a:rPr lang="zh-CN" altLang="en-US" dirty="0"/>
              <a:t>“文本框”，</a:t>
            </a:r>
            <a:r>
              <a:rPr lang="en-US" altLang="zh-CN" b="1" dirty="0"/>
              <a:t>sub</a:t>
            </a:r>
            <a:r>
              <a:rPr lang="en-US" altLang="zh-CN" dirty="0"/>
              <a:t>——</a:t>
            </a:r>
            <a:r>
              <a:rPr lang="zh-CN" altLang="en-US" dirty="0"/>
              <a:t>下标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zh-CN" dirty="0"/>
              <a:t>E </a:t>
            </a:r>
            <a:r>
              <a:rPr lang="en-US" altLang="zh-CN" b="1" dirty="0"/>
              <a:t>sub</a:t>
            </a:r>
            <a:r>
              <a:rPr lang="en-US" altLang="zh-CN" dirty="0"/>
              <a:t> 1 .val</a:t>
            </a:r>
            <a:r>
              <a:rPr lang="en-US" altLang="zh-CN" dirty="0">
                <a:sym typeface="Wingdings" panose="05000000000000000000" pitchFamily="2" charset="2"/>
              </a:rPr>
              <a:t>E</a:t>
            </a:r>
            <a:r>
              <a:rPr lang="en-US" altLang="zh-CN" baseline="-25000" dirty="0"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.val</a:t>
            </a:r>
            <a:endParaRPr lang="en-US" altLang="zh-CN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5.13  </a:t>
            </a:r>
            <a:r>
              <a:rPr lang="zh-CN" altLang="en-US"/>
              <a:t>语法制导定义</a:t>
            </a:r>
            <a:endParaRPr lang="zh-CN" altLang="en-US"/>
          </a:p>
        </p:txBody>
      </p:sp>
      <p:sp>
        <p:nvSpPr>
          <p:cNvPr id="54275" name="Line 4"/>
          <p:cNvSpPr>
            <a:spLocks noChangeShapeType="1"/>
          </p:cNvSpPr>
          <p:nvPr/>
        </p:nvSpPr>
        <p:spPr bwMode="auto">
          <a:xfrm>
            <a:off x="1066800" y="1676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6" name="Line 5"/>
          <p:cNvSpPr>
            <a:spLocks noChangeShapeType="1"/>
          </p:cNvSpPr>
          <p:nvPr/>
        </p:nvSpPr>
        <p:spPr bwMode="auto">
          <a:xfrm>
            <a:off x="1066800" y="1752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7" name="Line 6"/>
          <p:cNvSpPr>
            <a:spLocks noChangeShapeType="1"/>
          </p:cNvSpPr>
          <p:nvPr/>
        </p:nvSpPr>
        <p:spPr bwMode="auto">
          <a:xfrm>
            <a:off x="1066800" y="2209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8" name="Line 7"/>
          <p:cNvSpPr>
            <a:spLocks noChangeShapeType="1"/>
          </p:cNvSpPr>
          <p:nvPr/>
        </p:nvSpPr>
        <p:spPr bwMode="auto">
          <a:xfrm>
            <a:off x="1066800" y="4800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Line 8"/>
          <p:cNvSpPr>
            <a:spLocks noChangeShapeType="1"/>
          </p:cNvSpPr>
          <p:nvPr/>
        </p:nvSpPr>
        <p:spPr bwMode="auto">
          <a:xfrm>
            <a:off x="3505200" y="17526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0" name="Text Box 9"/>
          <p:cNvSpPr txBox="1">
            <a:spLocks noChangeArrowheads="1"/>
          </p:cNvSpPr>
          <p:nvPr/>
        </p:nvSpPr>
        <p:spPr bwMode="auto">
          <a:xfrm>
            <a:off x="1066800" y="2209800"/>
            <a:ext cx="7086600" cy="2614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B			B.ps = 10;	S.ht = B.ht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B.ps;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max(B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shrink(B.ps);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disp(B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B.ht = 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.h×B.ps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54281" name="Text Box 10"/>
          <p:cNvSpPr txBox="1">
            <a:spLocks noChangeArrowheads="1"/>
          </p:cNvSpPr>
          <p:nvPr/>
        </p:nvSpPr>
        <p:spPr bwMode="auto">
          <a:xfrm>
            <a:off x="5867400" y="2133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54282" name="Text Box 11"/>
          <p:cNvSpPr txBox="1">
            <a:spLocks noChangeArrowheads="1"/>
          </p:cNvSpPr>
          <p:nvPr/>
        </p:nvSpPr>
        <p:spPr bwMode="auto">
          <a:xfrm>
            <a:off x="1447800" y="1752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54283" name="Text Box 12"/>
          <p:cNvSpPr txBox="1">
            <a:spLocks noChangeArrowheads="1"/>
          </p:cNvSpPr>
          <p:nvPr/>
        </p:nvSpPr>
        <p:spPr bwMode="auto">
          <a:xfrm>
            <a:off x="5029200" y="1752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5.13 </a:t>
            </a:r>
            <a:r>
              <a:rPr lang="zh-CN" altLang="en-US"/>
              <a:t>翻译模式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S 			{ B.ps = 10;	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		{ S.ht = B.ht;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			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		</a:t>
            </a:r>
            <a:r>
              <a:rPr kumimoji="0" lang="en-US" altLang="zh-CN" sz="2400">
                <a:sym typeface="Symbol" panose="05050102010706020507" pitchFamily="18" charset="2"/>
              </a:rPr>
              <a:t>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B.ps;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B.ht = max(B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			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	</a:t>
            </a:r>
            <a:r>
              <a:rPr kumimoji="0" lang="en-US" altLang="zh-CN" sz="2400">
                <a:sym typeface="Symbol" panose="05050102010706020507" pitchFamily="18" charset="2"/>
              </a:rPr>
              <a:t>	{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shrink(B.ps);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B.ht = disp(B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{ B.ht = 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.h×B.ps; 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  </a:t>
            </a:r>
            <a:r>
              <a:rPr lang="zh-CN" altLang="en-US"/>
              <a:t>自顶向下计算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  <a:endParaRPr lang="zh-CN" alt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在预测分析法过程中计算</a:t>
            </a:r>
            <a:r>
              <a:rPr lang="en-US" altLang="zh-CN" dirty="0"/>
              <a:t>L-</a:t>
            </a:r>
            <a:r>
              <a:rPr lang="zh-CN" altLang="en-US" dirty="0"/>
              <a:t>属性定义</a:t>
            </a:r>
            <a:endParaRPr lang="zh-CN" altLang="en-US" dirty="0"/>
          </a:p>
          <a:p>
            <a:pPr eaLnBrk="1" hangingPunct="1"/>
            <a:r>
              <a:rPr lang="zh-CN" altLang="en-US" dirty="0"/>
              <a:t>预测分析法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文法无左递归，提取了左公因子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每个</a:t>
            </a:r>
            <a:r>
              <a:rPr lang="en-US" altLang="zh-CN" dirty="0"/>
              <a:t>NT </a:t>
            </a:r>
            <a:r>
              <a:rPr lang="zh-CN" altLang="en-US" dirty="0"/>
              <a:t>构造一个函数，分析其所有产生式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5.5.1  </a:t>
            </a:r>
            <a:r>
              <a:rPr lang="zh-CN" altLang="en-US"/>
              <a:t>消除左递归（例</a:t>
            </a:r>
            <a:r>
              <a:rPr lang="en-US" altLang="zh-CN"/>
              <a:t>5.14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sym typeface="Symbol" panose="05050102010706020507" pitchFamily="18" charset="2"/>
              </a:rPr>
              <a:t> T 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val </a:t>
            </a:r>
            <a:r>
              <a:rPr lang="en-US" altLang="zh-CN" sz="2000" dirty="0">
                <a:sym typeface="Symbol" panose="05050102010706020507" pitchFamily="18" charset="2"/>
              </a:rPr>
              <a:t>+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 dirty="0">
                <a:sym typeface="Symbol" panose="05050102010706020507" pitchFamily="18" charset="2"/>
              </a:rPr>
              <a:t> T 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val </a:t>
            </a:r>
            <a:r>
              <a:rPr lang="en-US" altLang="zh-CN" sz="2000" dirty="0">
                <a:sym typeface="Symbol" panose="05050102010706020507" pitchFamily="18" charset="2"/>
              </a:rPr>
              <a:t>-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T 	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/>
              <a:t>消除左递归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语义动作如何调整？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语义动作的插入位置如何确定？</a:t>
            </a:r>
            <a:endParaRPr lang="en-US" altLang="zh-CN" dirty="0"/>
          </a:p>
          <a:p>
            <a:pPr lvl="1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FF0000"/>
                </a:solidFill>
              </a:rPr>
              <a:t>本例的难点：运算符的两个运算对象分离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T R		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?}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sym typeface="Symbol" panose="05050102010706020507" pitchFamily="18" charset="2"/>
              </a:rPr>
              <a:t> T R	{?}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 dirty="0">
                <a:sym typeface="Symbol" panose="05050102010706020507" pitchFamily="18" charset="2"/>
              </a:rPr>
              <a:t> T R	{?}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R  		{?}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1800" i="1" dirty="0">
                <a:sym typeface="Symbol" panose="05050102010706020507" pitchFamily="18" charset="2"/>
              </a:rPr>
              <a:t> </a:t>
            </a:r>
            <a:r>
              <a:rPr lang="en-US" altLang="zh-CN" sz="1800" dirty="0">
                <a:sym typeface="Symbol" panose="05050102010706020507" pitchFamily="18" charset="2"/>
              </a:rPr>
              <a:t>}</a:t>
            </a:r>
            <a:endParaRPr lang="en-US" altLang="zh-CN" sz="1800" dirty="0">
              <a:sym typeface="Symbol" panose="05050102010706020507" pitchFamily="18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45879" y="4909049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867500" y="5181179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808820" y="5445657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355975" y="4909049"/>
            <a:ext cx="4587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如何将两个产生式中的属性拉到一起？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861903" y="4904924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185334" y="5181179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182688" y="5445657"/>
            <a:ext cx="3417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R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5.14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dirty="0"/>
              <a:t>继承属性</a:t>
            </a:r>
            <a:r>
              <a:rPr lang="en-US" altLang="zh-CN" dirty="0"/>
              <a:t>——</a:t>
            </a:r>
            <a:r>
              <a:rPr lang="en-US" altLang="zh-CN" dirty="0" err="1"/>
              <a:t>R.i</a:t>
            </a:r>
            <a:r>
              <a:rPr lang="zh-CN" altLang="en-US" dirty="0"/>
              <a:t>，将</a:t>
            </a:r>
            <a:r>
              <a:rPr lang="en-US" altLang="zh-CN" dirty="0"/>
              <a:t>T</a:t>
            </a:r>
            <a:r>
              <a:rPr lang="zh-CN" altLang="en-US" dirty="0"/>
              <a:t>的值向下传递</a:t>
            </a:r>
            <a:br>
              <a:rPr lang="en-US" altLang="zh-CN" dirty="0"/>
            </a:br>
            <a:r>
              <a:rPr lang="zh-CN" altLang="en-US" dirty="0"/>
              <a:t>综合属性</a:t>
            </a:r>
            <a:r>
              <a:rPr lang="en-US" altLang="zh-CN" dirty="0"/>
              <a:t>——R.s</a:t>
            </a:r>
            <a:r>
              <a:rPr lang="zh-CN" altLang="en-US" dirty="0"/>
              <a:t>，将计算结果向上传递</a:t>
            </a:r>
            <a:endParaRPr lang="zh-CN" altLang="en-US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</a:t>
            </a:r>
            <a:r>
              <a:rPr lang="en-US" altLang="zh-CN" sz="2000" dirty="0">
                <a:sym typeface="Symbol" panose="05050102010706020507" pitchFamily="18" charset="2"/>
              </a:rPr>
              <a:t> T      	{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              R     {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R.</a:t>
            </a:r>
            <a:r>
              <a:rPr lang="en-US" altLang="zh-CN" sz="2000" i="1" dirty="0">
                <a:sym typeface="Symbol" panose="05050102010706020507" pitchFamily="18" charset="2"/>
              </a:rPr>
              <a:t>s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 dirty="0">
                <a:sym typeface="Symbol" panose="05050102010706020507" pitchFamily="18" charset="2"/>
              </a:rPr>
              <a:t> T   	{R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i="1" dirty="0">
                <a:sym typeface="Symbol" panose="05050102010706020507" pitchFamily="18" charset="2"/>
              </a:rPr>
              <a:t> +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  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  {R.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 =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R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 dirty="0">
                <a:sym typeface="Symbol" panose="05050102010706020507" pitchFamily="18" charset="2"/>
              </a:rPr>
              <a:t> T    	{R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i="1" dirty="0">
                <a:sym typeface="Symbol" panose="05050102010706020507" pitchFamily="18" charset="2"/>
              </a:rPr>
              <a:t> -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   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  {R.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 = R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R  		{R.</a:t>
            </a:r>
            <a:r>
              <a:rPr lang="en-US" altLang="zh-CN" sz="2000" i="1" dirty="0">
                <a:sym typeface="Symbol" panose="05050102010706020507" pitchFamily="18" charset="2"/>
              </a:rPr>
              <a:t>s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R.</a:t>
            </a:r>
            <a:r>
              <a:rPr lang="en-US" altLang="zh-CN" sz="2000" i="1" dirty="0" err="1"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T</a:t>
            </a:r>
            <a:r>
              <a:rPr lang="en-US" altLang="zh-CN" sz="2000" dirty="0">
                <a:sym typeface="Symbol" panose="05050102010706020507" pitchFamily="18" charset="2"/>
              </a:rPr>
              <a:t>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3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</a:t>
            </a:r>
            <a:r>
              <a:rPr lang="en-US" altLang="zh-CN" sz="2000" i="1" dirty="0" err="1">
                <a:sym typeface="Symbol" panose="05050102010706020507" pitchFamily="18" charset="2"/>
              </a:rPr>
              <a:t>val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  <a:endParaRPr lang="en-US" altLang="zh-CN" sz="2000" dirty="0"/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ltGray">
          <a:xfrm>
            <a:off x="1152525" y="4868863"/>
            <a:ext cx="4572000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</a:t>
            </a:r>
            <a:r>
              <a:rPr lang="en-US" altLang="zh-CN" sz="2000">
                <a:sym typeface="Symbol" panose="05050102010706020507" pitchFamily="18" charset="2"/>
              </a:rPr>
              <a:t>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000">
                <a:sym typeface="Symbol" panose="05050102010706020507" pitchFamily="18" charset="2"/>
              </a:rPr>
              <a:t> T 	{E.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+ 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</a:t>
            </a:r>
            <a:r>
              <a:rPr lang="en-US" altLang="zh-CN" sz="2000">
                <a:sym typeface="Symbol" panose="05050102010706020507" pitchFamily="18" charset="2"/>
              </a:rPr>
              <a:t>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lang="en-US" altLang="zh-CN" sz="2000">
                <a:sym typeface="Symbol" panose="05050102010706020507" pitchFamily="18" charset="2"/>
              </a:rPr>
              <a:t> T 	{E.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E</a:t>
            </a:r>
            <a:r>
              <a:rPr lang="en-US" altLang="zh-CN" sz="2000" baseline="-25000">
                <a:sym typeface="Symbol" panose="05050102010706020507" pitchFamily="18" charset="2"/>
              </a:rPr>
              <a:t>1</a:t>
            </a:r>
            <a:r>
              <a:rPr lang="en-US" altLang="zh-CN" sz="2000">
                <a:sym typeface="Symbol" panose="05050102010706020507" pitchFamily="18" charset="2"/>
              </a:rPr>
              <a:t>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- 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</a:t>
            </a:r>
            <a:r>
              <a:rPr lang="en-US" altLang="zh-CN" sz="2000">
                <a:sym typeface="Symbol" panose="05050102010706020507" pitchFamily="18" charset="2"/>
              </a:rPr>
              <a:t> T 		{E.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T</a:t>
            </a:r>
            <a:r>
              <a:rPr lang="en-US" altLang="zh-CN" sz="2000">
                <a:sym typeface="Symbol" panose="05050102010706020507" pitchFamily="18" charset="2"/>
              </a:rPr>
              <a:t> 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000">
                <a:sym typeface="Symbol" panose="05050102010706020507" pitchFamily="18" charset="2"/>
              </a:rPr>
              <a:t>E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) 		</a:t>
            </a:r>
            <a:r>
              <a:rPr lang="en-US" altLang="zh-CN" sz="2000">
                <a:sym typeface="Symbol" panose="05050102010706020507" pitchFamily="18" charset="2"/>
              </a:rPr>
              <a:t>{T.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= E.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  <a:endParaRPr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sym typeface="Symbol" panose="05050102010706020507" pitchFamily="18" charset="2"/>
              </a:rPr>
              <a:t>T  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>
                <a:sym typeface="Symbol" panose="05050102010706020507" pitchFamily="18" charset="2"/>
              </a:rPr>
              <a:t>{T.</a:t>
            </a:r>
            <a:r>
              <a:rPr lang="en-US" altLang="zh-CN" sz="2000" i="1">
                <a:sym typeface="Symbol" panose="05050102010706020507" pitchFamily="18" charset="2"/>
              </a:rPr>
              <a:t>val</a:t>
            </a:r>
            <a:r>
              <a:rPr lang="en-US" altLang="zh-CN" sz="2000">
                <a:sym typeface="Symbol" panose="05050102010706020507" pitchFamily="18" charset="2"/>
              </a:rPr>
              <a:t> = </a:t>
            </a:r>
            <a:r>
              <a:rPr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>
                <a:sym typeface="Symbol" panose="05050102010706020507" pitchFamily="18" charset="2"/>
              </a:rPr>
              <a:t>.</a:t>
            </a:r>
            <a:r>
              <a:rPr lang="en-US" altLang="zh-CN" sz="2000" i="1">
                <a:sym typeface="Symbol" panose="05050102010706020507" pitchFamily="18" charset="2"/>
              </a:rPr>
              <a:t>val </a:t>
            </a:r>
            <a:r>
              <a:rPr lang="en-US" altLang="zh-CN" sz="2000">
                <a:sym typeface="Symbol" panose="05050102010706020507" pitchFamily="18" charset="2"/>
              </a:rPr>
              <a:t>}</a:t>
            </a:r>
            <a:endParaRPr lang="en-US" altLang="zh-CN" sz="2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5.14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59395" name="Picture 9" descr="topdow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8007350" cy="357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85712" name="Group 16"/>
          <p:cNvGrpSpPr/>
          <p:nvPr/>
        </p:nvGrpSpPr>
        <p:grpSpPr bwMode="auto">
          <a:xfrm>
            <a:off x="1447800" y="2286000"/>
            <a:ext cx="6400800" cy="3657600"/>
            <a:chOff x="912" y="1440"/>
            <a:chExt cx="4032" cy="2304"/>
          </a:xfrm>
        </p:grpSpPr>
        <p:sp>
          <p:nvSpPr>
            <p:cNvPr id="59397" name="Text Box 10"/>
            <p:cNvSpPr txBox="1">
              <a:spLocks noChangeArrowheads="1"/>
            </p:cNvSpPr>
            <p:nvPr/>
          </p:nvSpPr>
          <p:spPr bwMode="ltGray">
            <a:xfrm>
              <a:off x="912" y="2304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F0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R.i=T.val</a:t>
              </a:r>
              <a:endParaRPr lang="en-US" altLang="zh-CN" sz="240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9398" name="Line 11"/>
            <p:cNvSpPr>
              <a:spLocks noChangeShapeType="1"/>
            </p:cNvSpPr>
            <p:nvPr/>
          </p:nvSpPr>
          <p:spPr bwMode="ltGray">
            <a:xfrm flipV="1">
              <a:off x="1344" y="1440"/>
              <a:ext cx="240" cy="9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99" name="Line 12"/>
            <p:cNvSpPr>
              <a:spLocks noChangeShapeType="1"/>
            </p:cNvSpPr>
            <p:nvPr/>
          </p:nvSpPr>
          <p:spPr bwMode="ltGray">
            <a:xfrm flipV="1">
              <a:off x="2736" y="1920"/>
              <a:ext cx="240" cy="100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0" name="Line 13"/>
            <p:cNvSpPr>
              <a:spLocks noChangeShapeType="1"/>
            </p:cNvSpPr>
            <p:nvPr/>
          </p:nvSpPr>
          <p:spPr bwMode="ltGray">
            <a:xfrm flipH="1" flipV="1">
              <a:off x="4080" y="2448"/>
              <a:ext cx="96" cy="105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1" name="Text Box 14"/>
            <p:cNvSpPr txBox="1">
              <a:spLocks noChangeArrowheads="1"/>
            </p:cNvSpPr>
            <p:nvPr/>
          </p:nvSpPr>
          <p:spPr bwMode="ltGray">
            <a:xfrm>
              <a:off x="1776" y="2928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F0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R</a:t>
              </a:r>
              <a:r>
                <a:rPr lang="en-US" altLang="zh-CN" sz="2400" baseline="-2500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.i=R.i-T.val</a:t>
              </a:r>
              <a:endParaRPr lang="en-US" altLang="zh-CN" sz="240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59402" name="Text Box 15"/>
            <p:cNvSpPr txBox="1">
              <a:spLocks noChangeArrowheads="1"/>
            </p:cNvSpPr>
            <p:nvPr/>
          </p:nvSpPr>
          <p:spPr bwMode="ltGray">
            <a:xfrm>
              <a:off x="3600" y="3456"/>
              <a:ext cx="13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F0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R</a:t>
              </a:r>
              <a:r>
                <a:rPr lang="en-US" altLang="zh-CN" sz="2400" baseline="-25000">
                  <a:solidFill>
                    <a:schemeClr val="hlink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400">
                  <a:solidFill>
                    <a:schemeClr val="hlink"/>
                  </a:solidFill>
                  <a:latin typeface="Tahoma" panose="020B0604030504040204" pitchFamily="34" charset="0"/>
                </a:rPr>
                <a:t>.i=R.i+T.val</a:t>
              </a:r>
              <a:endParaRPr lang="en-US" altLang="zh-CN" sz="2400">
                <a:solidFill>
                  <a:schemeClr val="hlink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消除左递归一般性方法</a:t>
            </a:r>
            <a:endParaRPr lang="zh-CN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 A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 Y  {A.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g</a:t>
            </a:r>
            <a:r>
              <a:rPr lang="en-US" altLang="zh-CN" sz="2800">
                <a:sym typeface="Symbol" panose="05050102010706020507" pitchFamily="18" charset="2"/>
              </a:rPr>
              <a:t>(A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, Y.</a:t>
            </a:r>
            <a:r>
              <a:rPr lang="en-US" altLang="zh-CN" sz="2800" i="1">
                <a:sym typeface="Symbol" panose="05050102010706020507" pitchFamily="18" charset="2"/>
              </a:rPr>
              <a:t>y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  <a:endParaRPr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 X {A.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= </a:t>
            </a:r>
            <a:r>
              <a:rPr lang="en-US" altLang="zh-CN" sz="2800" i="1">
                <a:sym typeface="Symbol" panose="05050102010706020507" pitchFamily="18" charset="2"/>
              </a:rPr>
              <a:t>f</a:t>
            </a:r>
            <a:r>
              <a:rPr lang="en-US" altLang="zh-CN" sz="2800">
                <a:sym typeface="Symbol" panose="05050102010706020507" pitchFamily="18" charset="2"/>
              </a:rPr>
              <a:t>(X.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  <a:endParaRPr lang="en-US" altLang="zh-CN"/>
          </a:p>
          <a:p>
            <a:pPr eaLnBrk="1" hangingPunct="1"/>
            <a:r>
              <a:rPr lang="zh-CN" altLang="en-US"/>
              <a:t>消除左递归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 X {R.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 = </a:t>
            </a:r>
            <a:r>
              <a:rPr lang="en-US" altLang="zh-CN" sz="2800" i="1">
                <a:sym typeface="Symbol" panose="05050102010706020507" pitchFamily="18" charset="2"/>
              </a:rPr>
              <a:t>f</a:t>
            </a:r>
            <a:r>
              <a:rPr lang="en-US" altLang="zh-CN" sz="2800">
                <a:sym typeface="Symbol" panose="05050102010706020507" pitchFamily="18" charset="2"/>
              </a:rPr>
              <a:t>(X.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en-US" altLang="zh-CN" sz="2800">
                <a:sym typeface="Symbol" panose="05050102010706020507" pitchFamily="18" charset="2"/>
              </a:rPr>
              <a:t>)}          R  {A.</a:t>
            </a:r>
            <a:r>
              <a:rPr lang="en-US" altLang="zh-CN" sz="2800" i="1">
                <a:sym typeface="Symbol" panose="05050102010706020507" pitchFamily="18" charset="2"/>
              </a:rPr>
              <a:t>a </a:t>
            </a:r>
            <a:r>
              <a:rPr lang="en-US" altLang="zh-CN" sz="2800">
                <a:sym typeface="Symbol" panose="05050102010706020507" pitchFamily="18" charset="2"/>
              </a:rPr>
              <a:t>= R.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  <a:endParaRPr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R</a:t>
            </a:r>
            <a:r>
              <a:rPr lang="en-US" altLang="zh-CN" sz="2800">
                <a:sym typeface="Symbol" panose="05050102010706020507" pitchFamily="18" charset="2"/>
              </a:rPr>
              <a:t> Y {R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 = </a:t>
            </a:r>
            <a:r>
              <a:rPr lang="en-US" altLang="zh-CN" sz="2800" i="1">
                <a:sym typeface="Symbol" panose="05050102010706020507" pitchFamily="18" charset="2"/>
              </a:rPr>
              <a:t>g</a:t>
            </a:r>
            <a:r>
              <a:rPr lang="en-US" altLang="zh-CN" sz="2800">
                <a:sym typeface="Symbol" panose="05050102010706020507" pitchFamily="18" charset="2"/>
              </a:rPr>
              <a:t>(R.</a:t>
            </a:r>
            <a:r>
              <a:rPr lang="en-US" altLang="zh-CN" sz="2800" i="1">
                <a:sym typeface="Symbol" panose="05050102010706020507" pitchFamily="18" charset="2"/>
              </a:rPr>
              <a:t>i, </a:t>
            </a:r>
            <a:r>
              <a:rPr lang="en-US" altLang="zh-CN" sz="2800">
                <a:sym typeface="Symbol" panose="05050102010706020507" pitchFamily="18" charset="2"/>
              </a:rPr>
              <a:t>Y</a:t>
            </a:r>
            <a:r>
              <a:rPr lang="en-US" altLang="zh-CN" sz="2800" i="1">
                <a:sym typeface="Symbol" panose="05050102010706020507" pitchFamily="18" charset="2"/>
              </a:rPr>
              <a:t>.y</a:t>
            </a:r>
            <a:r>
              <a:rPr lang="en-US" altLang="zh-CN" sz="2800">
                <a:sym typeface="Symbol" panose="05050102010706020507" pitchFamily="18" charset="2"/>
              </a:rPr>
              <a:t>)} 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 {R.</a:t>
            </a:r>
            <a:r>
              <a:rPr lang="en-US" altLang="zh-CN" sz="2800" i="1">
                <a:sym typeface="Symbol" panose="05050102010706020507" pitchFamily="18" charset="2"/>
              </a:rPr>
              <a:t>s </a:t>
            </a:r>
            <a:r>
              <a:rPr lang="en-US" altLang="zh-CN" sz="2800">
                <a:sym typeface="Symbol" panose="05050102010706020507" pitchFamily="18" charset="2"/>
              </a:rPr>
              <a:t>= R</a:t>
            </a:r>
            <a:r>
              <a:rPr lang="en-US" altLang="zh-CN" sz="2800" baseline="-25000">
                <a:sym typeface="Symbol" panose="05050102010706020507" pitchFamily="18" charset="2"/>
              </a:rPr>
              <a:t>1</a:t>
            </a:r>
            <a:r>
              <a:rPr lang="en-US" altLang="zh-CN" sz="2800">
                <a:sym typeface="Symbol" panose="05050102010706020507" pitchFamily="18" charset="2"/>
              </a:rPr>
              <a:t>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) }</a:t>
            </a:r>
            <a:endParaRPr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R   {R.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 = R.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r>
              <a:rPr lang="en-US" altLang="zh-CN" sz="2800">
                <a:sym typeface="Symbol" panose="05050102010706020507" pitchFamily="18" charset="2"/>
              </a:rPr>
              <a:t>}</a:t>
            </a:r>
            <a:endParaRPr lang="en-US" altLang="zh-CN">
              <a:sym typeface="Wingdings" panose="05000000000000000000" pitchFamily="2" charset="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左递归</a:t>
            </a:r>
            <a:r>
              <a:rPr lang="en-US" altLang="zh-CN"/>
              <a:t>/</a:t>
            </a:r>
            <a:r>
              <a:rPr lang="zh-CN" altLang="en-US"/>
              <a:t>非左递归比较</a:t>
            </a:r>
            <a:endParaRPr lang="zh-CN" altLang="en-US"/>
          </a:p>
        </p:txBody>
      </p:sp>
      <p:pic>
        <p:nvPicPr>
          <p:cNvPr id="61443" name="Picture 4" descr="lrecu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00200"/>
            <a:ext cx="4092575" cy="310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6" descr="lrecur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088" y="1600200"/>
            <a:ext cx="4887912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5.15  </a:t>
            </a:r>
            <a:r>
              <a:rPr lang="zh-CN" altLang="en-US"/>
              <a:t>创建语法树</a:t>
            </a:r>
            <a:endParaRPr lang="zh-CN" alt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 	{E.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mknode(“+”,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>
                <a:sym typeface="Symbol" panose="05050102010706020507" pitchFamily="18" charset="2"/>
              </a:rPr>
              <a:t> T 	{E.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mknode(“-”,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		{E.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 	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	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lang="en-US" altLang="zh-CN"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5.15  </a:t>
            </a:r>
            <a:r>
              <a:rPr lang="zh-CN" altLang="en-US"/>
              <a:t>消除左递归后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{ R.</a:t>
            </a:r>
            <a:r>
              <a:rPr kumimoji="0" lang="en-US" altLang="zh-CN" sz="2400" i="1">
                <a:sym typeface="Symbol" panose="05050102010706020507" pitchFamily="18" charset="2"/>
              </a:rPr>
              <a:t>i = 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en-US" altLang="zh-CN" sz="2400" i="1">
                <a:sym typeface="Symbol" panose="05050102010706020507" pitchFamily="18" charset="2"/>
              </a:rPr>
              <a:t>.nptr</a:t>
            </a:r>
            <a:r>
              <a:rPr kumimoji="0" lang="en-US" altLang="zh-CN" sz="2400">
                <a:sym typeface="Symbol" panose="05050102010706020507" pitchFamily="18" charset="2"/>
              </a:rPr>
              <a:t> }                                     R  {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ym typeface="Symbol" panose="05050102010706020507" pitchFamily="18" charset="2"/>
              </a:rPr>
              <a:t> T {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 mknode(“+”, R.</a:t>
            </a:r>
            <a:r>
              <a:rPr kumimoji="0" lang="en-US" altLang="zh-CN" sz="2400" i="1">
                <a:sym typeface="Symbol" panose="05050102010706020507" pitchFamily="18" charset="2"/>
              </a:rPr>
              <a:t>i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{ R.</a:t>
            </a:r>
            <a:r>
              <a:rPr kumimoji="0" lang="en-US" altLang="zh-CN" sz="2400" i="1">
                <a:sym typeface="Symbol" panose="05050102010706020507" pitchFamily="18" charset="2"/>
              </a:rPr>
              <a:t>s = 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400">
                <a:sym typeface="Symbol" panose="05050102010706020507" pitchFamily="18" charset="2"/>
              </a:rPr>
              <a:t> T  {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 mknode(“-”, R.</a:t>
            </a:r>
            <a:r>
              <a:rPr kumimoji="0" lang="en-US" altLang="zh-CN" sz="2400" i="1">
                <a:sym typeface="Symbol" panose="05050102010706020507" pitchFamily="18" charset="2"/>
              </a:rPr>
              <a:t>i </a:t>
            </a:r>
            <a:r>
              <a:rPr kumimoji="0" lang="en-US" altLang="zh-CN" sz="2400">
                <a:sym typeface="Symbol" panose="05050102010706020507" pitchFamily="18" charset="2"/>
              </a:rPr>
              <a:t>, 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)} 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{ R.</a:t>
            </a:r>
            <a:r>
              <a:rPr kumimoji="0" lang="en-US" altLang="zh-CN" sz="2400" i="1">
                <a:sym typeface="Symbol" panose="05050102010706020507" pitchFamily="18" charset="2"/>
              </a:rPr>
              <a:t>s = 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R  	  {R.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)  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  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{T.</a:t>
            </a:r>
            <a:r>
              <a:rPr kumimoji="0" lang="en-US" altLang="zh-CN" sz="2400" i="1">
                <a:sym typeface="Symbol" panose="05050102010706020507" pitchFamily="18" charset="2"/>
              </a:rPr>
              <a:t>nptr </a:t>
            </a:r>
            <a:r>
              <a:rPr kumimoji="0" lang="en-US" altLang="zh-CN" sz="2400">
                <a:sym typeface="Symbol" panose="05050102010706020507" pitchFamily="18" charset="2"/>
              </a:rPr>
              <a:t>= mkleaf(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entry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lang="en-US" altLang="zh-CN" sz="2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5.15  </a:t>
            </a:r>
            <a:r>
              <a:rPr lang="zh-CN" altLang="en-US"/>
              <a:t>创建语法树（续）</a:t>
            </a:r>
            <a:endParaRPr lang="zh-CN" altLang="en-US"/>
          </a:p>
        </p:txBody>
      </p:sp>
      <p:pic>
        <p:nvPicPr>
          <p:cNvPr id="64515" name="Picture 5" descr="lrecur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95400"/>
            <a:ext cx="5211763" cy="454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5.5.2  </a:t>
            </a:r>
            <a:r>
              <a:rPr lang="zh-CN" altLang="en-US"/>
              <a:t>构造预测翻译器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算法</a:t>
            </a:r>
            <a:r>
              <a:rPr lang="en-US" altLang="zh-CN" sz="2400" dirty="0"/>
              <a:t>5.2</a:t>
            </a:r>
            <a:endParaRPr lang="en-US" altLang="zh-CN" sz="24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输入：语法制导翻译模式，文法适用于预测分析</a:t>
            </a:r>
            <a:endParaRPr lang="zh-CN" altLang="en-US" sz="24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输出：语法制导翻译器的代码</a:t>
            </a:r>
            <a:endParaRPr lang="zh-CN" altLang="en-US" sz="24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方法</a:t>
            </a:r>
            <a:endParaRPr lang="zh-CN" altLang="en-US" sz="24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对每个</a:t>
            </a:r>
            <a:r>
              <a:rPr lang="en-US" altLang="zh-CN" sz="2400" dirty="0"/>
              <a:t>NT A</a:t>
            </a:r>
            <a:r>
              <a:rPr lang="zh-CN" altLang="en-US" sz="2400" dirty="0"/>
              <a:t>构造一个函数，计算综合属性返回</a:t>
            </a:r>
            <a:br>
              <a:rPr lang="zh-CN" altLang="en-US" sz="2400" dirty="0"/>
            </a:br>
            <a:r>
              <a:rPr lang="zh-CN" altLang="en-US" sz="2400" dirty="0"/>
              <a:t>每个继承属性做为一个形式参数</a:t>
            </a:r>
            <a:br>
              <a:rPr lang="zh-CN" altLang="en-US" sz="2400" dirty="0"/>
            </a:br>
            <a:r>
              <a:rPr lang="zh-CN" altLang="en-US" sz="2400" dirty="0"/>
              <a:t>假定每个</a:t>
            </a:r>
            <a:r>
              <a:rPr lang="en-US" altLang="zh-CN" sz="2400" dirty="0"/>
              <a:t>NT</a:t>
            </a:r>
            <a:r>
              <a:rPr lang="zh-CN" altLang="en-US" sz="2400" dirty="0"/>
              <a:t>只有一个综合属性</a:t>
            </a:r>
            <a:br>
              <a:rPr lang="zh-CN" altLang="en-US" sz="2400" dirty="0"/>
            </a:br>
            <a:r>
              <a:rPr lang="zh-CN" altLang="en-US" sz="2400" dirty="0"/>
              <a:t>产生式中语法符号的属性</a:t>
            </a:r>
            <a:r>
              <a:rPr lang="en-US" altLang="zh-CN" sz="2400" dirty="0"/>
              <a:t>——</a:t>
            </a:r>
            <a:r>
              <a:rPr lang="zh-CN" altLang="en-US" sz="2400" dirty="0"/>
              <a:t>函数局部变量</a:t>
            </a:r>
            <a:endParaRPr lang="zh-CN" altLang="en-US" sz="2400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参照</a:t>
            </a:r>
            <a:r>
              <a:rPr lang="en-US" altLang="zh-CN" sz="2400" dirty="0"/>
              <a:t>2.4</a:t>
            </a:r>
            <a:r>
              <a:rPr lang="zh-CN" altLang="en-US" sz="2400" dirty="0"/>
              <a:t>节，</a:t>
            </a:r>
            <a:r>
              <a:rPr lang="en-US" altLang="zh-CN" sz="2400" dirty="0"/>
              <a:t>A</a:t>
            </a:r>
            <a:r>
              <a:rPr lang="zh-CN" altLang="en-US" sz="2400" dirty="0"/>
              <a:t>的代码根据当前输入符号确定使用哪个产生式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5.2 </a:t>
            </a:r>
            <a:r>
              <a:rPr lang="zh-CN" altLang="en-US"/>
              <a:t>构造预测翻译器（续）</a:t>
            </a:r>
            <a:endParaRPr lang="zh-CN" alt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4876800"/>
          </a:xfrm>
        </p:spPr>
        <p:txBody>
          <a:bodyPr/>
          <a:lstStyle/>
          <a:p>
            <a:pPr marL="660400" indent="-6604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/>
              <a:t>每个产生式对应代码构造如下：由左至右依次考虑产生式右部的</a:t>
            </a:r>
            <a:r>
              <a:rPr lang="en-US" altLang="zh-CN"/>
              <a:t>T</a:t>
            </a:r>
            <a:r>
              <a:rPr lang="zh-CN" altLang="en-US"/>
              <a:t>、</a:t>
            </a:r>
            <a:r>
              <a:rPr lang="en-US" altLang="zh-CN"/>
              <a:t>NT</a:t>
            </a:r>
            <a:r>
              <a:rPr lang="zh-CN" altLang="en-US"/>
              <a:t>和语义动作</a:t>
            </a:r>
            <a:endParaRPr lang="zh-CN" altLang="en-US"/>
          </a:p>
          <a:p>
            <a:pPr marL="1035050" lvl="1" indent="-577850" eaLnBrk="1" hangingPunct="1">
              <a:buFont typeface="Wingdings" panose="05000000000000000000" pitchFamily="2" charset="2"/>
              <a:buAutoNum type="romanLcPeriod"/>
            </a:pPr>
            <a:r>
              <a:rPr lang="zh-CN" altLang="en-US"/>
              <a:t>终结符</a:t>
            </a:r>
            <a:r>
              <a:rPr lang="en-US" altLang="zh-CN"/>
              <a:t>X</a:t>
            </a:r>
            <a:r>
              <a:rPr lang="zh-CN" altLang="en-US"/>
              <a:t>的综合属性</a:t>
            </a:r>
            <a:r>
              <a:rPr lang="en-US" altLang="zh-CN"/>
              <a:t>x</a:t>
            </a:r>
            <a:endParaRPr lang="en-US" altLang="zh-CN"/>
          </a:p>
          <a:p>
            <a:pPr marL="1409700" lvl="2" indent="-495300" eaLnBrk="1" hangingPunct="1"/>
            <a:r>
              <a:rPr lang="zh-CN" altLang="en-US"/>
              <a:t>保存到对应的局部变量</a:t>
            </a:r>
            <a:endParaRPr lang="zh-CN" altLang="en-US"/>
          </a:p>
          <a:p>
            <a:pPr marL="1409700" lvl="2" indent="-495300" eaLnBrk="1" hangingPunct="1"/>
            <a:r>
              <a:rPr lang="zh-CN" altLang="en-US"/>
              <a:t>调用</a:t>
            </a:r>
            <a:r>
              <a:rPr lang="en-US" altLang="zh-CN"/>
              <a:t>match</a:t>
            </a:r>
            <a:r>
              <a:rPr lang="zh-CN" altLang="en-US"/>
              <a:t>匹配</a:t>
            </a:r>
            <a:r>
              <a:rPr lang="en-US" altLang="zh-CN"/>
              <a:t>X</a:t>
            </a:r>
            <a:endParaRPr lang="en-US" altLang="zh-CN"/>
          </a:p>
          <a:p>
            <a:pPr marL="1409700" lvl="2" indent="-495300" eaLnBrk="1" hangingPunct="1"/>
            <a:r>
              <a:rPr lang="zh-CN" altLang="en-US"/>
              <a:t>输入指针前移</a:t>
            </a:r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5.2 </a:t>
            </a:r>
            <a:r>
              <a:rPr lang="zh-CN" altLang="en-US"/>
              <a:t>构造预测翻译器（续）</a:t>
            </a:r>
            <a:endParaRPr lang="zh-CN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772400" cy="4800600"/>
          </a:xfrm>
        </p:spPr>
        <p:txBody>
          <a:bodyPr/>
          <a:lstStyle/>
          <a:p>
            <a:pPr marL="1035050" lvl="1" indent="-577850" eaLnBrk="1" hangingPunct="1">
              <a:buFont typeface="Wingdings" panose="05000000000000000000" pitchFamily="2" charset="2"/>
              <a:buAutoNum type="romanLcPeriod" startAt="2"/>
            </a:pPr>
            <a:r>
              <a:rPr lang="en-US" altLang="zh-CN"/>
              <a:t>NT B</a:t>
            </a:r>
            <a:endParaRPr lang="en-US" altLang="zh-CN"/>
          </a:p>
          <a:p>
            <a:pPr marL="1409700" lvl="2" indent="-495300" eaLnBrk="1" hangingPunct="1"/>
            <a:r>
              <a:rPr lang="zh-CN" altLang="en-US"/>
              <a:t>在其后生成一条赋值语句</a:t>
            </a:r>
            <a:r>
              <a:rPr lang="en-US" altLang="zh-CN"/>
              <a:t>c=B(b</a:t>
            </a:r>
            <a:r>
              <a:rPr lang="en-US" altLang="zh-CN" baseline="-25000"/>
              <a:t>1</a:t>
            </a:r>
            <a:r>
              <a:rPr lang="en-US" altLang="zh-CN"/>
              <a:t>, b</a:t>
            </a:r>
            <a:r>
              <a:rPr lang="en-US" altLang="zh-CN" baseline="-25000"/>
              <a:t>2</a:t>
            </a:r>
            <a:r>
              <a:rPr lang="en-US" altLang="zh-CN"/>
              <a:t>, …, b</a:t>
            </a:r>
            <a:r>
              <a:rPr lang="en-US" altLang="zh-CN" baseline="-25000"/>
              <a:t>k</a:t>
            </a:r>
            <a:r>
              <a:rPr lang="en-US" altLang="zh-CN"/>
              <a:t>)</a:t>
            </a:r>
            <a:endParaRPr lang="en-US" altLang="zh-CN"/>
          </a:p>
          <a:p>
            <a:pPr marL="1409700" lvl="2" indent="-495300" eaLnBrk="1" hangingPunct="1"/>
            <a:r>
              <a:rPr lang="en-US" altLang="zh-CN"/>
              <a:t>b</a:t>
            </a:r>
            <a:r>
              <a:rPr lang="en-US" altLang="zh-CN" baseline="-25000"/>
              <a:t>1</a:t>
            </a:r>
            <a:r>
              <a:rPr lang="en-US" altLang="zh-CN"/>
              <a:t>, b</a:t>
            </a:r>
            <a:r>
              <a:rPr lang="en-US" altLang="zh-CN" baseline="-25000"/>
              <a:t>2</a:t>
            </a:r>
            <a:r>
              <a:rPr lang="en-US" altLang="zh-CN"/>
              <a:t>, …, b</a:t>
            </a:r>
            <a:r>
              <a:rPr lang="en-US" altLang="zh-CN" baseline="-25000"/>
              <a:t>k</a:t>
            </a:r>
            <a:r>
              <a:rPr lang="en-US" altLang="zh-CN"/>
              <a:t>——B</a:t>
            </a:r>
            <a:r>
              <a:rPr lang="zh-CN" altLang="en-US"/>
              <a:t>的继承属性对应变量</a:t>
            </a:r>
            <a:endParaRPr lang="zh-CN" altLang="en-US"/>
          </a:p>
          <a:p>
            <a:pPr marL="1409700" lvl="2" indent="-495300" eaLnBrk="1" hangingPunct="1"/>
            <a:r>
              <a:rPr lang="en-US" altLang="zh-CN"/>
              <a:t>c——B</a:t>
            </a:r>
            <a:r>
              <a:rPr lang="zh-CN" altLang="en-US"/>
              <a:t>的综合属性对应变量</a:t>
            </a:r>
            <a:endParaRPr lang="zh-CN" altLang="en-US"/>
          </a:p>
          <a:p>
            <a:pPr marL="1035050" lvl="1" indent="-577850" eaLnBrk="1" hangingPunct="1">
              <a:buFont typeface="Wingdings" panose="05000000000000000000" pitchFamily="2" charset="2"/>
              <a:buAutoNum type="romanLcPeriod" startAt="2"/>
            </a:pPr>
            <a:r>
              <a:rPr lang="zh-CN" altLang="en-US"/>
              <a:t>语义动作</a:t>
            </a:r>
            <a:endParaRPr lang="zh-CN" altLang="en-US"/>
          </a:p>
          <a:p>
            <a:pPr marL="1409700" lvl="2" indent="-495300" eaLnBrk="1" hangingPunct="1"/>
            <a:r>
              <a:rPr lang="zh-CN" altLang="en-US"/>
              <a:t>代码片断复制到翻译器相应位置</a:t>
            </a:r>
            <a:endParaRPr lang="zh-CN" altLang="en-US"/>
          </a:p>
          <a:p>
            <a:pPr marL="1409700" lvl="2" indent="-495300" eaLnBrk="1" hangingPunct="1">
              <a:spcBef>
                <a:spcPct val="0"/>
              </a:spcBef>
            </a:pPr>
            <a:r>
              <a:rPr lang="zh-CN" altLang="en-US"/>
              <a:t>对属性的引用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r>
              <a:rPr lang="zh-CN" altLang="en-US"/>
              <a:t>对相应变量的引用</a:t>
            </a:r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E</a:t>
            </a:r>
            <a:r>
              <a:rPr kumimoji="0" lang="en-US" altLang="zh-CN" sz="2400" dirty="0">
                <a:sym typeface="Symbol" panose="05050102010706020507" pitchFamily="18" charset="2"/>
              </a:rPr>
              <a:t> T 		{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R.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400" i="1" dirty="0">
                <a:sym typeface="Symbol" panose="05050102010706020507" pitchFamily="18" charset="2"/>
              </a:rPr>
              <a:t> 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.nptr</a:t>
            </a:r>
            <a:r>
              <a:rPr kumimoji="0" lang="en-US" altLang="zh-CN" sz="2400" dirty="0">
                <a:sym typeface="Symbol" panose="05050102010706020507" pitchFamily="18" charset="2"/>
              </a:rPr>
              <a:t> 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	   R 		{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E.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dirty="0">
                <a:sym typeface="Symbol" panose="05050102010706020507" pitchFamily="18" charset="2"/>
              </a:rPr>
              <a:t> =R.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R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 err="1">
                <a:solidFill>
                  <a:schemeClr val="accent2"/>
                </a:solidFill>
                <a:sym typeface="Symbol" panose="05050102010706020507" pitchFamily="18" charset="2"/>
              </a:rPr>
              <a:t>addop</a:t>
            </a:r>
            <a:endParaRPr kumimoji="0" lang="en-US" altLang="zh-CN" sz="24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	   </a:t>
            </a:r>
            <a:r>
              <a:rPr kumimoji="0" lang="en-US" altLang="zh-CN" sz="2400" dirty="0">
                <a:sym typeface="Symbol" panose="05050102010706020507" pitchFamily="18" charset="2"/>
              </a:rPr>
              <a:t> T  	{ 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>
                <a:sym typeface="Symbol" panose="05050102010706020507" pitchFamily="18" charset="2"/>
              </a:rPr>
              <a:t>i</a:t>
            </a:r>
            <a:r>
              <a:rPr kumimoji="0" lang="en-US" altLang="zh-CN" sz="2400" dirty="0">
                <a:sym typeface="Symbol" panose="05050102010706020507" pitchFamily="18" charset="2"/>
              </a:rPr>
              <a:t> = 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mknode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addop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lex</a:t>
            </a:r>
            <a:r>
              <a:rPr kumimoji="0" lang="en-US" altLang="zh-CN" sz="2400" dirty="0">
                <a:sym typeface="Symbol" panose="05050102010706020507" pitchFamily="18" charset="2"/>
              </a:rPr>
              <a:t> ,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R.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)}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	    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 	{ R.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 = </a:t>
            </a:r>
            <a:r>
              <a:rPr kumimoji="0" lang="en-US" altLang="zh-CN" sz="2400" dirty="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</a:t>
            </a:r>
            <a:r>
              <a:rPr kumimoji="0" lang="en-US" altLang="zh-CN" sz="2400" dirty="0">
                <a:sym typeface="Symbol" panose="05050102010706020507" pitchFamily="18" charset="2"/>
              </a:rPr>
              <a:t> 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>
                <a:sym typeface="Symbol" panose="05050102010706020507" pitchFamily="18" charset="2"/>
              </a:rPr>
              <a:t>R  		{R.</a:t>
            </a:r>
            <a:r>
              <a:rPr kumimoji="0" lang="en-US" altLang="zh-CN" sz="2400" i="1" dirty="0">
                <a:sym typeface="Symbol" panose="05050102010706020507" pitchFamily="18" charset="2"/>
              </a:rPr>
              <a:t>s</a:t>
            </a:r>
            <a:r>
              <a:rPr kumimoji="0" lang="en-US" altLang="zh-CN" sz="2400" dirty="0">
                <a:sym typeface="Symbol" panose="05050102010706020507" pitchFamily="18" charset="2"/>
              </a:rPr>
              <a:t> 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R.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T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kumimoji="0" lang="en-US" altLang="zh-CN" sz="2400" dirty="0">
                <a:sym typeface="Symbol" panose="05050102010706020507" pitchFamily="18" charset="2"/>
              </a:rPr>
              <a:t>E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) 	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E.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T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 		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mkleaf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id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entry</a:t>
            </a:r>
            <a:r>
              <a:rPr kumimoji="0" lang="en-US" altLang="zh-CN" sz="2400" dirty="0">
                <a:sym typeface="Symbol" panose="05050102010706020507" pitchFamily="18" charset="2"/>
              </a:rPr>
              <a:t>)}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 dirty="0"/>
              <a:t>T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kumimoji="0" lang="en-US" altLang="zh-CN" sz="2400" dirty="0">
                <a:sym typeface="Symbol" panose="05050102010706020507" pitchFamily="18" charset="2"/>
              </a:rPr>
              <a:t>{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T.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nptr</a:t>
            </a:r>
            <a:r>
              <a:rPr kumimoji="0" lang="en-US" altLang="zh-CN" sz="2400" i="1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= 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mkleaf</a:t>
            </a:r>
            <a:r>
              <a:rPr kumimoji="0" lang="en-US" altLang="zh-CN" sz="2400" dirty="0">
                <a:sym typeface="Symbol" panose="05050102010706020507" pitchFamily="18" charset="2"/>
              </a:rPr>
              <a:t>(</a:t>
            </a:r>
            <a:r>
              <a:rPr kumimoji="0" lang="en-US" altLang="zh-CN" sz="2400" b="1" dirty="0">
                <a:sym typeface="Symbol" panose="05050102010706020507" pitchFamily="18" charset="2"/>
              </a:rPr>
              <a:t>num</a:t>
            </a:r>
            <a:r>
              <a:rPr kumimoji="0" lang="en-US" altLang="zh-CN" sz="2400" dirty="0">
                <a:sym typeface="Symbol" panose="05050102010706020507" pitchFamily="18" charset="2"/>
              </a:rPr>
              <a:t>, </a:t>
            </a:r>
            <a:r>
              <a:rPr kumimoji="0" lang="en-US" altLang="zh-CN" sz="2400" b="1" dirty="0" err="1">
                <a:sym typeface="Symbol" panose="05050102010706020507" pitchFamily="18" charset="2"/>
              </a:rPr>
              <a:t>num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</a:t>
            </a:r>
            <a:r>
              <a:rPr kumimoji="0" lang="en-US" altLang="zh-CN" sz="2400" i="1" dirty="0" err="1">
                <a:sym typeface="Symbol" panose="05050102010706020507" pitchFamily="18" charset="2"/>
              </a:rPr>
              <a:t>entry</a:t>
            </a:r>
            <a:r>
              <a:rPr kumimoji="0" lang="en-US" altLang="zh-CN" sz="2400" dirty="0">
                <a:sym typeface="Symbol" panose="05050102010706020507" pitchFamily="18" charset="2"/>
              </a:rPr>
              <a:t>)}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69635" name="Text Box 9"/>
          <p:cNvSpPr txBox="1">
            <a:spLocks noChangeArrowheads="1"/>
          </p:cNvSpPr>
          <p:nvPr/>
        </p:nvSpPr>
        <p:spPr bwMode="auto">
          <a:xfrm>
            <a:off x="2514600" y="1524000"/>
            <a:ext cx="3581400" cy="171739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node main()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{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return E();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}</a:t>
            </a:r>
            <a:endParaRPr kumimoji="0" lang="en-US" altLang="zh-CN" sz="24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4572000" y="2314575"/>
            <a:ext cx="3733800" cy="212365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node TD_E()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{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nptr = T();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return R(nptr);</a:t>
            </a:r>
            <a:endParaRPr kumimoji="0" lang="en-US" altLang="zh-CN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}</a:t>
            </a:r>
            <a:endParaRPr kumimoji="0" lang="en-US" altLang="zh-CN" sz="2400" b="1">
              <a:latin typeface="Courier New" panose="02070309020205020404" pitchFamily="49" charset="0"/>
            </a:endParaRPr>
          </a:p>
        </p:txBody>
      </p:sp>
      <p:sp>
        <p:nvSpPr>
          <p:cNvPr id="70660" name="Rectangle 5"/>
          <p:cNvSpPr>
            <a:spLocks noChangeArrowheads="1"/>
          </p:cNvSpPr>
          <p:nvPr/>
        </p:nvSpPr>
        <p:spPr bwMode="ltGray">
          <a:xfrm>
            <a:off x="3962400" y="1371600"/>
            <a:ext cx="4572000" cy="85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{ R.</a:t>
            </a:r>
            <a:r>
              <a:rPr kumimoji="0" lang="en-US" altLang="zh-CN" sz="2400" i="1">
                <a:sym typeface="Symbol" panose="05050102010706020507" pitchFamily="18" charset="2"/>
              </a:rPr>
              <a:t>i = 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en-US" altLang="zh-CN" sz="2400" i="1">
                <a:sym typeface="Symbol" panose="05050102010706020507" pitchFamily="18" charset="2"/>
              </a:rPr>
              <a:t>.nptr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algn="ctr"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R { E.</a:t>
            </a:r>
            <a:r>
              <a:rPr kumimoji="0" lang="en-US" altLang="zh-CN" sz="2400" i="1">
                <a:sym typeface="Symbol" panose="05050102010706020507" pitchFamily="18" charset="2"/>
              </a:rPr>
              <a:t>nptr</a:t>
            </a:r>
            <a:r>
              <a:rPr kumimoji="0" lang="en-US" altLang="zh-CN" sz="2400">
                <a:sym typeface="Symbol" panose="05050102010706020507" pitchFamily="18" charset="2"/>
              </a:rPr>
              <a:t> =R.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70661" name="Freeform 6"/>
          <p:cNvSpPr/>
          <p:nvPr/>
        </p:nvSpPr>
        <p:spPr bwMode="ltGray">
          <a:xfrm>
            <a:off x="5041900" y="1657350"/>
            <a:ext cx="1054100" cy="1603375"/>
          </a:xfrm>
          <a:custGeom>
            <a:avLst/>
            <a:gdLst>
              <a:gd name="T0" fmla="*/ 1673383750 w 664"/>
              <a:gd name="T1" fmla="*/ 4593412 h 1058"/>
              <a:gd name="T2" fmla="*/ 161290000 w 664"/>
              <a:gd name="T3" fmla="*/ 404214172 h 1058"/>
              <a:gd name="T4" fmla="*/ 705643750 w 664"/>
              <a:gd name="T5" fmla="*/ 2147483646 h 105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64" h="1058">
                <a:moveTo>
                  <a:pt x="664" y="2"/>
                </a:moveTo>
                <a:cubicBezTo>
                  <a:pt x="564" y="31"/>
                  <a:pt x="128" y="0"/>
                  <a:pt x="64" y="176"/>
                </a:cubicBezTo>
                <a:cubicBezTo>
                  <a:pt x="0" y="352"/>
                  <a:pt x="235" y="874"/>
                  <a:pt x="280" y="105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2" name="Freeform 7"/>
          <p:cNvSpPr/>
          <p:nvPr/>
        </p:nvSpPr>
        <p:spPr bwMode="ltGray">
          <a:xfrm>
            <a:off x="6500813" y="2120900"/>
            <a:ext cx="909637" cy="1573213"/>
          </a:xfrm>
          <a:custGeom>
            <a:avLst/>
            <a:gdLst>
              <a:gd name="T0" fmla="*/ 909775112 w 573"/>
              <a:gd name="T1" fmla="*/ 0 h 991"/>
              <a:gd name="T2" fmla="*/ 1292838652 w 573"/>
              <a:gd name="T3" fmla="*/ 1862396854 h 991"/>
              <a:gd name="T4" fmla="*/ 0 w 573"/>
              <a:gd name="T5" fmla="*/ 2147483646 h 9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3" h="991">
                <a:moveTo>
                  <a:pt x="361" y="0"/>
                </a:moveTo>
                <a:cubicBezTo>
                  <a:pt x="386" y="123"/>
                  <a:pt x="573" y="574"/>
                  <a:pt x="513" y="739"/>
                </a:cubicBezTo>
                <a:cubicBezTo>
                  <a:pt x="453" y="904"/>
                  <a:pt x="107" y="939"/>
                  <a:pt x="0" y="99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3" name="Text Box 8"/>
          <p:cNvSpPr txBox="1">
            <a:spLocks noChangeArrowheads="1"/>
          </p:cNvSpPr>
          <p:nvPr/>
        </p:nvSpPr>
        <p:spPr bwMode="auto">
          <a:xfrm>
            <a:off x="381000" y="2286000"/>
            <a:ext cx="3581400" cy="215443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node TD_E()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tnptr = T();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ri = tnptr;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rs = R(ri);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enptr = rs;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return enptr;</a:t>
            </a:r>
            <a:endParaRPr kumimoji="0" lang="en-US" altLang="zh-CN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  <a:endParaRPr kumimoji="0" lang="en-US" altLang="zh-CN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1066800" y="1524000"/>
            <a:ext cx="7391400" cy="511678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node T()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{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if lookahead = ‘(’ then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{ match(‘(’); 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=E(); match(‘)’); 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else if lookahead = ‘id’ 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then { match(‘id’);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    label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lexval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 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mkleaf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(label);}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else if lookahead = ‘num’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then { match(‘num’);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    label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lexval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	 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mkleaf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(label);}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else error;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return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27984" y="1268760"/>
            <a:ext cx="4176464" cy="922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79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 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9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mkleaf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id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entry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)}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79000"/>
              </a:lnSpc>
              <a:spcBef>
                <a:spcPct val="5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	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nptr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mkleaf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num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num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.</a:t>
            </a:r>
            <a:r>
              <a:rPr kumimoji="0" lang="en-US" altLang="zh-CN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entry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)}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143000" y="2549525"/>
            <a:ext cx="7239000" cy="336245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node R(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i:node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)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{if lookahead=‘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’ 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then 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{ match(‘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’);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addoplex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lexval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= T();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mknode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addoplex,i,nptr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);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s = R(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); 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else { s=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i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 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return s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}</a:t>
            </a:r>
            <a:endParaRPr kumimoji="0" lang="en-US" altLang="zh-CN" sz="2000" b="1" dirty="0">
              <a:latin typeface="Courier New" panose="02070309020205020404" pitchFamily="49" charset="0"/>
            </a:endParaRPr>
          </a:p>
        </p:txBody>
      </p:sp>
      <p:sp>
        <p:nvSpPr>
          <p:cNvPr id="72708" name="Rectangle 5"/>
          <p:cNvSpPr>
            <a:spLocks noChangeArrowheads="1"/>
          </p:cNvSpPr>
          <p:nvPr/>
        </p:nvSpPr>
        <p:spPr bwMode="ltGray">
          <a:xfrm>
            <a:off x="1219200" y="1241425"/>
            <a:ext cx="6400800" cy="112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R</a:t>
            </a:r>
            <a:r>
              <a:rPr kumimoji="0" lang="en-US" altLang="zh-CN" sz="2000">
                <a:sym typeface="Symbol" panose="05050102010706020507" pitchFamily="18" charset="2"/>
              </a:rPr>
              <a:t>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addop</a:t>
            </a:r>
            <a:endParaRPr kumimoji="0" lang="en-US" altLang="zh-CN" sz="20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       </a:t>
            </a:r>
            <a:r>
              <a:rPr kumimoji="0" lang="en-US" altLang="zh-CN" sz="2000">
                <a:sym typeface="Symbol" panose="05050102010706020507" pitchFamily="18" charset="2"/>
              </a:rPr>
              <a:t> T  { R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sym typeface="Symbol" panose="05050102010706020507" pitchFamily="18" charset="2"/>
              </a:rPr>
              <a:t>i</a:t>
            </a:r>
            <a:r>
              <a:rPr kumimoji="0" lang="en-US" altLang="zh-CN" sz="2000">
                <a:sym typeface="Symbol" panose="05050102010706020507" pitchFamily="18" charset="2"/>
              </a:rPr>
              <a:t> =  mknode(</a:t>
            </a:r>
            <a:r>
              <a:rPr kumimoji="0" lang="en-US" altLang="zh-CN" sz="2000" b="1">
                <a:sym typeface="Symbol" panose="05050102010706020507" pitchFamily="18" charset="2"/>
              </a:rPr>
              <a:t>addop</a:t>
            </a:r>
            <a:r>
              <a:rPr kumimoji="0" lang="en-US" altLang="zh-CN" sz="2000"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sym typeface="Symbol" panose="05050102010706020507" pitchFamily="18" charset="2"/>
              </a:rPr>
              <a:t>lex</a:t>
            </a:r>
            <a:r>
              <a:rPr kumimoji="0" lang="en-US" altLang="zh-CN" sz="2000">
                <a:sym typeface="Symbol" panose="05050102010706020507" pitchFamily="18" charset="2"/>
              </a:rPr>
              <a:t> , R.</a:t>
            </a:r>
            <a:r>
              <a:rPr kumimoji="0" lang="en-US" altLang="zh-CN" sz="2000" i="1">
                <a:sym typeface="Symbol" panose="05050102010706020507" pitchFamily="18" charset="2"/>
              </a:rPr>
              <a:t>i </a:t>
            </a:r>
            <a:r>
              <a:rPr kumimoji="0" lang="en-US" altLang="zh-CN" sz="2000">
                <a:sym typeface="Symbol" panose="05050102010706020507" pitchFamily="18" charset="2"/>
              </a:rPr>
              <a:t>, T.</a:t>
            </a:r>
            <a:r>
              <a:rPr kumimoji="0" lang="en-US" altLang="zh-CN" sz="2000" i="1">
                <a:sym typeface="Symbol" panose="05050102010706020507" pitchFamily="18" charset="2"/>
              </a:rPr>
              <a:t>nptr </a:t>
            </a:r>
            <a:r>
              <a:rPr kumimoji="0" lang="en-US" altLang="zh-CN" sz="2000">
                <a:sym typeface="Symbol" panose="05050102010706020507" pitchFamily="18" charset="2"/>
              </a:rPr>
              <a:t>)}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        R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 { R.</a:t>
            </a:r>
            <a:r>
              <a:rPr kumimoji="0" lang="en-US" altLang="zh-CN" sz="2000" i="1">
                <a:sym typeface="Symbol" panose="05050102010706020507" pitchFamily="18" charset="2"/>
              </a:rPr>
              <a:t>s = </a:t>
            </a:r>
            <a:r>
              <a:rPr kumimoji="0" lang="en-US" altLang="zh-CN" sz="2000">
                <a:sym typeface="Symbol" panose="05050102010706020507" pitchFamily="18" charset="2"/>
              </a:rPr>
              <a:t>R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sym typeface="Symbol" panose="05050102010706020507" pitchFamily="18" charset="2"/>
              </a:rPr>
              <a:t>s</a:t>
            </a:r>
            <a:r>
              <a:rPr kumimoji="0" lang="en-US" altLang="zh-CN" sz="2000">
                <a:sym typeface="Symbol" panose="05050102010706020507" pitchFamily="18" charset="2"/>
              </a:rPr>
              <a:t> }</a:t>
            </a:r>
            <a:endParaRPr kumimoji="0" lang="en-US" altLang="zh-CN" sz="2000">
              <a:sym typeface="Symbol" panose="05050102010706020507" pitchFamily="18" charset="2"/>
            </a:endParaRPr>
          </a:p>
        </p:txBody>
      </p:sp>
      <p:sp>
        <p:nvSpPr>
          <p:cNvPr id="72709" name="Freeform 6"/>
          <p:cNvSpPr/>
          <p:nvPr/>
        </p:nvSpPr>
        <p:spPr bwMode="ltGray">
          <a:xfrm>
            <a:off x="2447925" y="1912938"/>
            <a:ext cx="2827338" cy="661987"/>
          </a:xfrm>
          <a:custGeom>
            <a:avLst/>
            <a:gdLst>
              <a:gd name="T0" fmla="*/ 2147483646 w 1781"/>
              <a:gd name="T1" fmla="*/ 0 h 417"/>
              <a:gd name="T2" fmla="*/ 2147483646 w 1781"/>
              <a:gd name="T3" fmla="*/ 670361056 h 417"/>
              <a:gd name="T4" fmla="*/ 0 w 1781"/>
              <a:gd name="T5" fmla="*/ 1050903569 h 41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81" h="417">
                <a:moveTo>
                  <a:pt x="1781" y="0"/>
                </a:moveTo>
                <a:cubicBezTo>
                  <a:pt x="1685" y="44"/>
                  <a:pt x="1502" y="197"/>
                  <a:pt x="1205" y="266"/>
                </a:cubicBezTo>
                <a:cubicBezTo>
                  <a:pt x="908" y="335"/>
                  <a:pt x="251" y="386"/>
                  <a:pt x="0" y="417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0" name="Freeform 7"/>
          <p:cNvSpPr/>
          <p:nvPr/>
        </p:nvSpPr>
        <p:spPr bwMode="ltGray">
          <a:xfrm>
            <a:off x="3825875" y="1898650"/>
            <a:ext cx="2166938" cy="2293938"/>
          </a:xfrm>
          <a:custGeom>
            <a:avLst/>
            <a:gdLst>
              <a:gd name="T0" fmla="*/ 2147483646 w 1365"/>
              <a:gd name="T1" fmla="*/ 0 h 1445"/>
              <a:gd name="T2" fmla="*/ 2147483646 w 1365"/>
              <a:gd name="T3" fmla="*/ 2147483646 h 1445"/>
              <a:gd name="T4" fmla="*/ 0 w 1365"/>
              <a:gd name="T5" fmla="*/ 2147483646 h 144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65" h="1445">
                <a:moveTo>
                  <a:pt x="1365" y="0"/>
                </a:moveTo>
                <a:cubicBezTo>
                  <a:pt x="1303" y="195"/>
                  <a:pt x="1221" y="929"/>
                  <a:pt x="993" y="1170"/>
                </a:cubicBezTo>
                <a:cubicBezTo>
                  <a:pt x="765" y="1411"/>
                  <a:pt x="207" y="1388"/>
                  <a:pt x="0" y="1445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2" name="Freeform 9"/>
          <p:cNvSpPr/>
          <p:nvPr/>
        </p:nvSpPr>
        <p:spPr bwMode="ltGray">
          <a:xfrm>
            <a:off x="704850" y="1800225"/>
            <a:ext cx="1587500" cy="2701925"/>
          </a:xfrm>
          <a:custGeom>
            <a:avLst/>
            <a:gdLst>
              <a:gd name="T0" fmla="*/ 2147483646 w 1000"/>
              <a:gd name="T1" fmla="*/ 0 h 1702"/>
              <a:gd name="T2" fmla="*/ 574595625 w 1000"/>
              <a:gd name="T3" fmla="*/ 650200313 h 1702"/>
              <a:gd name="T4" fmla="*/ 287297813 w 1000"/>
              <a:gd name="T5" fmla="*/ 2147483646 h 1702"/>
              <a:gd name="T6" fmla="*/ 2147483646 w 1000"/>
              <a:gd name="T7" fmla="*/ 2147483646 h 170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00" h="1702">
                <a:moveTo>
                  <a:pt x="1000" y="0"/>
                </a:moveTo>
                <a:cubicBezTo>
                  <a:pt x="870" y="43"/>
                  <a:pt x="376" y="19"/>
                  <a:pt x="228" y="258"/>
                </a:cubicBezTo>
                <a:cubicBezTo>
                  <a:pt x="80" y="497"/>
                  <a:pt x="0" y="1195"/>
                  <a:pt x="114" y="1436"/>
                </a:cubicBezTo>
                <a:cubicBezTo>
                  <a:pt x="228" y="1677"/>
                  <a:pt x="746" y="1647"/>
                  <a:pt x="912" y="17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3" name="Freeform 10"/>
          <p:cNvSpPr/>
          <p:nvPr/>
        </p:nvSpPr>
        <p:spPr bwMode="ltGray">
          <a:xfrm>
            <a:off x="668338" y="2174875"/>
            <a:ext cx="1666875" cy="2636838"/>
          </a:xfrm>
          <a:custGeom>
            <a:avLst/>
            <a:gdLst>
              <a:gd name="T0" fmla="*/ 2147483646 w 1050"/>
              <a:gd name="T1" fmla="*/ 30241881 h 1661"/>
              <a:gd name="T2" fmla="*/ 471270013 w 1050"/>
              <a:gd name="T3" fmla="*/ 579636047 h 1661"/>
              <a:gd name="T4" fmla="*/ 322580000 w 1050"/>
              <a:gd name="T5" fmla="*/ 2147483646 h 1661"/>
              <a:gd name="T6" fmla="*/ 2147483646 w 1050"/>
              <a:gd name="T7" fmla="*/ 2147483646 h 166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50" h="1661">
                <a:moveTo>
                  <a:pt x="1050" y="12"/>
                </a:moveTo>
                <a:cubicBezTo>
                  <a:pt x="905" y="48"/>
                  <a:pt x="341" y="0"/>
                  <a:pt x="187" y="230"/>
                </a:cubicBezTo>
                <a:cubicBezTo>
                  <a:pt x="33" y="460"/>
                  <a:pt x="0" y="1157"/>
                  <a:pt x="128" y="1395"/>
                </a:cubicBezTo>
                <a:cubicBezTo>
                  <a:pt x="256" y="1633"/>
                  <a:pt x="781" y="1606"/>
                  <a:pt x="953" y="166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4" name="Freeform 11"/>
          <p:cNvSpPr/>
          <p:nvPr/>
        </p:nvSpPr>
        <p:spPr bwMode="ltGray">
          <a:xfrm>
            <a:off x="5275263" y="1912938"/>
            <a:ext cx="1587" cy="2447925"/>
          </a:xfrm>
          <a:custGeom>
            <a:avLst/>
            <a:gdLst>
              <a:gd name="T0" fmla="*/ 0 w 1"/>
              <a:gd name="T1" fmla="*/ 0 h 1542"/>
              <a:gd name="T2" fmla="*/ 0 w 1"/>
              <a:gd name="T3" fmla="*/ 2147483646 h 15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542">
                <a:moveTo>
                  <a:pt x="0" y="0"/>
                </a:moveTo>
                <a:lnTo>
                  <a:pt x="0" y="1542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5" name="Freeform 13"/>
          <p:cNvSpPr/>
          <p:nvPr/>
        </p:nvSpPr>
        <p:spPr bwMode="ltGray">
          <a:xfrm>
            <a:off x="5992813" y="1884363"/>
            <a:ext cx="14287" cy="2447925"/>
          </a:xfrm>
          <a:custGeom>
            <a:avLst/>
            <a:gdLst>
              <a:gd name="T0" fmla="*/ 0 w 9"/>
              <a:gd name="T1" fmla="*/ 0 h 1542"/>
              <a:gd name="T2" fmla="*/ 22679819 w 9"/>
              <a:gd name="T3" fmla="*/ 2147483646 h 15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" h="1542">
                <a:moveTo>
                  <a:pt x="0" y="0"/>
                </a:moveTo>
                <a:lnTo>
                  <a:pt x="9" y="1542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13"/>
          <p:cNvSpPr/>
          <p:nvPr/>
        </p:nvSpPr>
        <p:spPr bwMode="ltGray">
          <a:xfrm>
            <a:off x="2292350" y="4530725"/>
            <a:ext cx="839788" cy="122238"/>
          </a:xfrm>
          <a:custGeom>
            <a:avLst/>
            <a:gdLst>
              <a:gd name="T0" fmla="*/ 0 w 9"/>
              <a:gd name="T1" fmla="*/ 0 h 1542"/>
              <a:gd name="T2" fmla="*/ 1332642149 w 9"/>
              <a:gd name="T3" fmla="*/ 194832288 h 154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" h="1542">
                <a:moveTo>
                  <a:pt x="0" y="0"/>
                </a:moveTo>
                <a:lnTo>
                  <a:pt x="9" y="1542"/>
                </a:lnTo>
              </a:path>
            </a:pathLst>
          </a:cu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  </a:t>
            </a:r>
            <a:r>
              <a:rPr lang="zh-CN" altLang="en-US"/>
              <a:t>自底向上计算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自顶向下方法缺点：文法必须适用于预测分析法</a:t>
            </a:r>
            <a:endParaRPr lang="zh-CN" altLang="en-US"/>
          </a:p>
          <a:p>
            <a:pPr eaLnBrk="1" hangingPunct="1"/>
            <a:r>
              <a:rPr lang="zh-CN" altLang="en-US"/>
              <a:t>自底向上方法</a:t>
            </a:r>
            <a:endParaRPr lang="zh-CN" altLang="en-US"/>
          </a:p>
          <a:p>
            <a:pPr lvl="1" eaLnBrk="1" hangingPunct="1"/>
            <a:r>
              <a:rPr lang="zh-CN" altLang="en-US"/>
              <a:t>适用基于</a:t>
            </a:r>
            <a:r>
              <a:rPr lang="en-US" altLang="zh-CN"/>
              <a:t>LL(1)</a:t>
            </a:r>
            <a:r>
              <a:rPr lang="zh-CN" altLang="en-US"/>
              <a:t>文法的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  <a:endParaRPr lang="zh-CN" altLang="en-US"/>
          </a:p>
          <a:p>
            <a:pPr lvl="1" eaLnBrk="1" hangingPunct="1"/>
            <a:r>
              <a:rPr lang="zh-CN" altLang="en-US"/>
              <a:t>适用很多基于</a:t>
            </a:r>
            <a:r>
              <a:rPr lang="en-US" altLang="zh-CN"/>
              <a:t>LR(1)</a:t>
            </a:r>
            <a:r>
              <a:rPr lang="zh-CN" altLang="en-US"/>
              <a:t>的</a:t>
            </a:r>
            <a:r>
              <a:rPr lang="en-US" altLang="zh-CN"/>
              <a:t>L-</a:t>
            </a:r>
            <a:r>
              <a:rPr lang="zh-CN" altLang="en-US"/>
              <a:t>属性定义</a:t>
            </a:r>
            <a:endParaRPr lang="zh-CN" altLang="en-US"/>
          </a:p>
          <a:p>
            <a:pPr lvl="1" eaLnBrk="1" hangingPunct="1"/>
            <a:r>
              <a:rPr lang="zh-CN" altLang="en-US"/>
              <a:t>基本思想：用额外的栈保存属性，归约时更新栈中属性值</a:t>
            </a:r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5.6.1  </a:t>
            </a:r>
            <a:r>
              <a:rPr lang="zh-CN" altLang="en-US"/>
              <a:t>消除翻译模式的嵌入动作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/>
            <a:r>
              <a:rPr lang="zh-CN" altLang="en-US" dirty="0"/>
              <a:t>第一个障碍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自底向上分析方法，通过移进在在栈顶形成句柄，然后归约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在移进过程中不知道将来会形成哪个产生式，嵌入动作无法执行</a:t>
            </a:r>
            <a:endParaRPr lang="zh-CN" altLang="en-US" dirty="0"/>
          </a:p>
          <a:p>
            <a:pPr eaLnBrk="1" hangingPunct="1"/>
            <a:r>
              <a:rPr lang="zh-CN" altLang="en-US" dirty="0"/>
              <a:t>解决方法：</a:t>
            </a:r>
            <a:br>
              <a:rPr lang="en-US" altLang="zh-CN" dirty="0"/>
            </a:br>
            <a:r>
              <a:rPr lang="zh-CN" altLang="en-US" dirty="0"/>
              <a:t>加入“标记”（</a:t>
            </a:r>
            <a:r>
              <a:rPr lang="en-US" altLang="zh-CN" dirty="0">
                <a:solidFill>
                  <a:schemeClr val="hlink"/>
                </a:solidFill>
              </a:rPr>
              <a:t>marker</a:t>
            </a:r>
            <a:r>
              <a:rPr lang="zh-CN" altLang="en-US" dirty="0"/>
              <a:t>）</a:t>
            </a:r>
            <a:r>
              <a:rPr lang="en-US" altLang="zh-CN" dirty="0"/>
              <a:t>NT——</a:t>
            </a:r>
            <a:r>
              <a:rPr lang="zh-CN" altLang="en-US" dirty="0"/>
              <a:t>消除嵌入语义动作 </a:t>
            </a:r>
            <a:endParaRPr lang="zh-CN" alt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加标记</a:t>
            </a:r>
            <a:r>
              <a:rPr lang="en-US" altLang="zh-CN"/>
              <a:t>NT</a:t>
            </a:r>
            <a:r>
              <a:rPr lang="zh-CN" altLang="en-US"/>
              <a:t>例</a:t>
            </a:r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R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+ T { print(‘+’) } R | - T { print(‘-’) } R | 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 print(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val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</a:pPr>
            <a:r>
              <a:rPr kumimoji="0" lang="zh-CN" altLang="en-US">
                <a:sym typeface="Symbol" panose="05050102010706020507" pitchFamily="18" charset="2"/>
              </a:rPr>
              <a:t>改写为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 T R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 + T M R | - T N R | 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{ print(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val</a:t>
            </a:r>
            <a:r>
              <a:rPr kumimoji="0" lang="en-US" altLang="zh-CN" sz="2400">
                <a:sym typeface="Symbol" panose="05050102010706020507" pitchFamily="18" charset="2"/>
              </a:rPr>
              <a:t>)}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  { print(‘+’)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kumimoji="0" lang="en-US" altLang="zh-CN" sz="2400"/>
              <a:t>N</a:t>
            </a:r>
            <a:r>
              <a:rPr kumimoji="0" lang="en-US" altLang="zh-CN" sz="2400">
                <a:sym typeface="Symbol" panose="05050102010706020507" pitchFamily="18" charset="2"/>
              </a:rPr>
              <a:t>  { print(‘-’)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属性值的计算只会在归约时进行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>
              <a:lnSpc>
                <a:spcPct val="79000"/>
              </a:lnSpc>
              <a:spcBef>
                <a:spcPct val="15000"/>
              </a:spcBef>
              <a:buFont typeface="Wingdings" panose="05000000000000000000" pitchFamily="2" charset="2"/>
              <a:buNone/>
            </a:pP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5.6.2  </a:t>
            </a:r>
            <a:r>
              <a:rPr lang="zh-CN" altLang="en-US"/>
              <a:t>分析栈中的继承属性</a:t>
            </a:r>
            <a:endParaRPr lang="zh-CN" altLang="en-US"/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第二个障碍</a:t>
            </a:r>
            <a:endParaRPr lang="zh-CN" altLang="en-US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用</a:t>
            </a:r>
            <a:r>
              <a:rPr lang="en-US" altLang="zh-CN" dirty="0">
                <a:sym typeface="Wingdings" panose="05000000000000000000" pitchFamily="2" charset="2"/>
              </a:rPr>
              <a:t>C→XYZ</a:t>
            </a:r>
            <a:r>
              <a:rPr lang="zh-CN" altLang="en-US" dirty="0">
                <a:sym typeface="Wingdings" panose="05000000000000000000" pitchFamily="2" charset="2"/>
              </a:rPr>
              <a:t>归约，此时若需要</a:t>
            </a:r>
            <a:r>
              <a:rPr lang="en-US" altLang="zh-CN" dirty="0">
                <a:sym typeface="Wingdings" panose="05000000000000000000" pitchFamily="2" charset="2"/>
              </a:rPr>
              <a:t>C</a:t>
            </a:r>
            <a:r>
              <a:rPr lang="zh-CN" altLang="en-US" dirty="0">
                <a:sym typeface="Wingdings" panose="05000000000000000000" pitchFamily="2" charset="2"/>
              </a:rPr>
              <a:t>的继承属性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状态栈保存文法符号，属性栈对应位置保存其属性，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此时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C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（及其属性）还未在栈中！</a:t>
            </a:r>
            <a:endParaRPr lang="zh-CN" alt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C</a:t>
            </a:r>
            <a:r>
              <a:rPr lang="zh-CN" altLang="en-US" dirty="0">
                <a:sym typeface="Wingdings" panose="05000000000000000000" pitchFamily="2" charset="2"/>
              </a:rPr>
              <a:t>的继承属性依赖于其父亲和左兄弟</a:t>
            </a:r>
            <a:r>
              <a:rPr lang="en-US" altLang="zh-CN" dirty="0">
                <a:sym typeface="Wingdings" panose="05000000000000000000" pitchFamily="2" charset="2"/>
              </a:rPr>
              <a:t>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/>
              <a:t>查看</a:t>
            </a:r>
            <a:r>
              <a:rPr lang="en-US" altLang="zh-CN" dirty="0"/>
              <a:t>C</a:t>
            </a:r>
            <a:r>
              <a:rPr lang="zh-CN" altLang="en-US" dirty="0"/>
              <a:t>在右部的那些产生式！</a:t>
            </a:r>
            <a:r>
              <a:rPr lang="en-US" altLang="zh-CN" dirty="0">
                <a:sym typeface="Wingdings" panose="05000000000000000000" pitchFamily="2" charset="2"/>
              </a:rPr>
              <a:t> A→BC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若依赖左兄弟</a:t>
            </a:r>
            <a:r>
              <a:rPr lang="en-US" altLang="zh-CN" dirty="0"/>
              <a:t>B——B</a:t>
            </a:r>
            <a:r>
              <a:rPr lang="zh-CN" altLang="en-US" dirty="0"/>
              <a:t>已在栈中！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若依赖父节点</a:t>
            </a:r>
            <a:r>
              <a:rPr lang="en-US" altLang="zh-CN" dirty="0"/>
              <a:t>A</a:t>
            </a:r>
            <a:r>
              <a:rPr lang="zh-CN" altLang="en-US" dirty="0"/>
              <a:t>呢？</a:t>
            </a:r>
            <a:r>
              <a:rPr lang="en-US" altLang="zh-CN" dirty="0"/>
              <a:t>——</a:t>
            </a:r>
            <a:r>
              <a:rPr lang="zh-CN" altLang="en-US" dirty="0"/>
              <a:t>面临与刚刚</a:t>
            </a:r>
            <a:r>
              <a:rPr lang="en-US" altLang="zh-CN" dirty="0"/>
              <a:t>C</a:t>
            </a:r>
            <a:r>
              <a:rPr lang="zh-CN" altLang="en-US" dirty="0"/>
              <a:t>完全相同的问题，递归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栈中的继承属性</a:t>
            </a:r>
            <a:endParaRPr lang="zh-CN" alt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考虑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 BC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假定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具有综合属性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由</a:t>
            </a:r>
            <a:r>
              <a:rPr kumimoji="0" lang="en-US" altLang="zh-CN" dirty="0">
                <a:sym typeface="Symbol" panose="05050102010706020507" pitchFamily="18" charset="2"/>
              </a:rPr>
              <a:t>5.3</a:t>
            </a:r>
            <a:r>
              <a:rPr kumimoji="0" lang="zh-CN" altLang="en-US" dirty="0">
                <a:sym typeface="Symbol" panose="05050102010706020507" pitchFamily="18" charset="2"/>
              </a:rPr>
              <a:t>节方法，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r>
              <a:rPr kumimoji="0" lang="zh-CN" altLang="en-US" dirty="0">
                <a:sym typeface="Symbol" panose="05050102010706020507" pitchFamily="18" charset="2"/>
              </a:rPr>
              <a:t>与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一起保存在栈中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当进行子树</a:t>
            </a:r>
            <a:r>
              <a:rPr kumimoji="0" lang="en-US" altLang="zh-CN" dirty="0">
                <a:sym typeface="Symbol" panose="05050102010706020507" pitchFamily="18" charset="2"/>
              </a:rPr>
              <a:t>C</a:t>
            </a:r>
            <a:r>
              <a:rPr kumimoji="0" lang="zh-CN" altLang="en-US" dirty="0">
                <a:sym typeface="Symbol" panose="05050102010706020507" pitchFamily="18" charset="2"/>
              </a:rPr>
              <a:t>的分析前，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r>
              <a:rPr kumimoji="0" lang="zh-CN" altLang="en-US" dirty="0">
                <a:sym typeface="Symbol" panose="05050102010706020507" pitchFamily="18" charset="2"/>
              </a:rPr>
              <a:t>必在栈中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若</a:t>
            </a:r>
            <a:r>
              <a:rPr kumimoji="0" lang="en-US" altLang="zh-CN" dirty="0">
                <a:sym typeface="Symbol" panose="05050102010706020507" pitchFamily="18" charset="2"/>
              </a:rPr>
              <a:t>C</a:t>
            </a:r>
            <a:r>
              <a:rPr kumimoji="0" lang="zh-CN" altLang="en-US" dirty="0">
                <a:sym typeface="Symbol" panose="05050102010706020507" pitchFamily="18" charset="2"/>
              </a:rPr>
              <a:t>的继承属性</a:t>
            </a:r>
            <a:r>
              <a:rPr kumimoji="0" lang="en-US" altLang="zh-CN" dirty="0" err="1">
                <a:sym typeface="Symbol" panose="05050102010706020507" pitchFamily="18" charset="2"/>
              </a:rPr>
              <a:t>C.i</a:t>
            </a:r>
            <a:r>
              <a:rPr kumimoji="0" lang="en-US" altLang="zh-CN" dirty="0">
                <a:sym typeface="Symbol" panose="05050102010706020507" pitchFamily="18" charset="2"/>
              </a:rPr>
              <a:t>=B.s</a:t>
            </a:r>
            <a:r>
              <a:rPr kumimoji="0" lang="zh-CN" altLang="en-US" dirty="0">
                <a:sym typeface="Symbol" panose="05050102010706020507" pitchFamily="18" charset="2"/>
              </a:rPr>
              <a:t>，则可直接使用</a:t>
            </a:r>
            <a:r>
              <a:rPr kumimoji="0" lang="en-US" altLang="zh-CN" dirty="0">
                <a:sym typeface="Symbol" panose="05050102010706020507" pitchFamily="18" charset="2"/>
              </a:rPr>
              <a:t>B.s</a:t>
            </a:r>
            <a:r>
              <a:rPr kumimoji="0" lang="zh-CN" altLang="en-US" dirty="0">
                <a:sym typeface="Symbol" panose="05050102010706020507" pitchFamily="18" charset="2"/>
              </a:rPr>
              <a:t>代替</a:t>
            </a:r>
            <a:r>
              <a:rPr kumimoji="0" lang="en-US" altLang="zh-CN" dirty="0" err="1">
                <a:sym typeface="Symbol" panose="05050102010706020507" pitchFamily="18" charset="2"/>
              </a:rPr>
              <a:t>C.i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“拷贝规则”</a:t>
            </a:r>
            <a:endParaRPr kumimoji="0"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endParaRPr lang="en-US" altLang="zh-CN"/>
          </a:p>
        </p:txBody>
      </p:sp>
      <p:sp>
        <p:nvSpPr>
          <p:cNvPr id="78851" name="Line 4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2" name="Line 5"/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3" name="Line 6"/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4" name="Line 7"/>
          <p:cNvSpPr>
            <a:spLocks noChangeShapeType="1"/>
          </p:cNvSpPr>
          <p:nvPr/>
        </p:nvSpPr>
        <p:spPr bwMode="auto">
          <a:xfrm>
            <a:off x="1066800" y="4495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855" name="Line 8"/>
          <p:cNvSpPr>
            <a:spLocks noChangeShapeType="1"/>
          </p:cNvSpPr>
          <p:nvPr/>
        </p:nvSpPr>
        <p:spPr bwMode="auto">
          <a:xfrm>
            <a:off x="3505200" y="14478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0041" name="Text Box 9"/>
          <p:cNvSpPr txBox="1">
            <a:spLocks noChangeArrowheads="1"/>
          </p:cNvSpPr>
          <p:nvPr/>
        </p:nvSpPr>
        <p:spPr bwMode="auto">
          <a:xfrm>
            <a:off x="1066800" y="1905000"/>
            <a:ext cx="7086600" cy="260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</a:rPr>
              <a:t>D 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  <a:endParaRPr kumimoji="0" lang="en-US" altLang="zh-CN" sz="28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T.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sz="28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    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sz="28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   		          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8857" name="Text Box 10"/>
          <p:cNvSpPr txBox="1">
            <a:spLocks noChangeArrowheads="1"/>
          </p:cNvSpPr>
          <p:nvPr/>
        </p:nvSpPr>
        <p:spPr bwMode="auto">
          <a:xfrm>
            <a:off x="5867400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78858" name="Text Box 11"/>
          <p:cNvSpPr txBox="1">
            <a:spLocks noChangeArrowheads="1"/>
          </p:cNvSpPr>
          <p:nvPr/>
        </p:nvSpPr>
        <p:spPr bwMode="auto">
          <a:xfrm>
            <a:off x="1447800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78859" name="Text Box 12"/>
          <p:cNvSpPr txBox="1">
            <a:spLocks noChangeArrowheads="1"/>
          </p:cNvSpPr>
          <p:nvPr/>
        </p:nvSpPr>
        <p:spPr bwMode="auto">
          <a:xfrm>
            <a:off x="5029200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语义动作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497888" cy="4724400"/>
          </a:xfrm>
        </p:spPr>
        <p:txBody>
          <a:bodyPr/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STACK				Input		Action</a:t>
            </a:r>
            <a:endParaRPr kumimoji="0" lang="en-US" altLang="zh-CN" sz="2000" b="1" dirty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				        	real </a:t>
            </a:r>
            <a:r>
              <a:rPr kumimoji="0" lang="en-US" altLang="zh-CN" sz="2000" b="1" dirty="0" err="1"/>
              <a:t>a,b,c</a:t>
            </a:r>
            <a:r>
              <a:rPr kumimoji="0" lang="en-US" altLang="zh-CN" sz="2000" b="1" dirty="0"/>
              <a:t>$	</a:t>
            </a:r>
            <a:endParaRPr kumimoji="0" lang="en-US" altLang="zh-CN" sz="20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real</a:t>
            </a:r>
            <a:r>
              <a:rPr kumimoji="0" lang="en-US" altLang="zh-CN" sz="2000" b="1" dirty="0"/>
              <a:t>, ‘real’]		        	        </a:t>
            </a:r>
            <a:r>
              <a:rPr kumimoji="0" lang="en-US" altLang="zh-CN" sz="2000" b="1" dirty="0" err="1"/>
              <a:t>a,b,c</a:t>
            </a:r>
            <a:r>
              <a:rPr kumimoji="0" lang="en-US" altLang="zh-CN" sz="2000" b="1" dirty="0"/>
              <a:t>$	T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real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，修改</a:t>
            </a:r>
            <a:r>
              <a:rPr kumimoji="0" lang="en-US" altLang="zh-CN" sz="2000" b="1" dirty="0" err="1">
                <a:sym typeface="Symbol" panose="05050102010706020507" pitchFamily="18" charset="2"/>
              </a:rPr>
              <a:t>T.</a:t>
            </a:r>
            <a:r>
              <a:rPr kumimoji="0" lang="en-US" altLang="zh-CN" sz="2000" b="1" i="1" dirty="0" err="1">
                <a:sym typeface="Symbol" panose="05050102010706020507" pitchFamily="18" charset="2"/>
              </a:rPr>
              <a:t>type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		        	        </a:t>
            </a:r>
            <a:r>
              <a:rPr kumimoji="0" lang="en-US" altLang="zh-CN" sz="2000" b="1" dirty="0" err="1">
                <a:sym typeface="Symbol" panose="05050102010706020507" pitchFamily="18" charset="2"/>
              </a:rPr>
              <a:t>a,b,c</a:t>
            </a:r>
            <a:r>
              <a:rPr kumimoji="0" lang="en-US" altLang="zh-CN" sz="2000" b="1" dirty="0">
                <a:sym typeface="Symbol" panose="05050102010706020507" pitchFamily="18" charset="2"/>
              </a:rPr>
              <a:t>$	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 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000" b="1" dirty="0"/>
              <a:t>, ‘a’]                                   </a:t>
            </a:r>
            <a:r>
              <a:rPr kumimoji="0" lang="en-US" altLang="zh-CN" sz="2000" b="1" dirty="0" err="1"/>
              <a:t>b,c</a:t>
            </a:r>
            <a:r>
              <a:rPr kumimoji="0" lang="en-US" altLang="zh-CN" sz="2000" b="1" dirty="0"/>
              <a:t>$	L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id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，需要</a:t>
            </a:r>
            <a:r>
              <a:rPr kumimoji="0" lang="en-US" altLang="zh-CN" sz="2000" b="1" dirty="0">
                <a:sym typeface="Symbol" panose="05050102010706020507" pitchFamily="18" charset="2"/>
              </a:rPr>
              <a:t>L.in</a:t>
            </a:r>
            <a:endParaRPr kumimoji="0" lang="en-US" altLang="zh-CN" sz="2000" b="1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		          ,</a:t>
            </a:r>
            <a:r>
              <a:rPr kumimoji="0" lang="en-US" altLang="zh-CN" sz="2000" b="1" dirty="0" err="1"/>
              <a:t>b,c</a:t>
            </a:r>
            <a:r>
              <a:rPr kumimoji="0" lang="en-US" altLang="zh-CN" sz="2000" b="1" dirty="0"/>
              <a:t>$	</a:t>
            </a:r>
            <a:endParaRPr kumimoji="0" lang="en-US" altLang="zh-CN" sz="20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</a:t>
            </a:r>
            <a:r>
              <a:rPr kumimoji="0" lang="en-US" altLang="zh-CN" sz="2000" b="1" dirty="0">
                <a:sym typeface="Symbol" panose="05050102010706020507" pitchFamily="18" charset="2"/>
              </a:rPr>
              <a:t>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		           </a:t>
            </a:r>
            <a:r>
              <a:rPr kumimoji="0" lang="en-US" altLang="zh-CN" sz="2000" b="1" dirty="0" err="1"/>
              <a:t>b,c</a:t>
            </a:r>
            <a:r>
              <a:rPr kumimoji="0" lang="en-US" altLang="zh-CN" sz="2000" b="1" dirty="0"/>
              <a:t>$		</a:t>
            </a:r>
            <a:endParaRPr kumimoji="0" lang="en-US" altLang="zh-CN" sz="2000" b="1" dirty="0"/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</a:t>
            </a:r>
            <a:r>
              <a:rPr kumimoji="0" lang="en-US" altLang="zh-CN" sz="2000" b="1" dirty="0">
                <a:sym typeface="Symbol" panose="05050102010706020507" pitchFamily="18" charset="2"/>
              </a:rPr>
              <a:t>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 </a:t>
            </a:r>
            <a:r>
              <a:rPr kumimoji="0" lang="en-US" altLang="zh-CN" sz="2000" b="1" dirty="0">
                <a:sym typeface="Symbol" panose="05050102010706020507" pitchFamily="18" charset="2"/>
              </a:rPr>
              <a:t>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000" b="1" dirty="0"/>
              <a:t>, ‘b’] 	             ,c$	L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L,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，需要</a:t>
            </a:r>
            <a:r>
              <a:rPr kumimoji="0" lang="en-US" altLang="zh-CN" sz="2000" b="1" dirty="0">
                <a:sym typeface="Symbol" panose="05050102010706020507" pitchFamily="18" charset="2"/>
              </a:rPr>
              <a:t>L.in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ym typeface="Symbol" panose="05050102010706020507" pitchFamily="18" charset="2"/>
              </a:rPr>
              <a:t>$[T,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		              c$	</a:t>
            </a:r>
            <a:endParaRPr kumimoji="0" lang="en-US" altLang="zh-CN" sz="2000" b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/>
              <a:t>$</a:t>
            </a:r>
            <a:r>
              <a:rPr kumimoji="0" lang="en-US" altLang="zh-CN" sz="2000" b="1" dirty="0">
                <a:sym typeface="Symbol" panose="05050102010706020507" pitchFamily="18" charset="2"/>
              </a:rPr>
              <a:t>[T, ‘real’] [L, </a:t>
            </a:r>
            <a:r>
              <a:rPr kumimoji="0" lang="en-US" altLang="zh-CN" sz="2000" b="1" i="1" dirty="0"/>
              <a:t>…</a:t>
            </a:r>
            <a:r>
              <a:rPr kumimoji="0" lang="en-US" altLang="zh-CN" sz="2000" b="1" dirty="0"/>
              <a:t>] , </a:t>
            </a:r>
            <a:r>
              <a:rPr kumimoji="0" lang="en-US" altLang="zh-CN" sz="2000" b="1" dirty="0">
                <a:sym typeface="Symbol" panose="05050102010706020507" pitchFamily="18" charset="2"/>
              </a:rPr>
              <a:t>[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000" b="1" dirty="0"/>
              <a:t>, ‘c’]	                $	L </a:t>
            </a:r>
            <a:r>
              <a:rPr kumimoji="0" lang="en-US" altLang="zh-CN" sz="2000" b="1" dirty="0">
                <a:sym typeface="Symbol" panose="05050102010706020507" pitchFamily="18" charset="2"/>
              </a:rPr>
              <a:t> L,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zh-CN" altLang="en-US" sz="2000" b="1" dirty="0">
                <a:sym typeface="Symbol" panose="05050102010706020507" pitchFamily="18" charset="2"/>
              </a:rPr>
              <a:t>，需要</a:t>
            </a:r>
            <a:r>
              <a:rPr kumimoji="0" lang="en-US" altLang="zh-CN" sz="2000" b="1" dirty="0">
                <a:sym typeface="Symbol" panose="05050102010706020507" pitchFamily="18" charset="2"/>
              </a:rPr>
              <a:t>L.in</a:t>
            </a:r>
            <a:endParaRPr kumimoji="0" lang="en-US" altLang="zh-CN" sz="20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对关于</a:t>
            </a:r>
            <a:r>
              <a:rPr lang="en-US" altLang="zh-CN" dirty="0"/>
              <a:t>L</a:t>
            </a:r>
            <a:r>
              <a:rPr lang="zh-CN" altLang="en-US" dirty="0"/>
              <a:t>的产生式归约时，需用</a:t>
            </a:r>
            <a:r>
              <a:rPr lang="en-US" altLang="zh-CN" dirty="0"/>
              <a:t>L</a:t>
            </a:r>
            <a:r>
              <a:rPr lang="zh-CN" altLang="en-US" dirty="0"/>
              <a:t>的继承属性</a:t>
            </a:r>
            <a:r>
              <a:rPr lang="en-US" altLang="zh-CN" dirty="0"/>
              <a:t>in</a:t>
            </a:r>
            <a:r>
              <a:rPr lang="zh-CN" altLang="en-US" dirty="0"/>
              <a:t>进行计算，而</a:t>
            </a:r>
            <a:r>
              <a:rPr lang="en-US" altLang="zh-CN" dirty="0"/>
              <a:t>L.in = </a:t>
            </a:r>
            <a:r>
              <a:rPr lang="en-US" altLang="zh-CN" dirty="0" err="1"/>
              <a:t>T.type</a:t>
            </a:r>
            <a:endParaRPr lang="en-US" altLang="zh-CN" dirty="0"/>
          </a:p>
          <a:p>
            <a:pPr eaLnBrk="1" hangingPunct="1"/>
            <a:r>
              <a:rPr lang="zh-CN" altLang="en-US" dirty="0"/>
              <a:t>此时，产生式右部位于栈顶，而</a:t>
            </a:r>
            <a:r>
              <a:rPr lang="en-US" altLang="zh-CN" dirty="0"/>
              <a:t>T</a:t>
            </a:r>
            <a:r>
              <a:rPr lang="zh-CN" altLang="en-US" dirty="0"/>
              <a:t>恰位于它们下面（左面）</a:t>
            </a:r>
            <a:endParaRPr lang="zh-CN" altLang="en-US" dirty="0"/>
          </a:p>
          <a:p>
            <a:pPr eaLnBrk="1" hangingPunct="1"/>
            <a:r>
              <a:rPr lang="zh-CN" altLang="en-US" dirty="0"/>
              <a:t>因此，在归约时，</a:t>
            </a:r>
            <a:r>
              <a:rPr lang="en-US" altLang="zh-CN" dirty="0" err="1"/>
              <a:t>T.type</a:t>
            </a:r>
            <a:r>
              <a:rPr lang="zh-CN" altLang="en-US" dirty="0"/>
              <a:t>的位置可知，无需属性的简单复制，直接使用</a:t>
            </a:r>
            <a:r>
              <a:rPr lang="en-US" altLang="zh-CN" dirty="0" err="1"/>
              <a:t>T.type</a:t>
            </a:r>
            <a:r>
              <a:rPr lang="zh-CN" altLang="en-US" dirty="0"/>
              <a:t>即可</a:t>
            </a:r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5.17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1923" name="Line 4"/>
          <p:cNvSpPr>
            <a:spLocks noChangeShapeType="1"/>
          </p:cNvSpPr>
          <p:nvPr/>
        </p:nvSpPr>
        <p:spPr bwMode="auto">
          <a:xfrm>
            <a:off x="1066800" y="15732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4" name="Line 5"/>
          <p:cNvSpPr>
            <a:spLocks noChangeShapeType="1"/>
          </p:cNvSpPr>
          <p:nvPr/>
        </p:nvSpPr>
        <p:spPr bwMode="auto">
          <a:xfrm>
            <a:off x="1066800" y="16494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5" name="Line 6"/>
          <p:cNvSpPr>
            <a:spLocks noChangeShapeType="1"/>
          </p:cNvSpPr>
          <p:nvPr/>
        </p:nvSpPr>
        <p:spPr bwMode="auto">
          <a:xfrm>
            <a:off x="1066800" y="21066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6" name="Line 7"/>
          <p:cNvSpPr>
            <a:spLocks noChangeShapeType="1"/>
          </p:cNvSpPr>
          <p:nvPr/>
        </p:nvSpPr>
        <p:spPr bwMode="auto">
          <a:xfrm>
            <a:off x="1066800" y="4926013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27" name="Line 8"/>
          <p:cNvSpPr>
            <a:spLocks noChangeShapeType="1"/>
          </p:cNvSpPr>
          <p:nvPr/>
        </p:nvSpPr>
        <p:spPr bwMode="auto">
          <a:xfrm>
            <a:off x="3657600" y="1649413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3769" name="Text Box 9"/>
          <p:cNvSpPr txBox="1">
            <a:spLocks noChangeArrowheads="1"/>
          </p:cNvSpPr>
          <p:nvPr/>
        </p:nvSpPr>
        <p:spPr bwMode="auto">
          <a:xfrm>
            <a:off x="1066800" y="2106613"/>
            <a:ext cx="7467600" cy="284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</a:rPr>
              <a:t>D 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]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  <a:endParaRPr kumimoji="0" lang="en-US" altLang="zh-CN" sz="28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] = 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sz="2800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-3])</a:t>
            </a:r>
            <a:endParaRPr kumimoji="0" lang="en-US" altLang="zh-CN" sz="28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800" b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val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kumimoji="0"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top</a:t>
            </a:r>
            <a:r>
              <a:rPr kumimoji="0"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-1])</a:t>
            </a:r>
            <a:endParaRPr kumimoji="0"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1929" name="Text Box 10"/>
          <p:cNvSpPr txBox="1">
            <a:spLocks noChangeArrowheads="1"/>
          </p:cNvSpPr>
          <p:nvPr/>
        </p:nvSpPr>
        <p:spPr bwMode="auto">
          <a:xfrm>
            <a:off x="5867400" y="2030413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81930" name="Text Box 11"/>
          <p:cNvSpPr txBox="1">
            <a:spLocks noChangeArrowheads="1"/>
          </p:cNvSpPr>
          <p:nvPr/>
        </p:nvSpPr>
        <p:spPr bwMode="auto">
          <a:xfrm>
            <a:off x="1981200" y="1649413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81931" name="Text Box 12"/>
          <p:cNvSpPr txBox="1">
            <a:spLocks noChangeArrowheads="1"/>
          </p:cNvSpPr>
          <p:nvPr/>
        </p:nvSpPr>
        <p:spPr bwMode="auto">
          <a:xfrm>
            <a:off x="5029200" y="1649413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代码片断</a:t>
            </a:r>
            <a:endParaRPr kumimoji="0" lang="zh-CN" altLang="en-US" sz="2400" b="1"/>
          </a:p>
        </p:txBody>
      </p:sp>
      <p:sp>
        <p:nvSpPr>
          <p:cNvPr id="81932" name="Text Box 13"/>
          <p:cNvSpPr txBox="1">
            <a:spLocks noChangeArrowheads="1"/>
          </p:cNvSpPr>
          <p:nvPr/>
        </p:nvSpPr>
        <p:spPr bwMode="ltGray">
          <a:xfrm>
            <a:off x="7315200" y="2971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T.type</a:t>
            </a:r>
            <a:r>
              <a:rPr lang="en-US" altLang="zh-CN" sz="2400">
                <a:solidFill>
                  <a:srgbClr val="FF3300"/>
                </a:solidFill>
                <a:sym typeface="Wingdings" panose="05000000000000000000" pitchFamily="2" charset="2"/>
              </a:rPr>
              <a:t>L.in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81933" name="Line 14"/>
          <p:cNvSpPr>
            <a:spLocks noChangeShapeType="1"/>
          </p:cNvSpPr>
          <p:nvPr/>
        </p:nvSpPr>
        <p:spPr bwMode="ltGray">
          <a:xfrm flipH="1">
            <a:off x="7543800" y="3352800"/>
            <a:ext cx="685800" cy="685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934" name="Line 15"/>
          <p:cNvSpPr>
            <a:spLocks noChangeShapeType="1"/>
          </p:cNvSpPr>
          <p:nvPr/>
        </p:nvSpPr>
        <p:spPr bwMode="ltGray">
          <a:xfrm flipH="1">
            <a:off x="7696200" y="3429000"/>
            <a:ext cx="609600" cy="1219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5.6.3  </a:t>
            </a:r>
            <a:r>
              <a:rPr lang="zh-CN" altLang="en-US"/>
              <a:t>模拟继承属性的计算</a:t>
            </a:r>
            <a:endParaRPr lang="zh-CN" alt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5.18</a:t>
            </a:r>
            <a:r>
              <a:rPr lang="zh-CN" altLang="en-US" dirty="0"/>
              <a:t>：不能预测属性值栈中位置的文法</a:t>
            </a:r>
            <a:endParaRPr lang="zh-CN" altLang="en-US" dirty="0"/>
          </a:p>
          <a:p>
            <a:pPr eaLnBrk="1" hangingPunct="1">
              <a:lnSpc>
                <a:spcPct val="89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800" dirty="0"/>
              <a:t>S </a:t>
            </a:r>
            <a:r>
              <a:rPr kumimoji="0" lang="en-US" altLang="zh-CN" sz="2800" dirty="0">
                <a:sym typeface="Symbol" panose="05050102010706020507" pitchFamily="18" charset="2"/>
              </a:rPr>
              <a:t> 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aAC</a:t>
            </a:r>
            <a:r>
              <a:rPr kumimoji="0"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C.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800" dirty="0">
                <a:sym typeface="Symbol" panose="05050102010706020507" pitchFamily="18" charset="2"/>
              </a:rPr>
              <a:t> = A.</a:t>
            </a:r>
            <a:r>
              <a:rPr kumimoji="0" lang="en-US" altLang="zh-CN" sz="2800" i="1" dirty="0">
                <a:sym typeface="Symbol" panose="05050102010706020507" pitchFamily="18" charset="2"/>
              </a:rPr>
              <a:t>s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 dirty="0">
                <a:sym typeface="Symbol" panose="05050102010706020507" pitchFamily="18" charset="2"/>
              </a:rPr>
              <a:t>S  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bABC</a:t>
            </a:r>
            <a:r>
              <a:rPr kumimoji="0" lang="en-US" altLang="zh-CN" sz="2800" dirty="0">
                <a:sym typeface="Symbol" panose="05050102010706020507" pitchFamily="18" charset="2"/>
              </a:rPr>
              <a:t> 		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C.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800" dirty="0">
                <a:sym typeface="Symbol" panose="05050102010706020507" pitchFamily="18" charset="2"/>
              </a:rPr>
              <a:t> = A.</a:t>
            </a:r>
            <a:r>
              <a:rPr kumimoji="0" lang="en-US" altLang="zh-CN" sz="2800" i="1" dirty="0">
                <a:sym typeface="Symbol" panose="05050102010706020507" pitchFamily="18" charset="2"/>
              </a:rPr>
              <a:t>s</a:t>
            </a:r>
            <a:endParaRPr kumimoji="0" lang="en-US" altLang="zh-CN" sz="2800" i="1" dirty="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 dirty="0">
                <a:sym typeface="Symbol" panose="05050102010706020507" pitchFamily="18" charset="2"/>
              </a:rPr>
              <a:t>C  c 		C.</a:t>
            </a:r>
            <a:r>
              <a:rPr kumimoji="0" lang="en-US" altLang="zh-CN" sz="2800" i="1" dirty="0">
                <a:sym typeface="Symbol" panose="05050102010706020507" pitchFamily="18" charset="2"/>
              </a:rPr>
              <a:t>s</a:t>
            </a:r>
            <a:r>
              <a:rPr kumimoji="0" lang="en-US" altLang="zh-CN" sz="2800" dirty="0">
                <a:sym typeface="Symbol" panose="05050102010706020507" pitchFamily="18" charset="2"/>
              </a:rPr>
              <a:t> = g(</a:t>
            </a:r>
            <a:r>
              <a:rPr kumimoji="0" lang="en-US" altLang="zh-CN" sz="2800" dirty="0" err="1">
                <a:sym typeface="Symbol" panose="05050102010706020507" pitchFamily="18" charset="2"/>
              </a:rPr>
              <a:t>C.</a:t>
            </a:r>
            <a:r>
              <a:rPr kumimoji="0" lang="en-US" altLang="zh-CN" sz="2800" i="1" dirty="0" err="1">
                <a:sym typeface="Symbol" panose="05050102010706020507" pitchFamily="18" charset="2"/>
              </a:rPr>
              <a:t>i</a:t>
            </a:r>
            <a:r>
              <a:rPr kumimoji="0" lang="en-US" altLang="zh-CN" sz="2800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pPr eaLnBrk="1" hangingPunct="1"/>
            <a:r>
              <a:rPr lang="en-US" altLang="zh-CN" dirty="0"/>
              <a:t>C</a:t>
            </a:r>
            <a:r>
              <a:rPr lang="zh-CN" altLang="en-US" dirty="0"/>
              <a:t>通过拷贝规则继承了</a:t>
            </a:r>
            <a:r>
              <a:rPr lang="en-US" altLang="zh-CN" dirty="0"/>
              <a:t>A</a:t>
            </a:r>
            <a:r>
              <a:rPr lang="zh-CN" altLang="en-US" dirty="0"/>
              <a:t>的综合属性</a:t>
            </a:r>
            <a:endParaRPr lang="zh-CN" altLang="en-US" dirty="0"/>
          </a:p>
          <a:p>
            <a:pPr eaLnBrk="1" hangingPunct="1"/>
            <a:r>
              <a:rPr lang="en-US" altLang="zh-CN" dirty="0"/>
              <a:t>B</a:t>
            </a:r>
            <a:r>
              <a:rPr lang="zh-CN" altLang="en-US" dirty="0"/>
              <a:t>是否在栈中？</a:t>
            </a:r>
            <a:r>
              <a:rPr lang="en-US" altLang="zh-CN" dirty="0"/>
              <a:t>——</a:t>
            </a:r>
            <a:r>
              <a:rPr lang="zh-CN" altLang="en-US" dirty="0"/>
              <a:t>不知道！</a:t>
            </a:r>
            <a:br>
              <a:rPr lang="en-US" altLang="zh-CN" dirty="0"/>
            </a:br>
            <a:r>
              <a:rPr lang="en-US" altLang="zh-CN" dirty="0"/>
              <a:t>A.s(</a:t>
            </a:r>
            <a:r>
              <a:rPr lang="en-US" altLang="zh-CN" dirty="0" err="1"/>
              <a:t>C.i</a:t>
            </a:r>
            <a:r>
              <a:rPr lang="en-US" altLang="zh-CN" dirty="0"/>
              <a:t>)</a:t>
            </a:r>
            <a:r>
              <a:rPr lang="zh-CN" altLang="en-US" dirty="0"/>
              <a:t>在</a:t>
            </a:r>
            <a:r>
              <a:rPr lang="en-US" altLang="zh-CN" dirty="0"/>
              <a:t>top-1</a:t>
            </a:r>
            <a:r>
              <a:rPr lang="zh-CN" altLang="en-US" dirty="0"/>
              <a:t>？</a:t>
            </a:r>
            <a:r>
              <a:rPr lang="en-US" altLang="zh-CN" dirty="0"/>
              <a:t>top-2</a:t>
            </a:r>
            <a:r>
              <a:rPr lang="zh-CN" altLang="en-US" dirty="0"/>
              <a:t>？</a:t>
            </a:r>
            <a:r>
              <a:rPr lang="en-US" altLang="zh-CN" dirty="0"/>
              <a:t>——</a:t>
            </a:r>
            <a:r>
              <a:rPr lang="zh-CN" altLang="en-US" dirty="0"/>
              <a:t>不知道！</a:t>
            </a:r>
            <a:endParaRPr lang="zh-CN" altLang="en-US" dirty="0"/>
          </a:p>
          <a:p>
            <a:pPr eaLnBrk="1" hangingPunct="1"/>
            <a:r>
              <a:rPr lang="zh-CN" altLang="en-US" dirty="0"/>
              <a:t>如何解决？</a:t>
            </a:r>
            <a:r>
              <a:rPr lang="en-US" altLang="zh-CN" dirty="0"/>
              <a:t>——</a:t>
            </a:r>
            <a:r>
              <a:rPr lang="zh-CN" altLang="en-US" dirty="0"/>
              <a:t>利用</a:t>
            </a:r>
            <a:r>
              <a:rPr lang="en-US" altLang="zh-CN" dirty="0"/>
              <a:t>marker NT</a:t>
            </a:r>
            <a:r>
              <a:rPr lang="zh-CN" altLang="en-US" dirty="0"/>
              <a:t>改写文法</a:t>
            </a:r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aAC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sym typeface="Symbol" panose="05050102010706020507" pitchFamily="18" charset="2"/>
              </a:rPr>
              <a:t>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A.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S  bAB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</a:t>
            </a:r>
            <a:r>
              <a:rPr kumimoji="0" lang="en-US" altLang="zh-CN" sz="2800">
                <a:sym typeface="Symbol" panose="05050102010706020507" pitchFamily="18" charset="2"/>
              </a:rPr>
              <a:t>C	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 = A.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; C.i = 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M.s</a:t>
            </a:r>
            <a:r>
              <a:rPr kumimoji="0" lang="en-US" altLang="zh-CN" sz="2800">
                <a:sym typeface="Symbol" panose="05050102010706020507" pitchFamily="18" charset="2"/>
              </a:rPr>
              <a:t>;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C  c 		C.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 = g(C.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M  </a:t>
            </a:r>
            <a:r>
              <a:rPr kumimoji="0" lang="en-US" altLang="zh-CN" sz="2800">
                <a:solidFill>
                  <a:schemeClr val="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		M.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olidFill>
                  <a:schemeClr val="hlink"/>
                </a:solidFill>
                <a:sym typeface="Symbol" panose="05050102010706020507" pitchFamily="18" charset="2"/>
              </a:rPr>
              <a:t> = M.</a:t>
            </a:r>
            <a:r>
              <a:rPr kumimoji="0" lang="en-US" altLang="zh-CN" sz="2800" i="1">
                <a:solidFill>
                  <a:schemeClr val="hlink"/>
                </a:solidFill>
                <a:sym typeface="Symbol" panose="05050102010706020507" pitchFamily="18" charset="2"/>
              </a:rPr>
              <a:t>i</a:t>
            </a:r>
            <a:endParaRPr lang="en-US" altLang="zh-CN" i="1">
              <a:solidFill>
                <a:schemeClr val="hlink"/>
              </a:solidFill>
            </a:endParaRPr>
          </a:p>
          <a:p>
            <a:pPr eaLnBrk="1" hangingPunct="1"/>
            <a:r>
              <a:rPr lang="zh-CN" altLang="en-US"/>
              <a:t>也可用于非拷贝规则（更复杂的引用）</a:t>
            </a:r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aAC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sym typeface="Symbol" panose="05050102010706020507" pitchFamily="18" charset="2"/>
              </a:rPr>
              <a:t>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f(A.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2800">
                <a:sym typeface="Symbol" panose="05050102010706020507" pitchFamily="18" charset="2"/>
              </a:rPr>
              <a:t>改写为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/>
              <a:t>S </a:t>
            </a:r>
            <a:r>
              <a:rPr kumimoji="0" lang="en-US" altLang="zh-CN" sz="2800">
                <a:sym typeface="Symbol" panose="05050102010706020507" pitchFamily="18" charset="2"/>
              </a:rPr>
              <a:t> aANC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800">
                <a:sym typeface="Symbol" panose="05050102010706020507" pitchFamily="18" charset="2"/>
              </a:rPr>
              <a:t>N.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A.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;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C.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N.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N  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		N.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 = f(N.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5.19</a:t>
            </a:r>
            <a:endParaRPr lang="en-US" altLang="zh-CN"/>
          </a:p>
        </p:txBody>
      </p:sp>
      <p:sp>
        <p:nvSpPr>
          <p:cNvPr id="84995" name="Line 4"/>
          <p:cNvSpPr>
            <a:spLocks noChangeShapeType="1"/>
          </p:cNvSpPr>
          <p:nvPr/>
        </p:nvSpPr>
        <p:spPr bwMode="auto">
          <a:xfrm>
            <a:off x="1066800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6" name="Line 5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7" name="Line 6"/>
          <p:cNvSpPr>
            <a:spLocks noChangeShapeType="1"/>
          </p:cNvSpPr>
          <p:nvPr/>
        </p:nvSpPr>
        <p:spPr bwMode="auto">
          <a:xfrm>
            <a:off x="1066800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8" name="Line 7"/>
          <p:cNvSpPr>
            <a:spLocks noChangeShapeType="1"/>
          </p:cNvSpPr>
          <p:nvPr/>
        </p:nvSpPr>
        <p:spPr bwMode="auto">
          <a:xfrm>
            <a:off x="1066800" y="5791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Line 8"/>
          <p:cNvSpPr>
            <a:spLocks noChangeShapeType="1"/>
          </p:cNvSpPr>
          <p:nvPr/>
        </p:nvSpPr>
        <p:spPr bwMode="auto">
          <a:xfrm>
            <a:off x="3505200" y="1371600"/>
            <a:ext cx="0" cy="441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0" name="Text Box 9"/>
          <p:cNvSpPr txBox="1">
            <a:spLocks noChangeArrowheads="1"/>
          </p:cNvSpPr>
          <p:nvPr/>
        </p:nvSpPr>
        <p:spPr bwMode="auto">
          <a:xfrm>
            <a:off x="1066800" y="1828800"/>
            <a:ext cx="70866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S  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L</a:t>
            </a:r>
            <a:r>
              <a:rPr kumimoji="0" lang="en-US" altLang="zh-CN" sz="2000" dirty="0">
                <a:sym typeface="Symbol" panose="05050102010706020507" pitchFamily="18" charset="2"/>
              </a:rPr>
              <a:t>B			B.ps = L.s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S.ht = B.ht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L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			</a:t>
            </a:r>
            <a:r>
              <a:rPr kumimoji="0" lang="en-US" altLang="zh-CN" sz="2000" dirty="0">
                <a:sym typeface="Symbol" panose="05050102010706020507" pitchFamily="18" charset="2"/>
              </a:rPr>
              <a:t>L.s = 10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r>
              <a:rPr kumimoji="0" lang="en-US" altLang="zh-CN" sz="2000" dirty="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.ps = B.ps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M.i</a:t>
            </a:r>
            <a:r>
              <a:rPr kumimoji="0" lang="en-US" altLang="zh-CN" sz="2000" dirty="0">
                <a:sym typeface="Symbol" panose="05050102010706020507" pitchFamily="18" charset="2"/>
              </a:rPr>
              <a:t> = B.ps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.ps = M.s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	B.ht = max(B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.ht,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.ht);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kumimoji="0" lang="en-US" altLang="zh-CN" sz="2000" dirty="0">
                <a:sym typeface="Symbol" panose="05050102010706020507" pitchFamily="18" charset="2"/>
              </a:rPr>
              <a:t>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.ps = B.ps;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N.i</a:t>
            </a:r>
            <a:r>
              <a:rPr kumimoji="0" lang="en-US" altLang="zh-CN" sz="2000" dirty="0">
                <a:sym typeface="Symbol" panose="05050102010706020507" pitchFamily="18" charset="2"/>
              </a:rPr>
              <a:t> = B.ps;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.ps = N.s;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			B.ht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disp</a:t>
            </a:r>
            <a:r>
              <a:rPr kumimoji="0" lang="en-US" altLang="zh-CN" sz="2000" dirty="0">
                <a:sym typeface="Symbol" panose="05050102010706020507" pitchFamily="18" charset="2"/>
              </a:rPr>
              <a:t>(B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.ht,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.ht);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000" dirty="0">
                <a:sym typeface="Symbol" panose="05050102010706020507" pitchFamily="18" charset="2"/>
              </a:rPr>
              <a:t>B.ht = </a:t>
            </a:r>
            <a:r>
              <a:rPr kumimoji="0" lang="en-US" altLang="zh-CN" sz="2000" b="1" dirty="0">
                <a:sym typeface="Symbol" panose="05050102010706020507" pitchFamily="18" charset="2"/>
              </a:rPr>
              <a:t>text</a:t>
            </a:r>
            <a:r>
              <a:rPr kumimoji="0" lang="en-US" altLang="zh-CN" sz="2000" dirty="0">
                <a:sym typeface="Symbol" panose="05050102010706020507" pitchFamily="18" charset="2"/>
              </a:rPr>
              <a:t>.h×B.ps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M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M.s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M.i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N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N.s = shrink(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N.i</a:t>
            </a:r>
            <a:r>
              <a:rPr kumimoji="0" lang="en-US" altLang="zh-CN" sz="2000" dirty="0">
                <a:sym typeface="Symbol" panose="05050102010706020507" pitchFamily="18" charset="2"/>
              </a:rPr>
              <a:t>)</a:t>
            </a:r>
            <a:endParaRPr kumimoji="0" lang="en-US" altLang="zh-CN" sz="2000" dirty="0">
              <a:sym typeface="Symbol" panose="05050102010706020507" pitchFamily="18" charset="2"/>
            </a:endParaRPr>
          </a:p>
        </p:txBody>
      </p:sp>
      <p:sp>
        <p:nvSpPr>
          <p:cNvPr id="85001" name="Text Box 10"/>
          <p:cNvSpPr txBox="1">
            <a:spLocks noChangeArrowheads="1"/>
          </p:cNvSpPr>
          <p:nvPr/>
        </p:nvSpPr>
        <p:spPr bwMode="auto">
          <a:xfrm>
            <a:off x="5867400" y="1752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85002" name="Text Box 11"/>
          <p:cNvSpPr txBox="1">
            <a:spLocks noChangeArrowheads="1"/>
          </p:cNvSpPr>
          <p:nvPr/>
        </p:nvSpPr>
        <p:spPr bwMode="auto">
          <a:xfrm>
            <a:off x="1447800" y="13716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  <a:endParaRPr kumimoji="0" lang="zh-CN" altLang="en-US" sz="2000" b="1"/>
          </a:p>
        </p:txBody>
      </p:sp>
      <p:sp>
        <p:nvSpPr>
          <p:cNvPr id="85003" name="Text Box 12"/>
          <p:cNvSpPr txBox="1">
            <a:spLocks noChangeArrowheads="1"/>
          </p:cNvSpPr>
          <p:nvPr/>
        </p:nvSpPr>
        <p:spPr bwMode="auto">
          <a:xfrm>
            <a:off x="5029200" y="13716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语义规则</a:t>
            </a:r>
            <a:endParaRPr kumimoji="0" lang="zh-CN" altLang="en-US" sz="2000" b="1"/>
          </a:p>
        </p:txBody>
      </p:sp>
      <p:sp>
        <p:nvSpPr>
          <p:cNvPr id="85004" name="Text Box 13"/>
          <p:cNvSpPr txBox="1">
            <a:spLocks noChangeArrowheads="1"/>
          </p:cNvSpPr>
          <p:nvPr/>
        </p:nvSpPr>
        <p:spPr bwMode="ltGray">
          <a:xfrm>
            <a:off x="6629400" y="1981200"/>
            <a:ext cx="1981200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综合属性</a:t>
            </a:r>
            <a:r>
              <a:rPr lang="en-US" altLang="zh-CN" sz="2000" dirty="0">
                <a:solidFill>
                  <a:srgbClr val="FF3300"/>
                </a:solidFill>
              </a:rPr>
              <a:t>s</a:t>
            </a:r>
            <a:r>
              <a:rPr lang="zh-CN" altLang="en-US" sz="2000" dirty="0">
                <a:solidFill>
                  <a:srgbClr val="FF3300"/>
                </a:solidFill>
              </a:rPr>
              <a:t>、</a:t>
            </a:r>
            <a:r>
              <a:rPr lang="en-US" altLang="zh-CN" sz="2000" dirty="0" err="1">
                <a:solidFill>
                  <a:srgbClr val="FF3300"/>
                </a:solidFill>
              </a:rPr>
              <a:t>ht</a:t>
            </a:r>
            <a:r>
              <a:rPr lang="zh-CN" altLang="en-US" sz="2000" dirty="0">
                <a:solidFill>
                  <a:srgbClr val="FF3300"/>
                </a:solidFill>
              </a:rPr>
              <a:t>保存在栈中</a:t>
            </a:r>
            <a:endParaRPr lang="zh-CN" altLang="en-US" sz="2000" dirty="0">
              <a:solidFill>
                <a:srgbClr val="FF3300"/>
              </a:solidFill>
            </a:endParaRPr>
          </a:p>
          <a:p>
            <a:pPr algn="ctr" eaLnBrk="1" hangingPunct="1">
              <a:lnSpc>
                <a:spcPct val="8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继承属性</a:t>
            </a:r>
            <a:r>
              <a:rPr lang="en-US" altLang="zh-CN" sz="2000" dirty="0" err="1">
                <a:solidFill>
                  <a:srgbClr val="FF3300"/>
                </a:solidFill>
              </a:rPr>
              <a:t>ps</a:t>
            </a:r>
            <a:r>
              <a:rPr lang="zh-CN" altLang="en-US" sz="2000" dirty="0">
                <a:solidFill>
                  <a:srgbClr val="FF3300"/>
                </a:solidFill>
              </a:rPr>
              <a:t>不</a:t>
            </a:r>
            <a:br>
              <a:rPr lang="zh-CN" altLang="en-US" sz="2000" dirty="0">
                <a:solidFill>
                  <a:srgbClr val="FF3300"/>
                </a:solidFill>
              </a:rPr>
            </a:br>
            <a:r>
              <a:rPr lang="zh-CN" altLang="en-US" sz="2000" dirty="0">
                <a:solidFill>
                  <a:srgbClr val="FF3300"/>
                </a:solidFill>
              </a:rPr>
              <a:t>保存</a:t>
            </a:r>
            <a:endParaRPr lang="zh-CN" altLang="en-US" sz="2000" dirty="0">
              <a:solidFill>
                <a:srgbClr val="FF3300"/>
              </a:solidFill>
            </a:endParaRPr>
          </a:p>
        </p:txBody>
      </p:sp>
      <p:sp>
        <p:nvSpPr>
          <p:cNvPr id="85005" name="Line 14"/>
          <p:cNvSpPr>
            <a:spLocks noChangeShapeType="1"/>
          </p:cNvSpPr>
          <p:nvPr/>
        </p:nvSpPr>
        <p:spPr bwMode="ltGray">
          <a:xfrm flipH="1" flipV="1">
            <a:off x="5029200" y="2057400"/>
            <a:ext cx="19050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6" name="Line 15"/>
          <p:cNvSpPr>
            <a:spLocks noChangeShapeType="1"/>
          </p:cNvSpPr>
          <p:nvPr/>
        </p:nvSpPr>
        <p:spPr bwMode="ltGray">
          <a:xfrm flipH="1" flipV="1">
            <a:off x="5029200" y="2286000"/>
            <a:ext cx="19050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7" name="Freeform 16"/>
          <p:cNvSpPr/>
          <p:nvPr/>
        </p:nvSpPr>
        <p:spPr bwMode="ltGray">
          <a:xfrm>
            <a:off x="4178300" y="2590800"/>
            <a:ext cx="3292475" cy="2819400"/>
          </a:xfrm>
          <a:custGeom>
            <a:avLst/>
            <a:gdLst>
              <a:gd name="T0" fmla="*/ 2147483646 w 2074"/>
              <a:gd name="T1" fmla="*/ 0 h 2222"/>
              <a:gd name="T2" fmla="*/ 2147483646 w 2074"/>
              <a:gd name="T3" fmla="*/ 2147483646 h 2222"/>
              <a:gd name="T4" fmla="*/ 745966250 w 2074"/>
              <a:gd name="T5" fmla="*/ 2147483646 h 2222"/>
              <a:gd name="T6" fmla="*/ 141128750 w 2074"/>
              <a:gd name="T7" fmla="*/ 2147483646 h 22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74" h="2222">
                <a:moveTo>
                  <a:pt x="1736" y="0"/>
                </a:moveTo>
                <a:cubicBezTo>
                  <a:pt x="1752" y="314"/>
                  <a:pt x="2074" y="1550"/>
                  <a:pt x="1834" y="1886"/>
                </a:cubicBezTo>
                <a:cubicBezTo>
                  <a:pt x="1594" y="2222"/>
                  <a:pt x="592" y="1978"/>
                  <a:pt x="296" y="2016"/>
                </a:cubicBezTo>
                <a:cubicBezTo>
                  <a:pt x="0" y="2054"/>
                  <a:pt x="28" y="2072"/>
                  <a:pt x="56" y="211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Freeform 17"/>
          <p:cNvSpPr/>
          <p:nvPr/>
        </p:nvSpPr>
        <p:spPr bwMode="ltGray">
          <a:xfrm>
            <a:off x="4143375" y="4087813"/>
            <a:ext cx="3248025" cy="1474787"/>
          </a:xfrm>
          <a:custGeom>
            <a:avLst/>
            <a:gdLst>
              <a:gd name="T0" fmla="*/ 2147483646 w 2046"/>
              <a:gd name="T1" fmla="*/ 0 h 785"/>
              <a:gd name="T2" fmla="*/ 2147483646 w 2046"/>
              <a:gd name="T3" fmla="*/ 2147483646 h 785"/>
              <a:gd name="T4" fmla="*/ 730845313 w 2046"/>
              <a:gd name="T5" fmla="*/ 2147483646 h 785"/>
              <a:gd name="T6" fmla="*/ 80645000 w 2046"/>
              <a:gd name="T7" fmla="*/ 2147483646 h 78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46" h="785">
                <a:moveTo>
                  <a:pt x="1947" y="0"/>
                </a:moveTo>
                <a:cubicBezTo>
                  <a:pt x="1918" y="102"/>
                  <a:pt x="2046" y="496"/>
                  <a:pt x="1770" y="611"/>
                </a:cubicBezTo>
                <a:cubicBezTo>
                  <a:pt x="1494" y="726"/>
                  <a:pt x="580" y="662"/>
                  <a:pt x="290" y="691"/>
                </a:cubicBezTo>
                <a:cubicBezTo>
                  <a:pt x="0" y="720"/>
                  <a:pt x="86" y="766"/>
                  <a:pt x="32" y="785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5.19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86019" name="Line 3"/>
          <p:cNvSpPr>
            <a:spLocks noChangeShapeType="1"/>
          </p:cNvSpPr>
          <p:nvPr/>
        </p:nvSpPr>
        <p:spPr bwMode="auto">
          <a:xfrm>
            <a:off x="1066800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>
            <a:off x="1066800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Line 6"/>
          <p:cNvSpPr>
            <a:spLocks noChangeShapeType="1"/>
          </p:cNvSpPr>
          <p:nvPr/>
        </p:nvSpPr>
        <p:spPr bwMode="auto">
          <a:xfrm>
            <a:off x="1066800" y="4419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Line 7"/>
          <p:cNvSpPr>
            <a:spLocks noChangeShapeType="1"/>
          </p:cNvSpPr>
          <p:nvPr/>
        </p:nvSpPr>
        <p:spPr bwMode="auto">
          <a:xfrm>
            <a:off x="3505200" y="13716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1066800" y="1828800"/>
            <a:ext cx="7086600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S  LB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[top];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L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10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MB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max(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[top-2],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[top])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000" dirty="0">
                <a:sym typeface="Symbol" panose="05050102010706020507" pitchFamily="18" charset="2"/>
              </a:rPr>
              <a:t>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ym typeface="Symbol" panose="05050102010706020507" pitchFamily="18" charset="2"/>
              </a:rPr>
              <a:t>N B</a:t>
            </a:r>
            <a:r>
              <a:rPr kumimoji="0" lang="en-US" altLang="zh-CN" sz="2000" baseline="-25000" dirty="0">
                <a:sym typeface="Symbol" panose="05050102010706020507" pitchFamily="18" charset="2"/>
              </a:rPr>
              <a:t>2</a:t>
            </a:r>
            <a:r>
              <a:rPr kumimoji="0" lang="en-US" altLang="zh-CN" sz="2000" dirty="0">
                <a:sym typeface="Symbol" panose="05050102010706020507" pitchFamily="18" charset="2"/>
              </a:rPr>
              <a:t>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disp</a:t>
            </a:r>
            <a:r>
              <a:rPr kumimoji="0" lang="en-US" altLang="zh-CN" sz="2000" dirty="0">
                <a:sym typeface="Symbol" panose="05050102010706020507" pitchFamily="18" charset="2"/>
              </a:rPr>
              <a:t>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[top-3],</a:t>
            </a:r>
            <a:br>
              <a:rPr kumimoji="0" lang="en-US" altLang="zh-CN" sz="2000" dirty="0">
                <a:sym typeface="Symbol" panose="05050102010706020507" pitchFamily="18" charset="2"/>
              </a:rPr>
            </a:br>
            <a:r>
              <a:rPr kumimoji="0" lang="en-US" altLang="zh-CN" sz="2000" dirty="0">
                <a:sym typeface="Symbol" panose="05050102010706020507" pitchFamily="18" charset="2"/>
              </a:rPr>
              <a:t>		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[top])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B  </a:t>
            </a:r>
            <a:r>
              <a:rPr kumimoji="0" lang="en-US" altLang="zh-CN" sz="2000" b="1" dirty="0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[top]*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[top-1]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M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[top-1]</a:t>
            </a:r>
            <a:endParaRPr kumimoji="0" lang="en-US" altLang="zh-CN" sz="20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dirty="0">
                <a:sym typeface="Symbol" panose="05050102010706020507" pitchFamily="18" charset="2"/>
              </a:rPr>
              <a:t>N 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ym typeface="Symbol" panose="05050102010706020507" pitchFamily="18" charset="2"/>
              </a:rPr>
              <a:t>			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ntop</a:t>
            </a:r>
            <a:r>
              <a:rPr kumimoji="0" lang="en-US" altLang="zh-CN" sz="2000" dirty="0">
                <a:sym typeface="Symbol" panose="05050102010706020507" pitchFamily="18" charset="2"/>
              </a:rPr>
              <a:t>] = shrink(</a:t>
            </a:r>
            <a:r>
              <a:rPr kumimoji="0" lang="en-US" altLang="zh-CN" sz="2000" dirty="0" err="1">
                <a:sym typeface="Symbol" panose="05050102010706020507" pitchFamily="18" charset="2"/>
              </a:rPr>
              <a:t>val</a:t>
            </a:r>
            <a:r>
              <a:rPr kumimoji="0" lang="en-US" altLang="zh-CN" sz="2000" dirty="0">
                <a:sym typeface="Symbol" panose="05050102010706020507" pitchFamily="18" charset="2"/>
              </a:rPr>
              <a:t>[top-2])</a:t>
            </a:r>
            <a:endParaRPr kumimoji="0" lang="en-US" altLang="zh-CN" sz="2000" dirty="0">
              <a:sym typeface="Symbol" panose="05050102010706020507" pitchFamily="18" charset="2"/>
            </a:endParaRP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5867400" y="17526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86026" name="Text Box 10"/>
          <p:cNvSpPr txBox="1">
            <a:spLocks noChangeArrowheads="1"/>
          </p:cNvSpPr>
          <p:nvPr/>
        </p:nvSpPr>
        <p:spPr bwMode="auto">
          <a:xfrm>
            <a:off x="1447800" y="13716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  <a:endParaRPr kumimoji="0" lang="zh-CN" altLang="en-US" sz="2000" b="1"/>
          </a:p>
        </p:txBody>
      </p:sp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5029200" y="13716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代码片断</a:t>
            </a:r>
            <a:endParaRPr kumimoji="0" lang="zh-CN" altLang="en-US" sz="2000" b="1"/>
          </a:p>
        </p:txBody>
      </p:sp>
      <p:sp>
        <p:nvSpPr>
          <p:cNvPr id="86028" name="Freeform 13"/>
          <p:cNvSpPr/>
          <p:nvPr/>
        </p:nvSpPr>
        <p:spPr bwMode="ltGray">
          <a:xfrm>
            <a:off x="3048000" y="3962400"/>
            <a:ext cx="917575" cy="609600"/>
          </a:xfrm>
          <a:custGeom>
            <a:avLst/>
            <a:gdLst>
              <a:gd name="T0" fmla="*/ 0 w 578"/>
              <a:gd name="T1" fmla="*/ 613221386 h 606"/>
              <a:gd name="T2" fmla="*/ 315020325 w 578"/>
              <a:gd name="T3" fmla="*/ 102203564 h 606"/>
              <a:gd name="T4" fmla="*/ 1456650313 w 578"/>
              <a:gd name="T5" fmla="*/ 1011976 h 60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8" h="606">
                <a:moveTo>
                  <a:pt x="0" y="606"/>
                </a:moveTo>
                <a:cubicBezTo>
                  <a:pt x="19" y="522"/>
                  <a:pt x="29" y="202"/>
                  <a:pt x="125" y="101"/>
                </a:cubicBezTo>
                <a:cubicBezTo>
                  <a:pt x="221" y="0"/>
                  <a:pt x="484" y="22"/>
                  <a:pt x="578" y="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Freeform 15"/>
          <p:cNvSpPr/>
          <p:nvPr/>
        </p:nvSpPr>
        <p:spPr bwMode="ltGray">
          <a:xfrm>
            <a:off x="6553200" y="3657600"/>
            <a:ext cx="865188" cy="914400"/>
          </a:xfrm>
          <a:custGeom>
            <a:avLst/>
            <a:gdLst>
              <a:gd name="T0" fmla="*/ 0 w 545"/>
              <a:gd name="T1" fmla="*/ 1240545045 h 674"/>
              <a:gd name="T2" fmla="*/ 1249998222 w 545"/>
              <a:gd name="T3" fmla="*/ 620272522 h 674"/>
              <a:gd name="T4" fmla="*/ 735886050 w 545"/>
              <a:gd name="T5" fmla="*/ 0 h 67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5" h="674">
                <a:moveTo>
                  <a:pt x="0" y="674"/>
                </a:moveTo>
                <a:cubicBezTo>
                  <a:pt x="84" y="619"/>
                  <a:pt x="447" y="449"/>
                  <a:pt x="496" y="337"/>
                </a:cubicBezTo>
                <a:cubicBezTo>
                  <a:pt x="545" y="225"/>
                  <a:pt x="334" y="70"/>
                  <a:pt x="292" y="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Text Box 116"/>
          <p:cNvSpPr txBox="1">
            <a:spLocks noChangeArrowheads="1"/>
          </p:cNvSpPr>
          <p:nvPr/>
        </p:nvSpPr>
        <p:spPr bwMode="ltGray">
          <a:xfrm>
            <a:off x="1676400" y="4495800"/>
            <a:ext cx="2438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M.s=M.i(B.ps, L.s)</a:t>
            </a:r>
            <a:b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为什么从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top-1</a:t>
            </a: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获得？</a:t>
            </a:r>
            <a:endParaRPr lang="zh-CN" altLang="en-US" sz="20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86031" name="Text Box 120"/>
          <p:cNvSpPr txBox="1">
            <a:spLocks noChangeArrowheads="1"/>
          </p:cNvSpPr>
          <p:nvPr/>
        </p:nvSpPr>
        <p:spPr bwMode="ltGray">
          <a:xfrm>
            <a:off x="4876800" y="4479925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B.ht=text.h*B.ps</a:t>
            </a:r>
            <a:b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</a:b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B.ps</a:t>
            </a:r>
            <a:r>
              <a:rPr lang="zh-CN" altLang="en-US" sz="2000" dirty="0">
                <a:solidFill>
                  <a:schemeClr val="hlink"/>
                </a:solidFill>
                <a:latin typeface="Tahoma" panose="020B0604030504040204" pitchFamily="34" charset="0"/>
              </a:rPr>
              <a:t>为什么总可以从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top-1</a:t>
            </a:r>
            <a:r>
              <a:rPr lang="zh-CN" altLang="en-US" sz="2000" dirty="0">
                <a:solidFill>
                  <a:schemeClr val="hlink"/>
                </a:solidFill>
                <a:latin typeface="Tahoma" panose="020B0604030504040204" pitchFamily="34" charset="0"/>
              </a:rPr>
              <a:t>获得？</a:t>
            </a:r>
            <a:endParaRPr lang="zh-CN" altLang="en-US" sz="20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78104" y="1779527"/>
            <a:ext cx="21419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S.ht=B</a:t>
            </a:r>
            <a:r>
              <a:rPr lang="en-US" altLang="zh-CN" sz="2000" dirty="0">
                <a:solidFill>
                  <a:schemeClr val="hlink"/>
                </a:solidFill>
              </a:rPr>
              <a:t>.ht</a:t>
            </a:r>
            <a:endParaRPr lang="zh-CN" altLang="en-US" sz="20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666735" y="2330704"/>
            <a:ext cx="21419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B.ht=max(B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000" dirty="0">
                <a:solidFill>
                  <a:schemeClr val="hlink"/>
                </a:solidFill>
              </a:rPr>
              <a:t>.ht,</a:t>
            </a:r>
            <a:br>
              <a:rPr lang="en-US" altLang="zh-CN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	 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000" dirty="0">
                <a:solidFill>
                  <a:schemeClr val="hlink"/>
                </a:solidFill>
              </a:rPr>
              <a:t>.ht)</a:t>
            </a:r>
            <a:endParaRPr lang="zh-CN" altLang="en-US" sz="20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629400" y="2907036"/>
            <a:ext cx="21419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B.ht=</a:t>
            </a:r>
            <a:r>
              <a:rPr lang="en-US" altLang="zh-CN" sz="2000" dirty="0" err="1">
                <a:solidFill>
                  <a:schemeClr val="hlink"/>
                </a:solidFill>
                <a:latin typeface="Tahoma" panose="020B0604030504040204" pitchFamily="34" charset="0"/>
              </a:rPr>
              <a:t>disp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(B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000" dirty="0">
                <a:solidFill>
                  <a:schemeClr val="hlink"/>
                </a:solidFill>
              </a:rPr>
              <a:t>.ht,</a:t>
            </a:r>
            <a:br>
              <a:rPr lang="en-US" altLang="zh-CN" sz="2000" dirty="0">
                <a:solidFill>
                  <a:schemeClr val="hlink"/>
                </a:solidFill>
              </a:rPr>
            </a:br>
            <a:r>
              <a:rPr lang="en-US" altLang="zh-CN" sz="2000" dirty="0">
                <a:solidFill>
                  <a:schemeClr val="hlink"/>
                </a:solidFill>
              </a:rPr>
              <a:t>	 </a:t>
            </a:r>
            <a:r>
              <a:rPr lang="en-US" altLang="zh-CN" sz="2000" dirty="0">
                <a:solidFill>
                  <a:schemeClr val="hlink"/>
                </a:solidFill>
                <a:latin typeface="Tahoma" panose="020B0604030504040204" pitchFamily="34" charset="0"/>
              </a:rPr>
              <a:t>B</a:t>
            </a:r>
            <a:r>
              <a:rPr lang="en-US" altLang="zh-CN" sz="2000" baseline="-25000" dirty="0">
                <a:solidFill>
                  <a:schemeClr val="hlink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000" dirty="0">
                <a:solidFill>
                  <a:schemeClr val="hlink"/>
                </a:solidFill>
              </a:rPr>
              <a:t>.ht)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5.3</a:t>
            </a:r>
            <a:r>
              <a:rPr lang="zh-CN" altLang="en-US"/>
              <a:t>：自底向上翻译</a:t>
            </a:r>
            <a:endParaRPr lang="zh-CN" alt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输入：</a:t>
            </a:r>
            <a:r>
              <a:rPr lang="en-US" altLang="zh-CN" sz="2400" dirty="0"/>
              <a:t>LL(1)</a:t>
            </a:r>
            <a:r>
              <a:rPr lang="zh-CN" altLang="en-US" sz="2400" dirty="0"/>
              <a:t>文法及</a:t>
            </a:r>
            <a:r>
              <a:rPr lang="en-US" altLang="zh-CN" sz="2400" dirty="0"/>
              <a:t>L-</a:t>
            </a:r>
            <a:r>
              <a:rPr lang="zh-CN" altLang="en-US" sz="2400" dirty="0"/>
              <a:t>属性定义</a:t>
            </a:r>
            <a:endParaRPr lang="zh-CN" altLang="en-US" sz="24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输出：一个分析器，可在分析栈中计算属性值</a:t>
            </a:r>
            <a:endParaRPr lang="zh-CN" altLang="en-US" sz="24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方法：</a:t>
            </a:r>
            <a:endParaRPr lang="zh-CN" altLang="en-US" sz="2400" dirty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假定每个</a:t>
            </a:r>
            <a:r>
              <a:rPr lang="en-US" altLang="zh-CN" sz="2400" dirty="0"/>
              <a:t>NT A</a:t>
            </a:r>
            <a:r>
              <a:rPr lang="zh-CN" altLang="en-US" sz="2400" dirty="0"/>
              <a:t>有一个继承属性</a:t>
            </a:r>
            <a:r>
              <a:rPr lang="en-US" altLang="zh-CN" sz="2400" dirty="0" err="1"/>
              <a:t>A.i</a:t>
            </a:r>
            <a:r>
              <a:rPr lang="zh-CN" altLang="en-US" sz="2400" dirty="0"/>
              <a:t>，每个语法符号</a:t>
            </a:r>
            <a:r>
              <a:rPr lang="en-US" altLang="zh-CN" sz="2400" dirty="0"/>
              <a:t>X</a:t>
            </a:r>
            <a:r>
              <a:rPr lang="zh-CN" altLang="en-US" sz="2400" dirty="0"/>
              <a:t>有一个综合属性</a:t>
            </a:r>
            <a:r>
              <a:rPr lang="en-US" altLang="zh-CN" sz="2400" dirty="0"/>
              <a:t>X.s</a:t>
            </a:r>
            <a:endParaRPr lang="en-US" altLang="zh-CN" sz="2400" dirty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若</a:t>
            </a:r>
            <a:r>
              <a:rPr lang="en-US" altLang="zh-CN" sz="2400" dirty="0"/>
              <a:t>X</a:t>
            </a:r>
            <a:r>
              <a:rPr lang="zh-CN" altLang="en-US" sz="2400" dirty="0"/>
              <a:t>为</a:t>
            </a:r>
            <a:r>
              <a:rPr lang="en-US" altLang="zh-CN" sz="2400" dirty="0"/>
              <a:t>T</a:t>
            </a:r>
            <a:r>
              <a:rPr lang="zh-CN" altLang="en-US" sz="2400" dirty="0"/>
              <a:t>，</a:t>
            </a:r>
            <a:r>
              <a:rPr lang="en-US" altLang="zh-CN" sz="2400" dirty="0"/>
              <a:t>X.s</a:t>
            </a:r>
            <a:r>
              <a:rPr lang="zh-CN" altLang="en-US" sz="2400" dirty="0"/>
              <a:t>为词法值，保存在属性栈</a:t>
            </a:r>
            <a:r>
              <a:rPr lang="en-US" altLang="zh-CN" sz="2400" dirty="0" err="1"/>
              <a:t>val</a:t>
            </a:r>
            <a:r>
              <a:rPr lang="zh-CN" altLang="en-US" sz="2400" dirty="0"/>
              <a:t>中</a:t>
            </a:r>
            <a:endParaRPr lang="zh-CN" altLang="en-US" sz="2400" dirty="0"/>
          </a:p>
          <a:p>
            <a:pPr marL="533400" indent="-533400" eaLnBrk="1" hangingPunct="1">
              <a:spcBef>
                <a:spcPct val="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 dirty="0"/>
              <a:t>对每个产生式</a:t>
            </a:r>
            <a:r>
              <a:rPr lang="en-US" altLang="zh-CN" sz="2400" dirty="0"/>
              <a:t>A</a:t>
            </a:r>
            <a:r>
              <a:rPr kumimoji="0" lang="en-US" altLang="zh-CN" sz="2400" dirty="0">
                <a:sym typeface="Symbol" panose="05050102010706020507" pitchFamily="18" charset="2"/>
              </a:rPr>
              <a:t>X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n</a:t>
            </a:r>
            <a:r>
              <a:rPr kumimoji="0" lang="zh-CN" altLang="en-US" sz="2400" dirty="0">
                <a:sym typeface="Symbol" panose="05050102010706020507" pitchFamily="18" charset="2"/>
              </a:rPr>
              <a:t>，引入</a:t>
            </a:r>
            <a:r>
              <a:rPr kumimoji="0" lang="en-US" altLang="zh-CN" sz="2400" dirty="0">
                <a:sym typeface="Symbol" panose="05050102010706020507" pitchFamily="18" charset="2"/>
              </a:rPr>
              <a:t>n</a:t>
            </a:r>
            <a:r>
              <a:rPr kumimoji="0" lang="zh-CN" altLang="en-US" sz="2400" dirty="0">
                <a:sym typeface="Symbol" panose="05050102010706020507" pitchFamily="18" charset="2"/>
              </a:rPr>
              <a:t>个标记</a:t>
            </a:r>
            <a:r>
              <a:rPr kumimoji="0" lang="en-US" altLang="zh-CN" sz="2400" dirty="0">
                <a:sym typeface="Symbol" panose="05050102010706020507" pitchFamily="18" charset="2"/>
              </a:rPr>
              <a:t>NT M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, …, M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n</a:t>
            </a:r>
            <a:r>
              <a:rPr kumimoji="0" lang="en-US" altLang="zh-CN" sz="2400" dirty="0">
                <a:sym typeface="Wingdings" panose="05000000000000000000" pitchFamily="2" charset="2"/>
              </a:rPr>
              <a:t></a:t>
            </a:r>
            <a:r>
              <a:rPr kumimoji="0" lang="zh-CN" altLang="en-US" sz="2400" dirty="0">
                <a:sym typeface="Symbol" panose="05050102010706020507" pitchFamily="18" charset="2"/>
              </a:rPr>
              <a:t>产生式变为</a:t>
            </a:r>
            <a:r>
              <a:rPr lang="en-US" altLang="zh-CN" sz="2400" dirty="0"/>
              <a:t>A</a:t>
            </a:r>
            <a:r>
              <a:rPr kumimoji="0" lang="en-US" altLang="zh-CN" sz="2400" dirty="0">
                <a:sym typeface="Symbol" panose="05050102010706020507" pitchFamily="18" charset="2"/>
              </a:rPr>
              <a:t>M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>
                <a:sym typeface="Symbol" panose="05050102010706020507" pitchFamily="18" charset="2"/>
              </a:rPr>
              <a:t>1</a:t>
            </a:r>
            <a:r>
              <a:rPr kumimoji="0" lang="en-US" altLang="zh-CN" sz="2400" dirty="0">
                <a:sym typeface="Symbol" panose="05050102010706020507" pitchFamily="18" charset="2"/>
              </a:rPr>
              <a:t>…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n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n</a:t>
            </a:r>
            <a:endParaRPr kumimoji="0" lang="en-US" altLang="zh-CN" sz="2400" baseline="-25000" dirty="0">
              <a:sym typeface="Symbol" panose="05050102010706020507" pitchFamily="18" charset="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 dirty="0">
                <a:sym typeface="Symbol" panose="05050102010706020507" pitchFamily="18" charset="2"/>
              </a:rPr>
              <a:t>综合属性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.s</a:t>
            </a:r>
            <a:r>
              <a:rPr kumimoji="0" lang="zh-CN" altLang="en-US" sz="2400" dirty="0">
                <a:sym typeface="Symbol" panose="05050102010706020507" pitchFamily="18" charset="2"/>
              </a:rPr>
              <a:t>保存在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val</a:t>
            </a:r>
            <a:r>
              <a:rPr kumimoji="0" lang="zh-CN" altLang="en-US" sz="2400" dirty="0">
                <a:sym typeface="Symbol" panose="05050102010706020507" pitchFamily="18" charset="2"/>
              </a:rPr>
              <a:t>栈，与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zh-CN" altLang="en-US" sz="2400" dirty="0">
                <a:sym typeface="Symbol" panose="05050102010706020507" pitchFamily="18" charset="2"/>
              </a:rPr>
              <a:t>相关联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 dirty="0">
                <a:sym typeface="Symbol" panose="05050102010706020507" pitchFamily="18" charset="2"/>
              </a:rPr>
              <a:t>继承属性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X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.i</a:t>
            </a:r>
            <a:r>
              <a:rPr kumimoji="0" lang="zh-CN" altLang="en-US" sz="2400" dirty="0">
                <a:sym typeface="Symbol" panose="05050102010706020507" pitchFamily="18" charset="2"/>
              </a:rPr>
              <a:t>（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</a:t>
            </a:r>
            <a:r>
              <a:rPr kumimoji="0" lang="en-US" altLang="zh-CN" sz="2400" dirty="0">
                <a:sym typeface="Symbol" panose="05050102010706020507" pitchFamily="18" charset="2"/>
              </a:rPr>
              <a:t>s</a:t>
            </a:r>
            <a:r>
              <a:rPr kumimoji="0" lang="zh-CN" altLang="en-US" sz="2400" dirty="0">
                <a:sym typeface="Symbol" panose="05050102010706020507" pitchFamily="18" charset="2"/>
              </a:rPr>
              <a:t>）也保存在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val</a:t>
            </a:r>
            <a:r>
              <a:rPr kumimoji="0" lang="zh-CN" altLang="en-US" sz="2400" dirty="0">
                <a:sym typeface="Symbol" panose="05050102010706020507" pitchFamily="18" charset="2"/>
              </a:rPr>
              <a:t>栈中，但是作为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M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</a:t>
            </a:r>
            <a:r>
              <a:rPr kumimoji="0" lang="en-US" altLang="zh-CN" sz="2400" dirty="0">
                <a:sym typeface="Symbol" panose="05050102010706020507" pitchFamily="18" charset="2"/>
              </a:rPr>
              <a:t>s</a:t>
            </a:r>
            <a:r>
              <a:rPr kumimoji="0" lang="zh-CN" altLang="en-US" sz="2400" dirty="0">
                <a:sym typeface="Symbol" panose="05050102010706020507" pitchFamily="18" charset="2"/>
              </a:rPr>
              <a:t>来保存的</a:t>
            </a:r>
            <a:endParaRPr kumimoji="0" lang="zh-CN" altLang="en-US" sz="2400" baseline="-25000" dirty="0">
              <a:sym typeface="Symbol" panose="05050102010706020507" pitchFamily="18" charset="2"/>
            </a:endParaRP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ltGray">
          <a:xfrm>
            <a:off x="76200" y="3200400"/>
            <a:ext cx="1066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FF3300"/>
                </a:solidFill>
              </a:rPr>
              <a:t>分析</a:t>
            </a:r>
            <a:r>
              <a:rPr lang="en-US" altLang="zh-CN" sz="2000">
                <a:solidFill>
                  <a:srgbClr val="FF3300"/>
                </a:solidFill>
              </a:rPr>
              <a:t>X</a:t>
            </a:r>
            <a:r>
              <a:rPr lang="en-US" altLang="zh-CN" sz="2000" baseline="-25000">
                <a:solidFill>
                  <a:srgbClr val="FF3300"/>
                </a:solidFill>
              </a:rPr>
              <a:t>j</a:t>
            </a:r>
            <a:r>
              <a:rPr lang="zh-CN" altLang="en-US" sz="2000">
                <a:solidFill>
                  <a:srgbClr val="FF3300"/>
                </a:solidFill>
              </a:rPr>
              <a:t>之前，</a:t>
            </a:r>
            <a:r>
              <a:rPr lang="en-US" altLang="zh-CN" sz="2000">
                <a:solidFill>
                  <a:srgbClr val="FF3300"/>
                </a:solidFill>
              </a:rPr>
              <a:t>X</a:t>
            </a:r>
            <a:r>
              <a:rPr lang="en-US" altLang="zh-CN" sz="2000" baseline="-25000">
                <a:solidFill>
                  <a:srgbClr val="FF3300"/>
                </a:solidFill>
              </a:rPr>
              <a:t>j</a:t>
            </a:r>
            <a:r>
              <a:rPr lang="en-US" altLang="zh-CN" sz="2000">
                <a:solidFill>
                  <a:srgbClr val="FF3300"/>
                </a:solidFill>
              </a:rPr>
              <a:t>.i</a:t>
            </a:r>
            <a:r>
              <a:rPr lang="zh-CN" altLang="en-US" sz="2000">
                <a:solidFill>
                  <a:srgbClr val="FF3300"/>
                </a:solidFill>
              </a:rPr>
              <a:t>已经在栈中</a:t>
            </a:r>
            <a:endParaRPr lang="zh-CN" altLang="en-US" sz="2000">
              <a:solidFill>
                <a:srgbClr val="FF3300"/>
              </a:solidFill>
            </a:endParaRPr>
          </a:p>
        </p:txBody>
      </p:sp>
      <p:sp>
        <p:nvSpPr>
          <p:cNvPr id="87045" name="Freeform 5"/>
          <p:cNvSpPr/>
          <p:nvPr/>
        </p:nvSpPr>
        <p:spPr bwMode="ltGray">
          <a:xfrm>
            <a:off x="482600" y="4419600"/>
            <a:ext cx="889000" cy="990600"/>
          </a:xfrm>
          <a:custGeom>
            <a:avLst/>
            <a:gdLst>
              <a:gd name="T0" fmla="*/ 201612500 w 560"/>
              <a:gd name="T1" fmla="*/ 0 h 624"/>
              <a:gd name="T2" fmla="*/ 201612500 w 560"/>
              <a:gd name="T3" fmla="*/ 967740000 h 624"/>
              <a:gd name="T4" fmla="*/ 1411287500 w 560"/>
              <a:gd name="T5" fmla="*/ 157257750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0" h="624">
                <a:moveTo>
                  <a:pt x="80" y="0"/>
                </a:moveTo>
                <a:cubicBezTo>
                  <a:pt x="40" y="140"/>
                  <a:pt x="0" y="280"/>
                  <a:pt x="80" y="384"/>
                </a:cubicBezTo>
                <a:cubicBezTo>
                  <a:pt x="160" y="488"/>
                  <a:pt x="360" y="556"/>
                  <a:pt x="560" y="624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5.3</a:t>
            </a:r>
            <a:r>
              <a:rPr lang="zh-CN" altLang="en-US"/>
              <a:t>：（续）</a:t>
            </a:r>
            <a:endParaRPr lang="zh-CN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 startAt="6"/>
            </a:pPr>
            <a:r>
              <a:rPr kumimoji="0" lang="zh-CN" altLang="en-US" sz="2400" dirty="0"/>
              <a:t>分析过程中，</a:t>
            </a:r>
            <a:r>
              <a:rPr kumimoji="0" lang="en-US" altLang="zh-CN" sz="2400" dirty="0" err="1"/>
              <a:t>A.i</a:t>
            </a:r>
            <a:r>
              <a:rPr kumimoji="0" lang="zh-CN" altLang="en-US" sz="2400" dirty="0"/>
              <a:t>在栈中始终紧挨在</a:t>
            </a:r>
            <a:r>
              <a:rPr kumimoji="0" lang="en-US" altLang="zh-CN" sz="2400" dirty="0"/>
              <a:t>M</a:t>
            </a:r>
            <a:r>
              <a:rPr kumimoji="0" lang="en-US" altLang="zh-CN" sz="2400" baseline="-25000" dirty="0"/>
              <a:t>1</a:t>
            </a:r>
            <a:r>
              <a:rPr kumimoji="0" lang="zh-CN" altLang="en-US" sz="2400" dirty="0"/>
              <a:t>之下。</a:t>
            </a:r>
            <a:endParaRPr kumimoji="0" lang="zh-CN" altLang="en-US" sz="2400" dirty="0"/>
          </a:p>
          <a:p>
            <a:pPr marL="533400" indent="-533400" eaLnBrk="1" hangingPunct="1">
              <a:buFont typeface="Wingdings" panose="05000000000000000000" pitchFamily="2" charset="2"/>
              <a:buAutoNum type="arabicPeriod" startAt="6"/>
            </a:pPr>
            <a:r>
              <a:rPr kumimoji="0" lang="zh-CN" altLang="en-US" sz="2400" dirty="0"/>
              <a:t>考虑分析过程中的两种情况：</a:t>
            </a:r>
            <a:endParaRPr kumimoji="0" lang="zh-CN" altLang="en-US" sz="24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/>
              <a:t>一、归约为</a:t>
            </a:r>
            <a:r>
              <a:rPr kumimoji="0" lang="en-US" altLang="zh-CN" sz="2400" dirty="0" err="1"/>
              <a:t>M</a:t>
            </a:r>
            <a:r>
              <a:rPr kumimoji="0" lang="en-US" altLang="zh-CN" sz="2400" baseline="-25000" dirty="0" err="1"/>
              <a:t>j</a:t>
            </a:r>
            <a:endParaRPr kumimoji="0" lang="en-US" altLang="zh-CN" sz="2400" dirty="0"/>
          </a:p>
          <a:p>
            <a:pPr marL="1028700" lvl="1" indent="-457200" eaLnBrk="1" hangingPunct="1">
              <a:spcBef>
                <a:spcPct val="0"/>
              </a:spcBef>
            </a:pPr>
            <a:r>
              <a:rPr kumimoji="0" lang="zh-CN" altLang="en-US" sz="2000" dirty="0"/>
              <a:t>可知它所属产生式</a:t>
            </a:r>
            <a:r>
              <a:rPr kumimoji="0" lang="zh-CN" altLang="en-US" sz="2000" dirty="0">
                <a:sym typeface="Wingdings" panose="05000000000000000000" pitchFamily="2" charset="2"/>
              </a:rPr>
              <a:t></a:t>
            </a:r>
            <a:r>
              <a:rPr kumimoji="0" lang="zh-CN" altLang="en-US" sz="2000" dirty="0"/>
              <a:t>可知计算</a:t>
            </a:r>
            <a:r>
              <a:rPr kumimoji="0" lang="en-US" altLang="zh-CN" sz="2000" dirty="0" err="1"/>
              <a:t>X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dirty="0" err="1"/>
              <a:t>.i</a:t>
            </a:r>
            <a:r>
              <a:rPr kumimoji="0" lang="zh-CN" altLang="en-US" sz="2000" dirty="0"/>
              <a:t>（</a:t>
            </a:r>
            <a:r>
              <a:rPr kumimoji="0" lang="en-US" altLang="zh-CN" sz="2000" dirty="0" err="1"/>
              <a:t>M</a:t>
            </a:r>
            <a:r>
              <a:rPr kumimoji="0" lang="en-US" altLang="zh-CN" sz="2000" baseline="-25000" dirty="0" err="1"/>
              <a:t>j</a:t>
            </a:r>
            <a:r>
              <a:rPr kumimoji="0" lang="en-US" altLang="zh-CN" sz="2000" dirty="0" err="1"/>
              <a:t>.s</a:t>
            </a:r>
            <a:r>
              <a:rPr kumimoji="0" lang="zh-CN" altLang="en-US" sz="2000" dirty="0"/>
              <a:t>）所需属性值位置</a:t>
            </a:r>
            <a:endParaRPr kumimoji="0" lang="zh-CN" altLang="en-US" sz="2000" dirty="0"/>
          </a:p>
          <a:p>
            <a:pPr marL="1028700" lvl="1" indent="-457200" eaLnBrk="1" hangingPunct="1"/>
            <a:r>
              <a:rPr kumimoji="0" lang="en-US" altLang="zh-CN" sz="2000" dirty="0" err="1"/>
              <a:t>A.i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[top-2j+2]</a:t>
            </a:r>
            <a:r>
              <a:rPr kumimoji="0" lang="zh-CN" altLang="en-US" sz="2000" dirty="0"/>
              <a:t>，</a:t>
            </a:r>
            <a:br>
              <a:rPr kumimoji="0" lang="en-US" altLang="zh-CN" sz="2000" dirty="0"/>
            </a:b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.i(M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.s)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[top-2j+3]</a:t>
            </a:r>
            <a:r>
              <a:rPr kumimoji="0" lang="zh-CN" altLang="en-US" sz="2000" dirty="0"/>
              <a:t>，</a:t>
            </a: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1</a:t>
            </a:r>
            <a:r>
              <a:rPr kumimoji="0" lang="en-US" altLang="zh-CN" sz="2000" dirty="0"/>
              <a:t>.s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[top-2j+4]</a:t>
            </a:r>
            <a:r>
              <a:rPr kumimoji="0" lang="zh-CN" altLang="en-US" sz="2000" dirty="0"/>
              <a:t>，</a:t>
            </a:r>
            <a:br>
              <a:rPr kumimoji="0" lang="en-US" altLang="zh-CN" sz="2000" dirty="0"/>
            </a:br>
            <a:r>
              <a:rPr kumimoji="0" lang="en-US" altLang="zh-CN" sz="2000" dirty="0"/>
              <a:t>…</a:t>
            </a:r>
            <a:r>
              <a:rPr kumimoji="0" lang="zh-CN" altLang="en-US" sz="2000" dirty="0"/>
              <a:t> ，</a:t>
            </a:r>
            <a:br>
              <a:rPr kumimoji="0" lang="en-US" altLang="zh-CN" sz="2000" dirty="0"/>
            </a:b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j</a:t>
            </a:r>
            <a:r>
              <a:rPr kumimoji="0" lang="en-US" altLang="zh-CN" sz="2000" dirty="0"/>
              <a:t>.i(M</a:t>
            </a:r>
            <a:r>
              <a:rPr kumimoji="0" lang="en-US" altLang="zh-CN" sz="2000" baseline="-25000" dirty="0">
                <a:sym typeface="+mn-ea"/>
              </a:rPr>
              <a:t>j-1</a:t>
            </a:r>
            <a:r>
              <a:rPr kumimoji="0" lang="en-US" altLang="zh-CN" sz="2000" dirty="0"/>
              <a:t>.s)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[top-1]</a:t>
            </a:r>
            <a:r>
              <a:rPr kumimoji="0" lang="zh-CN" altLang="en-US" sz="2000" dirty="0"/>
              <a:t>，</a:t>
            </a:r>
            <a:r>
              <a:rPr kumimoji="0" lang="en-US" altLang="zh-CN" sz="2000" dirty="0"/>
              <a:t>X</a:t>
            </a:r>
            <a:r>
              <a:rPr kumimoji="0" lang="en-US" altLang="zh-CN" sz="2000" baseline="-25000" dirty="0"/>
              <a:t>j</a:t>
            </a:r>
            <a:r>
              <a:rPr kumimoji="0" lang="en-US" altLang="zh-CN" sz="2000" dirty="0"/>
              <a:t>.s</a:t>
            </a:r>
            <a:r>
              <a:rPr kumimoji="0" lang="zh-CN" altLang="en-US" sz="2000" dirty="0"/>
              <a:t>－</a:t>
            </a:r>
            <a:r>
              <a:rPr kumimoji="0" lang="en-US" altLang="zh-CN" sz="2000" dirty="0" err="1"/>
              <a:t>val</a:t>
            </a:r>
            <a:r>
              <a:rPr kumimoji="0" lang="en-US" altLang="zh-CN" sz="2000" dirty="0"/>
              <a:t>[top]</a:t>
            </a:r>
            <a:endParaRPr kumimoji="0" lang="en-US" altLang="zh-CN" sz="20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/>
              <a:t>二、归约为其他</a:t>
            </a:r>
            <a:r>
              <a:rPr kumimoji="0" lang="en-US" altLang="zh-CN" sz="2400" dirty="0"/>
              <a:t>NT</a:t>
            </a:r>
            <a:endParaRPr kumimoji="0" lang="en-US" altLang="zh-CN" sz="2400" dirty="0"/>
          </a:p>
          <a:p>
            <a:pPr marL="1028700" lvl="1" indent="-457200" eaLnBrk="1" hangingPunct="1"/>
            <a:r>
              <a:rPr kumimoji="0" lang="zh-CN" altLang="en-US" sz="2000" dirty="0"/>
              <a:t>仅需计算</a:t>
            </a:r>
            <a:r>
              <a:rPr kumimoji="0" lang="en-US" altLang="zh-CN" sz="2000" dirty="0" err="1"/>
              <a:t>A.s</a:t>
            </a:r>
            <a:r>
              <a:rPr kumimoji="0" lang="en-US" altLang="zh-CN" sz="2000" dirty="0" err="1">
                <a:sym typeface="Wingdings" panose="05000000000000000000" pitchFamily="2" charset="2"/>
              </a:rPr>
              <a:t></a:t>
            </a:r>
            <a:r>
              <a:rPr kumimoji="0" lang="en-US" altLang="zh-CN" sz="2000" dirty="0" err="1"/>
              <a:t>A.i</a:t>
            </a:r>
            <a:r>
              <a:rPr kumimoji="0" lang="zh-CN" altLang="en-US" sz="2000" dirty="0"/>
              <a:t>和</a:t>
            </a:r>
            <a:r>
              <a:rPr kumimoji="0" lang="en-US" altLang="zh-CN" sz="2000" dirty="0" err="1"/>
              <a:t>X</a:t>
            </a:r>
            <a:r>
              <a:rPr kumimoji="0" lang="en-US" altLang="zh-CN" sz="2000" baseline="-25000" dirty="0" err="1"/>
              <a:t>j</a:t>
            </a:r>
            <a:r>
              <a:rPr kumimoji="0" lang="zh-CN" altLang="en-US" sz="2000" dirty="0"/>
              <a:t>的属性的位置是可知的</a:t>
            </a:r>
            <a:endParaRPr kumimoji="0" lang="zh-CN" altLang="en-US" sz="20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 sz="2400" dirty="0"/>
              <a:t>注意两点：</a:t>
            </a:r>
            <a:endParaRPr kumimoji="0" lang="zh-CN" altLang="en-US" sz="24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1. </a:t>
            </a:r>
            <a:r>
              <a:rPr kumimoji="0" lang="zh-CN" altLang="en-US" sz="2400" dirty="0"/>
              <a:t>若</a:t>
            </a:r>
            <a:r>
              <a:rPr kumimoji="0" lang="en-US" altLang="zh-CN" sz="2400" dirty="0" err="1"/>
              <a:t>X</a:t>
            </a:r>
            <a:r>
              <a:rPr kumimoji="0" lang="en-US" altLang="zh-CN" sz="2400" baseline="-25000" dirty="0" err="1"/>
              <a:t>j</a:t>
            </a:r>
            <a:r>
              <a:rPr kumimoji="0" lang="zh-CN" altLang="en-US" sz="2400" dirty="0"/>
              <a:t>无继承属性，则不需要</a:t>
            </a:r>
            <a:r>
              <a:rPr kumimoji="0" lang="en-US" altLang="zh-CN" sz="2400" dirty="0" err="1"/>
              <a:t>M</a:t>
            </a:r>
            <a:r>
              <a:rPr kumimoji="0" lang="en-US" altLang="zh-CN" sz="2400" baseline="-25000" dirty="0" err="1"/>
              <a:t>j</a:t>
            </a:r>
            <a:endParaRPr kumimoji="0" lang="en-US" altLang="zh-CN" sz="2400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en-US" altLang="zh-CN" sz="2400" dirty="0"/>
              <a:t>2. </a:t>
            </a:r>
            <a:r>
              <a:rPr kumimoji="0" lang="zh-CN" altLang="en-US" sz="2400" dirty="0"/>
              <a:t>若</a:t>
            </a:r>
            <a:r>
              <a:rPr kumimoji="0" lang="en-US" altLang="zh-CN" sz="2400" dirty="0"/>
              <a:t>X</a:t>
            </a:r>
            <a:r>
              <a:rPr kumimoji="0" lang="en-US" altLang="zh-CN" sz="2400" baseline="-25000" dirty="0"/>
              <a:t>1</a:t>
            </a:r>
            <a:r>
              <a:rPr kumimoji="0" lang="en-US" altLang="zh-CN" sz="2400" dirty="0"/>
              <a:t>.i</a:t>
            </a:r>
            <a:r>
              <a:rPr kumimoji="0" lang="zh-CN" altLang="en-US" sz="2400" dirty="0"/>
              <a:t>存在，但</a:t>
            </a:r>
            <a:r>
              <a:rPr kumimoji="0" lang="en-US" altLang="zh-CN" sz="2400" dirty="0"/>
              <a:t>X</a:t>
            </a:r>
            <a:r>
              <a:rPr kumimoji="0" lang="en-US" altLang="zh-CN" sz="2400" baseline="-25000" dirty="0"/>
              <a:t>1</a:t>
            </a:r>
            <a:r>
              <a:rPr kumimoji="0" lang="en-US" altLang="zh-CN" sz="2400" dirty="0"/>
              <a:t>.i=</a:t>
            </a:r>
            <a:r>
              <a:rPr kumimoji="0" lang="en-US" altLang="zh-CN" sz="2400" dirty="0" err="1"/>
              <a:t>A.i</a:t>
            </a:r>
            <a:r>
              <a:rPr kumimoji="0" lang="zh-CN" altLang="en-US" sz="2400" dirty="0"/>
              <a:t>，则不需要</a:t>
            </a:r>
            <a:r>
              <a:rPr kumimoji="0" lang="en-US" altLang="zh-CN" sz="2400" dirty="0"/>
              <a:t>M</a:t>
            </a:r>
            <a:r>
              <a:rPr kumimoji="0" lang="en-US" altLang="zh-CN" sz="2400" baseline="-25000" dirty="0"/>
              <a:t>1</a:t>
            </a:r>
            <a:endParaRPr kumimoji="0" lang="en-US" altLang="zh-CN" sz="2400" baseline="-25000" dirty="0"/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ltGray">
          <a:xfrm>
            <a:off x="113910" y="1621064"/>
            <a:ext cx="1295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</a:rPr>
              <a:t>A</a:t>
            </a:r>
            <a:r>
              <a:rPr lang="zh-CN" altLang="en-US" sz="2000" dirty="0">
                <a:solidFill>
                  <a:srgbClr val="FF3300"/>
                </a:solidFill>
              </a:rPr>
              <a:t>之前的标记</a:t>
            </a:r>
            <a:r>
              <a:rPr lang="en-US" altLang="zh-CN" sz="2000" dirty="0">
                <a:solidFill>
                  <a:srgbClr val="FF3300"/>
                </a:solidFill>
              </a:rPr>
              <a:t>NT M</a:t>
            </a:r>
            <a:r>
              <a:rPr lang="zh-CN" altLang="en-US" sz="2000" dirty="0">
                <a:solidFill>
                  <a:srgbClr val="FF3300"/>
                </a:solidFill>
              </a:rPr>
              <a:t>（</a:t>
            </a:r>
            <a:r>
              <a:rPr lang="en-US" altLang="zh-CN" sz="2000" dirty="0">
                <a:solidFill>
                  <a:srgbClr val="FF3300"/>
                </a:solidFill>
              </a:rPr>
              <a:t>A</a:t>
            </a:r>
            <a:r>
              <a:rPr lang="zh-CN" altLang="en-US" sz="2000" dirty="0">
                <a:solidFill>
                  <a:srgbClr val="FF3300"/>
                </a:solidFill>
              </a:rPr>
              <a:t>在右部的产生式），</a:t>
            </a:r>
            <a:r>
              <a:rPr lang="en-US" altLang="zh-CN" sz="2000" dirty="0">
                <a:solidFill>
                  <a:srgbClr val="FF3300"/>
                </a:solidFill>
              </a:rPr>
              <a:t>M.s(</a:t>
            </a:r>
            <a:r>
              <a:rPr lang="en-US" altLang="zh-CN" sz="2000" dirty="0" err="1">
                <a:solidFill>
                  <a:srgbClr val="FF3300"/>
                </a:solidFill>
              </a:rPr>
              <a:t>A.i</a:t>
            </a:r>
            <a:r>
              <a:rPr lang="en-US" altLang="zh-CN" sz="2000" dirty="0">
                <a:solidFill>
                  <a:srgbClr val="FF3300"/>
                </a:solidFill>
              </a:rPr>
              <a:t>)</a:t>
            </a:r>
            <a:r>
              <a:rPr lang="zh-CN" altLang="en-US" sz="2000" dirty="0">
                <a:solidFill>
                  <a:srgbClr val="FF3300"/>
                </a:solidFill>
              </a:rPr>
              <a:t>已在栈中</a:t>
            </a:r>
            <a:endParaRPr lang="zh-CN" altLang="en-US" sz="2000" dirty="0">
              <a:solidFill>
                <a:srgbClr val="FF3300"/>
              </a:solidFill>
            </a:endParaRPr>
          </a:p>
        </p:txBody>
      </p:sp>
      <p:sp>
        <p:nvSpPr>
          <p:cNvPr id="88069" name="Freeform 5"/>
          <p:cNvSpPr/>
          <p:nvPr/>
        </p:nvSpPr>
        <p:spPr bwMode="ltGray">
          <a:xfrm>
            <a:off x="584200" y="3429000"/>
            <a:ext cx="1597025" cy="373063"/>
          </a:xfrm>
          <a:custGeom>
            <a:avLst/>
            <a:gdLst>
              <a:gd name="T0" fmla="*/ 0 w 1006"/>
              <a:gd name="T1" fmla="*/ 0 h 235"/>
              <a:gd name="T2" fmla="*/ 791329063 w 1006"/>
              <a:gd name="T3" fmla="*/ 587197987 h 235"/>
              <a:gd name="T4" fmla="*/ 2147483646 w 1006"/>
              <a:gd name="T5" fmla="*/ 27722550 h 2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6" h="235">
                <a:moveTo>
                  <a:pt x="0" y="0"/>
                </a:moveTo>
                <a:cubicBezTo>
                  <a:pt x="52" y="39"/>
                  <a:pt x="146" y="231"/>
                  <a:pt x="314" y="233"/>
                </a:cubicBezTo>
                <a:cubicBezTo>
                  <a:pt x="482" y="235"/>
                  <a:pt x="862" y="57"/>
                  <a:pt x="1006" y="11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5.6.4  </a:t>
            </a:r>
            <a:r>
              <a:rPr lang="zh-CN" altLang="en-US"/>
              <a:t>用综合属性代替继承属性</a:t>
            </a:r>
            <a:endParaRPr lang="zh-CN" altLang="en-US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改写语法，如</a:t>
            </a:r>
            <a:r>
              <a:rPr lang="en-US" altLang="zh-CN" sz="2800" dirty="0"/>
              <a:t>Pascal</a:t>
            </a:r>
            <a:r>
              <a:rPr lang="zh-CN" altLang="en-US" sz="2800" dirty="0"/>
              <a:t>变量定义 </a:t>
            </a:r>
            <a:r>
              <a:rPr lang="en-US" altLang="zh-CN" sz="2800" dirty="0" err="1"/>
              <a:t>m,n:integer</a:t>
            </a:r>
            <a:r>
              <a:rPr lang="en-US" altLang="zh-CN" sz="2800" dirty="0"/>
              <a:t>;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/>
              <a:t>D </a:t>
            </a:r>
            <a:r>
              <a:rPr kumimoji="0" lang="en-US" altLang="zh-CN" sz="2400" dirty="0">
                <a:sym typeface="Symbol" panose="05050102010706020507" pitchFamily="18" charset="2"/>
              </a:rPr>
              <a:t> L : T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T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integer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char</a:t>
            </a:r>
            <a:endParaRPr kumimoji="0"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L  L ,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id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变量由</a:t>
            </a:r>
            <a:r>
              <a:rPr lang="en-US" altLang="zh-CN" sz="2800" dirty="0"/>
              <a:t>L</a:t>
            </a:r>
            <a:r>
              <a:rPr lang="zh-CN" altLang="en-US" sz="2800" dirty="0"/>
              <a:t>产生，但类型不在</a:t>
            </a:r>
            <a:r>
              <a:rPr lang="en-US" altLang="zh-CN" sz="2800" dirty="0"/>
              <a:t>L</a:t>
            </a:r>
            <a:r>
              <a:rPr lang="zh-CN" altLang="en-US" sz="2800" dirty="0"/>
              <a:t>的子树中</a:t>
            </a:r>
            <a:r>
              <a:rPr lang="en-US" altLang="zh-CN" sz="2800" dirty="0"/>
              <a:t>——</a:t>
            </a:r>
            <a:r>
              <a:rPr lang="zh-CN" altLang="en-US" sz="2800" dirty="0"/>
              <a:t>需用继承属性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可改写为</a:t>
            </a:r>
            <a:endParaRPr lang="zh-CN" altLang="en-US" sz="28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/>
              <a:t>D </a:t>
            </a:r>
            <a:r>
              <a:rPr kumimoji="0" lang="en-US" altLang="zh-CN" sz="2400" dirty="0">
                <a:sym typeface="Symbol" panose="05050102010706020507" pitchFamily="18" charset="2"/>
              </a:rPr>
              <a:t>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400" dirty="0">
                <a:sym typeface="Symbol" panose="05050102010706020507" pitchFamily="18" charset="2"/>
              </a:rPr>
              <a:t> L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L  ,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id </a:t>
            </a:r>
            <a:r>
              <a:rPr kumimoji="0" lang="en-US" altLang="zh-CN" sz="2400" dirty="0">
                <a:sym typeface="Symbol" panose="05050102010706020507" pitchFamily="18" charset="2"/>
              </a:rPr>
              <a:t>L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 </a:t>
            </a:r>
            <a:r>
              <a:rPr kumimoji="0" lang="en-US" altLang="zh-CN" sz="2400" dirty="0">
                <a:sym typeface="Symbol" panose="05050102010706020507" pitchFamily="18" charset="2"/>
              </a:rPr>
              <a:t>: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T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  <a:defRPr/>
            </a:pPr>
            <a:r>
              <a:rPr kumimoji="0" lang="en-US" altLang="zh-CN" sz="2400" dirty="0">
                <a:sym typeface="Symbol" panose="05050102010706020507" pitchFamily="18" charset="2"/>
              </a:rPr>
              <a:t>T  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integer </a:t>
            </a:r>
            <a:r>
              <a:rPr kumimoji="0" lang="en-US" altLang="zh-CN" sz="2400" b="1" dirty="0">
                <a:sym typeface="Symbol" panose="05050102010706020507" pitchFamily="18" charset="2"/>
              </a:rPr>
              <a:t>|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char</a:t>
            </a:r>
            <a:endParaRPr kumimoji="0" lang="en-US" altLang="zh-CN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sz="2800" dirty="0"/>
              <a:t>类型即可用</a:t>
            </a:r>
            <a:r>
              <a:rPr lang="en-US" altLang="zh-CN" sz="2800" dirty="0"/>
              <a:t>L</a:t>
            </a:r>
            <a:r>
              <a:rPr lang="zh-CN" altLang="en-US" sz="2800" dirty="0"/>
              <a:t>的一个综合属性表示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</a:t>
            </a:r>
            <a:r>
              <a:rPr lang="en-US" altLang="zh-CN"/>
              <a:t>Yacc</a:t>
            </a:r>
            <a:r>
              <a:rPr lang="zh-CN" altLang="en-US"/>
              <a:t>中计算属性</a:t>
            </a: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A  → X    Y    { A.a = f(X.x, Y.y); }</a:t>
            </a:r>
            <a:br>
              <a:rPr lang="en-US" altLang="zh-CN" sz="2800"/>
            </a:br>
            <a:r>
              <a:rPr lang="en-US" altLang="zh-CN" sz="2800">
                <a:solidFill>
                  <a:srgbClr val="FF3300"/>
                </a:solidFill>
              </a:rPr>
              <a:t>$$      $1   $2   { $$ = f($1, $2); }</a:t>
            </a:r>
            <a:br>
              <a:rPr lang="en-US" altLang="zh-CN" sz="2800">
                <a:solidFill>
                  <a:srgbClr val="FF3300"/>
                </a:solidFill>
              </a:rPr>
            </a:br>
            <a:r>
              <a:rPr lang="zh-CN" altLang="en-US" sz="2800">
                <a:solidFill>
                  <a:srgbClr val="FF3300"/>
                </a:solidFill>
              </a:rPr>
              <a:t>栈：</a:t>
            </a:r>
            <a:r>
              <a:rPr lang="en-US" altLang="zh-CN" sz="2800">
                <a:solidFill>
                  <a:srgbClr val="FF3300"/>
                </a:solidFill>
              </a:rPr>
              <a:t>…, [X, $1], [Y, $2]</a:t>
            </a:r>
            <a:r>
              <a:rPr lang="en-US" altLang="zh-CN" sz="2800">
                <a:solidFill>
                  <a:srgbClr val="FF3300"/>
                </a:solidFill>
                <a:sym typeface="Wingdings" panose="05000000000000000000" pitchFamily="2" charset="2"/>
              </a:rPr>
              <a:t>…, [A, $$]</a:t>
            </a:r>
            <a:endParaRPr lang="en-US" altLang="zh-CN" sz="2800">
              <a:solidFill>
                <a:srgbClr val="FF3300"/>
              </a:solidFill>
            </a:endParaRPr>
          </a:p>
          <a:p>
            <a:pPr eaLnBrk="1" hangingPunct="1"/>
            <a:r>
              <a:rPr lang="en-US" altLang="zh-CN" sz="2800"/>
              <a:t>YYSTYPE</a:t>
            </a:r>
            <a:r>
              <a:rPr lang="zh-CN" altLang="en-US" sz="2800"/>
              <a:t>：属性类型</a:t>
            </a:r>
            <a:endParaRPr lang="zh-CN" altLang="en-US" sz="2800"/>
          </a:p>
          <a:p>
            <a:pPr eaLnBrk="1" hangingPunct="1"/>
            <a:r>
              <a:rPr lang="zh-CN" altLang="en-US" sz="2800"/>
              <a:t>继承属性如何获得？</a:t>
            </a:r>
            <a:endParaRPr lang="zh-CN" altLang="en-US" sz="2800"/>
          </a:p>
          <a:p>
            <a:pPr eaLnBrk="1" hangingPunct="1"/>
            <a:r>
              <a:rPr lang="en-US" altLang="zh-CN" sz="2800"/>
              <a:t>…, $-2, $-1, $0——</a:t>
            </a:r>
            <a:br>
              <a:rPr lang="en-US" altLang="zh-CN" sz="2800"/>
            </a:br>
            <a:r>
              <a:rPr lang="zh-CN" altLang="en-US" sz="2800"/>
              <a:t>栈中</a:t>
            </a:r>
            <a:r>
              <a:rPr lang="en-US" altLang="zh-CN" sz="2800"/>
              <a:t>XYZ</a:t>
            </a:r>
            <a:r>
              <a:rPr lang="zh-CN" altLang="en-US" sz="2800"/>
              <a:t>之下符号（</a:t>
            </a:r>
            <a:r>
              <a:rPr lang="en-US" altLang="zh-CN" sz="2800"/>
              <a:t>A</a:t>
            </a:r>
            <a:r>
              <a:rPr lang="zh-CN" altLang="en-US" sz="2800"/>
              <a:t>的兄弟）的属性！</a:t>
            </a:r>
            <a:endParaRPr lang="zh-CN" altLang="en-US" sz="2800"/>
          </a:p>
          <a:p>
            <a:pPr eaLnBrk="1" hangingPunct="1"/>
            <a:r>
              <a:rPr lang="zh-CN" altLang="en-US" sz="2800"/>
              <a:t>小心使用</a:t>
            </a:r>
            <a:endParaRPr lang="zh-CN" altLang="en-US" sz="28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</a:t>
            </a:r>
            <a:r>
              <a:rPr lang="en-US" altLang="zh-CN"/>
              <a:t>Yacc</a:t>
            </a:r>
            <a:r>
              <a:rPr lang="zh-CN" altLang="en-US"/>
              <a:t>中计算属性（续）</a:t>
            </a:r>
            <a:endParaRPr lang="zh-CN" alt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886200"/>
            <a:ext cx="3429000" cy="99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 : int { $$ = $1;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 : id { addtype($1, $0); }</a:t>
            </a:r>
            <a:endParaRPr lang="en-US" altLang="zh-CN" sz="2000"/>
          </a:p>
        </p:txBody>
      </p:sp>
      <p:sp>
        <p:nvSpPr>
          <p:cNvPr id="92164" name="Line 4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Line 6"/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Line 7"/>
          <p:cNvSpPr>
            <a:spLocks noChangeShapeType="1"/>
          </p:cNvSpPr>
          <p:nvPr/>
        </p:nvSpPr>
        <p:spPr bwMode="auto">
          <a:xfrm>
            <a:off x="1066800" y="3733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3505200" y="14478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2505" name="Text Box 9"/>
          <p:cNvSpPr txBox="1">
            <a:spLocks noChangeArrowheads="1"/>
          </p:cNvSpPr>
          <p:nvPr/>
        </p:nvSpPr>
        <p:spPr bwMode="auto">
          <a:xfrm>
            <a:off x="1066800" y="1905000"/>
            <a:ext cx="7086600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</a:rPr>
              <a:t>D 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 sz="2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			T.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  <a:endParaRPr kumimoji="0" lang="en-US" altLang="zh-CN" sz="20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 sz="2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L 	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sz="20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sz="2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        L</a:t>
            </a:r>
            <a:r>
              <a:rPr kumimoji="0" lang="en-US" altLang="zh-CN" sz="20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0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L  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entry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, L.</a:t>
            </a:r>
            <a:r>
              <a:rPr kumimoji="0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2170" name="Text Box 10"/>
          <p:cNvSpPr txBox="1">
            <a:spLocks noChangeArrowheads="1"/>
          </p:cNvSpPr>
          <p:nvPr/>
        </p:nvSpPr>
        <p:spPr bwMode="auto">
          <a:xfrm>
            <a:off x="5867400" y="18288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1800" b="1"/>
          </a:p>
        </p:txBody>
      </p:sp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1447800" y="14478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 b="1"/>
              <a:t>产生式</a:t>
            </a:r>
            <a:endParaRPr kumimoji="0" lang="zh-CN" altLang="en-US" sz="1800" b="1"/>
          </a:p>
        </p:txBody>
      </p:sp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5029200" y="1447800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 b="1"/>
              <a:t>语义动作</a:t>
            </a:r>
            <a:endParaRPr kumimoji="0" lang="zh-CN" altLang="en-US" sz="1800" b="1"/>
          </a:p>
        </p:txBody>
      </p:sp>
      <p:sp>
        <p:nvSpPr>
          <p:cNvPr id="92173" name="Rectangle 13"/>
          <p:cNvSpPr>
            <a:spLocks noChangeArrowheads="1"/>
          </p:cNvSpPr>
          <p:nvPr/>
        </p:nvSpPr>
        <p:spPr bwMode="auto">
          <a:xfrm>
            <a:off x="4648200" y="3886200"/>
            <a:ext cx="426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T : int { curr_type = $1; 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 : id { addtype($1, curr_type);</a:t>
            </a:r>
            <a:endParaRPr lang="en-US" altLang="zh-CN" sz="2000"/>
          </a:p>
        </p:txBody>
      </p:sp>
      <p:sp>
        <p:nvSpPr>
          <p:cNvPr id="92174" name="Rectangle 14"/>
          <p:cNvSpPr>
            <a:spLocks noChangeArrowheads="1"/>
          </p:cNvSpPr>
          <p:nvPr/>
        </p:nvSpPr>
        <p:spPr bwMode="auto">
          <a:xfrm>
            <a:off x="1600200" y="4800600"/>
            <a:ext cx="99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3300"/>
                </a:solidFill>
              </a:rPr>
              <a:t>T.type</a:t>
            </a:r>
            <a:endParaRPr lang="en-US" altLang="zh-CN" sz="2000">
              <a:solidFill>
                <a:srgbClr val="FF3300"/>
              </a:solidFill>
            </a:endParaRPr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ltGray">
          <a:xfrm flipV="1">
            <a:off x="2286000" y="4572000"/>
            <a:ext cx="3810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6" name="Rectangle 16"/>
          <p:cNvSpPr>
            <a:spLocks noChangeArrowheads="1"/>
          </p:cNvSpPr>
          <p:nvPr/>
        </p:nvSpPr>
        <p:spPr bwMode="auto">
          <a:xfrm>
            <a:off x="5943600" y="4876800"/>
            <a:ext cx="1447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3300"/>
                </a:solidFill>
              </a:rPr>
              <a:t>推荐方法</a:t>
            </a:r>
            <a:endParaRPr lang="zh-CN" altLang="en-US" sz="2000">
              <a:solidFill>
                <a:srgbClr val="FF3300"/>
              </a:solidFill>
            </a:endParaRPr>
          </a:p>
        </p:txBody>
      </p:sp>
      <p:sp>
        <p:nvSpPr>
          <p:cNvPr id="92177" name="Line 17"/>
          <p:cNvSpPr>
            <a:spLocks noChangeShapeType="1"/>
          </p:cNvSpPr>
          <p:nvPr/>
        </p:nvSpPr>
        <p:spPr bwMode="ltGray">
          <a:xfrm flipV="1">
            <a:off x="6934200" y="4648200"/>
            <a:ext cx="4572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5.7  </a:t>
            </a:r>
            <a:r>
              <a:rPr lang="zh-CN" altLang="en-US"/>
              <a:t>递归方法计算属性</a:t>
            </a:r>
            <a:endParaRPr lang="zh-CN" alt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遍历语法分析树来计算属性，适用那些不能在语法分析同时计算属性的情况</a:t>
            </a:r>
            <a:endParaRPr lang="zh-CN" altLang="en-US" dirty="0"/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>
          <a:xfrm>
            <a:off x="6588125" y="-27305"/>
            <a:ext cx="279781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往后不考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ym typeface="Wingdings" panose="05000000000000000000" pitchFamily="2" charset="2"/>
              </a:rPr>
              <a:t>5.7.1  </a:t>
            </a:r>
            <a:r>
              <a:rPr lang="zh-CN" altLang="en-US">
                <a:sym typeface="Wingdings" panose="05000000000000000000" pitchFamily="2" charset="2"/>
              </a:rPr>
              <a:t>由左至右的访问顺序</a:t>
            </a:r>
            <a:endParaRPr lang="zh-CN" altLang="en-US">
              <a:sym typeface="Wingdings" panose="05000000000000000000" pitchFamily="2" charset="2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为每个</a:t>
            </a:r>
            <a:r>
              <a:rPr lang="en-US" altLang="zh-CN" dirty="0"/>
              <a:t>NT</a:t>
            </a:r>
            <a:r>
              <a:rPr lang="zh-CN" altLang="en-US" dirty="0"/>
              <a:t>设计一个递归函数</a:t>
            </a:r>
            <a:endParaRPr lang="en-US" altLang="zh-CN" dirty="0"/>
          </a:p>
          <a:p>
            <a:pPr eaLnBrk="1" hangingPunct="1"/>
            <a:r>
              <a:rPr lang="zh-CN" altLang="en-US" dirty="0"/>
              <a:t>遍历语法树，访问节点</a:t>
            </a:r>
            <a:r>
              <a:rPr lang="en-US" altLang="zh-CN" dirty="0"/>
              <a:t>——</a:t>
            </a:r>
            <a:r>
              <a:rPr lang="zh-CN" altLang="en-US" dirty="0"/>
              <a:t>调用函数</a:t>
            </a:r>
            <a:endParaRPr lang="zh-CN" altLang="en-US" dirty="0"/>
          </a:p>
          <a:p>
            <a:pPr eaLnBrk="1" hangingPunct="1"/>
            <a:r>
              <a:rPr lang="zh-CN" altLang="en-US" dirty="0"/>
              <a:t>在每个节点，由产生式确定其孩子节点</a:t>
            </a:r>
            <a:endParaRPr lang="zh-CN" altLang="en-US" dirty="0"/>
          </a:p>
          <a:p>
            <a:pPr eaLnBrk="1" hangingPunct="1"/>
            <a:r>
              <a:rPr lang="zh-CN" altLang="en-US" dirty="0"/>
              <a:t>孩子节点的处理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语义规则</a:t>
            </a:r>
            <a:r>
              <a:rPr lang="en-US" altLang="zh-CN" dirty="0"/>
              <a:t>/</a:t>
            </a:r>
            <a:r>
              <a:rPr lang="zh-CN" altLang="en-US" dirty="0"/>
              <a:t>语义动作</a:t>
            </a:r>
            <a:r>
              <a:rPr lang="en-US" altLang="zh-CN" dirty="0"/>
              <a:t>——</a:t>
            </a:r>
            <a:r>
              <a:rPr lang="zh-CN" altLang="en-US" dirty="0"/>
              <a:t>直接执行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NT——</a:t>
            </a:r>
            <a:r>
              <a:rPr lang="zh-CN" altLang="en-US" dirty="0"/>
              <a:t>调用递归函数，孩子节点指针、继承属性作为函数参数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函数返回值</a:t>
            </a:r>
            <a:r>
              <a:rPr lang="en-US" altLang="zh-CN" dirty="0"/>
              <a:t>——</a:t>
            </a:r>
            <a:r>
              <a:rPr lang="zh-CN" altLang="en-US" dirty="0"/>
              <a:t>综合属性</a:t>
            </a:r>
            <a:endParaRPr lang="zh-CN" altLang="en-US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5.20</a:t>
            </a:r>
            <a:endParaRPr lang="en-US" altLang="zh-CN"/>
          </a:p>
        </p:txBody>
      </p:sp>
      <p:sp>
        <p:nvSpPr>
          <p:cNvPr id="95235" name="Line 4"/>
          <p:cNvSpPr>
            <a:spLocks noChangeShapeType="1"/>
          </p:cNvSpPr>
          <p:nvPr/>
        </p:nvSpPr>
        <p:spPr bwMode="auto">
          <a:xfrm>
            <a:off x="1184275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6" name="Line 5"/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7" name="Line 6"/>
          <p:cNvSpPr>
            <a:spLocks noChangeShapeType="1"/>
          </p:cNvSpPr>
          <p:nvPr/>
        </p:nvSpPr>
        <p:spPr bwMode="auto">
          <a:xfrm>
            <a:off x="1184275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8" name="Line 7"/>
          <p:cNvSpPr>
            <a:spLocks noChangeShapeType="1"/>
          </p:cNvSpPr>
          <p:nvPr/>
        </p:nvSpPr>
        <p:spPr bwMode="auto">
          <a:xfrm>
            <a:off x="1184275" y="5138738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9" name="Line 8"/>
          <p:cNvSpPr>
            <a:spLocks noChangeShapeType="1"/>
          </p:cNvSpPr>
          <p:nvPr/>
        </p:nvSpPr>
        <p:spPr bwMode="auto">
          <a:xfrm>
            <a:off x="3622675" y="1371600"/>
            <a:ext cx="0" cy="3778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40" name="Text Box 9"/>
          <p:cNvSpPr txBox="1">
            <a:spLocks noChangeArrowheads="1"/>
          </p:cNvSpPr>
          <p:nvPr/>
        </p:nvSpPr>
        <p:spPr bwMode="auto">
          <a:xfrm>
            <a:off x="1184275" y="1828800"/>
            <a:ext cx="7086600" cy="3345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B			B.ps = 10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S.ht = B.ht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B.ps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max(B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.ps = B.ps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.ps = shrink(B.ps)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B.ht = disp(B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.ht,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.ht)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B.ht = 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.h×B.ps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95241" name="Text Box 10"/>
          <p:cNvSpPr txBox="1">
            <a:spLocks noChangeArrowheads="1"/>
          </p:cNvSpPr>
          <p:nvPr/>
        </p:nvSpPr>
        <p:spPr bwMode="auto">
          <a:xfrm>
            <a:off x="5984875" y="1752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95242" name="Text Box 11"/>
          <p:cNvSpPr txBox="1">
            <a:spLocks noChangeArrowheads="1"/>
          </p:cNvSpPr>
          <p:nvPr/>
        </p:nvSpPr>
        <p:spPr bwMode="auto">
          <a:xfrm>
            <a:off x="1565275" y="1371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95243" name="Text Box 12"/>
          <p:cNvSpPr txBox="1">
            <a:spLocks noChangeArrowheads="1"/>
          </p:cNvSpPr>
          <p:nvPr/>
        </p:nvSpPr>
        <p:spPr bwMode="auto">
          <a:xfrm>
            <a:off x="5146675" y="1371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5.20  B</a:t>
            </a:r>
            <a:r>
              <a:rPr lang="zh-CN" altLang="en-US" dirty="0"/>
              <a:t>的递归函数</a:t>
            </a:r>
            <a:endParaRPr lang="zh-CN" altLang="en-US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B(n, ps)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var</a:t>
            </a:r>
            <a:r>
              <a:rPr lang="en-US" altLang="zh-CN" sz="2000"/>
              <a:t> ps1, ps2, ht1, ht2;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switch</a:t>
            </a:r>
            <a:r>
              <a:rPr lang="en-US" altLang="zh-CN" sz="2000"/>
              <a:t> (</a:t>
            </a:r>
            <a:r>
              <a:rPr lang="zh-CN" altLang="en-US" sz="2000"/>
              <a:t>节点</a:t>
            </a:r>
            <a:r>
              <a:rPr lang="en-US" altLang="zh-CN" sz="2000"/>
              <a:t>n</a:t>
            </a:r>
            <a:r>
              <a:rPr lang="zh-CN" altLang="en-US" sz="2000"/>
              <a:t>所用产生式</a:t>
            </a:r>
            <a:r>
              <a:rPr lang="en-US" altLang="zh-CN" sz="2000"/>
              <a:t>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{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B  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2</a:t>
            </a:r>
            <a:r>
              <a:rPr lang="en-US" altLang="zh-CN" sz="2000"/>
              <a:t>”: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ps1 = ps;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ht1 = B(child(n, 1), ps1);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ps2 = ps;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ht2 = B(child(n, 2), ps2);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en-US" altLang="zh-CN" sz="2000" b="1"/>
              <a:t>return</a:t>
            </a:r>
            <a:r>
              <a:rPr lang="en-US" altLang="zh-CN" sz="2000"/>
              <a:t> max(ht1, ht2);</a:t>
            </a:r>
            <a:endParaRPr lang="en-US" altLang="zh-CN" sz="20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5.20  B</a:t>
            </a:r>
            <a:r>
              <a:rPr lang="zh-CN" altLang="en-US"/>
              <a:t>对应函数</a:t>
            </a:r>
            <a:endParaRPr lang="zh-CN" alt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000">
                <a:sym typeface="Symbol" panose="05050102010706020507" pitchFamily="18" charset="2"/>
              </a:rPr>
              <a:t>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sub</a:t>
            </a:r>
            <a:r>
              <a:rPr kumimoji="0" lang="en-US" altLang="zh-CN" sz="200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>
                <a:sym typeface="Symbol" panose="05050102010706020507" pitchFamily="18" charset="2"/>
              </a:rPr>
              <a:t>B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2</a:t>
            </a:r>
            <a:r>
              <a:rPr lang="en-US" altLang="zh-CN" sz="2000"/>
              <a:t>”: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ps1 = ps;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ht1 = B(child(n, 1), ps1);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ps2 = shrink(ps);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ht2 = B(child(n, 3), ps2);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en-US" altLang="zh-CN" sz="2000" b="1"/>
              <a:t>return</a:t>
            </a:r>
            <a:r>
              <a:rPr lang="en-US" altLang="zh-CN" sz="2000"/>
              <a:t> disp(ht1, ht2);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B  </a:t>
            </a:r>
            <a:r>
              <a:rPr kumimoji="0" lang="en-US" altLang="zh-CN" sz="20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lang="en-US" altLang="zh-CN" sz="2000"/>
              <a:t>”: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return ps*text.h;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default</a:t>
            </a:r>
            <a:r>
              <a:rPr lang="en-US" altLang="zh-CN" sz="2000"/>
              <a:t>: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en-US" altLang="zh-CN" sz="2000" b="1"/>
              <a:t>error</a:t>
            </a:r>
            <a:r>
              <a:rPr lang="en-US" altLang="zh-CN" sz="2000"/>
              <a:t>();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  <a:endParaRPr lang="en-US" altLang="zh-CN" sz="2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5.7.2  </a:t>
            </a:r>
            <a:r>
              <a:rPr lang="zh-CN" altLang="en-US"/>
              <a:t>其他访问顺序（例</a:t>
            </a:r>
            <a:r>
              <a:rPr lang="en-US" altLang="zh-CN"/>
              <a:t>5.21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4387850"/>
            <a:ext cx="7772400" cy="1676400"/>
          </a:xfrm>
        </p:spPr>
        <p:txBody>
          <a:bodyPr/>
          <a:lstStyle/>
          <a:p>
            <a:pPr eaLnBrk="1" hangingPunct="1"/>
            <a:r>
              <a:rPr lang="zh-CN" altLang="en-US"/>
              <a:t>第一个产生式需要由左至右顺序访问</a:t>
            </a:r>
            <a:endParaRPr lang="zh-CN" altLang="en-US"/>
          </a:p>
          <a:p>
            <a:pPr eaLnBrk="1" hangingPunct="1"/>
            <a:r>
              <a:rPr lang="zh-CN" altLang="en-US"/>
              <a:t>第二个需要由右至左</a:t>
            </a:r>
            <a:endParaRPr lang="zh-CN" altLang="en-US"/>
          </a:p>
        </p:txBody>
      </p:sp>
      <p:sp>
        <p:nvSpPr>
          <p:cNvPr id="98308" name="Line 4"/>
          <p:cNvSpPr>
            <a:spLocks noChangeShapeType="1"/>
          </p:cNvSpPr>
          <p:nvPr/>
        </p:nvSpPr>
        <p:spPr bwMode="auto">
          <a:xfrm>
            <a:off x="1184275" y="1295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09" name="Line 5"/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Line 6"/>
          <p:cNvSpPr>
            <a:spLocks noChangeShapeType="1"/>
          </p:cNvSpPr>
          <p:nvPr/>
        </p:nvSpPr>
        <p:spPr bwMode="auto">
          <a:xfrm>
            <a:off x="1184275" y="182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Line 7"/>
          <p:cNvSpPr>
            <a:spLocks noChangeShapeType="1"/>
          </p:cNvSpPr>
          <p:nvPr/>
        </p:nvSpPr>
        <p:spPr bwMode="auto">
          <a:xfrm>
            <a:off x="1184275" y="4040188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2" name="Line 8"/>
          <p:cNvSpPr>
            <a:spLocks noChangeShapeType="1"/>
          </p:cNvSpPr>
          <p:nvPr/>
        </p:nvSpPr>
        <p:spPr bwMode="auto">
          <a:xfrm>
            <a:off x="3622675" y="1339850"/>
            <a:ext cx="0" cy="2698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3" name="Text Box 9"/>
          <p:cNvSpPr txBox="1">
            <a:spLocks noChangeArrowheads="1"/>
          </p:cNvSpPr>
          <p:nvPr/>
        </p:nvSpPr>
        <p:spPr bwMode="auto">
          <a:xfrm>
            <a:off x="1184275" y="1828800"/>
            <a:ext cx="7086600" cy="2249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LM		L.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l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M.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m</a:t>
            </a:r>
            <a:r>
              <a:rPr kumimoji="0" lang="en-US" altLang="zh-CN" sz="2400">
                <a:sym typeface="Symbol" panose="05050102010706020507" pitchFamily="18" charset="2"/>
              </a:rPr>
              <a:t>(L.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(M.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QR		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Q.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q</a:t>
            </a:r>
            <a:r>
              <a:rPr kumimoji="0" lang="en-US" altLang="zh-CN" sz="2400">
                <a:sym typeface="Symbol" panose="05050102010706020507" pitchFamily="18" charset="2"/>
              </a:rPr>
              <a:t>(R.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(Q.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98314" name="Text Box 10"/>
          <p:cNvSpPr txBox="1">
            <a:spLocks noChangeArrowheads="1"/>
          </p:cNvSpPr>
          <p:nvPr/>
        </p:nvSpPr>
        <p:spPr bwMode="auto">
          <a:xfrm>
            <a:off x="5984875" y="1752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98315" name="Text Box 11"/>
          <p:cNvSpPr txBox="1">
            <a:spLocks noChangeArrowheads="1"/>
          </p:cNvSpPr>
          <p:nvPr/>
        </p:nvSpPr>
        <p:spPr bwMode="auto">
          <a:xfrm>
            <a:off x="1565275" y="13716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98316" name="Text Box 12"/>
          <p:cNvSpPr txBox="1">
            <a:spLocks noChangeArrowheads="1"/>
          </p:cNvSpPr>
          <p:nvPr/>
        </p:nvSpPr>
        <p:spPr bwMode="auto">
          <a:xfrm>
            <a:off x="5146675" y="13716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5.21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99331" name="Picture 14" descr="ord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95400"/>
            <a:ext cx="399415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2" name="Picture 15" descr="order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124200"/>
            <a:ext cx="3868738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5.21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A(n, ai)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en-US" altLang="zh-CN" sz="2000" b="1"/>
              <a:t>switch</a:t>
            </a:r>
            <a:r>
              <a:rPr lang="en-US" altLang="zh-CN" sz="2000"/>
              <a:t> (</a:t>
            </a:r>
            <a:r>
              <a:rPr lang="zh-CN" altLang="en-US" sz="2000"/>
              <a:t>节点</a:t>
            </a:r>
            <a:r>
              <a:rPr lang="en-US" altLang="zh-CN" sz="2000"/>
              <a:t>n</a:t>
            </a:r>
            <a:r>
              <a:rPr lang="zh-CN" altLang="en-US" sz="2000"/>
              <a:t>所用产生式</a:t>
            </a:r>
            <a:r>
              <a:rPr lang="en-US" altLang="zh-CN" sz="2000"/>
              <a:t>)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{</a:t>
            </a:r>
            <a:endParaRPr lang="en-US" altLang="zh-CN" sz="200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A  LM”: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li = l(ai);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ls = L(child(n, 1), li);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mi = m(ls);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ms = M(child(n, 2), mi);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</a:t>
            </a:r>
            <a:r>
              <a:rPr kumimoji="0" lang="en-US" altLang="zh-CN" sz="2000" b="1">
                <a:sym typeface="Symbol" panose="05050102010706020507" pitchFamily="18" charset="2"/>
              </a:rPr>
              <a:t>return</a:t>
            </a:r>
            <a:r>
              <a:rPr kumimoji="0" lang="en-US" altLang="zh-CN" sz="2000">
                <a:sym typeface="Symbol" panose="05050102010706020507" pitchFamily="18" charset="2"/>
              </a:rPr>
              <a:t> f(ms);</a:t>
            </a:r>
            <a:endParaRPr kumimoji="0" lang="en-US" altLang="zh-CN" sz="2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5.21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en-US" altLang="zh-CN" sz="2000" b="1"/>
              <a:t>case</a:t>
            </a:r>
            <a:r>
              <a:rPr lang="en-US" altLang="zh-CN" sz="2000"/>
              <a:t> “</a:t>
            </a:r>
            <a:r>
              <a:rPr kumimoji="0" lang="en-US" altLang="zh-CN" sz="2000">
                <a:sym typeface="Symbol" panose="05050102010706020507" pitchFamily="18" charset="2"/>
              </a:rPr>
              <a:t>A  QR”: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ri = r(ai);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rs = R(child(n, 2), ri);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qi = q(rs);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qs = Q(child(n, 1), qi);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</a:t>
            </a:r>
            <a:r>
              <a:rPr kumimoji="0" lang="en-US" altLang="zh-CN" sz="2000" b="1">
                <a:sym typeface="Symbol" panose="05050102010706020507" pitchFamily="18" charset="2"/>
              </a:rPr>
              <a:t>return</a:t>
            </a:r>
            <a:r>
              <a:rPr kumimoji="0" lang="en-US" altLang="zh-CN" sz="2000">
                <a:sym typeface="Symbol" panose="05050102010706020507" pitchFamily="18" charset="2"/>
              </a:rPr>
              <a:t> f(qs);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</a:t>
            </a:r>
            <a:r>
              <a:rPr kumimoji="0" lang="en-US" altLang="zh-CN" sz="2000" b="1">
                <a:sym typeface="Symbol" panose="05050102010706020507" pitchFamily="18" charset="2"/>
              </a:rPr>
              <a:t>default</a:t>
            </a:r>
            <a:r>
              <a:rPr kumimoji="0" lang="en-US" altLang="zh-CN" sz="2000">
                <a:sym typeface="Symbol" panose="05050102010706020507" pitchFamily="18" charset="2"/>
              </a:rPr>
              <a:t>: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error();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}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}</a:t>
            </a:r>
            <a:endParaRPr kumimoji="0" lang="en-US" altLang="zh-CN" sz="2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5.8  </a:t>
            </a:r>
            <a:r>
              <a:rPr lang="zh-CN" altLang="en-US"/>
              <a:t>编译时内存空间分配</a:t>
            </a:r>
            <a:endParaRPr lang="zh-CN" alt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依赖图</a:t>
            </a:r>
            <a:r>
              <a:rPr lang="zh-CN" altLang="en-US" dirty="0">
                <a:sym typeface="Wingdings" panose="05000000000000000000" pitchFamily="2" charset="2"/>
              </a:rPr>
              <a:t>属性计算顺序内存分配</a:t>
            </a:r>
            <a:endParaRPr lang="zh-CN" altLang="en-US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深度优先顺序属性生存期（它第一次被计算直到依赖它的其他属性都计算完毕）</a:t>
            </a:r>
            <a:endParaRPr lang="zh-CN" altLang="en-US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只在属性生存期内为其分配内存</a:t>
            </a:r>
            <a:endParaRPr lang="zh-CN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5.22  </a:t>
            </a:r>
            <a:endParaRPr lang="en-US" altLang="zh-CN"/>
          </a:p>
        </p:txBody>
      </p:sp>
      <p:sp>
        <p:nvSpPr>
          <p:cNvPr id="103427" name="Line 4"/>
          <p:cNvSpPr>
            <a:spLocks noChangeShapeType="1"/>
          </p:cNvSpPr>
          <p:nvPr/>
        </p:nvSpPr>
        <p:spPr bwMode="auto">
          <a:xfrm>
            <a:off x="1066800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8" name="Line 5"/>
          <p:cNvSpPr>
            <a:spLocks noChangeShapeType="1"/>
          </p:cNvSpPr>
          <p:nvPr/>
        </p:nvSpPr>
        <p:spPr bwMode="auto">
          <a:xfrm>
            <a:off x="1066800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29" name="Line 6"/>
          <p:cNvSpPr>
            <a:spLocks noChangeShapeType="1"/>
          </p:cNvSpPr>
          <p:nvPr/>
        </p:nvSpPr>
        <p:spPr bwMode="auto">
          <a:xfrm>
            <a:off x="1066800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0" name="Line 7"/>
          <p:cNvSpPr>
            <a:spLocks noChangeShapeType="1"/>
          </p:cNvSpPr>
          <p:nvPr/>
        </p:nvSpPr>
        <p:spPr bwMode="auto">
          <a:xfrm>
            <a:off x="1066800" y="4572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1" name="Line 8"/>
          <p:cNvSpPr>
            <a:spLocks noChangeShapeType="1"/>
          </p:cNvSpPr>
          <p:nvPr/>
        </p:nvSpPr>
        <p:spPr bwMode="auto">
          <a:xfrm>
            <a:off x="3657600" y="1447800"/>
            <a:ext cx="0" cy="312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1545" name="Text Box 9"/>
          <p:cNvSpPr txBox="1">
            <a:spLocks noChangeArrowheads="1"/>
          </p:cNvSpPr>
          <p:nvPr/>
        </p:nvSpPr>
        <p:spPr bwMode="auto">
          <a:xfrm>
            <a:off x="1066800" y="1905000"/>
            <a:ext cx="7467600" cy="2714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</a:rPr>
              <a:t>D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 T L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int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integer</a:t>
            </a:r>
            <a:endParaRPr kumimoji="0"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T  </a:t>
            </a:r>
            <a:r>
              <a:rPr kumimoji="0" lang="en-US" altLang="zh-CN" b="1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		T.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type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real</a:t>
            </a:r>
            <a:endParaRPr kumimoji="0"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  L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, I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	L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			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  I</a:t>
            </a:r>
            <a:r>
              <a:rPr kumimoji="0" lang="en-US" altLang="zh-CN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L.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endParaRPr kumimoji="0" lang="en-US" altLang="zh-CN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I  I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[ </a:t>
            </a:r>
            <a:r>
              <a:rPr kumimoji="0" lang="en-US" altLang="zh-CN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num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]		I</a:t>
            </a:r>
            <a:r>
              <a:rPr kumimoji="0" lang="en-US" altLang="zh-CN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array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num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.val, 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I  </a:t>
            </a:r>
            <a:r>
              <a:rPr kumimoji="0" lang="en-US" altLang="zh-CN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			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addtype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0"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.entry, I.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in</a:t>
            </a:r>
            <a:r>
              <a:rPr kumimoji="0"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3433" name="Text Box 10"/>
          <p:cNvSpPr txBox="1">
            <a:spLocks noChangeArrowheads="1"/>
          </p:cNvSpPr>
          <p:nvPr/>
        </p:nvSpPr>
        <p:spPr bwMode="auto">
          <a:xfrm>
            <a:off x="5867400" y="1828800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000" b="1"/>
          </a:p>
        </p:txBody>
      </p:sp>
      <p:sp>
        <p:nvSpPr>
          <p:cNvPr id="103434" name="Text Box 11"/>
          <p:cNvSpPr txBox="1">
            <a:spLocks noChangeArrowheads="1"/>
          </p:cNvSpPr>
          <p:nvPr/>
        </p:nvSpPr>
        <p:spPr bwMode="auto">
          <a:xfrm>
            <a:off x="1981200" y="1447800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产生式</a:t>
            </a:r>
            <a:endParaRPr kumimoji="0" lang="zh-CN" altLang="en-US" sz="2000" b="1"/>
          </a:p>
        </p:txBody>
      </p:sp>
      <p:sp>
        <p:nvSpPr>
          <p:cNvPr id="103435" name="Text Box 12"/>
          <p:cNvSpPr txBox="1">
            <a:spLocks noChangeArrowheads="1"/>
          </p:cNvSpPr>
          <p:nvPr/>
        </p:nvSpPr>
        <p:spPr bwMode="auto">
          <a:xfrm>
            <a:off x="5029200" y="1447800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/>
              <a:t>代码片断</a:t>
            </a:r>
            <a:endParaRPr kumimoji="0" lang="zh-CN" altLang="en-US" sz="2000" b="1"/>
          </a:p>
        </p:txBody>
      </p:sp>
      <p:sp>
        <p:nvSpPr>
          <p:cNvPr id="103436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1182688" y="4648200"/>
            <a:ext cx="7772400" cy="6096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int x[3], y[5];</a:t>
            </a:r>
            <a:endParaRPr lang="en-US" altLang="zh-CN" sz="280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5.22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104451" name="Picture 12" descr="space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3" y="1266825"/>
            <a:ext cx="4116387" cy="306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2" name="Picture 13" descr="spac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4505325"/>
            <a:ext cx="6070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5.8.1  </a:t>
            </a:r>
            <a:r>
              <a:rPr lang="zh-CN" altLang="en-US"/>
              <a:t>在编译时分配空间</a:t>
            </a:r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内存分配算法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寄存器池：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for</a:t>
            </a:r>
            <a:r>
              <a:rPr lang="en-US" altLang="zh-CN" sz="2000" dirty="0"/>
              <a:t> m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m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…</a:t>
            </a:r>
            <a:r>
              <a:rPr lang="en-US" altLang="zh-CN" sz="2000" dirty="0" err="1"/>
              <a:t>m</a:t>
            </a:r>
            <a:r>
              <a:rPr lang="en-US" altLang="zh-CN" sz="2000" baseline="-25000" dirty="0" err="1"/>
              <a:t>N</a:t>
            </a:r>
            <a:r>
              <a:rPr lang="zh-CN" altLang="en-US" sz="2000" dirty="0"/>
              <a:t>中每个节点</a:t>
            </a:r>
            <a:r>
              <a:rPr lang="en-US" altLang="zh-CN" sz="2000" dirty="0"/>
              <a:t>m {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</a:t>
            </a:r>
            <a:r>
              <a:rPr lang="zh-CN" altLang="en-US" sz="2000" dirty="0"/>
              <a:t>计算</a:t>
            </a:r>
            <a:r>
              <a:rPr lang="en-US" altLang="zh-CN" sz="2000" dirty="0"/>
              <a:t>m</a:t>
            </a:r>
            <a:r>
              <a:rPr lang="zh-CN" altLang="en-US" sz="2000" dirty="0"/>
              <a:t>时生存期结束的每个节点</a:t>
            </a:r>
            <a:r>
              <a:rPr lang="en-US" altLang="zh-CN" sz="2000" dirty="0"/>
              <a:t>n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标记</a:t>
            </a:r>
            <a:r>
              <a:rPr lang="en-US" altLang="zh-CN" sz="2000" dirty="0"/>
              <a:t>n</a:t>
            </a:r>
            <a:r>
              <a:rPr lang="zh-CN" altLang="en-US" sz="2000" dirty="0"/>
              <a:t>的寄存器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</a:t>
            </a:r>
            <a:r>
              <a:rPr lang="zh-CN" altLang="en-US" sz="2000" dirty="0"/>
              <a:t>寄存器</a:t>
            </a:r>
            <a:r>
              <a:rPr lang="en-US" altLang="zh-CN" sz="2000" dirty="0"/>
              <a:t>r</a:t>
            </a:r>
            <a:r>
              <a:rPr lang="zh-CN" altLang="en-US" sz="2000" dirty="0"/>
              <a:t>被标记</a:t>
            </a:r>
            <a:r>
              <a:rPr lang="en-US" altLang="zh-CN" sz="2000" dirty="0"/>
              <a:t>) {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去除</a:t>
            </a:r>
            <a:r>
              <a:rPr lang="en-US" altLang="zh-CN" sz="2000" dirty="0"/>
              <a:t>r</a:t>
            </a:r>
            <a:r>
              <a:rPr lang="zh-CN" altLang="en-US" sz="2000" dirty="0"/>
              <a:t>的标记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将</a:t>
            </a:r>
            <a:r>
              <a:rPr lang="en-US" altLang="zh-CN" sz="2000" dirty="0"/>
              <a:t>r</a:t>
            </a:r>
            <a:r>
              <a:rPr lang="zh-CN" altLang="en-US" sz="2000" dirty="0"/>
              <a:t>分配给</a:t>
            </a:r>
            <a:r>
              <a:rPr lang="en-US" altLang="zh-CN" sz="2000" dirty="0"/>
              <a:t>m</a:t>
            </a:r>
            <a:r>
              <a:rPr lang="zh-CN" altLang="en-US" sz="2000" dirty="0"/>
              <a:t>，计算</a:t>
            </a:r>
            <a:r>
              <a:rPr lang="en-US" altLang="zh-CN" sz="2000" dirty="0"/>
              <a:t>m;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将标记的寄存器放回寄存器池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} </a:t>
            </a:r>
            <a:r>
              <a:rPr lang="en-US" altLang="zh-CN" sz="2000" b="1" dirty="0"/>
              <a:t>else</a:t>
            </a:r>
            <a:r>
              <a:rPr lang="en-US" altLang="zh-CN" sz="2000" dirty="0"/>
              <a:t>  </a:t>
            </a:r>
            <a:r>
              <a:rPr lang="zh-CN" altLang="en-US" sz="2000" dirty="0"/>
              <a:t>从寄存器池为</a:t>
            </a:r>
            <a:r>
              <a:rPr lang="en-US" altLang="zh-CN" sz="2000" dirty="0"/>
              <a:t>m</a:t>
            </a:r>
            <a:r>
              <a:rPr lang="zh-CN" altLang="en-US" sz="2000" dirty="0"/>
              <a:t>分配一个寄存器，计算</a:t>
            </a:r>
            <a:r>
              <a:rPr lang="en-US" altLang="zh-CN" sz="2000" dirty="0"/>
              <a:t>m;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(m</a:t>
            </a:r>
            <a:r>
              <a:rPr lang="zh-CN" altLang="en-US" sz="2000" dirty="0"/>
              <a:t>的生存期已经结束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将</a:t>
            </a:r>
            <a:r>
              <a:rPr lang="en-US" altLang="zh-CN" sz="2000" dirty="0"/>
              <a:t>m</a:t>
            </a:r>
            <a:r>
              <a:rPr lang="zh-CN" altLang="en-US" sz="2000" dirty="0"/>
              <a:t>的寄存器放回寄存器池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算法应用实例</a:t>
            </a:r>
            <a:endParaRPr lang="zh-CN" altLang="en-US"/>
          </a:p>
        </p:txBody>
      </p:sp>
      <p:pic>
        <p:nvPicPr>
          <p:cNvPr id="106499" name="Picture 4" descr="space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8064500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5.8.2  </a:t>
            </a:r>
            <a:r>
              <a:rPr lang="zh-CN" altLang="en-US"/>
              <a:t>避免属性拷贝</a:t>
            </a:r>
            <a:endParaRPr lang="zh-CN" altLang="en-US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b=c</a:t>
            </a:r>
            <a:r>
              <a:rPr lang="zh-CN" altLang="en-US"/>
              <a:t>：</a:t>
            </a:r>
            <a:r>
              <a:rPr lang="en-US" altLang="zh-CN"/>
              <a:t>b</a:t>
            </a:r>
            <a:r>
              <a:rPr lang="zh-CN" altLang="en-US"/>
              <a:t>的值在</a:t>
            </a:r>
            <a:r>
              <a:rPr lang="en-US" altLang="zh-CN"/>
              <a:t>c</a:t>
            </a:r>
            <a:r>
              <a:rPr lang="zh-CN" altLang="en-US"/>
              <a:t>的寄存器中，不再分配</a:t>
            </a:r>
            <a:endParaRPr lang="zh-CN" altLang="en-US"/>
          </a:p>
          <a:p>
            <a:pPr eaLnBrk="1" hangingPunct="1"/>
            <a:r>
              <a:rPr lang="zh-CN" altLang="en-US"/>
              <a:t>在节点</a:t>
            </a:r>
            <a:r>
              <a:rPr lang="en-US" altLang="zh-CN"/>
              <a:t>m</a:t>
            </a:r>
            <a:endParaRPr lang="en-US" altLang="zh-CN"/>
          </a:p>
          <a:p>
            <a:pPr lvl="1" eaLnBrk="1" hangingPunct="1"/>
            <a:r>
              <a:rPr lang="zh-CN" altLang="en-US"/>
              <a:t>首先检查是否是拷贝规则</a:t>
            </a:r>
            <a:endParaRPr lang="zh-CN" altLang="en-US"/>
          </a:p>
          <a:p>
            <a:pPr lvl="1" eaLnBrk="1" hangingPunct="1"/>
            <a:r>
              <a:rPr lang="zh-CN" altLang="en-US"/>
              <a:t>若是，</a:t>
            </a:r>
            <a:r>
              <a:rPr lang="en-US" altLang="zh-CN"/>
              <a:t>m</a:t>
            </a:r>
            <a:r>
              <a:rPr lang="zh-CN" altLang="en-US"/>
              <a:t>值已经在某个寄存器中，</a:t>
            </a:r>
            <a:r>
              <a:rPr lang="en-US" altLang="zh-CN"/>
              <a:t>m</a:t>
            </a:r>
            <a:r>
              <a:rPr lang="zh-CN" altLang="en-US"/>
              <a:t>加入该寄存器的等价类</a:t>
            </a:r>
            <a:endParaRPr lang="zh-CN" altLang="en-US"/>
          </a:p>
          <a:p>
            <a:pPr lvl="1" eaLnBrk="1" hangingPunct="1"/>
            <a:r>
              <a:rPr lang="zh-CN" altLang="en-US"/>
              <a:t>只有当寄存器等价类中所有属性的生存期均结束，才可释放该寄存器</a:t>
            </a:r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5.24</a:t>
            </a:r>
            <a:r>
              <a:rPr lang="zh-CN" altLang="en-US"/>
              <a:t>：例</a:t>
            </a:r>
            <a:r>
              <a:rPr lang="en-US" altLang="zh-CN"/>
              <a:t>5.23</a:t>
            </a:r>
            <a:r>
              <a:rPr lang="zh-CN" altLang="en-US"/>
              <a:t>采用新方法</a:t>
            </a:r>
            <a:endParaRPr lang="zh-CN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819400"/>
            <a:ext cx="7772400" cy="3810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1 </a:t>
            </a:r>
            <a:r>
              <a:rPr lang="en-US" altLang="zh-CN" sz="2400"/>
              <a:t>= integer;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5;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array(r</a:t>
            </a:r>
            <a:r>
              <a:rPr lang="en-US" altLang="zh-CN" sz="2400" baseline="-25000"/>
              <a:t>2</a:t>
            </a:r>
            <a:r>
              <a:rPr lang="en-US" altLang="zh-CN" sz="2400"/>
              <a:t>, r</a:t>
            </a:r>
            <a:r>
              <a:rPr lang="en-US" altLang="zh-CN" sz="2400" baseline="-25000"/>
              <a:t>1</a:t>
            </a:r>
            <a:r>
              <a:rPr lang="en-US" altLang="zh-CN" sz="2400"/>
              <a:t>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addtype(y, r</a:t>
            </a:r>
            <a:r>
              <a:rPr lang="en-US" altLang="zh-CN" sz="2400" baseline="-25000"/>
              <a:t>2</a:t>
            </a:r>
            <a:r>
              <a:rPr lang="en-US" altLang="zh-CN" sz="2400"/>
              <a:t>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3;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r</a:t>
            </a:r>
            <a:r>
              <a:rPr lang="en-US" altLang="zh-CN" sz="2400" baseline="-25000"/>
              <a:t>2 </a:t>
            </a:r>
            <a:r>
              <a:rPr lang="en-US" altLang="zh-CN" sz="2400"/>
              <a:t>= array(r</a:t>
            </a:r>
            <a:r>
              <a:rPr lang="en-US" altLang="zh-CN" sz="2400" baseline="-25000"/>
              <a:t>2</a:t>
            </a:r>
            <a:r>
              <a:rPr lang="en-US" altLang="zh-CN" sz="2400"/>
              <a:t>, r</a:t>
            </a:r>
            <a:r>
              <a:rPr lang="en-US" altLang="zh-CN" sz="2400" baseline="-25000"/>
              <a:t>1</a:t>
            </a:r>
            <a:r>
              <a:rPr lang="en-US" altLang="zh-CN" sz="2400"/>
              <a:t>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addtype(x, r</a:t>
            </a:r>
            <a:r>
              <a:rPr lang="en-US" altLang="zh-CN" sz="2400" baseline="-25000"/>
              <a:t>2</a:t>
            </a:r>
            <a:r>
              <a:rPr lang="en-US" altLang="zh-CN" sz="2400"/>
              <a:t>);</a:t>
            </a:r>
            <a:endParaRPr lang="en-US" altLang="zh-CN" sz="2400"/>
          </a:p>
        </p:txBody>
      </p:sp>
      <p:pic>
        <p:nvPicPr>
          <p:cNvPr id="108548" name="Picture 4" descr="space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295400"/>
            <a:ext cx="70389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5.9  </a:t>
            </a:r>
            <a:r>
              <a:rPr lang="zh-CN" altLang="en-US"/>
              <a:t>在构造编译器时分配内存</a:t>
            </a:r>
            <a:endParaRPr lang="zh-CN" alt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9776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多栈避免属性拷贝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5.9.1  </a:t>
            </a:r>
            <a:r>
              <a:rPr lang="zh-CN" altLang="en-US" sz="2800" dirty="0"/>
              <a:t>预测生存期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对特定遍历顺序，可预测属性生存期</a:t>
            </a:r>
            <a:endParaRPr lang="zh-CN" altLang="en-US" sz="2400" dirty="0"/>
          </a:p>
          <a:p>
            <a:pPr lvl="1" eaLnBrk="1" hangingPunct="1">
              <a:spcBef>
                <a:spcPct val="0"/>
              </a:spcBef>
            </a:pPr>
            <a:r>
              <a:rPr kumimoji="0" lang="en-US" altLang="zh-CN" sz="2400" dirty="0">
                <a:sym typeface="Symbol" panose="05050102010706020507" pitchFamily="18" charset="2"/>
              </a:rPr>
              <a:t>ABC</a:t>
            </a:r>
            <a:r>
              <a:rPr kumimoji="0" lang="zh-CN" altLang="en-US" sz="2400" dirty="0">
                <a:sym typeface="Symbol" panose="05050102010706020507" pitchFamily="18" charset="2"/>
              </a:rPr>
              <a:t>，深度优先遍历：子树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－子树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－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，返回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后，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的生存期即结束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的生存期包含在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内，则栈中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在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之上</a:t>
            </a:r>
            <a:endParaRPr kumimoji="0"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的继承属性入栈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计算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的继承属性并入栈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访问子树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，返回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的综合属性，入栈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r>
              <a:rPr kumimoji="0" lang="zh-CN" altLang="en-US" sz="2400" dirty="0">
                <a:sym typeface="Symbol" panose="05050102010706020507" pitchFamily="18" charset="2"/>
              </a:rPr>
              <a:t>对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同样进行上两个步骤</a:t>
            </a:r>
            <a:r>
              <a:rPr kumimoji="0" lang="en-US" altLang="zh-CN" sz="2400" dirty="0">
                <a:sym typeface="Symbol" panose="05050102010706020507" pitchFamily="18" charset="2"/>
              </a:rPr>
              <a:t>——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en-US" altLang="zh-CN" sz="2400" dirty="0">
                <a:sym typeface="Symbol" panose="05050102010706020507" pitchFamily="18" charset="2"/>
              </a:rPr>
              <a:t>I(A), I(B), S(B), I(C), S(C)——</a:t>
            </a:r>
            <a:r>
              <a:rPr kumimoji="0" lang="zh-CN" altLang="en-US" sz="2400" dirty="0">
                <a:sym typeface="Symbol" panose="05050102010706020507" pitchFamily="18" charset="2"/>
              </a:rPr>
              <a:t>计算</a:t>
            </a:r>
            <a:r>
              <a:rPr kumimoji="0" lang="en-US" altLang="zh-CN" sz="2400" dirty="0">
                <a:sym typeface="Symbol" panose="05050102010706020507" pitchFamily="18" charset="2"/>
              </a:rPr>
              <a:t>A</a:t>
            </a:r>
            <a:r>
              <a:rPr kumimoji="0" lang="zh-CN" altLang="en-US" sz="2400" dirty="0">
                <a:sym typeface="Symbol" panose="05050102010706020507" pitchFamily="18" charset="2"/>
              </a:rPr>
              <a:t>的综合属性，</a:t>
            </a:r>
            <a:r>
              <a:rPr kumimoji="0" lang="en-US" altLang="zh-CN" sz="2400" dirty="0">
                <a:sym typeface="Symbol" panose="05050102010706020507" pitchFamily="18" charset="2"/>
              </a:rPr>
              <a:t>B</a:t>
            </a:r>
            <a:r>
              <a:rPr kumimoji="0" lang="zh-CN" altLang="en-US" sz="2400" dirty="0">
                <a:sym typeface="Symbol" panose="05050102010706020507" pitchFamily="18" charset="2"/>
              </a:rPr>
              <a:t>、</a:t>
            </a:r>
            <a:r>
              <a:rPr kumimoji="0" lang="en-US" altLang="zh-CN" sz="2400" dirty="0">
                <a:sym typeface="Symbol" panose="05050102010706020507" pitchFamily="18" charset="2"/>
              </a:rPr>
              <a:t>C</a:t>
            </a:r>
            <a:r>
              <a:rPr kumimoji="0" lang="zh-CN" altLang="en-US" sz="2400" dirty="0">
                <a:sym typeface="Symbol" panose="05050102010706020507" pitchFamily="18" charset="2"/>
              </a:rPr>
              <a:t>生命期结束</a:t>
            </a:r>
            <a:r>
              <a:rPr kumimoji="0" lang="en-US" altLang="zh-CN" sz="2400" dirty="0">
                <a:sym typeface="Symbol" panose="05050102010706020507" pitchFamily="18" charset="2"/>
              </a:rPr>
              <a:t>——I(A), S(A)</a:t>
            </a:r>
            <a:endParaRPr kumimoji="0" lang="en-US" altLang="zh-CN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4" descr="mulsta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5499100" cy="460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5.25</a:t>
            </a:r>
            <a:endParaRPr lang="en-US" altLang="zh-CN"/>
          </a:p>
        </p:txBody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  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5.26  </a:t>
            </a:r>
            <a:r>
              <a:rPr lang="zh-CN" altLang="en-US"/>
              <a:t>多栈避免拷贝</a:t>
            </a:r>
            <a:endParaRPr lang="zh-CN" altLang="en-US"/>
          </a:p>
        </p:txBody>
      </p:sp>
      <p:pic>
        <p:nvPicPr>
          <p:cNvPr id="111619" name="Picture 4" descr="mulstack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905000"/>
            <a:ext cx="8609012" cy="345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5.26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S 			{ push(10, ps);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h2 = top(ht); pop(ht);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h1 = top(ht); pop(ht);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push(max(h1, h2), ht);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sub	</a:t>
            </a:r>
            <a:r>
              <a:rPr kumimoji="0" lang="en-US" altLang="zh-CN" sz="2400">
                <a:sym typeface="Symbol" panose="05050102010706020507" pitchFamily="18" charset="2"/>
              </a:rPr>
              <a:t>	{ push(shrink(top(ps)), ps);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B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		{ h2 = top(ht); pop(ht);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h1 = top(ht); pop(ht);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	   push(max(h1, h2), ht); 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B 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		</a:t>
            </a:r>
            <a:r>
              <a:rPr kumimoji="0" lang="en-US" altLang="zh-CN" sz="2400">
                <a:sym typeface="Symbol" panose="05050102010706020507" pitchFamily="18" charset="2"/>
              </a:rPr>
              <a:t>{ push(</a:t>
            </a:r>
            <a:r>
              <a:rPr kumimoji="0" lang="en-US" altLang="zh-CN" sz="2400" b="1">
                <a:sym typeface="Symbol" panose="05050102010706020507" pitchFamily="18" charset="2"/>
              </a:rPr>
              <a:t>text</a:t>
            </a:r>
            <a:r>
              <a:rPr kumimoji="0" lang="en-US" altLang="zh-CN" sz="2400">
                <a:sym typeface="Symbol" panose="05050102010706020507" pitchFamily="18" charset="2"/>
              </a:rPr>
              <a:t>.h*top(ps), ht); 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5.27  </a:t>
            </a:r>
            <a:r>
              <a:rPr lang="zh-CN" altLang="en-US"/>
              <a:t>中间代码生成</a:t>
            </a:r>
            <a:endParaRPr lang="zh-CN" altLang="en-US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E </a:t>
            </a:r>
            <a:r>
              <a:rPr lang="en-US" altLang="zh-CN" b="1"/>
              <a:t>and</a:t>
            </a:r>
            <a:r>
              <a:rPr lang="en-US" altLang="zh-CN"/>
              <a:t> F</a:t>
            </a:r>
            <a:r>
              <a:rPr lang="zh-CN" altLang="en-US"/>
              <a:t>，短路求值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E.true(false)</a:t>
            </a:r>
            <a:r>
              <a:rPr lang="zh-CN" altLang="en-US"/>
              <a:t>：</a:t>
            </a:r>
            <a:r>
              <a:rPr lang="en-US" altLang="zh-CN"/>
              <a:t>E</a:t>
            </a:r>
            <a:r>
              <a:rPr lang="zh-CN" altLang="en-US"/>
              <a:t>为真（假）时跳转目标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  <p:sp>
        <p:nvSpPr>
          <p:cNvPr id="113668" name="Line 4"/>
          <p:cNvSpPr>
            <a:spLocks noChangeShapeType="1"/>
          </p:cNvSpPr>
          <p:nvPr/>
        </p:nvSpPr>
        <p:spPr bwMode="auto">
          <a:xfrm>
            <a:off x="1066800" y="2667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69" name="Line 5"/>
          <p:cNvSpPr>
            <a:spLocks noChangeShapeType="1"/>
          </p:cNvSpPr>
          <p:nvPr/>
        </p:nvSpPr>
        <p:spPr bwMode="auto">
          <a:xfrm>
            <a:off x="1066800" y="2743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0" name="Line 6"/>
          <p:cNvSpPr>
            <a:spLocks noChangeShapeType="1"/>
          </p:cNvSpPr>
          <p:nvPr/>
        </p:nvSpPr>
        <p:spPr bwMode="auto">
          <a:xfrm>
            <a:off x="1066800" y="3200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1" name="Line 7"/>
          <p:cNvSpPr>
            <a:spLocks noChangeShapeType="1"/>
          </p:cNvSpPr>
          <p:nvPr/>
        </p:nvSpPr>
        <p:spPr bwMode="auto">
          <a:xfrm>
            <a:off x="1066800" y="6400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2" name="Line 8"/>
          <p:cNvSpPr>
            <a:spLocks noChangeShapeType="1"/>
          </p:cNvSpPr>
          <p:nvPr/>
        </p:nvSpPr>
        <p:spPr bwMode="auto">
          <a:xfrm>
            <a:off x="3505200" y="2743200"/>
            <a:ext cx="0" cy="3657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2809" name="Text Box 9"/>
          <p:cNvSpPr txBox="1">
            <a:spLocks noChangeArrowheads="1"/>
          </p:cNvSpPr>
          <p:nvPr/>
        </p:nvSpPr>
        <p:spPr bwMode="auto">
          <a:xfrm>
            <a:off x="914400" y="3200400"/>
            <a:ext cx="7924800" cy="312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E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newlabel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 ||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			   gen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label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 ||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code = gen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place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   	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 ||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gen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3674" name="Text Box 10"/>
          <p:cNvSpPr txBox="1">
            <a:spLocks noChangeArrowheads="1"/>
          </p:cNvSpPr>
          <p:nvPr/>
        </p:nvSpPr>
        <p:spPr bwMode="auto">
          <a:xfrm>
            <a:off x="5867400" y="3124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3675" name="Text Box 11"/>
          <p:cNvSpPr txBox="1">
            <a:spLocks noChangeArrowheads="1"/>
          </p:cNvSpPr>
          <p:nvPr/>
        </p:nvSpPr>
        <p:spPr bwMode="auto">
          <a:xfrm>
            <a:off x="1981200" y="2743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5029200" y="2743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5.27</a:t>
            </a:r>
            <a:r>
              <a:rPr lang="zh-CN" altLang="en-US"/>
              <a:t>（续）翻译模式</a:t>
            </a:r>
            <a:endParaRPr lang="zh-CN" altLang="en-US"/>
          </a:p>
        </p:txBody>
      </p:sp>
      <p:sp>
        <p:nvSpPr>
          <p:cNvPr id="114691" name="Line 4"/>
          <p:cNvSpPr>
            <a:spLocks noChangeShapeType="1"/>
          </p:cNvSpPr>
          <p:nvPr/>
        </p:nvSpPr>
        <p:spPr bwMode="auto">
          <a:xfrm>
            <a:off x="1066800" y="152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2" name="Line 5"/>
          <p:cNvSpPr>
            <a:spLocks noChangeShapeType="1"/>
          </p:cNvSpPr>
          <p:nvPr/>
        </p:nvSpPr>
        <p:spPr bwMode="auto">
          <a:xfrm>
            <a:off x="1066800" y="1600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3" name="Line 6"/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4" name="Line 7"/>
          <p:cNvSpPr>
            <a:spLocks noChangeShapeType="1"/>
          </p:cNvSpPr>
          <p:nvPr/>
        </p:nvSpPr>
        <p:spPr bwMode="auto">
          <a:xfrm>
            <a:off x="1066800" y="5638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4695" name="Line 8"/>
          <p:cNvSpPr>
            <a:spLocks noChangeShapeType="1"/>
          </p:cNvSpPr>
          <p:nvPr/>
        </p:nvSpPr>
        <p:spPr bwMode="auto">
          <a:xfrm>
            <a:off x="3505200" y="1600200"/>
            <a:ext cx="0" cy="403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3833" name="Text Box 9"/>
          <p:cNvSpPr txBox="1">
            <a:spLocks noChangeArrowheads="1"/>
          </p:cNvSpPr>
          <p:nvPr/>
        </p:nvSpPr>
        <p:spPr bwMode="auto">
          <a:xfrm>
            <a:off x="914400" y="2057400"/>
            <a:ext cx="7924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</a:rPr>
              <a:t>E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{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newlabel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			  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  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{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label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);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=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; }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       E</a:t>
            </a:r>
            <a:r>
              <a:rPr kumimoji="0" lang="en-US" altLang="zh-CN" sz="28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kumimoji="0" lang="en-US" altLang="zh-CN" sz="28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olidFill>
                  <a:srgbClr val="33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		{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place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);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			   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’ E.</a:t>
            </a:r>
            <a:r>
              <a:rPr kumimoji="0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); }</a:t>
            </a:r>
            <a:endParaRPr kumimoji="0" lang="en-US" altLang="zh-CN" sz="28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14697" name="Text Box 10"/>
          <p:cNvSpPr txBox="1">
            <a:spLocks noChangeArrowheads="1"/>
          </p:cNvSpPr>
          <p:nvPr/>
        </p:nvSpPr>
        <p:spPr bwMode="auto">
          <a:xfrm>
            <a:off x="5867400" y="1981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4698" name="Text Box 11"/>
          <p:cNvSpPr txBox="1">
            <a:spLocks noChangeArrowheads="1"/>
          </p:cNvSpPr>
          <p:nvPr/>
        </p:nvSpPr>
        <p:spPr bwMode="auto">
          <a:xfrm>
            <a:off x="1981200" y="1600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14699" name="Text Box 12"/>
          <p:cNvSpPr txBox="1">
            <a:spLocks noChangeArrowheads="1"/>
          </p:cNvSpPr>
          <p:nvPr/>
        </p:nvSpPr>
        <p:spPr bwMode="auto">
          <a:xfrm>
            <a:off x="5029200" y="1600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语义动作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5.27</a:t>
            </a:r>
            <a:r>
              <a:rPr lang="zh-CN" altLang="en-US"/>
              <a:t>（续）栈实现</a:t>
            </a:r>
            <a:endParaRPr lang="zh-CN" altLang="en-US"/>
          </a:p>
        </p:txBody>
      </p:sp>
      <p:sp>
        <p:nvSpPr>
          <p:cNvPr id="115715" name="Line 3"/>
          <p:cNvSpPr>
            <a:spLocks noChangeShapeType="1"/>
          </p:cNvSpPr>
          <p:nvPr/>
        </p:nvSpPr>
        <p:spPr bwMode="auto">
          <a:xfrm>
            <a:off x="1066800" y="1524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6" name="Line 4"/>
          <p:cNvSpPr>
            <a:spLocks noChangeShapeType="1"/>
          </p:cNvSpPr>
          <p:nvPr/>
        </p:nvSpPr>
        <p:spPr bwMode="auto">
          <a:xfrm>
            <a:off x="1066800" y="16002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7" name="Line 5"/>
          <p:cNvSpPr>
            <a:spLocks noChangeShapeType="1"/>
          </p:cNvSpPr>
          <p:nvPr/>
        </p:nvSpPr>
        <p:spPr bwMode="auto">
          <a:xfrm>
            <a:off x="1066800" y="20574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1066800" y="4876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>
            <a:off x="3276600" y="16002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720" name="Text Box 8"/>
          <p:cNvSpPr txBox="1">
            <a:spLocks noChangeArrowheads="1"/>
          </p:cNvSpPr>
          <p:nvPr/>
        </p:nvSpPr>
        <p:spPr bwMode="auto">
          <a:xfrm>
            <a:off x="914400" y="2057400"/>
            <a:ext cx="7924800" cy="273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E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	</a:t>
            </a:r>
            <a:r>
              <a:rPr kumimoji="0" lang="en-US" altLang="zh-CN" sz="2800">
                <a:sym typeface="Symbol" panose="05050102010706020507" pitchFamily="18" charset="2"/>
              </a:rPr>
              <a:t>	       { </a:t>
            </a:r>
            <a:r>
              <a:rPr kumimoji="0" lang="en-US" altLang="zh-CN" sz="2800" i="1">
                <a:sym typeface="Symbol" panose="05050102010706020507" pitchFamily="18" charset="2"/>
              </a:rPr>
              <a:t>push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newlabel</a:t>
            </a:r>
            <a:r>
              <a:rPr kumimoji="0" lang="en-US" altLang="zh-CN" sz="2800">
                <a:sym typeface="Symbol" panose="05050102010706020507" pitchFamily="18" charset="2"/>
              </a:rPr>
              <a:t>, 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); }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 i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       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and</a:t>
            </a:r>
            <a:r>
              <a:rPr kumimoji="0" lang="en-US" altLang="zh-CN" sz="2800">
                <a:sym typeface="Symbol" panose="05050102010706020507" pitchFamily="18" charset="2"/>
              </a:rPr>
              <a:t> 	       { </a:t>
            </a:r>
            <a:r>
              <a:rPr kumimoji="0" lang="en-US" altLang="zh-CN" sz="2800" i="1"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sym typeface="Symbol" panose="05050102010706020507" pitchFamily="18" charset="2"/>
              </a:rPr>
              <a:t>label</a:t>
            </a:r>
            <a:r>
              <a:rPr kumimoji="0" lang="en-US" altLang="zh-CN" sz="2800">
                <a:sym typeface="Symbol" panose="05050102010706020507" pitchFamily="18" charset="2"/>
              </a:rPr>
              <a:t>’ </a:t>
            </a:r>
            <a:r>
              <a:rPr kumimoji="0" lang="en-US" altLang="zh-CN" sz="2800" i="1">
                <a:sym typeface="Symbol" panose="05050102010706020507" pitchFamily="18" charset="2"/>
              </a:rPr>
              <a:t>top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));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   </a:t>
            </a:r>
            <a:r>
              <a:rPr kumimoji="0" lang="en-US" altLang="zh-CN" sz="2800" i="1">
                <a:sym typeface="Symbol" panose="05050102010706020507" pitchFamily="18" charset="2"/>
              </a:rPr>
              <a:t>pop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); }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        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 	        { </a:t>
            </a:r>
            <a:r>
              <a:rPr kumimoji="0" lang="en-US" altLang="zh-CN" sz="2800" i="1"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sym typeface="Symbol" panose="05050102010706020507" pitchFamily="18" charset="2"/>
              </a:rPr>
              <a:t>if</a:t>
            </a:r>
            <a:r>
              <a:rPr kumimoji="0" lang="en-US" altLang="zh-CN" sz="2800">
                <a:sym typeface="Symbol" panose="05050102010706020507" pitchFamily="18" charset="2"/>
              </a:rPr>
              <a:t>’ </a:t>
            </a:r>
            <a:r>
              <a:rPr kumimoji="0" lang="en-US" altLang="zh-CN" sz="2800" b="1">
                <a:sym typeface="Symbol" panose="05050102010706020507" pitchFamily="18" charset="2"/>
              </a:rPr>
              <a:t>id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place</a:t>
            </a:r>
            <a:r>
              <a:rPr kumimoji="0" lang="en-US" altLang="zh-CN" sz="2800">
                <a:sym typeface="Symbol" panose="05050102010706020507" pitchFamily="18" charset="2"/>
              </a:rPr>
              <a:t> ‘</a:t>
            </a:r>
            <a:r>
              <a:rPr kumimoji="0" lang="en-US" altLang="zh-CN" sz="2800" b="1"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sym typeface="Symbol" panose="05050102010706020507" pitchFamily="18" charset="2"/>
              </a:rPr>
              <a:t>’ top(</a:t>
            </a:r>
            <a:r>
              <a:rPr kumimoji="0" lang="en-US" altLang="zh-CN" sz="2800" i="1">
                <a:sym typeface="Symbol" panose="05050102010706020507" pitchFamily="18" charset="2"/>
              </a:rPr>
              <a:t>true</a:t>
            </a:r>
            <a:r>
              <a:rPr kumimoji="0" lang="en-US" altLang="zh-CN" sz="2800">
                <a:sym typeface="Symbol" panose="05050102010706020507" pitchFamily="18" charset="2"/>
              </a:rPr>
              <a:t>));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</a:t>
            </a:r>
            <a:r>
              <a:rPr kumimoji="0" lang="en-US" altLang="zh-CN" sz="2800" i="1">
                <a:sym typeface="Symbol" panose="05050102010706020507" pitchFamily="18" charset="2"/>
              </a:rPr>
              <a:t>emit</a:t>
            </a:r>
            <a:r>
              <a:rPr kumimoji="0" lang="en-US" altLang="zh-CN" sz="2800">
                <a:sym typeface="Symbol" panose="05050102010706020507" pitchFamily="18" charset="2"/>
              </a:rPr>
              <a:t>(‘</a:t>
            </a:r>
            <a:r>
              <a:rPr kumimoji="0" lang="en-US" altLang="zh-CN" sz="2800" b="1">
                <a:sym typeface="Symbol" panose="05050102010706020507" pitchFamily="18" charset="2"/>
              </a:rPr>
              <a:t>goto</a:t>
            </a:r>
            <a:r>
              <a:rPr kumimoji="0" lang="en-US" altLang="zh-CN" sz="2800">
                <a:sym typeface="Symbol" panose="05050102010706020507" pitchFamily="18" charset="2"/>
              </a:rPr>
              <a:t>’ </a:t>
            </a:r>
            <a:r>
              <a:rPr kumimoji="0" lang="en-US" altLang="zh-CN" sz="2800" i="1">
                <a:sym typeface="Symbol" panose="05050102010706020507" pitchFamily="18" charset="2"/>
              </a:rPr>
              <a:t>top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i="1">
                <a:sym typeface="Symbol" panose="05050102010706020507" pitchFamily="18" charset="2"/>
              </a:rPr>
              <a:t>false</a:t>
            </a:r>
            <a:r>
              <a:rPr kumimoji="0" lang="en-US" altLang="zh-CN" sz="2800">
                <a:sym typeface="Symbol" panose="05050102010706020507" pitchFamily="18" charset="2"/>
              </a:rPr>
              <a:t>)); }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5867400" y="19812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5722" name="Text Box 10"/>
          <p:cNvSpPr txBox="1">
            <a:spLocks noChangeArrowheads="1"/>
          </p:cNvSpPr>
          <p:nvPr/>
        </p:nvSpPr>
        <p:spPr bwMode="auto">
          <a:xfrm>
            <a:off x="1447800" y="16002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5029200" y="16002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语义动作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5.9.2  </a:t>
            </a:r>
            <a:r>
              <a:rPr lang="zh-CN" altLang="en-US"/>
              <a:t>非重叠生存期（例</a:t>
            </a:r>
            <a:r>
              <a:rPr lang="en-US" altLang="zh-CN"/>
              <a:t>5.28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838200"/>
          </a:xfrm>
        </p:spPr>
        <p:txBody>
          <a:bodyPr/>
          <a:lstStyle/>
          <a:p>
            <a:pPr eaLnBrk="1" hangingPunct="1"/>
            <a:r>
              <a:rPr lang="zh-CN" altLang="en-US"/>
              <a:t>每个</a:t>
            </a:r>
            <a:r>
              <a:rPr lang="en-US" altLang="zh-CN"/>
              <a:t>push</a:t>
            </a:r>
            <a:r>
              <a:rPr lang="zh-CN" altLang="en-US"/>
              <a:t>紧接一个</a:t>
            </a:r>
            <a:r>
              <a:rPr lang="en-US" altLang="zh-CN"/>
              <a:t>pop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只需一个寄存器</a:t>
            </a:r>
            <a:endParaRPr lang="zh-CN" altLang="en-US"/>
          </a:p>
        </p:txBody>
      </p:sp>
      <p:sp>
        <p:nvSpPr>
          <p:cNvPr id="116740" name="Line 4"/>
          <p:cNvSpPr>
            <a:spLocks noChangeShapeType="1"/>
          </p:cNvSpPr>
          <p:nvPr/>
        </p:nvSpPr>
        <p:spPr bwMode="auto">
          <a:xfrm>
            <a:off x="304800" y="21336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>
            <a:off x="304800" y="22098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Line 6"/>
          <p:cNvSpPr>
            <a:spLocks noChangeShapeType="1"/>
          </p:cNvSpPr>
          <p:nvPr/>
        </p:nvSpPr>
        <p:spPr bwMode="auto">
          <a:xfrm>
            <a:off x="304800" y="26670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>
            <a:off x="304800" y="5791200"/>
            <a:ext cx="86375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Line 8"/>
          <p:cNvSpPr>
            <a:spLocks noChangeShapeType="1"/>
          </p:cNvSpPr>
          <p:nvPr/>
        </p:nvSpPr>
        <p:spPr bwMode="auto">
          <a:xfrm>
            <a:off x="2819400" y="2209800"/>
            <a:ext cx="0" cy="358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152400" y="2667000"/>
            <a:ext cx="8991600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E  T R		R.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T.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E.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 = R.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 T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 	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sym typeface="Symbol" panose="05050102010706020507" pitchFamily="18" charset="2"/>
              </a:rPr>
              <a:t>mknode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lexeme</a:t>
            </a:r>
            <a:r>
              <a:rPr kumimoji="0" lang="en-US" altLang="zh-CN" sz="2800">
                <a:sym typeface="Symbol" panose="05050102010706020507" pitchFamily="18" charset="2"/>
              </a:rPr>
              <a:t>, R.</a:t>
            </a:r>
            <a:r>
              <a:rPr kumimoji="0" lang="en-US" altLang="zh-CN" sz="2800" i="1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Symbol" panose="05050102010706020507" pitchFamily="18" charset="2"/>
              </a:rPr>
              <a:t>, T.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		R.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Symbol" panose="05050102010706020507" pitchFamily="18" charset="2"/>
              </a:rPr>
              <a:t> =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s</a:t>
            </a:r>
            <a:endParaRPr kumimoji="0" lang="en-US" altLang="zh-CN" sz="28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</a:t>
            </a:r>
            <a:r>
              <a:rPr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 sz="2800">
                <a:sym typeface="Symbol" panose="05050102010706020507" pitchFamily="18" charset="2"/>
              </a:rPr>
              <a:t>		R.</a:t>
            </a:r>
            <a:r>
              <a:rPr lang="en-US" altLang="zh-CN" sz="2800" i="1">
                <a:sym typeface="Symbol" panose="05050102010706020507" pitchFamily="18" charset="2"/>
              </a:rPr>
              <a:t>s</a:t>
            </a:r>
            <a:r>
              <a:rPr lang="en-US" altLang="zh-CN" sz="2800">
                <a:sym typeface="Symbol" panose="05050102010706020507" pitchFamily="18" charset="2"/>
              </a:rPr>
              <a:t> = R.</a:t>
            </a:r>
            <a:r>
              <a:rPr lang="en-US" altLang="zh-CN" sz="2800" i="1">
                <a:sym typeface="Symbol" panose="05050102010706020507" pitchFamily="18" charset="2"/>
              </a:rPr>
              <a:t>i</a:t>
            </a:r>
            <a:endParaRPr lang="en-US" altLang="zh-CN" sz="28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ym typeface="Symbol" panose="05050102010706020507" pitchFamily="18" charset="2"/>
              </a:rPr>
              <a:t>T</a:t>
            </a:r>
            <a:r>
              <a:rPr kumimoji="0" lang="en-US" altLang="zh-CN" sz="2800">
                <a:sym typeface="Symbol" panose="05050102010706020507" pitchFamily="18" charset="2"/>
              </a:rPr>
              <a:t>  </a:t>
            </a:r>
            <a:r>
              <a:rPr kumimoji="0" lang="en-US" altLang="zh-CN" sz="2800" b="1">
                <a:solidFill>
                  <a:srgbClr val="3333CC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		T.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 = </a:t>
            </a:r>
            <a:r>
              <a:rPr kumimoji="0" lang="en-US" altLang="zh-CN" sz="2800" i="1">
                <a:sym typeface="Symbol" panose="05050102010706020507" pitchFamily="18" charset="2"/>
              </a:rPr>
              <a:t>mkleaf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, 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val</a:t>
            </a:r>
            <a:r>
              <a:rPr kumimoji="0" lang="en-US" altLang="zh-CN" sz="2800">
                <a:sym typeface="Symbol" panose="05050102010706020507" pitchFamily="18" charset="2"/>
              </a:rPr>
              <a:t>)</a:t>
            </a:r>
            <a:endParaRPr kumimoji="0" lang="en-US" altLang="zh-CN" sz="2800">
              <a:sym typeface="Symbol" panose="05050102010706020507" pitchFamily="18" charset="2"/>
            </a:endParaRP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5867400" y="2590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16747" name="Text Box 11"/>
          <p:cNvSpPr txBox="1">
            <a:spLocks noChangeArrowheads="1"/>
          </p:cNvSpPr>
          <p:nvPr/>
        </p:nvSpPr>
        <p:spPr bwMode="auto">
          <a:xfrm>
            <a:off x="609600" y="2209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16748" name="Text Box 12"/>
          <p:cNvSpPr txBox="1">
            <a:spLocks noChangeArrowheads="1"/>
          </p:cNvSpPr>
          <p:nvPr/>
        </p:nvSpPr>
        <p:spPr bwMode="auto">
          <a:xfrm>
            <a:off x="5029200" y="2209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124200"/>
          </a:xfrm>
        </p:spPr>
        <p:txBody>
          <a:bodyPr/>
          <a:lstStyle/>
          <a:p>
            <a:pPr eaLnBrk="1" hangingPunct="1"/>
            <a:r>
              <a:rPr lang="zh-CN" altLang="en-US" sz="2800"/>
              <a:t>考虑扩展下面的依赖图</a:t>
            </a:r>
            <a:endParaRPr lang="zh-CN" altLang="en-US" sz="2800"/>
          </a:p>
          <a:p>
            <a:pPr lvl="1" eaLnBrk="1" hangingPunct="1">
              <a:spcBef>
                <a:spcPct val="0"/>
              </a:spcBef>
            </a:pPr>
            <a:r>
              <a:rPr kumimoji="0" lang="en-US" altLang="zh-CN" sz="2400">
                <a:sym typeface="Symbol" panose="05050102010706020507" pitchFamily="18" charset="2"/>
              </a:rPr>
              <a:t>R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zh-CN" altLang="en-US" sz="2400">
                <a:sym typeface="Symbol" panose="05050102010706020507" pitchFamily="18" charset="2"/>
              </a:rPr>
              <a:t>，</a:t>
            </a:r>
            <a:r>
              <a:rPr lang="en-US" altLang="zh-CN" sz="2400">
                <a:sym typeface="Symbol" panose="05050102010706020507" pitchFamily="18" charset="2"/>
              </a:rPr>
              <a:t>R.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Wingdings" panose="05000000000000000000" pitchFamily="2" charset="2"/>
              </a:rPr>
              <a:t>R.</a:t>
            </a:r>
            <a:r>
              <a:rPr lang="en-US" altLang="zh-CN" sz="2400" i="1">
                <a:sym typeface="Wingdings" panose="05000000000000000000" pitchFamily="2" charset="2"/>
              </a:rPr>
              <a:t>s</a:t>
            </a:r>
            <a:r>
              <a:rPr lang="zh-CN" altLang="en-US" sz="2400">
                <a:sym typeface="Wingdings" panose="05000000000000000000" pitchFamily="2" charset="2"/>
              </a:rPr>
              <a:t>拷贝，可用一个寄存器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kumimoji="0" lang="en-US" altLang="zh-CN" sz="2400">
                <a:sym typeface="Symbol" panose="05050102010706020507" pitchFamily="18" charset="2"/>
              </a:rPr>
              <a:t>R</a:t>
            </a:r>
            <a:r>
              <a:rPr kumimoji="0" lang="en-US" altLang="zh-CN" sz="2400" b="1">
                <a:sym typeface="Symbol" panose="05050102010706020507" pitchFamily="18" charset="2"/>
              </a:rPr>
              <a:t>addop</a:t>
            </a:r>
            <a:r>
              <a:rPr kumimoji="0" lang="en-US" altLang="zh-CN" sz="2400">
                <a:sym typeface="Symbol" panose="05050102010706020507" pitchFamily="18" charset="2"/>
              </a:rPr>
              <a:t> T 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zh-CN" altLang="en-US" sz="2400">
                <a:sym typeface="Symbol" panose="05050102010706020507" pitchFamily="18" charset="2"/>
              </a:rPr>
              <a:t>，计算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时</a:t>
            </a:r>
            <a:r>
              <a:rPr kumimoji="0" lang="en-US" altLang="zh-CN" sz="2400">
                <a:sym typeface="Symbol" panose="05050102010706020507" pitchFamily="18" charset="2"/>
              </a:rPr>
              <a:t>R.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生存期结束，可用同一寄存器，由归纳假设，子树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zh-CN" altLang="en-US" sz="2400">
                <a:sym typeface="Symbol" panose="05050102010706020507" pitchFamily="18" charset="2"/>
              </a:rPr>
              <a:t>如何扩展，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zh-CN" altLang="en-US" sz="2400">
                <a:sym typeface="Symbol" panose="05050102010706020507" pitchFamily="18" charset="2"/>
              </a:rPr>
              <a:t>总可与最初的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zh-CN" altLang="en-US" sz="2400">
                <a:sym typeface="Symbol" panose="05050102010706020507" pitchFamily="18" charset="2"/>
              </a:rPr>
              <a:t>共用同一寄存器</a:t>
            </a:r>
            <a:endParaRPr kumimoji="0" lang="zh-CN" altLang="en-US" sz="240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sz="2400">
                <a:sym typeface="Symbol" panose="05050102010706020507" pitchFamily="18" charset="2"/>
              </a:rPr>
              <a:t>而</a:t>
            </a:r>
            <a:r>
              <a:rPr kumimoji="0" lang="en-US" altLang="zh-CN" sz="2400">
                <a:sym typeface="Symbol" panose="05050102010706020507" pitchFamily="18" charset="2"/>
              </a:rPr>
              <a:t>R.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为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的拷贝，可共用一个寄存器</a:t>
            </a:r>
            <a:endParaRPr kumimoji="0" lang="zh-CN" altLang="en-US" sz="2400" baseline="-25000">
              <a:sym typeface="Symbol" panose="05050102010706020507" pitchFamily="18" charset="2"/>
            </a:endParaRPr>
          </a:p>
        </p:txBody>
      </p:sp>
      <p:pic>
        <p:nvPicPr>
          <p:cNvPr id="117764" name="Picture 14" descr="overla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13" y="3957638"/>
            <a:ext cx="3760787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 T  { r</a:t>
            </a:r>
            <a:r>
              <a:rPr kumimoji="0" lang="en-US" altLang="zh-CN" sz="2800" i="1">
                <a:sym typeface="Symbol" panose="05050102010706020507" pitchFamily="18" charset="2"/>
              </a:rPr>
              <a:t> = </a:t>
            </a:r>
            <a:r>
              <a:rPr kumimoji="0" lang="en-US" altLang="zh-CN" sz="2800">
                <a:sym typeface="Symbol" panose="05050102010706020507" pitchFamily="18" charset="2"/>
              </a:rPr>
              <a:t>T</a:t>
            </a:r>
            <a:r>
              <a:rPr kumimoji="0" lang="en-US" altLang="zh-CN" sz="2800" i="1">
                <a:sym typeface="Symbol" panose="05050102010706020507" pitchFamily="18" charset="2"/>
              </a:rPr>
              <a:t>.nptr</a:t>
            </a:r>
            <a:r>
              <a:rPr kumimoji="0" lang="en-US" altLang="zh-CN" sz="2800">
                <a:sym typeface="Symbol" panose="05050102010706020507" pitchFamily="18" charset="2"/>
              </a:rPr>
              <a:t> }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    R { E.</a:t>
            </a:r>
            <a:r>
              <a:rPr kumimoji="0" lang="en-US" altLang="zh-CN" sz="2800" i="1">
                <a:sym typeface="Symbol" panose="05050102010706020507" pitchFamily="18" charset="2"/>
              </a:rPr>
              <a:t>nptr</a:t>
            </a:r>
            <a:r>
              <a:rPr kumimoji="0" lang="en-US" altLang="zh-CN" sz="2800">
                <a:sym typeface="Symbol" panose="05050102010706020507" pitchFamily="18" charset="2"/>
              </a:rPr>
              <a:t> = r}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R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addop</a:t>
            </a:r>
            <a:endParaRPr kumimoji="0" lang="en-US" altLang="zh-CN" sz="2800" b="1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	   </a:t>
            </a:r>
            <a:r>
              <a:rPr kumimoji="0" lang="en-US" altLang="zh-CN" sz="2800">
                <a:sym typeface="Symbol" panose="05050102010706020507" pitchFamily="18" charset="2"/>
              </a:rPr>
              <a:t> T  { r =  mknode(</a:t>
            </a:r>
            <a:r>
              <a:rPr kumimoji="0" lang="en-US" altLang="zh-CN" sz="2800" b="1">
                <a:sym typeface="Symbol" panose="05050102010706020507" pitchFamily="18" charset="2"/>
              </a:rPr>
              <a:t>addop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lex</a:t>
            </a:r>
            <a:r>
              <a:rPr kumimoji="0" lang="en-US" altLang="zh-CN" sz="2800">
                <a:sym typeface="Symbol" panose="05050102010706020507" pitchFamily="18" charset="2"/>
              </a:rPr>
              <a:t> , r</a:t>
            </a:r>
            <a:r>
              <a:rPr kumimoji="0" lang="en-US" altLang="zh-CN" sz="2800" i="1">
                <a:sym typeface="Symbol" panose="05050102010706020507" pitchFamily="18" charset="2"/>
              </a:rPr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, T.</a:t>
            </a:r>
            <a:r>
              <a:rPr kumimoji="0" lang="en-US" altLang="zh-CN" sz="2800" i="1">
                <a:sym typeface="Symbol" panose="05050102010706020507" pitchFamily="18" charset="2"/>
              </a:rPr>
              <a:t>nptr </a:t>
            </a:r>
            <a:r>
              <a:rPr kumimoji="0" lang="en-US" altLang="zh-CN" sz="2800">
                <a:sym typeface="Symbol" panose="05050102010706020507" pitchFamily="18" charset="2"/>
              </a:rPr>
              <a:t>)}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	    R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>
                <a:sym typeface="Symbol" panose="05050102010706020507" pitchFamily="18" charset="2"/>
              </a:rPr>
              <a:t>R  </a:t>
            </a:r>
            <a:endParaRPr kumimoji="0" lang="en-US" altLang="zh-CN" sz="2800">
              <a:sym typeface="Symbol" panose="05050102010706020507" pitchFamily="18" charset="2"/>
            </a:endParaRPr>
          </a:p>
          <a:p>
            <a:pPr eaLnBrk="1" hangingPunct="1">
              <a:lnSpc>
                <a:spcPct val="79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kumimoji="0" lang="en-US" altLang="zh-CN" sz="2800"/>
              <a:t>T</a:t>
            </a:r>
            <a:r>
              <a:rPr kumimoji="0" lang="en-US" altLang="zh-CN" sz="2800">
                <a:sym typeface="Symbol" panose="05050102010706020507" pitchFamily="18" charset="2"/>
              </a:rPr>
              <a:t>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kumimoji="0" lang="en-US" altLang="zh-CN" sz="2800">
                <a:sym typeface="Symbol" panose="05050102010706020507" pitchFamily="18" charset="2"/>
              </a:rPr>
              <a:t>{T.</a:t>
            </a:r>
            <a:r>
              <a:rPr kumimoji="0" lang="en-US" altLang="zh-CN" sz="2800" i="1">
                <a:sym typeface="Symbol" panose="05050102010706020507" pitchFamily="18" charset="2"/>
              </a:rPr>
              <a:t>nptr </a:t>
            </a:r>
            <a:r>
              <a:rPr kumimoji="0" lang="en-US" altLang="zh-CN" sz="2800">
                <a:sym typeface="Symbol" panose="05050102010706020507" pitchFamily="18" charset="2"/>
              </a:rPr>
              <a:t>= mkleaf(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, </a:t>
            </a:r>
            <a:r>
              <a:rPr kumimoji="0" lang="en-US" altLang="zh-CN" sz="2800" b="1">
                <a:sym typeface="Symbol" panose="05050102010706020507" pitchFamily="18" charset="2"/>
              </a:rPr>
              <a:t>num</a:t>
            </a:r>
            <a:r>
              <a:rPr kumimoji="0" lang="en-US" altLang="zh-CN" sz="2800">
                <a:sym typeface="Symbol" panose="05050102010706020507" pitchFamily="18" charset="2"/>
              </a:rPr>
              <a:t>.</a:t>
            </a:r>
            <a:r>
              <a:rPr kumimoji="0" lang="en-US" altLang="zh-CN" sz="2800" i="1">
                <a:sym typeface="Symbol" panose="05050102010706020507" pitchFamily="18" charset="2"/>
              </a:rPr>
              <a:t>entry</a:t>
            </a:r>
            <a:r>
              <a:rPr kumimoji="0" lang="en-US" altLang="zh-CN" sz="2800">
                <a:sym typeface="Symbol" panose="05050102010706020507" pitchFamily="18" charset="2"/>
              </a:rPr>
              <a:t>)}</a:t>
            </a:r>
            <a:endParaRPr kumimoji="0" lang="en-US" altLang="zh-CN" baseline="-250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5.28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247775"/>
            <a:ext cx="7772400" cy="5381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struct syntax_tree_node *r;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E()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{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r = T(); R(); return r;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R()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{  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char addoplexeme;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if (lookahead = </a:t>
            </a:r>
            <a:r>
              <a:rPr kumimoji="0" lang="en-US" altLang="zh-CN" sz="2400" b="1">
                <a:sym typeface="Symbol" panose="05050102010706020507" pitchFamily="18" charset="2"/>
              </a:rPr>
              <a:t>addop</a:t>
            </a:r>
            <a:r>
              <a:rPr kumimoji="0" lang="en-US" altLang="zh-CN" sz="2400">
                <a:sym typeface="Symbol" panose="05050102010706020507" pitchFamily="18" charset="2"/>
              </a:rPr>
              <a:t>) {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addoplexeme = lexval;   match(</a:t>
            </a:r>
            <a:r>
              <a:rPr kumimoji="0" lang="en-US" altLang="zh-CN" sz="2400" b="1">
                <a:sym typeface="Symbol" panose="05050102010706020507" pitchFamily="18" charset="2"/>
              </a:rPr>
              <a:t>addop</a:t>
            </a:r>
            <a:r>
              <a:rPr kumimoji="0" lang="en-US" altLang="zh-CN" sz="2400">
                <a:sym typeface="Symbol" panose="05050102010706020507" pitchFamily="18" charset="2"/>
              </a:rPr>
              <a:t>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r = mknode(addoplexeme, r, T());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R();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  </a:t>
            </a:r>
            <a:r>
              <a:rPr lang="zh-CN" altLang="en-US"/>
              <a:t>语法制导定义分析</a:t>
            </a:r>
            <a:endParaRPr lang="zh-CN" alt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800"/>
              <a:t>5.7</a:t>
            </a:r>
            <a:r>
              <a:rPr lang="zh-CN" altLang="en-US" sz="2800"/>
              <a:t>节：多个递归函数协同计算属性</a:t>
            </a:r>
            <a:endParaRPr lang="zh-CN" altLang="en-US" sz="2800"/>
          </a:p>
          <a:p>
            <a:pPr eaLnBrk="1" hangingPunct="1"/>
            <a:r>
              <a:rPr lang="zh-CN" altLang="en-US" sz="2800"/>
              <a:t>一次深度优先无法进行完整翻译</a:t>
            </a:r>
            <a:r>
              <a:rPr lang="en-US" altLang="zh-CN" sz="2800"/>
              <a:t>——</a:t>
            </a:r>
            <a:br>
              <a:rPr lang="en-US" altLang="zh-CN" sz="2800"/>
            </a:br>
            <a:r>
              <a:rPr lang="zh-CN" altLang="en-US" sz="2800"/>
              <a:t>每个综合属性由一个单独函数计算</a:t>
            </a:r>
            <a:endParaRPr lang="zh-CN" altLang="en-US" sz="2800"/>
          </a:p>
          <a:p>
            <a:pPr eaLnBrk="1" hangingPunct="1"/>
            <a:r>
              <a:rPr lang="zh-CN" altLang="en-US">
                <a:solidFill>
                  <a:srgbClr val="3333CC"/>
                </a:solidFill>
              </a:rPr>
              <a:t>例</a:t>
            </a:r>
            <a:r>
              <a:rPr lang="en-US" altLang="zh-CN">
                <a:solidFill>
                  <a:srgbClr val="3333CC"/>
                </a:solidFill>
              </a:rPr>
              <a:t>5.29</a:t>
            </a:r>
            <a:endParaRPr lang="en-US" altLang="zh-CN">
              <a:solidFill>
                <a:srgbClr val="3333CC"/>
              </a:solidFill>
            </a:endParaRPr>
          </a:p>
          <a:p>
            <a:pPr lvl="1" eaLnBrk="1" hangingPunct="1"/>
            <a:r>
              <a:rPr lang="zh-CN" altLang="en-US" sz="2400"/>
              <a:t>一个“重载”标识符可以有一组可能的类型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表达式有一组可能类型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通过上下文确定每个子表达式的类型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自底向上计算可能类型集合，自顶向下确定一个最终类型</a:t>
            </a:r>
            <a:endParaRPr lang="zh-CN" altLang="en-US" sz="24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5.29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5029200"/>
            <a:ext cx="7772400" cy="1066800"/>
          </a:xfrm>
        </p:spPr>
        <p:txBody>
          <a:bodyPr/>
          <a:lstStyle/>
          <a:p>
            <a:pPr eaLnBrk="1" hangingPunct="1"/>
            <a:r>
              <a:rPr lang="en-US" altLang="zh-CN"/>
              <a:t>s——</a:t>
            </a:r>
            <a:r>
              <a:rPr lang="zh-CN" altLang="en-US"/>
              <a:t>可能类型集合</a:t>
            </a:r>
            <a:br>
              <a:rPr lang="zh-CN" altLang="en-US"/>
            </a:br>
            <a:r>
              <a:rPr lang="en-US" altLang="zh-CN"/>
              <a:t>t——</a:t>
            </a:r>
            <a:r>
              <a:rPr lang="zh-CN" altLang="en-US"/>
              <a:t>根据上下文确定的最终类型</a:t>
            </a:r>
            <a:endParaRPr lang="zh-CN" altLang="en-US"/>
          </a:p>
        </p:txBody>
      </p:sp>
      <p:sp>
        <p:nvSpPr>
          <p:cNvPr id="121860" name="Line 4"/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>
            <a:off x="1184275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2" name="Line 6"/>
          <p:cNvSpPr>
            <a:spLocks noChangeShapeType="1"/>
          </p:cNvSpPr>
          <p:nvPr/>
        </p:nvSpPr>
        <p:spPr bwMode="auto">
          <a:xfrm>
            <a:off x="1184275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>
            <a:off x="1184275" y="4876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3622675" y="1430338"/>
            <a:ext cx="0" cy="345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65" name="Text Box 9"/>
          <p:cNvSpPr txBox="1">
            <a:spLocks noChangeArrowheads="1"/>
          </p:cNvSpPr>
          <p:nvPr/>
        </p:nvSpPr>
        <p:spPr bwMode="auto">
          <a:xfrm>
            <a:off x="1184275" y="1905000"/>
            <a:ext cx="7086600" cy="298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E			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g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S.</a:t>
            </a:r>
            <a:r>
              <a:rPr kumimoji="0" lang="en-US" altLang="zh-CN" sz="2400" i="1">
                <a:sym typeface="Symbol" panose="05050102010706020507" pitchFamily="18" charset="2"/>
              </a:rPr>
              <a:t>r</a:t>
            </a:r>
            <a:r>
              <a:rPr kumimoji="0" lang="en-US" altLang="zh-CN" sz="2400">
                <a:sym typeface="Symbol" panose="05050102010706020507" pitchFamily="18" charset="2"/>
              </a:rPr>
              <a:t> = E.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 		E.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fs</a:t>
            </a:r>
            <a:r>
              <a:rPr kumimoji="0" lang="en-US" altLang="zh-CN" sz="2400">
                <a:sym typeface="Symbol" panose="05050102010706020507" pitchFamily="18" charset="2"/>
              </a:rPr>
              <a:t>(E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fi1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fi2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ft</a:t>
            </a:r>
            <a:r>
              <a:rPr kumimoji="0" lang="en-US" altLang="zh-CN" sz="2400">
                <a:sym typeface="Symbol" panose="05050102010706020507" pitchFamily="18" charset="2"/>
              </a:rPr>
              <a:t>(E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,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t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 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			E.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endParaRPr kumimoji="0" lang="en-US" altLang="zh-CN" sz="2400" i="1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 i="1">
                <a:sym typeface="Symbol" panose="05050102010706020507" pitchFamily="18" charset="2"/>
              </a:rPr>
              <a:t>			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i="1">
                <a:sym typeface="Symbol" panose="05050102010706020507" pitchFamily="18" charset="2"/>
              </a:rPr>
              <a:t>.t </a:t>
            </a:r>
            <a:r>
              <a:rPr kumimoji="0" lang="en-US" altLang="zh-CN" sz="2400">
                <a:sym typeface="Symbol" panose="05050102010706020507" pitchFamily="18" charset="2"/>
              </a:rPr>
              <a:t>= </a:t>
            </a:r>
            <a:r>
              <a:rPr kumimoji="0" lang="en-US" altLang="zh-CN" sz="2400" i="1">
                <a:sym typeface="Symbol" panose="05050102010706020507" pitchFamily="18" charset="2"/>
              </a:rPr>
              <a:t>h</a:t>
            </a:r>
            <a:r>
              <a:rPr kumimoji="0" lang="en-US" altLang="zh-CN" sz="2400">
                <a:sym typeface="Symbol" panose="05050102010706020507" pitchFamily="18" charset="2"/>
              </a:rPr>
              <a:t>(E.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5984875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1565275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5146675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5.29</a:t>
            </a:r>
            <a:r>
              <a:rPr lang="zh-CN" altLang="en-US"/>
              <a:t>（续）</a:t>
            </a:r>
            <a:endParaRPr lang="zh-CN" altLang="en-US"/>
          </a:p>
        </p:txBody>
      </p:sp>
      <p:pic>
        <p:nvPicPr>
          <p:cNvPr id="122883" name="Picture 14" descr="twopas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90800"/>
            <a:ext cx="8212138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5.10.1  </a:t>
            </a:r>
            <a:r>
              <a:rPr lang="zh-CN" altLang="en-US"/>
              <a:t>递归计算属性</a:t>
            </a:r>
            <a:endParaRPr lang="zh-CN" alt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语法树的依赖图</a:t>
            </a:r>
            <a:r>
              <a:rPr lang="en-US" altLang="zh-CN"/>
              <a:t>——</a:t>
            </a:r>
            <a:r>
              <a:rPr lang="zh-CN" altLang="en-US"/>
              <a:t>小依赖图（对应产生式的语义规则）组成</a:t>
            </a:r>
            <a:endParaRPr lang="zh-CN" altLang="en-US"/>
          </a:p>
          <a:p>
            <a:pPr eaLnBrk="1" hangingPunct="1"/>
            <a:r>
              <a:rPr lang="zh-CN" altLang="en-US"/>
              <a:t>产生式</a:t>
            </a:r>
            <a:r>
              <a:rPr lang="en-US" altLang="zh-CN"/>
              <a:t>p</a:t>
            </a:r>
            <a:r>
              <a:rPr lang="zh-CN" altLang="en-US"/>
              <a:t>的依赖图</a:t>
            </a:r>
            <a:r>
              <a:rPr lang="en-US" altLang="zh-CN"/>
              <a:t>D</a:t>
            </a:r>
            <a:r>
              <a:rPr lang="en-US" altLang="zh-CN" baseline="-25000"/>
              <a:t>p</a:t>
            </a:r>
            <a:r>
              <a:rPr lang="zh-CN" altLang="en-US"/>
              <a:t>仅依赖</a:t>
            </a:r>
            <a:r>
              <a:rPr lang="en-US" altLang="zh-CN"/>
              <a:t>p</a:t>
            </a:r>
            <a:r>
              <a:rPr lang="zh-CN" altLang="en-US"/>
              <a:t>的语义规则</a:t>
            </a:r>
            <a:endParaRPr lang="zh-CN" altLang="en-US"/>
          </a:p>
          <a:p>
            <a:pPr eaLnBrk="1" hangingPunct="1"/>
            <a:r>
              <a:rPr lang="zh-CN" altLang="en-US"/>
              <a:t>“局部依赖关系”</a:t>
            </a:r>
            <a:endParaRPr lang="zh-CN" altLang="en-US"/>
          </a:p>
          <a:p>
            <a:pPr eaLnBrk="1" hangingPunct="1"/>
            <a:r>
              <a:rPr lang="zh-CN" altLang="en-US"/>
              <a:t>多趟扫描</a:t>
            </a:r>
            <a:endParaRPr lang="zh-CN" altLang="en-US"/>
          </a:p>
          <a:p>
            <a:pPr eaLnBrk="1" hangingPunct="1"/>
            <a:r>
              <a:rPr lang="zh-CN" altLang="en-US"/>
              <a:t>递归函数（计算综合属性）取继承属性作为参数</a:t>
            </a:r>
            <a:endParaRPr lang="zh-CN" altLang="en-US"/>
          </a:p>
          <a:p>
            <a:pPr eaLnBrk="1" hangingPunct="1"/>
            <a:r>
              <a:rPr lang="en-US" altLang="zh-CN"/>
              <a:t>A.a</a:t>
            </a:r>
            <a:r>
              <a:rPr lang="zh-CN" altLang="en-US"/>
              <a:t>依赖</a:t>
            </a:r>
            <a:r>
              <a:rPr lang="en-US" altLang="zh-CN"/>
              <a:t>A.b——A.b</a:t>
            </a:r>
            <a:r>
              <a:rPr lang="zh-CN" altLang="en-US"/>
              <a:t>作为</a:t>
            </a:r>
            <a:r>
              <a:rPr lang="en-US" altLang="zh-CN"/>
              <a:t>A.a</a:t>
            </a:r>
            <a:r>
              <a:rPr lang="zh-CN" altLang="en-US"/>
              <a:t>函数的参数</a:t>
            </a:r>
            <a:endParaRPr lang="zh-CN" alt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endParaRPr lang="en-US" altLang="zh-CN"/>
          </a:p>
        </p:txBody>
      </p:sp>
      <p:pic>
        <p:nvPicPr>
          <p:cNvPr id="124931" name="Picture 4" descr="twopass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0"/>
            <a:ext cx="4379913" cy="4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Es(n)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switch (</a:t>
            </a:r>
            <a:r>
              <a:rPr lang="zh-CN" altLang="en-US" sz="2400"/>
              <a:t>节点</a:t>
            </a:r>
            <a:r>
              <a:rPr lang="en-US" altLang="zh-CN" sz="2400"/>
              <a:t>n</a:t>
            </a:r>
            <a:r>
              <a:rPr lang="zh-CN" altLang="en-US" sz="2400"/>
              <a:t>使用的产生式</a:t>
            </a:r>
            <a:r>
              <a:rPr lang="en-US" altLang="zh-CN" sz="2400"/>
              <a:t>) 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case ‘</a:t>
            </a: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s1 = Es(child(n, 1));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s2 = Es(child(n, 2));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fs(s1, s2);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case ‘E 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.s;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default: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error();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Et(n, i)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switch (</a:t>
            </a:r>
            <a:r>
              <a:rPr lang="zh-CN" altLang="en-US" sz="2400"/>
              <a:t>节点</a:t>
            </a:r>
            <a:r>
              <a:rPr lang="en-US" altLang="zh-CN" sz="2400"/>
              <a:t>n</a:t>
            </a:r>
            <a:r>
              <a:rPr lang="zh-CN" altLang="en-US" sz="2400"/>
              <a:t>使用的产生式</a:t>
            </a:r>
            <a:r>
              <a:rPr lang="en-US" altLang="zh-CN" sz="2400"/>
              <a:t>) {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case ‘</a:t>
            </a:r>
            <a:r>
              <a:rPr kumimoji="0" lang="en-US" altLang="zh-CN" sz="2400">
                <a:sym typeface="Symbol" panose="05050102010706020507" pitchFamily="18" charset="2"/>
              </a:rPr>
              <a:t>E  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400">
                <a:sym typeface="Symbol" panose="05050102010706020507" pitchFamily="18" charset="2"/>
              </a:rPr>
              <a:t>E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i1 = fil(i);  t1 = Et(child(n, 1), i1);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i2 = fi2(i); t2 = Es(child(n, 2), i2);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ft(t1, t2);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case ‘E 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’: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return h(i);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default: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		error();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}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5.30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Sr(n)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{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s = Es(child(n, 1));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i = g(s);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t = Et(child(n, 1), i);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  <a:endParaRPr kumimoji="0" lang="en-US" altLang="zh-CN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5.10.2  </a:t>
            </a:r>
            <a:r>
              <a:rPr lang="zh-CN" altLang="en-US"/>
              <a:t>强无环语法制导定义</a:t>
            </a:r>
            <a:endParaRPr lang="zh-CN" altLang="en-US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上述方法可用于强无环语法制导定义（</a:t>
            </a:r>
            <a:r>
              <a:rPr lang="en-US" altLang="zh-CN">
                <a:solidFill>
                  <a:srgbClr val="FF3300"/>
                </a:solidFill>
              </a:rPr>
              <a:t>strongly noncircular</a:t>
            </a:r>
            <a:r>
              <a:rPr lang="zh-CN" altLang="en-US"/>
              <a:t>）</a:t>
            </a:r>
            <a:endParaRPr lang="zh-CN" altLang="en-US"/>
          </a:p>
          <a:p>
            <a:pPr lvl="1" eaLnBrk="1" hangingPunct="1"/>
            <a:r>
              <a:rPr lang="zh-CN" altLang="en-US"/>
              <a:t>不同节点相同</a:t>
            </a:r>
            <a:r>
              <a:rPr lang="en-US" altLang="zh-CN"/>
              <a:t>NT </a:t>
            </a:r>
            <a:r>
              <a:rPr lang="zh-CN" altLang="en-US"/>
              <a:t>属性的计算可按照相同（局部）顺序</a:t>
            </a:r>
            <a:endParaRPr lang="zh-CN" altLang="en-US"/>
          </a:p>
          <a:p>
            <a:pPr lvl="1" eaLnBrk="1" hangingPunct="1"/>
            <a:r>
              <a:rPr lang="zh-CN" altLang="en-US"/>
              <a:t>根据此顺序确定选择哪些继承属性作为综合属性计算函数的参数</a:t>
            </a:r>
            <a:endParaRPr lang="zh-CN" alt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</a:t>
            </a: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/>
              <a:t>节点</a:t>
            </a:r>
            <a:r>
              <a:rPr lang="en-US" altLang="zh-CN" sz="2800"/>
              <a:t>n</a:t>
            </a:r>
            <a:r>
              <a:rPr lang="zh-CN" altLang="en-US" sz="2800"/>
              <a:t>，对应的</a:t>
            </a:r>
            <a:r>
              <a:rPr lang="en-US" altLang="zh-CN" sz="2800"/>
              <a:t>NT A</a:t>
            </a:r>
            <a:endParaRPr lang="en-US" altLang="zh-CN" sz="2800"/>
          </a:p>
          <a:p>
            <a:pPr lvl="1" eaLnBrk="1" hangingPunct="1">
              <a:spcBef>
                <a:spcPct val="0"/>
              </a:spcBef>
            </a:pPr>
            <a:r>
              <a:rPr lang="zh-CN" altLang="en-US" sz="2400"/>
              <a:t>依赖图中路径，</a:t>
            </a:r>
            <a:r>
              <a:rPr lang="en-US" altLang="zh-CN" sz="2400"/>
              <a:t>n</a:t>
            </a:r>
            <a:r>
              <a:rPr lang="zh-CN" altLang="en-US" sz="2400"/>
              <a:t>的一个属性</a:t>
            </a:r>
            <a:r>
              <a:rPr lang="zh-CN" altLang="en-US" sz="2400">
                <a:sym typeface="Wingdings" panose="05000000000000000000" pitchFamily="2" charset="2"/>
              </a:rPr>
              <a:t>其他节点属性</a:t>
            </a:r>
            <a:r>
              <a:rPr lang="en-US" altLang="zh-CN" sz="2400">
                <a:sym typeface="Wingdings" panose="05000000000000000000" pitchFamily="2" charset="2"/>
              </a:rPr>
              <a:t>n</a:t>
            </a:r>
            <a:r>
              <a:rPr lang="zh-CN" altLang="en-US" sz="2400">
                <a:sym typeface="Wingdings" panose="05000000000000000000" pitchFamily="2" charset="2"/>
              </a:rPr>
              <a:t>的另一个属性</a:t>
            </a:r>
            <a:endParaRPr lang="zh-CN" altLang="en-US" sz="240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>
                <a:sym typeface="Wingdings" panose="05000000000000000000" pitchFamily="2" charset="2"/>
              </a:rPr>
              <a:t>路径位于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zh-CN" altLang="en-US" sz="2400">
                <a:sym typeface="Wingdings" panose="05000000000000000000" pitchFamily="2" charset="2"/>
              </a:rPr>
              <a:t>之下？继承属性综合属性</a:t>
            </a:r>
            <a:endParaRPr lang="zh-CN" altLang="en-US" sz="240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/>
              <a:t>令产生式</a:t>
            </a:r>
            <a:r>
              <a:rPr lang="en-US" altLang="zh-CN" sz="2800"/>
              <a:t>p</a:t>
            </a:r>
            <a:r>
              <a:rPr lang="zh-CN" altLang="en-US" sz="2800"/>
              <a:t>右部</a:t>
            </a:r>
            <a:r>
              <a:rPr lang="en-US" altLang="zh-CN" sz="2800"/>
              <a:t>NT </a:t>
            </a:r>
            <a:r>
              <a:rPr lang="zh-CN" altLang="en-US" sz="2800"/>
              <a:t>为</a:t>
            </a:r>
            <a:r>
              <a:rPr lang="en-US" altLang="zh-CN" sz="2800"/>
              <a:t>A</a:t>
            </a:r>
            <a:r>
              <a:rPr lang="en-US" altLang="zh-CN" sz="2800" baseline="-25000"/>
              <a:t>1</a:t>
            </a:r>
            <a:r>
              <a:rPr lang="en-US" altLang="zh-CN" sz="2800"/>
              <a:t>, A</a:t>
            </a:r>
            <a:r>
              <a:rPr lang="en-US" altLang="zh-CN" sz="2800" baseline="-25000"/>
              <a:t>2</a:t>
            </a:r>
            <a:r>
              <a:rPr lang="en-US" altLang="zh-CN" sz="2800"/>
              <a:t>, …, A</a:t>
            </a:r>
            <a:r>
              <a:rPr lang="en-US" altLang="zh-CN" sz="2800" baseline="-25000"/>
              <a:t>n</a:t>
            </a:r>
            <a:br>
              <a:rPr lang="en-US" altLang="zh-CN" sz="2800" baseline="-25000"/>
            </a:br>
            <a:r>
              <a:rPr lang="en-US" altLang="zh-CN" sz="2800"/>
              <a:t>RA</a:t>
            </a:r>
            <a:r>
              <a:rPr lang="en-US" altLang="zh-CN" sz="2800" baseline="-25000"/>
              <a:t>j</a:t>
            </a:r>
            <a:r>
              <a:rPr lang="zh-CN" altLang="en-US" sz="2800"/>
              <a:t>为</a:t>
            </a:r>
            <a:r>
              <a:rPr lang="en-US" altLang="zh-CN" sz="2800"/>
              <a:t>A</a:t>
            </a:r>
            <a:r>
              <a:rPr lang="en-US" altLang="zh-CN" sz="2800" baseline="-25000"/>
              <a:t>j</a:t>
            </a:r>
            <a:r>
              <a:rPr lang="zh-CN" altLang="en-US" sz="2800"/>
              <a:t>的属性的局部顺序</a:t>
            </a:r>
            <a:endParaRPr lang="zh-CN" altLang="en-US" sz="2800"/>
          </a:p>
          <a:p>
            <a:pPr eaLnBrk="1" hangingPunct="1"/>
            <a:r>
              <a:rPr lang="en-US" altLang="zh-CN" sz="2800"/>
              <a:t>D</a:t>
            </a:r>
            <a:r>
              <a:rPr lang="en-US" altLang="zh-CN" sz="2800" baseline="-25000"/>
              <a:t>p</a:t>
            </a:r>
            <a:r>
              <a:rPr lang="en-US" altLang="zh-CN" sz="2800"/>
              <a:t>[RA</a:t>
            </a:r>
            <a:r>
              <a:rPr lang="en-US" altLang="zh-CN" sz="2800" baseline="-25000"/>
              <a:t>1</a:t>
            </a:r>
            <a:r>
              <a:rPr lang="en-US" altLang="zh-CN" sz="2800"/>
              <a:t>, RA</a:t>
            </a:r>
            <a:r>
              <a:rPr lang="en-US" altLang="zh-CN" sz="2800" baseline="-25000"/>
              <a:t>2</a:t>
            </a:r>
            <a:r>
              <a:rPr lang="en-US" altLang="zh-CN" sz="2800"/>
              <a:t>, …, RA</a:t>
            </a:r>
            <a:r>
              <a:rPr lang="en-US" altLang="zh-CN" sz="2800" baseline="-25000"/>
              <a:t>n</a:t>
            </a:r>
            <a:r>
              <a:rPr lang="en-US" altLang="zh-CN" sz="2800"/>
              <a:t>]</a:t>
            </a:r>
            <a:r>
              <a:rPr lang="zh-CN" altLang="en-US" sz="2800"/>
              <a:t>：按如下顺序扩展</a:t>
            </a:r>
            <a:r>
              <a:rPr lang="en-US" altLang="zh-CN" sz="2800"/>
              <a:t>D</a:t>
            </a:r>
            <a:r>
              <a:rPr lang="en-US" altLang="zh-CN" sz="2800" baseline="-25000"/>
              <a:t>p</a:t>
            </a:r>
            <a:r>
              <a:rPr lang="zh-CN" altLang="en-US" sz="2800"/>
              <a:t>得到的图</a:t>
            </a:r>
            <a:endParaRPr lang="zh-CN" altLang="en-US" sz="2800"/>
          </a:p>
          <a:p>
            <a:pPr lvl="1" eaLnBrk="1" hangingPunct="1"/>
            <a:r>
              <a:rPr lang="zh-CN" altLang="en-US" sz="2400"/>
              <a:t>若顺序</a:t>
            </a:r>
            <a:r>
              <a:rPr lang="en-US" altLang="zh-CN" sz="2400"/>
              <a:t>RA</a:t>
            </a:r>
            <a:r>
              <a:rPr lang="en-US" altLang="zh-CN" sz="2400" baseline="-25000"/>
              <a:t>j</a:t>
            </a:r>
            <a:r>
              <a:rPr lang="zh-CN" altLang="en-US" sz="2400"/>
              <a:t>中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.b</a:t>
            </a:r>
            <a:r>
              <a:rPr lang="zh-CN" altLang="en-US" sz="2400"/>
              <a:t>位于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.c</a:t>
            </a:r>
            <a:r>
              <a:rPr lang="zh-CN" altLang="en-US" sz="2400"/>
              <a:t>之前，添加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.b</a:t>
            </a:r>
            <a:r>
              <a:rPr lang="zh-CN" altLang="en-US" sz="2400"/>
              <a:t>到</a:t>
            </a:r>
            <a:r>
              <a:rPr lang="en-US" altLang="zh-CN" sz="2400"/>
              <a:t>A</a:t>
            </a:r>
            <a:r>
              <a:rPr lang="en-US" altLang="zh-CN" sz="2400" baseline="-25000"/>
              <a:t>j</a:t>
            </a:r>
            <a:r>
              <a:rPr lang="en-US" altLang="zh-CN" sz="2400"/>
              <a:t>.c</a:t>
            </a:r>
            <a:r>
              <a:rPr lang="zh-CN" altLang="en-US" sz="2400"/>
              <a:t>的一条边</a:t>
            </a:r>
            <a:endParaRPr lang="zh-CN" altLang="en-US" sz="24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定义（续）</a:t>
            </a:r>
            <a:endParaRPr lang="zh-CN" alt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一个语法制导定义如果满足如下条件，则称之为“强无环的”</a:t>
            </a:r>
            <a:endParaRPr lang="zh-CN" altLang="en-US"/>
          </a:p>
          <a:p>
            <a:pPr marL="990600" lvl="1" indent="-533400" eaLnBrk="1" hangingPunct="1"/>
            <a:r>
              <a:rPr lang="zh-CN" altLang="en-US"/>
              <a:t>每个</a:t>
            </a:r>
            <a:r>
              <a:rPr lang="en-US" altLang="zh-CN"/>
              <a:t>NT A</a:t>
            </a:r>
            <a:r>
              <a:rPr lang="zh-CN" altLang="en-US"/>
              <a:t>，存在其属性的局部顺序</a:t>
            </a:r>
            <a:r>
              <a:rPr lang="en-US" altLang="zh-CN"/>
              <a:t>RA</a:t>
            </a:r>
            <a:br>
              <a:rPr lang="en-US" altLang="zh-CN"/>
            </a:br>
            <a:r>
              <a:rPr lang="zh-CN" altLang="en-US"/>
              <a:t>使得：对每个形如</a:t>
            </a:r>
            <a:r>
              <a:rPr lang="en-US" altLang="zh-CN"/>
              <a:t>A→A</a:t>
            </a:r>
            <a:r>
              <a:rPr lang="en-US" altLang="zh-CN" baseline="-25000"/>
              <a:t>1</a:t>
            </a:r>
            <a:r>
              <a:rPr lang="en-US" altLang="zh-CN"/>
              <a:t>, A</a:t>
            </a:r>
            <a:r>
              <a:rPr lang="en-US" altLang="zh-CN" baseline="-25000"/>
              <a:t>2</a:t>
            </a:r>
            <a:r>
              <a:rPr lang="en-US" altLang="zh-CN"/>
              <a:t>, …, A</a:t>
            </a:r>
            <a:r>
              <a:rPr lang="en-US" altLang="zh-CN" baseline="-25000"/>
              <a:t>n</a:t>
            </a:r>
            <a:r>
              <a:rPr lang="zh-CN" altLang="en-US"/>
              <a:t>的产生式</a:t>
            </a:r>
            <a:r>
              <a:rPr lang="en-US" altLang="zh-CN"/>
              <a:t>p</a:t>
            </a:r>
            <a:r>
              <a:rPr lang="zh-CN" altLang="en-US"/>
              <a:t>，满足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D</a:t>
            </a:r>
            <a:r>
              <a:rPr lang="en-US" altLang="zh-CN" baseline="-25000"/>
              <a:t>p</a:t>
            </a:r>
            <a:r>
              <a:rPr lang="en-US" altLang="zh-CN"/>
              <a:t>[RA</a:t>
            </a:r>
            <a:r>
              <a:rPr lang="en-US" altLang="zh-CN" baseline="-25000"/>
              <a:t>1</a:t>
            </a:r>
            <a:r>
              <a:rPr lang="en-US" altLang="zh-CN"/>
              <a:t>, RA</a:t>
            </a:r>
            <a:r>
              <a:rPr lang="en-US" altLang="zh-CN" baseline="-25000"/>
              <a:t>2</a:t>
            </a:r>
            <a:r>
              <a:rPr lang="en-US" altLang="zh-CN"/>
              <a:t>, …, RA</a:t>
            </a:r>
            <a:r>
              <a:rPr lang="en-US" altLang="zh-CN" baseline="-25000"/>
              <a:t>n</a:t>
            </a:r>
            <a:r>
              <a:rPr lang="en-US" altLang="zh-CN"/>
              <a:t>]</a:t>
            </a:r>
            <a:r>
              <a:rPr lang="zh-CN" altLang="en-US"/>
              <a:t>为无环图</a:t>
            </a:r>
            <a:endParaRPr lang="zh-CN" altLang="en-US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若</a:t>
            </a:r>
            <a:r>
              <a:rPr lang="en-US" altLang="zh-CN"/>
              <a:t>D</a:t>
            </a:r>
            <a:r>
              <a:rPr lang="en-US" altLang="zh-CN" baseline="-25000"/>
              <a:t>p</a:t>
            </a:r>
            <a:r>
              <a:rPr lang="en-US" altLang="zh-CN"/>
              <a:t>[RA</a:t>
            </a:r>
            <a:r>
              <a:rPr lang="en-US" altLang="zh-CN" baseline="-25000"/>
              <a:t>1</a:t>
            </a:r>
            <a:r>
              <a:rPr lang="en-US" altLang="zh-CN"/>
              <a:t>, RA</a:t>
            </a:r>
            <a:r>
              <a:rPr lang="en-US" altLang="zh-CN" baseline="-25000"/>
              <a:t>2</a:t>
            </a:r>
            <a:r>
              <a:rPr lang="en-US" altLang="zh-CN"/>
              <a:t>, …, RA</a:t>
            </a:r>
            <a:r>
              <a:rPr lang="en-US" altLang="zh-CN" baseline="-25000"/>
              <a:t>n</a:t>
            </a:r>
            <a:r>
              <a:rPr lang="en-US" altLang="zh-CN"/>
              <a:t>]</a:t>
            </a:r>
            <a:r>
              <a:rPr lang="zh-CN" altLang="en-US"/>
              <a:t>存在</a:t>
            </a:r>
            <a:r>
              <a:rPr lang="en-US" altLang="zh-CN"/>
              <a:t>A.b</a:t>
            </a:r>
            <a:r>
              <a:rPr lang="zh-CN" altLang="en-US"/>
              <a:t>到</a:t>
            </a:r>
            <a:r>
              <a:rPr lang="en-US" altLang="zh-CN"/>
              <a:t>A.c</a:t>
            </a:r>
            <a:r>
              <a:rPr lang="zh-CN" altLang="en-US"/>
              <a:t>的边，则顺序</a:t>
            </a:r>
            <a:r>
              <a:rPr lang="en-US" altLang="zh-CN"/>
              <a:t>RA</a:t>
            </a:r>
            <a:r>
              <a:rPr lang="zh-CN" altLang="en-US"/>
              <a:t>中</a:t>
            </a:r>
            <a:r>
              <a:rPr lang="en-US" altLang="zh-CN"/>
              <a:t>A.b</a:t>
            </a:r>
            <a:r>
              <a:rPr lang="zh-CN" altLang="en-US"/>
              <a:t>在</a:t>
            </a:r>
            <a:r>
              <a:rPr lang="en-US" altLang="zh-CN"/>
              <a:t>A.c</a:t>
            </a:r>
            <a:r>
              <a:rPr lang="zh-CN" altLang="en-US"/>
              <a:t>之前</a:t>
            </a:r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5.31</a:t>
            </a: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3352800"/>
          </a:xfrm>
        </p:spPr>
        <p:txBody>
          <a:bodyPr/>
          <a:lstStyle/>
          <a:p>
            <a:pPr eaLnBrk="1" hangingPunct="1"/>
            <a:r>
              <a:rPr kumimoji="0" lang="en-US" altLang="zh-CN" sz="2800">
                <a:sym typeface="Symbol" panose="05050102010706020507" pitchFamily="18" charset="2"/>
              </a:rPr>
              <a:t>E  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 </a:t>
            </a:r>
            <a:r>
              <a:rPr kumimoji="0" lang="en-US" altLang="zh-CN" sz="2800">
                <a:sym typeface="Symbol" panose="05050102010706020507" pitchFamily="18" charset="2"/>
              </a:rPr>
              <a:t>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endParaRPr kumimoji="0" lang="en-US" altLang="zh-CN" sz="2800" baseline="-2500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设定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zh-CN" altLang="en-US" sz="2800">
                <a:sym typeface="Symbol" panose="05050102010706020507" pitchFamily="18" charset="2"/>
              </a:rPr>
              <a:t>：</a:t>
            </a:r>
            <a:r>
              <a:rPr kumimoji="0" lang="en-US" altLang="zh-CN" sz="2800">
                <a:sym typeface="Symbol" panose="05050102010706020507" pitchFamily="18" charset="2"/>
              </a:rPr>
              <a:t>s</a:t>
            </a:r>
            <a:r>
              <a:rPr kumimoji="0" lang="en-US" altLang="zh-CN" sz="2800">
                <a:sym typeface="Wingdings" panose="05000000000000000000" pitchFamily="2" charset="2"/>
              </a:rPr>
              <a:t>it</a:t>
            </a:r>
            <a:r>
              <a:rPr kumimoji="0" lang="zh-CN" altLang="en-US" sz="2800">
                <a:sym typeface="Wingdings" panose="05000000000000000000" pitchFamily="2" charset="2"/>
              </a:rPr>
              <a:t>， 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zh-CN" altLang="en-US" sz="2800">
                <a:sym typeface="Symbol" panose="05050102010706020507" pitchFamily="18" charset="2"/>
              </a:rPr>
              <a:t>、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zh-CN" altLang="en-US" sz="2800">
                <a:sym typeface="Symbol" panose="05050102010706020507" pitchFamily="18" charset="2"/>
              </a:rPr>
              <a:t>与</a:t>
            </a:r>
            <a:r>
              <a:rPr kumimoji="0" lang="en-US" altLang="zh-CN" sz="2800">
                <a:sym typeface="Symbol" panose="05050102010706020507" pitchFamily="18" charset="2"/>
              </a:rPr>
              <a:t>RE</a:t>
            </a:r>
            <a:r>
              <a:rPr kumimoji="0" lang="zh-CN" altLang="en-US" sz="2800">
                <a:sym typeface="Symbol" panose="05050102010706020507" pitchFamily="18" charset="2"/>
              </a:rPr>
              <a:t>相同</a:t>
            </a:r>
            <a:endParaRPr kumimoji="0" lang="zh-CN" altLang="en-US" sz="2800">
              <a:sym typeface="Wingdings" panose="05000000000000000000" pitchFamily="2" charset="2"/>
            </a:endParaRPr>
          </a:p>
          <a:p>
            <a:pPr eaLnBrk="1" hangingPunct="1"/>
            <a:r>
              <a:rPr kumimoji="0" lang="en-US" altLang="zh-CN" sz="2800">
                <a:sym typeface="Symbol" panose="05050102010706020507" pitchFamily="18" charset="2"/>
              </a:rPr>
              <a:t>D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p</a:t>
            </a:r>
            <a:r>
              <a:rPr kumimoji="0" lang="en-US" altLang="zh-CN" sz="2800">
                <a:sym typeface="Symbol" panose="05050102010706020507" pitchFamily="18" charset="2"/>
              </a:rPr>
              <a:t>[RE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1</a:t>
            </a:r>
            <a:r>
              <a:rPr kumimoji="0" lang="en-US" altLang="zh-CN" sz="2800">
                <a:sym typeface="Symbol" panose="05050102010706020507" pitchFamily="18" charset="2"/>
              </a:rPr>
              <a:t>, RE</a:t>
            </a:r>
            <a:r>
              <a:rPr kumimoji="0" lang="en-US" altLang="zh-CN" sz="2800" baseline="-25000">
                <a:sym typeface="Symbol" panose="05050102010706020507" pitchFamily="18" charset="2"/>
              </a:rPr>
              <a:t>2</a:t>
            </a:r>
            <a:r>
              <a:rPr kumimoji="0" lang="en-US" altLang="zh-CN" sz="2800">
                <a:sym typeface="Symbol" panose="05050102010706020507" pitchFamily="18" charset="2"/>
              </a:rPr>
              <a:t>]</a:t>
            </a:r>
            <a:r>
              <a:rPr kumimoji="0" lang="zh-CN" altLang="en-US" sz="2800">
                <a:sym typeface="Symbol" panose="05050102010706020507" pitchFamily="18" charset="2"/>
              </a:rPr>
              <a:t>如上图所示</a:t>
            </a:r>
            <a:endParaRPr kumimoji="0" lang="zh-CN" altLang="en-US" sz="280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唯一路径</a:t>
            </a:r>
            <a:r>
              <a:rPr kumimoji="0" lang="en-US" altLang="zh-CN" sz="2800">
                <a:sym typeface="Symbol" panose="05050102010706020507" pitchFamily="18" charset="2"/>
              </a:rPr>
              <a:t>i</a:t>
            </a:r>
            <a:r>
              <a:rPr kumimoji="0" lang="en-US" altLang="zh-CN" sz="2800">
                <a:sym typeface="Wingdings" panose="05000000000000000000" pitchFamily="2" charset="2"/>
              </a:rPr>
              <a:t>t</a:t>
            </a:r>
            <a:r>
              <a:rPr kumimoji="0" lang="zh-CN" altLang="en-US" sz="2800">
                <a:sym typeface="Wingdings" panose="05000000000000000000" pitchFamily="2" charset="2"/>
              </a:rPr>
              <a:t>，与</a:t>
            </a:r>
            <a:r>
              <a:rPr kumimoji="0" lang="en-US" altLang="zh-CN" sz="2800">
                <a:sym typeface="Wingdings" panose="05000000000000000000" pitchFamily="2" charset="2"/>
              </a:rPr>
              <a:t>RE</a:t>
            </a:r>
            <a:r>
              <a:rPr kumimoji="0" lang="zh-CN" altLang="en-US" sz="2800">
                <a:sym typeface="Wingdings" panose="05000000000000000000" pitchFamily="2" charset="2"/>
              </a:rPr>
              <a:t>不矛盾</a:t>
            </a:r>
            <a:endParaRPr kumimoji="0" lang="zh-CN" altLang="en-US" sz="2800">
              <a:sym typeface="Symbol" panose="05050102010706020507" pitchFamily="18" charset="2"/>
            </a:endParaRPr>
          </a:p>
        </p:txBody>
      </p:sp>
      <p:pic>
        <p:nvPicPr>
          <p:cNvPr id="132100" name="Picture 4" descr="twopass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295400"/>
            <a:ext cx="4340225" cy="209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5.10.3  </a:t>
            </a:r>
            <a:r>
              <a:rPr lang="zh-CN" altLang="en-US"/>
              <a:t>检测回路（例</a:t>
            </a:r>
            <a:r>
              <a:rPr lang="en-US" altLang="zh-CN"/>
              <a:t>5.32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352800"/>
            <a:ext cx="7772400" cy="2743200"/>
          </a:xfrm>
        </p:spPr>
        <p:txBody>
          <a:bodyPr/>
          <a:lstStyle/>
          <a:p>
            <a:pPr eaLnBrk="1" hangingPunct="1"/>
            <a:r>
              <a:rPr lang="zh-CN" altLang="en-US"/>
              <a:t>路径与产生式有关：</a:t>
            </a:r>
            <a:r>
              <a:rPr lang="en-US" altLang="zh-CN"/>
              <a:t>A </a:t>
            </a:r>
            <a:r>
              <a:rPr kumimoji="0" lang="en-US" altLang="zh-CN">
                <a:sym typeface="Symbol" panose="05050102010706020507" pitchFamily="18" charset="2"/>
              </a:rPr>
              <a:t> 1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zh-CN" altLang="en-US">
                <a:sym typeface="Symbol" panose="05050102010706020507" pitchFamily="18" charset="2"/>
              </a:rPr>
              <a:t>依赖</a:t>
            </a:r>
            <a:r>
              <a:rPr kumimoji="0" lang="en-US" altLang="zh-CN">
                <a:sym typeface="Symbol" panose="05050102010706020507" pitchFamily="18" charset="2"/>
              </a:rPr>
              <a:t>i</a:t>
            </a:r>
            <a:r>
              <a:rPr kumimoji="0" lang="zh-CN" altLang="en-US">
                <a:sym typeface="Symbol" panose="05050102010706020507" pitchFamily="18" charset="2"/>
              </a:rPr>
              <a:t>，否则不依赖</a:t>
            </a:r>
            <a:endParaRPr kumimoji="0" lang="zh-CN" altLang="en-US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为获得完整依赖关系，需保存所有可能局部顺序集合</a:t>
            </a:r>
            <a:endParaRPr kumimoji="0" lang="zh-CN" altLang="en-US">
              <a:sym typeface="Symbol" panose="05050102010706020507" pitchFamily="18" charset="2"/>
            </a:endParaRPr>
          </a:p>
        </p:txBody>
      </p:sp>
      <p:sp>
        <p:nvSpPr>
          <p:cNvPr id="133124" name="Line 4"/>
          <p:cNvSpPr>
            <a:spLocks noChangeShapeType="1"/>
          </p:cNvSpPr>
          <p:nvPr/>
        </p:nvSpPr>
        <p:spPr bwMode="auto">
          <a:xfrm>
            <a:off x="1184275" y="13716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5" name="Line 5"/>
          <p:cNvSpPr>
            <a:spLocks noChangeShapeType="1"/>
          </p:cNvSpPr>
          <p:nvPr/>
        </p:nvSpPr>
        <p:spPr bwMode="auto">
          <a:xfrm>
            <a:off x="1184275" y="14478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6" name="Line 6"/>
          <p:cNvSpPr>
            <a:spLocks noChangeShapeType="1"/>
          </p:cNvSpPr>
          <p:nvPr/>
        </p:nvSpPr>
        <p:spPr bwMode="auto">
          <a:xfrm>
            <a:off x="1184275" y="1905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7" name="Line 7"/>
          <p:cNvSpPr>
            <a:spLocks noChangeShapeType="1"/>
          </p:cNvSpPr>
          <p:nvPr/>
        </p:nvSpPr>
        <p:spPr bwMode="auto">
          <a:xfrm>
            <a:off x="1184275" y="3048000"/>
            <a:ext cx="7197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8" name="Line 8"/>
          <p:cNvSpPr>
            <a:spLocks noChangeShapeType="1"/>
          </p:cNvSpPr>
          <p:nvPr/>
        </p:nvSpPr>
        <p:spPr bwMode="auto">
          <a:xfrm>
            <a:off x="3622675" y="1430338"/>
            <a:ext cx="0" cy="1619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29" name="Text Box 9"/>
          <p:cNvSpPr txBox="1">
            <a:spLocks noChangeArrowheads="1"/>
          </p:cNvSpPr>
          <p:nvPr/>
        </p:nvSpPr>
        <p:spPr bwMode="auto">
          <a:xfrm>
            <a:off x="1184275" y="1905000"/>
            <a:ext cx="7086600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  A				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c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1 	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</a:t>
            </a:r>
            <a:r>
              <a:rPr kumimoji="0" lang="en-US" altLang="zh-CN" sz="2400" i="1">
                <a:sym typeface="Symbol" panose="05050102010706020507" pitchFamily="18" charset="2"/>
              </a:rPr>
              <a:t>f</a:t>
            </a:r>
            <a:r>
              <a:rPr kumimoji="0" lang="en-US" altLang="zh-CN" sz="2400">
                <a:sym typeface="Symbol" panose="05050102010706020507" pitchFamily="18" charset="2"/>
              </a:rPr>
              <a:t>(A.</a:t>
            </a:r>
            <a:r>
              <a:rPr kumimoji="0" lang="en-US" altLang="zh-CN" sz="2400" i="1">
                <a:sym typeface="Symbol" panose="05050102010706020507" pitchFamily="18" charset="2"/>
              </a:rPr>
              <a:t>i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  2				A.</a:t>
            </a:r>
            <a:r>
              <a:rPr kumimoji="0" lang="en-US" altLang="zh-CN" sz="2400" i="1">
                <a:sym typeface="Symbol" panose="05050102010706020507" pitchFamily="18" charset="2"/>
              </a:rPr>
              <a:t>s</a:t>
            </a:r>
            <a:r>
              <a:rPr kumimoji="0" lang="en-US" altLang="zh-CN" sz="2400">
                <a:sym typeface="Symbol" panose="05050102010706020507" pitchFamily="18" charset="2"/>
              </a:rPr>
              <a:t> = d</a:t>
            </a:r>
            <a:endParaRPr kumimoji="0" lang="en-US" altLang="zh-CN" sz="2400" i="1">
              <a:sym typeface="Symbol" panose="05050102010706020507" pitchFamily="18" charset="2"/>
            </a:endParaRPr>
          </a:p>
        </p:txBody>
      </p:sp>
      <p:sp>
        <p:nvSpPr>
          <p:cNvPr id="133130" name="Text Box 10"/>
          <p:cNvSpPr txBox="1">
            <a:spLocks noChangeArrowheads="1"/>
          </p:cNvSpPr>
          <p:nvPr/>
        </p:nvSpPr>
        <p:spPr bwMode="auto">
          <a:xfrm>
            <a:off x="5984875" y="1828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 b="1"/>
          </a:p>
        </p:txBody>
      </p:sp>
      <p:sp>
        <p:nvSpPr>
          <p:cNvPr id="133131" name="Text Box 11"/>
          <p:cNvSpPr txBox="1">
            <a:spLocks noChangeArrowheads="1"/>
          </p:cNvSpPr>
          <p:nvPr/>
        </p:nvSpPr>
        <p:spPr bwMode="auto">
          <a:xfrm>
            <a:off x="1565275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产生式</a:t>
            </a:r>
            <a:endParaRPr kumimoji="0" lang="zh-CN" altLang="en-US" sz="2400" b="1"/>
          </a:p>
        </p:txBody>
      </p:sp>
      <p:sp>
        <p:nvSpPr>
          <p:cNvPr id="133132" name="Text Box 12"/>
          <p:cNvSpPr txBox="1">
            <a:spLocks noChangeArrowheads="1"/>
          </p:cNvSpPr>
          <p:nvPr/>
        </p:nvSpPr>
        <p:spPr bwMode="auto">
          <a:xfrm>
            <a:off x="5146675" y="1447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1"/>
              <a:t>语义规则</a:t>
            </a:r>
            <a:endParaRPr kumimoji="0" lang="zh-CN" altLang="en-US" sz="2400" b="1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回路检测算法</a:t>
            </a:r>
            <a:endParaRPr lang="zh-CN" altLang="en-US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局部顺序</a:t>
            </a:r>
            <a:r>
              <a:rPr lang="zh-CN" altLang="en-US">
                <a:sym typeface="Wingdings" panose="05000000000000000000" pitchFamily="2" charset="2"/>
              </a:rPr>
              <a:t>有向无环图，检测</a:t>
            </a:r>
            <a:r>
              <a:rPr lang="en-US" altLang="zh-CN">
                <a:sym typeface="Wingdings" panose="05000000000000000000" pitchFamily="2" charset="2"/>
              </a:rPr>
              <a:t>DAG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/>
              <a:t>产生式</a:t>
            </a:r>
            <a:r>
              <a:rPr lang="en-US" altLang="zh-CN"/>
              <a:t>p</a:t>
            </a:r>
            <a:r>
              <a:rPr lang="zh-CN" altLang="en-US"/>
              <a:t>： </a:t>
            </a:r>
            <a:r>
              <a:rPr kumimoji="0" lang="en-US" altLang="zh-CN">
                <a:sym typeface="Symbol" panose="05050102010706020507" pitchFamily="18" charset="2"/>
              </a:rPr>
              <a:t>A </a:t>
            </a:r>
            <a:r>
              <a:rPr kumimoji="0" lang="en-US" altLang="zh-CN" sz="240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en-US" altLang="zh-CN"/>
              <a:t>…X</a:t>
            </a:r>
            <a:r>
              <a:rPr lang="en-US" altLang="zh-CN" baseline="-25000"/>
              <a:t>n</a:t>
            </a:r>
            <a:r>
              <a:rPr lang="zh-CN" altLang="en-US"/>
              <a:t>，依赖图</a:t>
            </a:r>
            <a:r>
              <a:rPr lang="en-US" altLang="zh-CN"/>
              <a:t>D</a:t>
            </a:r>
            <a:r>
              <a:rPr lang="en-US" altLang="zh-CN" baseline="-25000"/>
              <a:t>p</a:t>
            </a:r>
            <a:endParaRPr lang="en-US" altLang="zh-CN"/>
          </a:p>
          <a:p>
            <a:pPr lvl="1" eaLnBrk="1" hangingPunct="1"/>
            <a:r>
              <a:rPr lang="en-US" altLang="zh-CN"/>
              <a:t>D</a:t>
            </a:r>
            <a:r>
              <a:rPr lang="en-US" altLang="zh-CN" baseline="-25000"/>
              <a:t>j</a:t>
            </a:r>
            <a:r>
              <a:rPr lang="zh-CN" altLang="en-US"/>
              <a:t>为</a:t>
            </a:r>
            <a:r>
              <a:rPr lang="en-US" altLang="zh-CN"/>
              <a:t>X</a:t>
            </a:r>
            <a:r>
              <a:rPr lang="en-US" altLang="zh-CN" baseline="-25000"/>
              <a:t>j</a:t>
            </a:r>
            <a:r>
              <a:rPr lang="zh-CN" altLang="en-US"/>
              <a:t>的</a:t>
            </a:r>
            <a:r>
              <a:rPr lang="en-US" altLang="zh-CN"/>
              <a:t>DAG</a:t>
            </a:r>
            <a:endParaRPr lang="en-US" altLang="zh-CN"/>
          </a:p>
          <a:p>
            <a:pPr lvl="1" eaLnBrk="1" hangingPunct="1"/>
            <a:r>
              <a:rPr lang="zh-CN" altLang="en-US"/>
              <a:t>将</a:t>
            </a:r>
            <a:r>
              <a:rPr lang="en-US" altLang="zh-CN"/>
              <a:t>D</a:t>
            </a:r>
            <a:r>
              <a:rPr lang="en-US" altLang="zh-CN" baseline="-25000"/>
              <a:t>j</a:t>
            </a:r>
            <a:r>
              <a:rPr lang="zh-CN" altLang="en-US"/>
              <a:t>中边</a:t>
            </a:r>
            <a:r>
              <a:rPr lang="en-US" altLang="zh-CN"/>
              <a:t>b</a:t>
            </a:r>
            <a:r>
              <a:rPr lang="en-US" altLang="zh-CN">
                <a:sym typeface="Wingdings" panose="05000000000000000000" pitchFamily="2" charset="2"/>
              </a:rPr>
              <a:t>a</a:t>
            </a:r>
            <a:r>
              <a:rPr lang="zh-CN" altLang="en-US">
                <a:sym typeface="Wingdings" panose="05000000000000000000" pitchFamily="2" charset="2"/>
              </a:rPr>
              <a:t>暂时加入依赖图</a:t>
            </a:r>
            <a:r>
              <a:rPr lang="en-US" altLang="zh-CN">
                <a:sym typeface="Wingdings" panose="05000000000000000000" pitchFamily="2" charset="2"/>
              </a:rPr>
              <a:t>D</a:t>
            </a:r>
            <a:r>
              <a:rPr lang="en-US" altLang="zh-CN" baseline="-25000">
                <a:sym typeface="Wingdings" panose="05000000000000000000" pitchFamily="2" charset="2"/>
              </a:rPr>
              <a:t>p</a:t>
            </a:r>
            <a:endParaRPr lang="en-US" altLang="zh-CN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若结果依赖图存在回路，则语法制导定义是有回路的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否则，图中路径形成产生式左部</a:t>
            </a:r>
            <a:r>
              <a:rPr lang="en-US" altLang="zh-CN">
                <a:sym typeface="Wingdings" panose="05000000000000000000" pitchFamily="2" charset="2"/>
              </a:rPr>
              <a:t>NT </a:t>
            </a:r>
            <a:r>
              <a:rPr lang="zh-CN" altLang="en-US">
                <a:sym typeface="Wingdings" panose="05000000000000000000" pitchFamily="2" charset="2"/>
              </a:rPr>
              <a:t>属性的新的</a:t>
            </a:r>
            <a:r>
              <a:rPr lang="en-US" altLang="zh-CN">
                <a:sym typeface="Wingdings" panose="05000000000000000000" pitchFamily="2" charset="2"/>
              </a:rPr>
              <a:t>DAG</a:t>
            </a:r>
            <a:r>
              <a:rPr lang="zh-CN" altLang="en-US">
                <a:sym typeface="Wingdings" panose="05000000000000000000" pitchFamily="2" charset="2"/>
              </a:rPr>
              <a:t>，将它</a:t>
            </a:r>
            <a:r>
              <a:rPr lang="zh-CN" altLang="en-US">
                <a:latin typeface="Monotype Corsiva" panose="03010101010201010101" pitchFamily="66" charset="0"/>
                <a:sym typeface="Wingdings" panose="05000000000000000000" pitchFamily="2" charset="2"/>
              </a:rPr>
              <a:t>加入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endParaRPr lang="en-US" altLang="zh-CN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</a:t>
            </a:r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for</a:t>
            </a:r>
            <a:r>
              <a:rPr lang="en-US" altLang="zh-CN" sz="2400"/>
              <a:t> </a:t>
            </a:r>
            <a:r>
              <a:rPr lang="zh-CN" altLang="en-US" sz="2400"/>
              <a:t>每个语法符号</a:t>
            </a:r>
            <a:r>
              <a:rPr lang="en-US" altLang="zh-CN" sz="2400"/>
              <a:t>X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>
                <a:latin typeface="Monotype Corsiva" panose="03010101010201010101" pitchFamily="66" charset="0"/>
              </a:rPr>
              <a:t>F</a:t>
            </a:r>
            <a:r>
              <a:rPr lang="en-US" altLang="zh-CN" sz="2400"/>
              <a:t>(X)</a:t>
            </a:r>
            <a:r>
              <a:rPr lang="zh-CN" altLang="en-US" sz="2400"/>
              <a:t>仅包含一个图：节点为</a:t>
            </a:r>
            <a:r>
              <a:rPr lang="en-US" altLang="zh-CN" sz="2400"/>
              <a:t>X</a:t>
            </a:r>
            <a:r>
              <a:rPr lang="zh-CN" altLang="en-US" sz="2400"/>
              <a:t>的属性，无任何边</a:t>
            </a: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repeat</a:t>
            </a:r>
            <a:endParaRPr lang="en-US" altLang="zh-CN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change = </a:t>
            </a:r>
            <a:r>
              <a:rPr lang="en-US" altLang="zh-CN" sz="2400" b="1"/>
              <a:t>false</a:t>
            </a:r>
            <a:endParaRPr lang="en-US" altLang="zh-CN" sz="2400" b="1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 b="1"/>
              <a:t>for</a:t>
            </a:r>
            <a:r>
              <a:rPr lang="en-US" altLang="zh-CN" sz="2400"/>
              <a:t> </a:t>
            </a:r>
            <a:r>
              <a:rPr lang="zh-CN" altLang="en-US" sz="2400"/>
              <a:t>产生式</a:t>
            </a:r>
            <a:r>
              <a:rPr lang="en-US" altLang="zh-CN" sz="2400"/>
              <a:t>p</a:t>
            </a:r>
            <a:r>
              <a:rPr lang="zh-CN" altLang="en-US" sz="2400"/>
              <a:t>： </a:t>
            </a:r>
            <a:r>
              <a:rPr kumimoji="0" lang="en-US" altLang="zh-CN" sz="2400">
                <a:sym typeface="Symbol" panose="05050102010706020507" pitchFamily="18" charset="2"/>
              </a:rPr>
              <a:t>A  </a:t>
            </a:r>
            <a:r>
              <a:rPr lang="en-US" altLang="zh-CN" sz="2400"/>
              <a:t>X</a:t>
            </a:r>
            <a:r>
              <a:rPr lang="en-US" altLang="zh-CN" sz="2400" baseline="-25000"/>
              <a:t>1</a:t>
            </a:r>
            <a:r>
              <a:rPr lang="en-US" altLang="zh-CN" sz="2400"/>
              <a:t>X</a:t>
            </a:r>
            <a:r>
              <a:rPr lang="en-US" altLang="zh-CN" sz="2400" baseline="-25000"/>
              <a:t>2</a:t>
            </a:r>
            <a:r>
              <a:rPr lang="en-US" altLang="zh-CN" sz="2400"/>
              <a:t>…X</a:t>
            </a:r>
            <a:r>
              <a:rPr lang="en-US" altLang="zh-CN" sz="2400" baseline="-25000"/>
              <a:t>n</a:t>
            </a:r>
            <a:r>
              <a:rPr lang="en-US" altLang="zh-CN" sz="2400"/>
              <a:t> {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en-US" altLang="zh-CN" sz="2400" b="1"/>
              <a:t>for</a:t>
            </a:r>
            <a:r>
              <a:rPr lang="en-US" altLang="zh-CN" sz="2400"/>
              <a:t> dag G</a:t>
            </a:r>
            <a:r>
              <a:rPr lang="en-US" altLang="zh-CN" sz="2400" baseline="-25000"/>
              <a:t>1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>
                <a:latin typeface="Monotype Corsiva" panose="03010101010201010101" pitchFamily="66" charset="0"/>
              </a:rPr>
              <a:t>F</a:t>
            </a:r>
            <a:r>
              <a:rPr lang="en-US" altLang="zh-CN" sz="2400"/>
              <a:t>(X</a:t>
            </a:r>
            <a:r>
              <a:rPr lang="en-US" altLang="zh-CN" sz="2400" baseline="-25000"/>
              <a:t>1</a:t>
            </a:r>
            <a:r>
              <a:rPr lang="en-US" altLang="zh-CN" sz="2400"/>
              <a:t>), … G</a:t>
            </a:r>
            <a:r>
              <a:rPr lang="en-US" altLang="zh-CN" sz="2400" baseline="-25000"/>
              <a:t>k</a:t>
            </a:r>
            <a:r>
              <a:rPr lang="en-US" altLang="zh-CN" sz="2400">
                <a:latin typeface="宋体" panose="02010600030101010101" pitchFamily="2" charset="-122"/>
              </a:rPr>
              <a:t>∈</a:t>
            </a:r>
            <a:r>
              <a:rPr lang="en-US" altLang="zh-CN" sz="2400">
                <a:latin typeface="Monotype Corsiva" panose="03010101010201010101" pitchFamily="66" charset="0"/>
              </a:rPr>
              <a:t>F</a:t>
            </a:r>
            <a:r>
              <a:rPr lang="en-US" altLang="zh-CN" sz="2400"/>
              <a:t>(X</a:t>
            </a:r>
            <a:r>
              <a:rPr lang="en-US" altLang="zh-CN" sz="2400" baseline="-25000"/>
              <a:t>k</a:t>
            </a:r>
            <a:r>
              <a:rPr lang="en-US" altLang="zh-CN" sz="2400"/>
              <a:t>) {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D = D</a:t>
            </a:r>
            <a:r>
              <a:rPr lang="en-US" altLang="zh-CN" sz="2400" baseline="-25000"/>
              <a:t>p</a:t>
            </a:r>
            <a:r>
              <a:rPr lang="en-US" altLang="zh-CN" sz="2400"/>
              <a:t>;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</a:t>
            </a:r>
            <a:r>
              <a:rPr lang="en-US" altLang="zh-CN" sz="2400" b="1"/>
              <a:t>for</a:t>
            </a:r>
            <a:r>
              <a:rPr lang="en-US" altLang="zh-CN" sz="2400"/>
              <a:t> G</a:t>
            </a:r>
            <a:r>
              <a:rPr lang="en-US" altLang="zh-CN" sz="2400" baseline="-25000"/>
              <a:t>j</a:t>
            </a:r>
            <a:r>
              <a:rPr lang="zh-CN" altLang="en-US" sz="2400"/>
              <a:t>中边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</a:t>
            </a:r>
            <a:r>
              <a:rPr lang="zh-CN" altLang="en-US" sz="2400">
                <a:sym typeface="Wingdings" panose="05000000000000000000" pitchFamily="2" charset="2"/>
              </a:rPr>
              <a:t>在</a:t>
            </a:r>
            <a:r>
              <a:rPr lang="en-US" altLang="zh-CN" sz="2400">
                <a:sym typeface="Wingdings" panose="05000000000000000000" pitchFamily="2" charset="2"/>
              </a:rPr>
              <a:t>D</a:t>
            </a:r>
            <a:r>
              <a:rPr lang="zh-CN" altLang="en-US" sz="2400">
                <a:sym typeface="Wingdings" panose="05000000000000000000" pitchFamily="2" charset="2"/>
              </a:rPr>
              <a:t>中添加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  <a:r>
              <a:rPr lang="zh-CN" altLang="en-US" sz="2400">
                <a:sym typeface="Wingdings" panose="05000000000000000000" pitchFamily="2" charset="2"/>
              </a:rPr>
              <a:t>的边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</a:t>
            </a:r>
            <a:r>
              <a:rPr lang="en-US" altLang="zh-CN" sz="2400" b="1">
                <a:sym typeface="Wingdings" panose="05000000000000000000" pitchFamily="2" charset="2"/>
              </a:rPr>
              <a:t>if</a:t>
            </a:r>
            <a:r>
              <a:rPr lang="en-US" altLang="zh-CN" sz="2400">
                <a:sym typeface="Wingdings" panose="05000000000000000000" pitchFamily="2" charset="2"/>
              </a:rPr>
              <a:t> D</a:t>
            </a:r>
            <a:r>
              <a:rPr lang="zh-CN" altLang="en-US" sz="2400">
                <a:sym typeface="Wingdings" panose="05000000000000000000" pitchFamily="2" charset="2"/>
              </a:rPr>
              <a:t>包含回路</a:t>
            </a:r>
            <a:endParaRPr lang="zh-CN" altLang="en-US" sz="240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ym typeface="Wingdings" panose="05000000000000000000" pitchFamily="2" charset="2"/>
              </a:rPr>
              <a:t>				失败，语法制导定义包含回路</a:t>
            </a:r>
            <a:endParaRPr lang="zh-CN" altLang="en-US" sz="240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算法描述（续）</a:t>
            </a:r>
            <a:endParaRPr lang="zh-CN" alt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</a:t>
            </a:r>
            <a:r>
              <a:rPr lang="en-US" altLang="zh-CN" sz="2400" b="1">
                <a:sym typeface="Wingdings" panose="05000000000000000000" pitchFamily="2" charset="2"/>
              </a:rPr>
              <a:t>else</a:t>
            </a:r>
            <a:r>
              <a:rPr lang="en-US" altLang="zh-CN" sz="2400">
                <a:sym typeface="Wingdings" panose="05000000000000000000" pitchFamily="2" charset="2"/>
              </a:rPr>
              <a:t> {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G=</a:t>
            </a:r>
            <a:r>
              <a:rPr lang="zh-CN" altLang="en-US" sz="2400">
                <a:sym typeface="Wingdings" panose="05000000000000000000" pitchFamily="2" charset="2"/>
              </a:rPr>
              <a:t>包含</a:t>
            </a:r>
            <a:r>
              <a:rPr lang="en-US" altLang="zh-CN" sz="2400">
                <a:sym typeface="Wingdings" panose="05000000000000000000" pitchFamily="2" charset="2"/>
              </a:rPr>
              <a:t>A</a:t>
            </a:r>
            <a:r>
              <a:rPr lang="zh-CN" altLang="en-US" sz="2400">
                <a:sym typeface="Wingdings" panose="05000000000000000000" pitchFamily="2" charset="2"/>
              </a:rPr>
              <a:t>的属性，无边的图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</a:t>
            </a:r>
            <a:r>
              <a:rPr lang="en-US" altLang="zh-CN" sz="2400" b="1">
                <a:sym typeface="Wingdings" panose="05000000000000000000" pitchFamily="2" charset="2"/>
              </a:rPr>
              <a:t>for</a:t>
            </a:r>
            <a:r>
              <a:rPr lang="en-US" altLang="zh-CN" sz="2400">
                <a:sym typeface="Wingdings" panose="05000000000000000000" pitchFamily="2" charset="2"/>
              </a:rPr>
              <a:t> A</a:t>
            </a:r>
            <a:r>
              <a:rPr lang="zh-CN" altLang="en-US" sz="2400">
                <a:sym typeface="Wingdings" panose="05000000000000000000" pitchFamily="2" charset="2"/>
              </a:rPr>
              <a:t>的每对属性</a:t>
            </a:r>
            <a:r>
              <a:rPr lang="en-US" altLang="zh-CN" sz="2400">
                <a:sym typeface="Wingdings" panose="05000000000000000000" pitchFamily="2" charset="2"/>
              </a:rPr>
              <a:t>b</a:t>
            </a:r>
            <a:r>
              <a:rPr lang="zh-CN" altLang="en-US" sz="2400">
                <a:sym typeface="Wingdings" panose="05000000000000000000" pitchFamily="2" charset="2"/>
              </a:rPr>
              <a:t>、</a:t>
            </a:r>
            <a:r>
              <a:rPr lang="en-US" altLang="zh-CN" sz="2400">
                <a:sym typeface="Wingdings" panose="05000000000000000000" pitchFamily="2" charset="2"/>
              </a:rPr>
              <a:t>c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</a:t>
            </a:r>
            <a:r>
              <a:rPr lang="en-US" altLang="zh-CN" sz="2400" b="1">
                <a:sym typeface="Wingdings" panose="05000000000000000000" pitchFamily="2" charset="2"/>
              </a:rPr>
              <a:t>if</a:t>
            </a:r>
            <a:r>
              <a:rPr lang="en-US" altLang="zh-CN" sz="2400">
                <a:sym typeface="Wingdings" panose="05000000000000000000" pitchFamily="2" charset="2"/>
              </a:rPr>
              <a:t> D</a:t>
            </a:r>
            <a:r>
              <a:rPr lang="zh-CN" altLang="en-US" sz="2400">
                <a:sym typeface="Wingdings" panose="05000000000000000000" pitchFamily="2" charset="2"/>
              </a:rPr>
              <a:t>中包含边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	</a:t>
            </a:r>
            <a:r>
              <a:rPr lang="zh-CN" altLang="en-US" sz="2400">
                <a:sym typeface="Wingdings" panose="05000000000000000000" pitchFamily="2" charset="2"/>
              </a:rPr>
              <a:t>添加边</a:t>
            </a:r>
            <a:r>
              <a:rPr lang="en-US" altLang="zh-CN" sz="2400"/>
              <a:t>b</a:t>
            </a:r>
            <a:r>
              <a:rPr lang="en-US" altLang="zh-CN" sz="2400">
                <a:sym typeface="Wingdings" panose="05000000000000000000" pitchFamily="2" charset="2"/>
              </a:rPr>
              <a:t>c</a:t>
            </a:r>
            <a:r>
              <a:rPr lang="zh-CN" altLang="en-US" sz="2400">
                <a:sym typeface="Wingdings" panose="05000000000000000000" pitchFamily="2" charset="2"/>
              </a:rPr>
              <a:t>到</a:t>
            </a:r>
            <a:r>
              <a:rPr lang="en-US" altLang="zh-CN" sz="2400">
                <a:sym typeface="Wingdings" panose="05000000000000000000" pitchFamily="2" charset="2"/>
              </a:rPr>
              <a:t>G;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</a:t>
            </a:r>
            <a:r>
              <a:rPr lang="en-US" altLang="zh-CN" sz="2400" b="1">
                <a:sym typeface="Wingdings" panose="05000000000000000000" pitchFamily="2" charset="2"/>
              </a:rPr>
              <a:t>if</a:t>
            </a:r>
            <a:r>
              <a:rPr lang="en-US" altLang="zh-CN" sz="2400">
                <a:sym typeface="Wingdings" panose="05000000000000000000" pitchFamily="2" charset="2"/>
              </a:rPr>
              <a:t> G</a:t>
            </a:r>
            <a:r>
              <a:rPr lang="zh-CN" altLang="en-US" sz="2400">
                <a:sym typeface="Wingdings" panose="05000000000000000000" pitchFamily="2" charset="2"/>
              </a:rPr>
              <a:t>不在</a:t>
            </a:r>
            <a:r>
              <a:rPr lang="en-US" altLang="zh-CN" sz="2400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 sz="2400">
                <a:sym typeface="Wingdings" panose="05000000000000000000" pitchFamily="2" charset="2"/>
              </a:rPr>
              <a:t>(A)</a:t>
            </a:r>
            <a:r>
              <a:rPr lang="zh-CN" altLang="en-US" sz="2400">
                <a:sym typeface="Wingdings" panose="05000000000000000000" pitchFamily="2" charset="2"/>
              </a:rPr>
              <a:t>中 </a:t>
            </a:r>
            <a:r>
              <a:rPr lang="en-US" altLang="zh-CN" sz="2400">
                <a:sym typeface="Wingdings" panose="05000000000000000000" pitchFamily="2" charset="2"/>
              </a:rPr>
              <a:t>{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</a:t>
            </a:r>
            <a:r>
              <a:rPr lang="zh-CN" altLang="en-US" sz="2400">
                <a:sym typeface="Wingdings" panose="05000000000000000000" pitchFamily="2" charset="2"/>
              </a:rPr>
              <a:t>将</a:t>
            </a:r>
            <a:r>
              <a:rPr lang="en-US" altLang="zh-CN" sz="2400">
                <a:sym typeface="Wingdings" panose="05000000000000000000" pitchFamily="2" charset="2"/>
              </a:rPr>
              <a:t>G</a:t>
            </a:r>
            <a:r>
              <a:rPr lang="zh-CN" altLang="en-US" sz="2400">
                <a:sym typeface="Wingdings" panose="05000000000000000000" pitchFamily="2" charset="2"/>
              </a:rPr>
              <a:t>加入</a:t>
            </a:r>
            <a:r>
              <a:rPr lang="en-US" altLang="zh-CN" sz="2400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 sz="2400">
                <a:sym typeface="Wingdings" panose="05000000000000000000" pitchFamily="2" charset="2"/>
              </a:rPr>
              <a:t>(A);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	change = </a:t>
            </a:r>
            <a:r>
              <a:rPr lang="en-US" altLang="zh-CN" sz="2400" b="1">
                <a:sym typeface="Wingdings" panose="05000000000000000000" pitchFamily="2" charset="2"/>
              </a:rPr>
              <a:t>true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	}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	}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	}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	}</a:t>
            </a:r>
            <a:endParaRPr lang="en-US" altLang="zh-CN" sz="240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} </a:t>
            </a:r>
            <a:r>
              <a:rPr lang="en-US" altLang="zh-CN" sz="2400" b="1">
                <a:sym typeface="Wingdings" panose="05000000000000000000" pitchFamily="2" charset="2"/>
              </a:rPr>
              <a:t>until</a:t>
            </a:r>
            <a:r>
              <a:rPr lang="en-US" altLang="zh-CN" sz="2400">
                <a:sym typeface="Wingdings" panose="05000000000000000000" pitchFamily="2" charset="2"/>
              </a:rPr>
              <a:t> change = </a:t>
            </a:r>
            <a:r>
              <a:rPr lang="en-US" altLang="zh-CN" sz="2400" b="1">
                <a:sym typeface="Wingdings" panose="05000000000000000000" pitchFamily="2" charset="2"/>
              </a:rPr>
              <a:t>false</a:t>
            </a:r>
            <a:r>
              <a:rPr lang="en-US" altLang="zh-CN" sz="2400">
                <a:sym typeface="Wingdings" panose="05000000000000000000" pitchFamily="2" charset="2"/>
              </a:rPr>
              <a:t>;</a:t>
            </a:r>
            <a:endParaRPr lang="en-US" altLang="zh-CN" sz="240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运行时间与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r>
              <a:rPr lang="zh-CN" altLang="en-US">
                <a:sym typeface="Wingdings" panose="05000000000000000000" pitchFamily="2" charset="2"/>
              </a:rPr>
              <a:t>大小成指数关系</a:t>
            </a:r>
            <a:endParaRPr lang="zh-CN" altLang="en-US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改进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zh-CN">
                <a:sym typeface="Wingdings" panose="05000000000000000000" pitchFamily="2" charset="2"/>
              </a:rPr>
              <a:t>dag</a:t>
            </a:r>
            <a:r>
              <a:rPr lang="zh-CN" altLang="en-US">
                <a:sym typeface="Wingdings" panose="05000000000000000000" pitchFamily="2" charset="2"/>
              </a:rPr>
              <a:t>集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(A)</a:t>
            </a:r>
            <a:r>
              <a:rPr lang="zh-CN" altLang="en-US">
                <a:sym typeface="Wingdings" panose="05000000000000000000" pitchFamily="2" charset="2"/>
              </a:rPr>
              <a:t>单一</a:t>
            </a:r>
            <a:r>
              <a:rPr lang="en-US" altLang="zh-CN">
                <a:sym typeface="Wingdings" panose="05000000000000000000" pitchFamily="2" charset="2"/>
              </a:rPr>
              <a:t>dag F(X)——</a:t>
            </a:r>
            <a:r>
              <a:rPr lang="en-US" altLang="zh-CN">
                <a:latin typeface="Monotype Corsiva" panose="03010101010201010101" pitchFamily="66" charset="0"/>
                <a:sym typeface="Wingdings" panose="05000000000000000000" pitchFamily="2" charset="2"/>
              </a:rPr>
              <a:t>F</a:t>
            </a:r>
            <a:r>
              <a:rPr lang="en-US" altLang="zh-CN">
                <a:sym typeface="Wingdings" panose="05000000000000000000" pitchFamily="2" charset="2"/>
              </a:rPr>
              <a:t>(A)</a:t>
            </a:r>
            <a:r>
              <a:rPr lang="zh-CN" altLang="en-US">
                <a:sym typeface="Wingdings" panose="05000000000000000000" pitchFamily="2" charset="2"/>
              </a:rPr>
              <a:t>图的并集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最坏情况估计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充分但不必要：</a:t>
            </a:r>
            <a:r>
              <a:rPr lang="en-US" altLang="zh-CN">
                <a:sym typeface="Wingdings" panose="05000000000000000000" pitchFamily="2" charset="2"/>
              </a:rPr>
              <a:t>F(X)</a:t>
            </a:r>
            <a:r>
              <a:rPr lang="zh-CN" altLang="en-US">
                <a:sym typeface="Wingdings" panose="05000000000000000000" pitchFamily="2" charset="2"/>
              </a:rPr>
              <a:t>无环语法制导定义无环；</a:t>
            </a:r>
            <a:r>
              <a:rPr lang="en-US" altLang="zh-CN">
                <a:sym typeface="Wingdings" panose="05000000000000000000" pitchFamily="2" charset="2"/>
              </a:rPr>
              <a:t>F(X)</a:t>
            </a:r>
            <a:r>
              <a:rPr lang="zh-CN" altLang="en-US">
                <a:sym typeface="Wingdings" panose="05000000000000000000" pitchFamily="2" charset="2"/>
              </a:rPr>
              <a:t>有回路语法制导定义有回路</a:t>
            </a:r>
            <a:endParaRPr lang="zh-CN" altLang="en-US">
              <a:sym typeface="Wingdings" panose="05000000000000000000" pitchFamily="2" charset="2"/>
            </a:endParaRPr>
          </a:p>
        </p:txBody>
      </p:sp>
      <p:sp>
        <p:nvSpPr>
          <p:cNvPr id="137220" name="Line 4"/>
          <p:cNvSpPr>
            <a:spLocks noChangeShapeType="1"/>
          </p:cNvSpPr>
          <p:nvPr/>
        </p:nvSpPr>
        <p:spPr bwMode="ltGray">
          <a:xfrm flipH="1">
            <a:off x="4572000" y="4038600"/>
            <a:ext cx="152400" cy="381000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>
          <a:noFill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>
          <a:noFill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20920</Words>
  <Application>WPS 演示</Application>
  <PresentationFormat>全屏显示(4:3)</PresentationFormat>
  <Paragraphs>1397</Paragraphs>
  <Slides>129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129</vt:i4>
      </vt:variant>
    </vt:vector>
  </HeadingPairs>
  <TitlesOfParts>
    <vt:vector size="142" baseType="lpstr">
      <vt:lpstr>Arial</vt:lpstr>
      <vt:lpstr>宋体</vt:lpstr>
      <vt:lpstr>Wingdings</vt:lpstr>
      <vt:lpstr>Tahoma</vt:lpstr>
      <vt:lpstr>Times New Roman</vt:lpstr>
      <vt:lpstr>黑体</vt:lpstr>
      <vt:lpstr>Symbol</vt:lpstr>
      <vt:lpstr>微软雅黑</vt:lpstr>
      <vt:lpstr>Arial Unicode MS</vt:lpstr>
      <vt:lpstr>Times New Roman</vt:lpstr>
      <vt:lpstr>Courier New</vt:lpstr>
      <vt:lpstr>Monotype Corsiva</vt:lpstr>
      <vt:lpstr>Blends</vt:lpstr>
      <vt:lpstr>第五章  语法制导翻译</vt:lpstr>
      <vt:lpstr>学习重点</vt:lpstr>
      <vt:lpstr>概述</vt:lpstr>
      <vt:lpstr>5.1  语法制导定义</vt:lpstr>
      <vt:lpstr>5.1.1 语法制导定义的形式</vt:lpstr>
      <vt:lpstr>例5.1</vt:lpstr>
      <vt:lpstr>5.1.2  综合属性</vt:lpstr>
      <vt:lpstr>例5</vt:lpstr>
      <vt:lpstr>5.1.3  继承属性</vt:lpstr>
      <vt:lpstr>例5.3  变量定义</vt:lpstr>
      <vt:lpstr>例5.3（续）</vt:lpstr>
      <vt:lpstr>5.1.4  依赖图</vt:lpstr>
      <vt:lpstr>例5.4</vt:lpstr>
      <vt:lpstr>例5.5</vt:lpstr>
      <vt:lpstr>5.1.5  属性计算顺序</vt:lpstr>
      <vt:lpstr>例5.6</vt:lpstr>
      <vt:lpstr>5.2  构造语法树</vt:lpstr>
      <vt:lpstr>5.2.1  语法树</vt:lpstr>
      <vt:lpstr>语法树压缩例</vt:lpstr>
      <vt:lpstr>5.2.2  表达式语法树的构造</vt:lpstr>
      <vt:lpstr>辅助函数</vt:lpstr>
      <vt:lpstr>例5.7  a-4+c的语法树</vt:lpstr>
      <vt:lpstr>5.2.3  构造语法树的语法制导定义</vt:lpstr>
      <vt:lpstr>例5.8（续）</vt:lpstr>
      <vt:lpstr>5.2.4  用有向无环图表示表达式</vt:lpstr>
      <vt:lpstr>图5.9</vt:lpstr>
      <vt:lpstr>例5.9（续）</vt:lpstr>
      <vt:lpstr>DAG的实现</vt:lpstr>
      <vt:lpstr>算法5.1  构造DAG节点</vt:lpstr>
      <vt:lpstr>TinyC中的语法树</vt:lpstr>
      <vt:lpstr>TinyC中的语法树——辅助函数</vt:lpstr>
      <vt:lpstr>TinyC中的语法树——辅助函数</vt:lpstr>
      <vt:lpstr>TinyC中的语法树——表达式</vt:lpstr>
      <vt:lpstr>TinyC中的语法树——IF</vt:lpstr>
      <vt:lpstr>TinyC中的语法树——Yacc</vt:lpstr>
      <vt:lpstr>TinyC中的语法树——Yacc</vt:lpstr>
      <vt:lpstr>5.3  自底向上计算S-属性定义</vt:lpstr>
      <vt:lpstr>自底向上计算S-属性定义示例</vt:lpstr>
      <vt:lpstr>例5.10</vt:lpstr>
      <vt:lpstr>例5.10（续）</vt:lpstr>
      <vt:lpstr>5.4  L-属性定义</vt:lpstr>
      <vt:lpstr>5.4.1  L-属性定义</vt:lpstr>
      <vt:lpstr>例5.11</vt:lpstr>
      <vt:lpstr>5.4.2  翻译模式</vt:lpstr>
      <vt:lpstr>例5.12（续）</vt:lpstr>
      <vt:lpstr>设计翻译模式</vt:lpstr>
      <vt:lpstr>例</vt:lpstr>
      <vt:lpstr>例5.13</vt:lpstr>
      <vt:lpstr>例5.13  语法制导定义</vt:lpstr>
      <vt:lpstr>例5.13 翻译模式</vt:lpstr>
      <vt:lpstr>5.5  自顶向下计算L-属性定义</vt:lpstr>
      <vt:lpstr>5.5.1  消除左递归（例5.14）</vt:lpstr>
      <vt:lpstr>例5.14（续）</vt:lpstr>
      <vt:lpstr>例5.14（续）</vt:lpstr>
      <vt:lpstr>消除左递归一般性方法</vt:lpstr>
      <vt:lpstr>左递归/非左递归比较</vt:lpstr>
      <vt:lpstr>例5.15  创建语法树</vt:lpstr>
      <vt:lpstr>例5.15  消除左递归后</vt:lpstr>
      <vt:lpstr>例5.15  创建语法树（续）</vt:lpstr>
      <vt:lpstr>5.5.2  构造预测翻译器</vt:lpstr>
      <vt:lpstr>算法5.2 构造预测翻译器（续）</vt:lpstr>
      <vt:lpstr>算法5.2 构造预测翻译器（续）</vt:lpstr>
      <vt:lpstr>例5.16</vt:lpstr>
      <vt:lpstr>例5.16（续）</vt:lpstr>
      <vt:lpstr>例5.16（续）</vt:lpstr>
      <vt:lpstr>例5.16（续）</vt:lpstr>
      <vt:lpstr>例5.16（续）</vt:lpstr>
      <vt:lpstr>5.6  自底向上计算L-属性定义</vt:lpstr>
      <vt:lpstr>5.6.1  消除翻译模式的嵌入动作</vt:lpstr>
      <vt:lpstr>加标记NT例</vt:lpstr>
      <vt:lpstr>5.6.2  分析栈中的继承属性</vt:lpstr>
      <vt:lpstr>栈中的继承属性</vt:lpstr>
      <vt:lpstr>例5.17</vt:lpstr>
      <vt:lpstr>例5.17（续）</vt:lpstr>
      <vt:lpstr>例5.17（续）</vt:lpstr>
      <vt:lpstr>例5.17（续）</vt:lpstr>
      <vt:lpstr>5.6.3  模拟继承属性的计算</vt:lpstr>
      <vt:lpstr>例5.18（续）</vt:lpstr>
      <vt:lpstr>例5.19</vt:lpstr>
      <vt:lpstr>例5.19（续）</vt:lpstr>
      <vt:lpstr>算法5.3：自底向上翻译</vt:lpstr>
      <vt:lpstr>算法5.3：（续）</vt:lpstr>
      <vt:lpstr>5.6.4  用综合属性代替继承属性</vt:lpstr>
      <vt:lpstr>在Yacc中计算属性</vt:lpstr>
      <vt:lpstr>在Yacc中计算属性（续）</vt:lpstr>
      <vt:lpstr>5.7  递归方法计算属性</vt:lpstr>
      <vt:lpstr>5.7.1  由左至右的访问顺序</vt:lpstr>
      <vt:lpstr>例5.20</vt:lpstr>
      <vt:lpstr>例5.20  B的递归函数</vt:lpstr>
      <vt:lpstr>例5.20  B对应函数</vt:lpstr>
      <vt:lpstr>5.7.2  其他访问顺序（例5.21）</vt:lpstr>
      <vt:lpstr>例5.21（续）</vt:lpstr>
      <vt:lpstr>例5.21（续）</vt:lpstr>
      <vt:lpstr>例5.21（续）</vt:lpstr>
      <vt:lpstr>5.8  编译时内存空间分配</vt:lpstr>
      <vt:lpstr>例5.22  </vt:lpstr>
      <vt:lpstr>例5.22（续）</vt:lpstr>
      <vt:lpstr>5.8.1  在编译时分配空间</vt:lpstr>
      <vt:lpstr>算法应用实例</vt:lpstr>
      <vt:lpstr>5.8.2  避免属性拷贝</vt:lpstr>
      <vt:lpstr>例5.24：例5.23采用新方法</vt:lpstr>
      <vt:lpstr>5.9  在构造编译器时分配内存</vt:lpstr>
      <vt:lpstr>例5.25</vt:lpstr>
      <vt:lpstr>例5.26  多栈避免拷贝</vt:lpstr>
      <vt:lpstr>例5.26（续）</vt:lpstr>
      <vt:lpstr>例5.27  中间代码生成</vt:lpstr>
      <vt:lpstr>例5.27（续）翻译模式</vt:lpstr>
      <vt:lpstr>例5.27（续）栈实现</vt:lpstr>
      <vt:lpstr>5.9.2  非重叠生存期（例5.28）</vt:lpstr>
      <vt:lpstr>例5.28（续）</vt:lpstr>
      <vt:lpstr>例5.28（续）</vt:lpstr>
      <vt:lpstr>例5.28（续）</vt:lpstr>
      <vt:lpstr>5.10  语法制导定义分析</vt:lpstr>
      <vt:lpstr>例5.29（续）</vt:lpstr>
      <vt:lpstr>例5.29（续）</vt:lpstr>
      <vt:lpstr>5.10.1  递归计算属性</vt:lpstr>
      <vt:lpstr>例5.30</vt:lpstr>
      <vt:lpstr>例5.30（续）</vt:lpstr>
      <vt:lpstr>例5.30（续）</vt:lpstr>
      <vt:lpstr>例5.30（续）</vt:lpstr>
      <vt:lpstr>5.10.2  强无环语法制导定义</vt:lpstr>
      <vt:lpstr>定义</vt:lpstr>
      <vt:lpstr>定义（续）</vt:lpstr>
      <vt:lpstr>例5.31</vt:lpstr>
      <vt:lpstr>5.10.3  检测回路（例5.32）</vt:lpstr>
      <vt:lpstr>回路检测算法</vt:lpstr>
      <vt:lpstr>算法描述</vt:lpstr>
      <vt:lpstr>算法描述（续）</vt:lpstr>
      <vt:lpstr>分析</vt:lpstr>
    </vt:vector>
  </TitlesOfParts>
  <Company>南开大学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蒋枘言</cp:lastModifiedBy>
  <cp:revision>1321</cp:revision>
  <dcterms:created xsi:type="dcterms:W3CDTF">2003-06-05T11:51:00Z</dcterms:created>
  <dcterms:modified xsi:type="dcterms:W3CDTF">2025-12-15T06:48:46Z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271BEB433EC141EA9274CD0245A82333_12</vt:lpwstr>
  </property>
  <property fmtid="{D5CDD505-2E9C-101B-9397-08002B2CF9AE}" pid="3" name="KSOProductBuildVer">
    <vt:lpwstr>2052-12.1.0.20305</vt:lpwstr>
  </property>
</Properties>
</file>